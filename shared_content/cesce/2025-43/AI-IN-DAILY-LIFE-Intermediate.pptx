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2" r:id="rId5"/>
    <p:sldId id="259" r:id="rId6"/>
    <p:sldId id="263" r:id="rId7"/>
    <p:sldId id="264" r:id="rId8"/>
    <p:sldId id="260" r:id="rId9"/>
    <p:sldId id="265" r:id="rId10"/>
    <p:sldId id="266" r:id="rId11"/>
    <p:sldId id="261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7" d="100"/>
          <a:sy n="97" d="100"/>
        </p:scale>
        <p:origin x="90" y="2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3B43C8-BF3A-4C59-BD55-7322D0987B28}" type="datetimeFigureOut">
              <a:rPr lang="es-ES" smtClean="0"/>
              <a:t>19/08/2025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63431-CECA-4E12-9E30-787689FC850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1325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3431-CECA-4E12-9E30-787689FC850F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7474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69A1D-F24B-EB26-8B06-DE0B291082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D76AEB-64B0-057F-2C22-6309A50B79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79DD7-45A6-8E7B-6D8F-2C0B105EA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08362-91BA-4734-8468-9A2FA547C169}" type="datetime1">
              <a:rPr lang="es-ES" smtClean="0"/>
              <a:t>19/08/2025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CB215-79C4-5171-9EA0-9CE484B0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tuSpeaking 2025, all rights reserved</a:t>
            </a:r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18E88-F81F-03F3-2492-10B2C0A6E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E1E50-78DF-4FA7-93BC-A90BE0855E3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3882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B2119-FDFF-0F78-57DB-3FCD04878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C0E19-ED14-D6E9-0900-E754CCD0A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ED61E-9EBD-A9FF-9D1A-18BB8C0AA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2B099-100E-4777-927B-93B229A7366C}" type="datetime1">
              <a:rPr lang="es-ES" smtClean="0"/>
              <a:t>19/08/2025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74ED0-FC89-20E5-131C-F0D3631B2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tuSpeaking 2025, all rights reserved</a:t>
            </a:r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89AA7-3459-B585-AA8C-E39C497D4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E1E50-78DF-4FA7-93BC-A90BE0855E3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113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4E61D-D255-5E56-9877-8E195572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C343FB-B91B-4D76-2D9C-6F238C97F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03F04-355B-5E78-0EA2-A57FF22EF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67AB2-94C4-4B1E-8553-F4C8DC729B56}" type="datetime1">
              <a:rPr lang="es-ES" smtClean="0"/>
              <a:t>19/08/2025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625B6-0D1B-F6B9-7F9B-90A4C8DE8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tuSpeaking 2025, all rights reserved</a:t>
            </a:r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EC3C9-4DD2-161F-CD8E-9414A2BD4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E1E50-78DF-4FA7-93BC-A90BE0855E3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3150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1D8AA-91C6-6913-AA74-EC5EEAA36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4EA01-AFF3-0803-5732-99F92BF7FD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9BE011-BD12-3347-BF20-0823978A25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DB22F8-13AD-F808-8CA4-63E6F0B56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EDDC9-47D8-47ED-8EAE-281A2EDE17D5}" type="datetime1">
              <a:rPr lang="es-ES" smtClean="0"/>
              <a:t>19/08/2025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3C6446-FBA2-C85B-79AC-B3D12783E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tuSpeaking 2025, all rights reserved</a:t>
            </a:r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E8B9EB-A065-F333-0F2C-30DF28797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E1E50-78DF-4FA7-93BC-A90BE0855E3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4258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FFCE8-3780-0E8A-4530-B31DFD0AF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3E941A-BF02-CEF0-D071-79B00F495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6C010E-5038-181D-7F47-E70020A4CF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A06C23-9A00-D0F7-6187-166DBED318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F15D09-B028-4C4F-DBA8-539F678627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0488B2-FE1D-43F2-9865-C54CD26C9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81AA4-0D33-42EF-A136-ECFA4D9E5156}" type="datetime1">
              <a:rPr lang="es-ES" smtClean="0"/>
              <a:t>19/08/2025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6ACCF-95AA-3D7C-198E-BC7B110C6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tuSpeaking 2025, all rights reserved</a:t>
            </a:r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16EDFD-6FE5-E272-92ED-7520EBB5F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E1E50-78DF-4FA7-93BC-A90BE0855E3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21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6B4FC-D905-F997-B83F-D9C59722E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3C4076-C03B-2668-B938-D11B0083F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4ABC8-4157-46EF-BBDF-C4E6D8FBA5AC}" type="datetime1">
              <a:rPr lang="es-ES" smtClean="0"/>
              <a:t>19/08/2025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A882E5-C77E-BE35-DC1B-0056F0008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tuSpeaking 2025, all rights reserved</a:t>
            </a:r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7E324-B482-5134-14BE-59F3E9FEE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E1E50-78DF-4FA7-93BC-A90BE0855E3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0696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D38B9E-8336-08B3-EA62-F76283B45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80D3-C94D-4EF6-8B13-5EB7169FDA24}" type="datetime1">
              <a:rPr lang="es-ES" smtClean="0"/>
              <a:t>19/08/2025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000763-36B5-40F6-AA74-C18C83475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tuSpeaking 2025, all rights reserved</a:t>
            </a:r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5F286B-521E-AB6B-B48B-BC1D81BA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E1E50-78DF-4FA7-93BC-A90BE0855E3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2099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DA8F4-DCA4-9F6E-AFF2-AC37F9D02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5F591-FA3E-26D7-7197-003B541FB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E1588F-114A-4222-26DA-9B3FBBF132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1DAEC8-C7BC-6073-FE66-86765D896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32B22-8E60-483B-886D-2741CF97FB33}" type="datetime1">
              <a:rPr lang="es-ES" smtClean="0"/>
              <a:t>19/08/2025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383146-E361-F7F0-EF81-97B925D19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tuSpeaking 2025, all rights reserved</a:t>
            </a:r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3CEDD6-57B1-2506-7DA5-D95650486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E1E50-78DF-4FA7-93BC-A90BE0855E3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8057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33AAE-CF34-D113-9BD0-1877EAC96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8327A6-5F90-4AA6-FB56-99CFE9EFDD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C8A920-F4E5-2CC5-61CA-B1EDF97F4B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6D9314-A62D-1A51-1FCF-AF403EDB6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6F375-A439-403F-A027-F23B522C60D6}" type="datetime1">
              <a:rPr lang="es-ES" smtClean="0"/>
              <a:t>19/08/2025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85A051-B459-DE9B-4262-60C260D0C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tuSpeaking 2025, all rights reserved</a:t>
            </a:r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5A19F7-07F7-0A5C-15F0-3B01D468F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E1E50-78DF-4FA7-93BC-A90BE0855E3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4602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86764-ADA1-B999-6090-89DBA994F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4D3740-BA39-F98E-292D-ED700C4660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5DE73-A849-BFC9-822F-19D945D49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B155-5E2B-4537-AAE7-3AFF571D6A30}" type="datetime1">
              <a:rPr lang="es-ES" smtClean="0"/>
              <a:t>19/08/2025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7369D-1894-7B3C-D7FA-3F4035B6C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tuSpeaking 2025, all rights reserved</a:t>
            </a:r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FFC31-6E65-9E1F-A400-2AB2B5008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E1E50-78DF-4FA7-93BC-A90BE0855E3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0895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CB921-A834-1779-D37C-FC7E614EA5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572CDB-9391-5A0B-6030-32C697AF8A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F8253-5670-C801-8B9C-1799EB4DD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08A51-BB7F-4FDE-98C8-83C08A221D7F}" type="datetime1">
              <a:rPr lang="es-ES" smtClean="0"/>
              <a:t>19/08/2025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1363A-5C9C-EBF6-AE38-BD87A0344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tuSpeaking 2025, all rights reserved</a:t>
            </a:r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6DC8D-72B9-20F8-CB73-C1DBDCFB4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E1E50-78DF-4FA7-93BC-A90BE0855E3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134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551D8C-9B72-5854-C643-3F34D67A5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9344B7-B13D-2134-68FC-5A43E8D62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40EED-6BD4-34B7-B042-1447D83CD5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9A8576-7CD9-4C5D-A36B-C24BB0C35C92}" type="datetime1">
              <a:rPr lang="es-ES" smtClean="0"/>
              <a:t>19/08/2025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D7153-6B3B-21A7-2BEF-7CC19D09C2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tuSpeaking 2025, all rights reserved</a:t>
            </a:r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9EE9A-A699-1E9B-7C07-B98D179C43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8E1E50-78DF-4FA7-93BC-A90BE0855E3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5365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138284653@N07/40496024361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eamstime.com/futuristic-cityscape-self-driving-car-drone-other-futuristic-vehicles-image-depicts-vision-future-where-image337693870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droidpolice.com/how-to-use-alexa-voice-shopping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hooliniuniversity.com/blog/ai-applications-take-the-world-by-storm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bluediamondgallery.com/tablet/a/artificial-intelligence.html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eamstime.com/clock-world-man-silhouette-surrounded-clocks-concept-passage-time-change-passing-travel-ai-illustration-image281614456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ecteezy.com/photo/31586244-digital-clock-face-and-futuristic-timekeeping-hand-in-perfect-sync-ai-generated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hepracticalprofessional.com/2019/04/disrupting-project-management-preparing-for-ai-collaboration.html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premium-ai-image/glowing-brain-inside-light-bulb-symbolizing-fusion-intellect-innovation-creative-idea_156515343.htm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tock.adobe.com/images/chatbot-application-on-a-smartphone-artificial-intelligence-says-hello-for-help-service-chat-by-ai-vector-illustration-flat-design-for-banner-template-and-background/584361716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premium-ai-image/ai-robot-feedback_67870951.htm" TargetMode="Externa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C8E49F-D12E-C524-3319-D3E7666017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5925" y="443620"/>
            <a:ext cx="4908290" cy="3366380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</a:rPr>
              <a:t>AI in daily life: From Smart Speakers to Self-Driving Dreams</a:t>
            </a:r>
            <a:endParaRPr lang="es-ES" sz="48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25679C-6402-8CF8-4BC8-A2B81952D7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4735" y="4159045"/>
            <a:ext cx="4339480" cy="1398792"/>
          </a:xfrm>
        </p:spPr>
        <p:txBody>
          <a:bodyPr>
            <a:normAutofit/>
          </a:bodyPr>
          <a:lstStyle/>
          <a:p>
            <a:pPr algn="l"/>
            <a:r>
              <a:rPr lang="es-ES" sz="2000" dirty="0" err="1">
                <a:solidFill>
                  <a:schemeClr val="bg1"/>
                </a:solidFill>
              </a:rPr>
              <a:t>Intermediate</a:t>
            </a:r>
            <a:r>
              <a:rPr lang="es-ES" sz="2000" dirty="0">
                <a:solidFill>
                  <a:schemeClr val="bg1"/>
                </a:solidFill>
              </a:rPr>
              <a:t> </a:t>
            </a:r>
            <a:r>
              <a:rPr lang="es-ES" sz="2000" dirty="0" err="1">
                <a:solidFill>
                  <a:schemeClr val="bg1"/>
                </a:solidFill>
              </a:rPr>
              <a:t>Level</a:t>
            </a:r>
            <a:endParaRPr lang="es-ES" sz="2000" dirty="0">
              <a:solidFill>
                <a:schemeClr val="bg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277405F-0B4F-4418-B773-1B3881412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30421" y="226893"/>
            <a:ext cx="5968658" cy="6085007"/>
          </a:xfrm>
          <a:custGeom>
            <a:avLst/>
            <a:gdLst>
              <a:gd name="connsiteX0" fmla="*/ 0 w 5968658"/>
              <a:gd name="connsiteY0" fmla="*/ 0 h 6085007"/>
              <a:gd name="connsiteX1" fmla="*/ 3557919 w 5968658"/>
              <a:gd name="connsiteY1" fmla="*/ 0 h 6085007"/>
              <a:gd name="connsiteX2" fmla="*/ 3557919 w 5968658"/>
              <a:gd name="connsiteY2" fmla="*/ 2195749 h 6085007"/>
              <a:gd name="connsiteX3" fmla="*/ 5968658 w 5968658"/>
              <a:gd name="connsiteY3" fmla="*/ 2195749 h 6085007"/>
              <a:gd name="connsiteX4" fmla="*/ 5968658 w 5968658"/>
              <a:gd name="connsiteY4" fmla="*/ 6085007 h 6085007"/>
              <a:gd name="connsiteX5" fmla="*/ 2058230 w 5968658"/>
              <a:gd name="connsiteY5" fmla="*/ 6085007 h 6085007"/>
              <a:gd name="connsiteX6" fmla="*/ 2058230 w 5968658"/>
              <a:gd name="connsiteY6" fmla="*/ 3538657 h 6085007"/>
              <a:gd name="connsiteX7" fmla="*/ 0 w 5968658"/>
              <a:gd name="connsiteY7" fmla="*/ 3538657 h 6085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68658" h="6085007">
                <a:moveTo>
                  <a:pt x="0" y="0"/>
                </a:moveTo>
                <a:lnTo>
                  <a:pt x="3557919" y="0"/>
                </a:lnTo>
                <a:lnTo>
                  <a:pt x="3557919" y="2195749"/>
                </a:lnTo>
                <a:lnTo>
                  <a:pt x="5968658" y="2195749"/>
                </a:lnTo>
                <a:lnTo>
                  <a:pt x="5968658" y="6085007"/>
                </a:lnTo>
                <a:lnTo>
                  <a:pt x="2058230" y="6085007"/>
                </a:lnTo>
                <a:lnTo>
                  <a:pt x="2058230" y="3538657"/>
                </a:lnTo>
                <a:lnTo>
                  <a:pt x="0" y="3538657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Picture 7" descr="A cartoon of pink brain&#10;&#10;AI-generated content may be incorrect.">
            <a:extLst>
              <a:ext uri="{FF2B5EF4-FFF2-40B4-BE49-F238E27FC236}">
                <a16:creationId xmlns:a16="http://schemas.microsoft.com/office/drawing/2014/main" id="{6B40FEB9-C94A-AD5C-D8B2-8EA42DA0D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9329" y="3323303"/>
            <a:ext cx="3726426" cy="2896522"/>
          </a:xfrm>
          <a:prstGeom prst="rect">
            <a:avLst/>
          </a:prstGeom>
        </p:spPr>
      </p:pic>
      <p:pic>
        <p:nvPicPr>
          <p:cNvPr id="5" name="Picture 4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4A490D66-8769-34E3-D40E-2BE370D269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142" y="1355614"/>
            <a:ext cx="2540226" cy="1043457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B6ABEA-4D8E-EF29-180B-521797542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tuSpeaking 2025, all rights reserved</a:t>
            </a:r>
            <a:endParaRPr lang="es-E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5272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FB51C-D388-5C74-ABEF-CAA32D545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490537"/>
            <a:ext cx="5291663" cy="1628775"/>
          </a:xfrm>
        </p:spPr>
        <p:txBody>
          <a:bodyPr anchor="b">
            <a:normAutofit/>
          </a:bodyPr>
          <a:lstStyle/>
          <a:p>
            <a:r>
              <a:rPr lang="es-ES" sz="4000" dirty="0"/>
              <a:t>✨ OBJECTIVES</a:t>
            </a:r>
          </a:p>
        </p:txBody>
      </p:sp>
      <p:pic>
        <p:nvPicPr>
          <p:cNvPr id="6" name="Picture 5" descr="3D face graphic">
            <a:extLst>
              <a:ext uri="{FF2B5EF4-FFF2-40B4-BE49-F238E27FC236}">
                <a16:creationId xmlns:a16="http://schemas.microsoft.com/office/drawing/2014/main" id="{DBE93391-74F4-0823-6EB9-77D209ED18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08" r="9044" b="-2"/>
          <a:stretch>
            <a:fillRect/>
          </a:stretch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896F8-D778-7E89-5672-F3FE5A0FB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7734" y="2614612"/>
            <a:ext cx="5291663" cy="3752849"/>
          </a:xfrm>
        </p:spPr>
        <p:txBody>
          <a:bodyPr>
            <a:normAutofit/>
          </a:bodyPr>
          <a:lstStyle/>
          <a:p>
            <a:r>
              <a:rPr lang="en-US" sz="1800" b="1" dirty="0"/>
              <a:t>By the end of the lesson, students will be able to:</a:t>
            </a:r>
          </a:p>
          <a:p>
            <a:pPr marL="0" indent="0">
              <a:buNone/>
            </a:pPr>
            <a:endParaRPr lang="en-US" sz="1800" dirty="0"/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Understand and use vocabulary related to Artificial Intelligence in daily life.</a:t>
            </a:r>
          </a:p>
          <a:p>
            <a:pPr marL="800100" lvl="1" indent="-342900">
              <a:buFont typeface="+mj-lt"/>
              <a:buAutoNum type="arabicPeriod"/>
            </a:pPr>
            <a:endParaRPr lang="en-US" sz="1800" dirty="0"/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Practice grammar structures to discuss current and future uses of AI.</a:t>
            </a:r>
          </a:p>
          <a:p>
            <a:pPr marL="800100" lvl="1" indent="-342900">
              <a:buFont typeface="+mj-lt"/>
              <a:buAutoNum type="arabicPeriod"/>
            </a:pPr>
            <a:endParaRPr lang="en-US" sz="1800" dirty="0"/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Express opinions and give examples about the role of AI in society.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C87E21-E03D-B2D2-B003-6E068C2D9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17733" y="6356350"/>
            <a:ext cx="5291667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tuSpeaking 2025, all rights reserved</a:t>
            </a:r>
            <a:endParaRPr lang="es-E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9681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A28F9-4573-591E-9FDB-42C844E11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490537"/>
            <a:ext cx="5291663" cy="1628775"/>
          </a:xfrm>
        </p:spPr>
        <p:txBody>
          <a:bodyPr anchor="b">
            <a:normAutofit/>
          </a:bodyPr>
          <a:lstStyle/>
          <a:p>
            <a:r>
              <a:rPr lang="es-ES" sz="4000" dirty="0"/>
              <a:t>🌈 WARM-UP</a:t>
            </a:r>
          </a:p>
        </p:txBody>
      </p:sp>
      <p:pic>
        <p:nvPicPr>
          <p:cNvPr id="6" name="Picture 5" descr="A collage of different devices&#10;&#10;AI-generated content may be incorrect.">
            <a:extLst>
              <a:ext uri="{FF2B5EF4-FFF2-40B4-BE49-F238E27FC236}">
                <a16:creationId xmlns:a16="http://schemas.microsoft.com/office/drawing/2014/main" id="{94FBA20B-729E-76F2-0654-03BFA2AAFC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5360" r="6179"/>
          <a:stretch>
            <a:fillRect/>
          </a:stretch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2BC8B-F800-7A89-D428-87D4C5F3C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7734" y="2614612"/>
            <a:ext cx="5291663" cy="3752849"/>
          </a:xfrm>
        </p:spPr>
        <p:txBody>
          <a:bodyPr>
            <a:normAutofit/>
          </a:bodyPr>
          <a:lstStyle/>
          <a:p>
            <a:r>
              <a:rPr lang="en-US" sz="1800" b="1" dirty="0"/>
              <a:t>Questions to engage students:</a:t>
            </a:r>
          </a:p>
          <a:p>
            <a:pPr marL="0" indent="0">
              <a:buNone/>
            </a:pPr>
            <a:endParaRPr lang="en-US" sz="1800" dirty="0"/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Do you use voice assistants like Alexa, Siri, or Google Assistant?</a:t>
            </a:r>
          </a:p>
          <a:p>
            <a:pPr marL="800100" lvl="1" indent="-342900">
              <a:buFont typeface="+mj-lt"/>
              <a:buAutoNum type="arabicPeriod"/>
            </a:pPr>
            <a:endParaRPr lang="en-US" sz="1800" dirty="0"/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What is the most futuristic AI technology you’ve heard about?</a:t>
            </a:r>
          </a:p>
          <a:p>
            <a:pPr marL="800100" lvl="1" indent="-342900">
              <a:buFont typeface="+mj-lt"/>
              <a:buAutoNum type="arabicPeriod"/>
            </a:pPr>
            <a:endParaRPr lang="en-US" sz="1800" dirty="0"/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Do you think AI will make our lives easier or more complicated? Why?</a:t>
            </a:r>
            <a:endParaRPr lang="es-ES" sz="1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A44CA9-6DC1-9815-B8E0-4030DFF48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17733" y="6356350"/>
            <a:ext cx="5291667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tuSpeaking 2025, all rights reserved</a:t>
            </a:r>
            <a:endParaRPr lang="es-E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81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C918F-4A2E-A302-9FA5-5E9322E8B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490537"/>
            <a:ext cx="5291663" cy="1628775"/>
          </a:xfrm>
        </p:spPr>
        <p:txBody>
          <a:bodyPr anchor="b">
            <a:normAutofit/>
          </a:bodyPr>
          <a:lstStyle/>
          <a:p>
            <a:r>
              <a:rPr lang="es-ES" sz="4000" dirty="0"/>
              <a:t>INTRODUCTION</a:t>
            </a:r>
          </a:p>
        </p:txBody>
      </p:sp>
      <p:pic>
        <p:nvPicPr>
          <p:cNvPr id="6" name="Picture 5" descr="A drone on top of a car&#10;&#10;AI-generated content may be incorrect.">
            <a:extLst>
              <a:ext uri="{FF2B5EF4-FFF2-40B4-BE49-F238E27FC236}">
                <a16:creationId xmlns:a16="http://schemas.microsoft.com/office/drawing/2014/main" id="{F8EEE03C-6CDD-5233-C79D-4BB7CA0742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6239" r="23971"/>
          <a:stretch>
            <a:fillRect/>
          </a:stretch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160E6-B768-0F40-1563-BF89C8510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7734" y="2614612"/>
            <a:ext cx="5291663" cy="3752849"/>
          </a:xfrm>
        </p:spPr>
        <p:txBody>
          <a:bodyPr>
            <a:normAutofit/>
          </a:bodyPr>
          <a:lstStyle/>
          <a:p>
            <a:r>
              <a:rPr lang="en-US" sz="1800" dirty="0"/>
              <a:t>AI is already part of our everyday lives. From </a:t>
            </a:r>
            <a:r>
              <a:rPr lang="en-US" sz="1800" b="1" dirty="0"/>
              <a:t>smart speakers </a:t>
            </a:r>
            <a:r>
              <a:rPr lang="en-US" sz="1800" dirty="0"/>
              <a:t>that play music on command, to </a:t>
            </a:r>
            <a:r>
              <a:rPr lang="en-US" sz="1800" b="1" dirty="0"/>
              <a:t>recommendation systems </a:t>
            </a:r>
            <a:r>
              <a:rPr lang="en-US" sz="1800" dirty="0"/>
              <a:t>that suggest movies, to </a:t>
            </a:r>
            <a:r>
              <a:rPr lang="en-US" sz="1800" b="1" dirty="0"/>
              <a:t>self-driving cars </a:t>
            </a:r>
            <a:r>
              <a:rPr lang="en-US" sz="1800" dirty="0"/>
              <a:t>that promise safer roads, AI is shaping the way we live, work, and communicate.</a:t>
            </a:r>
          </a:p>
          <a:p>
            <a:r>
              <a:rPr lang="en-US" sz="1800" dirty="0"/>
              <a:t>Today, we’ll explore how AI influences our lives and learn the language to describe it.</a:t>
            </a:r>
            <a:endParaRPr lang="es-ES" sz="1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6D4887-2078-B9FC-0CA6-C1FF4A2F6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17733" y="6356350"/>
            <a:ext cx="5291667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tuSpeaking 2025, all rights reserved</a:t>
            </a:r>
            <a:endParaRPr lang="es-E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7918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FE71D-674A-A1D7-043D-21375541D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📚 </a:t>
            </a:r>
            <a:r>
              <a:rPr lang="es-ES" sz="4000" dirty="0"/>
              <a:t>VOCABULARY &amp; MEANINGS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ECA4BBD-E77B-FA7A-923A-CA6B61935F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tx2">
              <a:lumMod val="50000"/>
              <a:lumOff val="50000"/>
            </a:schemeClr>
          </a:solidFill>
          <a:ln>
            <a:solidFill>
              <a:schemeClr val="accent1"/>
            </a:solidFill>
          </a:ln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b="1" dirty="0"/>
              <a:t>Artificial Intelligence (AI): </a:t>
            </a:r>
            <a:r>
              <a:rPr lang="en-US" sz="2000" dirty="0"/>
              <a:t>The ability of a machine to think and learn.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r>
              <a:rPr lang="en-US" sz="2000" b="1" dirty="0"/>
              <a:t>Smart speaker: </a:t>
            </a:r>
            <a:r>
              <a:rPr lang="en-US" sz="2000" dirty="0"/>
              <a:t>A device with a voice assistant.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r>
              <a:rPr lang="en-US" sz="2000" b="1" dirty="0"/>
              <a:t>Algorithm: </a:t>
            </a:r>
            <a:r>
              <a:rPr lang="en-US" sz="2000" dirty="0"/>
              <a:t>A set of rules a computer follows to solve problems.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r>
              <a:rPr lang="en-US" sz="2000" b="1" dirty="0"/>
              <a:t>Self-driving car: </a:t>
            </a:r>
            <a:r>
              <a:rPr lang="en-US" sz="2000" dirty="0"/>
              <a:t>A car that drives itself using AI.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r>
              <a:rPr lang="en-US" sz="2000" b="1" dirty="0"/>
              <a:t>Automation: </a:t>
            </a:r>
            <a:r>
              <a:rPr lang="en-US" sz="2000" dirty="0"/>
              <a:t>Machines doing tasks without human help.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567EAA-386D-FDE9-9AFD-BBB467F633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tx2">
              <a:lumMod val="50000"/>
              <a:lumOff val="50000"/>
            </a:schemeClr>
          </a:solidFill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ES" sz="2000" b="1" dirty="0"/>
              <a:t>6.  </a:t>
            </a:r>
            <a:r>
              <a:rPr lang="en-US" sz="2000" b="1" dirty="0"/>
              <a:t>Voice recognition: </a:t>
            </a:r>
            <a:r>
              <a:rPr lang="en-US" sz="2000" dirty="0"/>
              <a:t>Technology that understands spoken words.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7.   Machine learning: </a:t>
            </a:r>
            <a:r>
              <a:rPr lang="en-US" sz="2000" dirty="0"/>
              <a:t>AI systems that improve with experience.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8.   Chatbot: </a:t>
            </a:r>
            <a:r>
              <a:rPr lang="en-US" sz="2000" dirty="0"/>
              <a:t>A program that talks to people online.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9.    Data: </a:t>
            </a:r>
            <a:r>
              <a:rPr lang="en-US" sz="2000" dirty="0"/>
              <a:t>Information computers use to learn and make decisions.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10.   Innovation: </a:t>
            </a:r>
            <a:r>
              <a:rPr lang="en-US" sz="2000" dirty="0"/>
              <a:t>A new idea, method, or technology.</a:t>
            </a:r>
            <a:endParaRPr lang="es-E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F902E4-16A1-418E-49D0-29159D8EB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tuSpeaking 2025, all rights reserved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9038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13CACFB-1F3E-5DCC-AFBC-25734CB77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490537"/>
            <a:ext cx="5291663" cy="1628775"/>
          </a:xfrm>
        </p:spPr>
        <p:txBody>
          <a:bodyPr anchor="b">
            <a:normAutofit/>
          </a:bodyPr>
          <a:lstStyle/>
          <a:p>
            <a:r>
              <a:rPr lang="es-ES" sz="4000" dirty="0"/>
              <a:t>VOCABULARY EXERCISE</a:t>
            </a:r>
          </a:p>
        </p:txBody>
      </p:sp>
      <p:pic>
        <p:nvPicPr>
          <p:cNvPr id="3" name="Picture 2" descr="A round black device with blue text on it&#10;&#10;AI-generated content may be incorrect.">
            <a:extLst>
              <a:ext uri="{FF2B5EF4-FFF2-40B4-BE49-F238E27FC236}">
                <a16:creationId xmlns:a16="http://schemas.microsoft.com/office/drawing/2014/main" id="{07329F34-D22F-109A-7BB5-E7E29FD095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5157" r="24832"/>
          <a:stretch>
            <a:fillRect/>
          </a:stretch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EDA194B-DE1F-037C-7233-CDC720E98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7734" y="2614612"/>
            <a:ext cx="5291663" cy="3752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Match the word to the definition: Select the words from the given list. </a:t>
            </a:r>
            <a:r>
              <a:rPr lang="en-US" sz="1800" b="1" dirty="0"/>
              <a:t>(Smart speaker - Artificial Intelligence – Chatbot - Self-driving car - Voice recognition)</a:t>
            </a:r>
          </a:p>
          <a:p>
            <a:pPr marL="0" indent="0">
              <a:buNone/>
            </a:pPr>
            <a:endParaRPr lang="en-US" sz="1800" dirty="0"/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__________ A program that talks to people online.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__________ Technology that understands spoken words.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__________ A device with a voice assistant.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__________ A car that drives itself using AI.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__________The ability of a machine to think and learn.</a:t>
            </a:r>
          </a:p>
          <a:p>
            <a:pPr marL="0" indent="0">
              <a:buNone/>
            </a:pPr>
            <a:endParaRPr lang="en-US" sz="1800" dirty="0"/>
          </a:p>
          <a:p>
            <a:pPr marL="800100" lvl="1" indent="-342900">
              <a:buFont typeface="+mj-lt"/>
              <a:buAutoNum type="arabicPeriod"/>
            </a:pPr>
            <a:endParaRPr lang="es-ES" sz="1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3ED98-6ED0-CDF7-66B6-73F985D53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17733" y="6356350"/>
            <a:ext cx="5291667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tuSpeaking 2025, all rights reserved</a:t>
            </a:r>
            <a:endParaRPr lang="es-E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0668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2C78E6-E2EF-3E9B-2960-90787E8C5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7DBDED3-A354-A4E6-EDC7-06CE92DF2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490537"/>
            <a:ext cx="5291663" cy="1628775"/>
          </a:xfrm>
        </p:spPr>
        <p:txBody>
          <a:bodyPr anchor="b">
            <a:normAutofit/>
          </a:bodyPr>
          <a:lstStyle/>
          <a:p>
            <a:r>
              <a:rPr lang="es-ES" sz="4000" dirty="0"/>
              <a:t>VOCABULARY EXERCISE - ANSWERS</a:t>
            </a:r>
          </a:p>
        </p:txBody>
      </p:sp>
      <p:pic>
        <p:nvPicPr>
          <p:cNvPr id="3" name="Picture 2" descr="A blue circle with white text and images&#10;&#10;AI-generated content may be incorrect.">
            <a:extLst>
              <a:ext uri="{FF2B5EF4-FFF2-40B4-BE49-F238E27FC236}">
                <a16:creationId xmlns:a16="http://schemas.microsoft.com/office/drawing/2014/main" id="{B9ED0632-706F-C7E9-E835-D9A2F8CC6F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0256" r="13063" b="1"/>
          <a:stretch>
            <a:fillRect/>
          </a:stretch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3AFE8E4-CC12-4113-C1C0-0078D81DA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4548" y="2444817"/>
            <a:ext cx="5659654" cy="39944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Match the word to the definition: Select the words from the given list. </a:t>
            </a:r>
            <a:r>
              <a:rPr lang="en-US" sz="1800" b="1" dirty="0"/>
              <a:t>(Smart speaker - Artificial Intelligence – Chatbot - Self-driving car - Voice recognition)</a:t>
            </a:r>
          </a:p>
          <a:p>
            <a:pPr marL="0" indent="0">
              <a:buNone/>
            </a:pPr>
            <a:endParaRPr lang="en-US" sz="1800" dirty="0"/>
          </a:p>
          <a:p>
            <a:pPr marL="800100" lvl="1" indent="-342900">
              <a:buFont typeface="+mj-lt"/>
              <a:buAutoNum type="arabicPeriod"/>
            </a:pPr>
            <a:r>
              <a:rPr lang="en-US" sz="1800" b="1" u="sng" dirty="0"/>
              <a:t>Chatbot</a:t>
            </a:r>
            <a:r>
              <a:rPr lang="en-US" sz="1800" dirty="0"/>
              <a:t> → A program that talks to people online.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b="1" u="sng" dirty="0"/>
              <a:t>Voice recognition </a:t>
            </a:r>
            <a:r>
              <a:rPr lang="en-US" sz="1800" dirty="0"/>
              <a:t>→ Technology that understands spoken words.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b="1" u="sng" dirty="0"/>
              <a:t>Smart speaker </a:t>
            </a:r>
            <a:r>
              <a:rPr lang="en-US" sz="1800" dirty="0"/>
              <a:t>→ A device with a voice assistant.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b="1" u="sng" dirty="0"/>
              <a:t>Self-driving car </a:t>
            </a:r>
            <a:r>
              <a:rPr lang="en-US" sz="1800" dirty="0"/>
              <a:t>→ A car that drives itself using AI.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b="1" u="sng" dirty="0"/>
              <a:t>Artificial Intelligence </a:t>
            </a:r>
            <a:r>
              <a:rPr lang="en-US" sz="1800" dirty="0"/>
              <a:t>→ The ability of a machine to think and learn.</a:t>
            </a:r>
          </a:p>
          <a:p>
            <a:pPr marL="0" indent="0">
              <a:buNone/>
            </a:pPr>
            <a:endParaRPr lang="en-US" sz="1500" dirty="0"/>
          </a:p>
          <a:p>
            <a:pPr marL="800100" lvl="1" indent="-342900">
              <a:buFont typeface="+mj-lt"/>
              <a:buAutoNum type="arabicPeriod"/>
            </a:pPr>
            <a:endParaRPr lang="es-ES" sz="15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8F324-B5B4-1CF8-62C1-088ABA525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17733" y="6356350"/>
            <a:ext cx="5291667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tuSpeaking 2025, all rights reserved</a:t>
            </a:r>
            <a:endParaRPr lang="es-E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9831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9A99423-9EBE-81F0-4D04-BFB44D6C8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490537"/>
            <a:ext cx="5291663" cy="1628775"/>
          </a:xfrm>
        </p:spPr>
        <p:txBody>
          <a:bodyPr anchor="b">
            <a:normAutofit/>
          </a:bodyPr>
          <a:lstStyle/>
          <a:p>
            <a:r>
              <a:rPr lang="es-ES" sz="4000" dirty="0"/>
              <a:t>⚖️ GRAMMAR FOCUS</a:t>
            </a:r>
          </a:p>
        </p:txBody>
      </p:sp>
      <p:pic>
        <p:nvPicPr>
          <p:cNvPr id="13" name="Picture 12" descr="A tablet with words on it&#10;&#10;AI-generated content may be incorrect.">
            <a:extLst>
              <a:ext uri="{FF2B5EF4-FFF2-40B4-BE49-F238E27FC236}">
                <a16:creationId xmlns:a16="http://schemas.microsoft.com/office/drawing/2014/main" id="{C40E1993-1496-519E-C285-6958C0BF6F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9032" r="11620" b="-2"/>
          <a:stretch>
            <a:fillRect/>
          </a:stretch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E624398-A393-C028-2915-77227D1D6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7734" y="2614612"/>
            <a:ext cx="5291663" cy="3752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Topic: </a:t>
            </a:r>
            <a:r>
              <a:rPr lang="en-US" sz="1800" dirty="0"/>
              <a:t>The Future with </a:t>
            </a:r>
            <a:r>
              <a:rPr lang="en-US" sz="1800" b="1" dirty="0"/>
              <a:t>“will” </a:t>
            </a:r>
            <a:r>
              <a:rPr lang="en-US" sz="1800" dirty="0"/>
              <a:t>and</a:t>
            </a:r>
            <a:r>
              <a:rPr lang="en-US" sz="1800" b="1" dirty="0"/>
              <a:t> “going to”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Explanation:</a:t>
            </a:r>
          </a:p>
          <a:p>
            <a:r>
              <a:rPr lang="en-US" sz="1800" dirty="0"/>
              <a:t>We often talk about AI in terms of </a:t>
            </a:r>
            <a:r>
              <a:rPr lang="en-US" sz="1800" b="1" dirty="0"/>
              <a:t>predictions and plans.</a:t>
            </a:r>
          </a:p>
          <a:p>
            <a:r>
              <a:rPr lang="en-US" sz="1800" b="1" dirty="0"/>
              <a:t>Will</a:t>
            </a:r>
            <a:r>
              <a:rPr lang="en-US" sz="1800" dirty="0"/>
              <a:t> is used for predictions or spontaneous decisions.</a:t>
            </a:r>
          </a:p>
          <a:p>
            <a:r>
              <a:rPr lang="en-US" sz="1800" b="1" dirty="0"/>
              <a:t>Going to </a:t>
            </a:r>
            <a:r>
              <a:rPr lang="en-US" sz="1800" dirty="0"/>
              <a:t>is used for intentions or plans already decided.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E6DE6-730E-9B5D-6CB3-E86823E3A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17733" y="6356350"/>
            <a:ext cx="5291667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tuSpeaking 2025, all rights reserved</a:t>
            </a:r>
            <a:endParaRPr lang="es-E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6947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00F19-75E0-BB66-7275-D6D74871C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490537"/>
            <a:ext cx="5291663" cy="1628775"/>
          </a:xfrm>
        </p:spPr>
        <p:txBody>
          <a:bodyPr anchor="b">
            <a:normAutofit/>
          </a:bodyPr>
          <a:lstStyle/>
          <a:p>
            <a:r>
              <a:rPr lang="es-ES" sz="4000" dirty="0"/>
              <a:t>GRAMMAR EXERCISE</a:t>
            </a:r>
          </a:p>
        </p:txBody>
      </p:sp>
      <p:pic>
        <p:nvPicPr>
          <p:cNvPr id="6" name="Picture 5" descr="A person standing in front of clocks&#10;&#10;AI-generated content may be incorrect.">
            <a:extLst>
              <a:ext uri="{FF2B5EF4-FFF2-40B4-BE49-F238E27FC236}">
                <a16:creationId xmlns:a16="http://schemas.microsoft.com/office/drawing/2014/main" id="{A4F7E012-43B5-4A0D-16CF-C908D919D6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4926" r="15726" b="-2"/>
          <a:stretch>
            <a:fillRect/>
          </a:stretch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6AE49-3A9D-83F0-BDAC-852248966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7734" y="2614612"/>
            <a:ext cx="5291663" cy="3752849"/>
          </a:xfrm>
        </p:spPr>
        <p:txBody>
          <a:bodyPr>
            <a:normAutofit/>
          </a:bodyPr>
          <a:lstStyle/>
          <a:p>
            <a:r>
              <a:rPr lang="en-US" sz="1800" dirty="0"/>
              <a:t>Complete with </a:t>
            </a:r>
            <a:r>
              <a:rPr lang="en-US" sz="1800" b="1" dirty="0"/>
              <a:t>will</a:t>
            </a:r>
            <a:r>
              <a:rPr lang="en-US" sz="1800" dirty="0"/>
              <a:t> or </a:t>
            </a:r>
            <a:r>
              <a:rPr lang="en-US" sz="1800" b="1" dirty="0"/>
              <a:t>going to</a:t>
            </a:r>
            <a:r>
              <a:rPr lang="en-US" sz="1800" dirty="0"/>
              <a:t>:</a:t>
            </a:r>
          </a:p>
          <a:p>
            <a:pPr marL="0" indent="0">
              <a:buNone/>
            </a:pPr>
            <a:endParaRPr lang="en-US" sz="1800" dirty="0"/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In 20 years, most cars ______ drive themselves.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I ______ try an AI chatbot this week.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People ______ use robots to help with housework.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My school ______ start using AI tools soon.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I think AI ______ replace many jobs.</a:t>
            </a:r>
            <a:endParaRPr lang="es-ES" sz="1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66A879-24D4-93CF-70C6-CC0CAFEFF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17733" y="6356350"/>
            <a:ext cx="5291667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tuSpeaking 2025, all rights reserved</a:t>
            </a:r>
            <a:endParaRPr lang="es-E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0310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260574-9FFD-C9D4-0B92-354EEF262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256C3-8239-0CF7-0609-B758E4097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490537"/>
            <a:ext cx="5291663" cy="1628775"/>
          </a:xfrm>
        </p:spPr>
        <p:txBody>
          <a:bodyPr anchor="b">
            <a:normAutofit/>
          </a:bodyPr>
          <a:lstStyle/>
          <a:p>
            <a:r>
              <a:rPr lang="es-ES" sz="4000" dirty="0"/>
              <a:t>GRAMMAR EXERCISE - ANSWERS</a:t>
            </a:r>
          </a:p>
        </p:txBody>
      </p:sp>
      <p:pic>
        <p:nvPicPr>
          <p:cNvPr id="6" name="Picture 5" descr="A blue clock on a circuit board&#10;&#10;AI-generated content may be incorrect.">
            <a:extLst>
              <a:ext uri="{FF2B5EF4-FFF2-40B4-BE49-F238E27FC236}">
                <a16:creationId xmlns:a16="http://schemas.microsoft.com/office/drawing/2014/main" id="{5CAEE66E-3EC4-CC9C-B9FC-287CA8463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4270" r="26382" b="-2"/>
          <a:stretch>
            <a:fillRect/>
          </a:stretch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F2336-1B78-8EA7-D8CE-52B4AA4F5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4174" y="2377440"/>
            <a:ext cx="5395224" cy="3990021"/>
          </a:xfrm>
        </p:spPr>
        <p:txBody>
          <a:bodyPr>
            <a:noAutofit/>
          </a:bodyPr>
          <a:lstStyle/>
          <a:p>
            <a:r>
              <a:rPr lang="en-US" sz="1800" dirty="0"/>
              <a:t>Complete with </a:t>
            </a:r>
            <a:r>
              <a:rPr lang="en-US" sz="1800" b="1" dirty="0"/>
              <a:t>will</a:t>
            </a:r>
            <a:r>
              <a:rPr lang="en-US" sz="1800" dirty="0"/>
              <a:t> or </a:t>
            </a:r>
            <a:r>
              <a:rPr lang="en-US" sz="1800" b="1" dirty="0"/>
              <a:t>going to</a:t>
            </a:r>
            <a:r>
              <a:rPr lang="en-US" sz="1800" dirty="0"/>
              <a:t>:</a:t>
            </a:r>
          </a:p>
          <a:p>
            <a:pPr marL="0" indent="0">
              <a:buNone/>
            </a:pPr>
            <a:endParaRPr lang="en-US" sz="1800" dirty="0"/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In 20 years, most cars </a:t>
            </a:r>
            <a:r>
              <a:rPr lang="en-US" sz="1800" b="1" u="sng" dirty="0"/>
              <a:t>will</a:t>
            </a:r>
            <a:r>
              <a:rPr lang="en-US" sz="1800" dirty="0"/>
              <a:t> drive themselves.</a:t>
            </a:r>
          </a:p>
          <a:p>
            <a:pPr marL="800100" lvl="1" indent="-342900">
              <a:buFont typeface="+mj-lt"/>
              <a:buAutoNum type="arabicPeriod"/>
            </a:pPr>
            <a:endParaRPr lang="en-US" sz="1800" dirty="0"/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I am </a:t>
            </a:r>
            <a:r>
              <a:rPr lang="en-US" sz="1800" b="1" u="sng" dirty="0"/>
              <a:t>going to </a:t>
            </a:r>
            <a:r>
              <a:rPr lang="en-US" sz="1800" dirty="0"/>
              <a:t>try an AI chatbot this week.</a:t>
            </a:r>
          </a:p>
          <a:p>
            <a:pPr marL="800100" lvl="1" indent="-342900">
              <a:buFont typeface="+mj-lt"/>
              <a:buAutoNum type="arabicPeriod"/>
            </a:pPr>
            <a:endParaRPr lang="en-US" sz="1800" dirty="0"/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People </a:t>
            </a:r>
            <a:r>
              <a:rPr lang="en-US" sz="1800" b="1" u="sng" dirty="0"/>
              <a:t>will</a:t>
            </a:r>
            <a:r>
              <a:rPr lang="en-US" sz="1800" dirty="0"/>
              <a:t> use robots to help with housework.</a:t>
            </a:r>
          </a:p>
          <a:p>
            <a:pPr marL="800100" lvl="1" indent="-342900">
              <a:buFont typeface="+mj-lt"/>
              <a:buAutoNum type="arabicPeriod"/>
            </a:pPr>
            <a:endParaRPr lang="en-US" sz="1800" dirty="0"/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My school is </a:t>
            </a:r>
            <a:r>
              <a:rPr lang="en-US" sz="1800" b="1" u="sng" dirty="0"/>
              <a:t>going to </a:t>
            </a:r>
            <a:r>
              <a:rPr lang="en-US" sz="1800" dirty="0"/>
              <a:t>start using AI tools soon.</a:t>
            </a:r>
          </a:p>
          <a:p>
            <a:pPr marL="800100" lvl="1" indent="-342900">
              <a:buFont typeface="+mj-lt"/>
              <a:buAutoNum type="arabicPeriod"/>
            </a:pPr>
            <a:endParaRPr lang="en-US" sz="1800" dirty="0"/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I think AI </a:t>
            </a:r>
            <a:r>
              <a:rPr lang="en-US" sz="1800" b="1" u="sng" dirty="0"/>
              <a:t>will</a:t>
            </a:r>
            <a:r>
              <a:rPr lang="en-US" sz="1800" dirty="0"/>
              <a:t> replace many jobs.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90696C-F00C-DB2A-20BF-F42375033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17733" y="6356350"/>
            <a:ext cx="5291667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tuSpeaking 2025, all rights reserved</a:t>
            </a:r>
            <a:endParaRPr lang="es-E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0899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208F157-1CAC-4AF9-2CD9-7179E0B40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490537"/>
            <a:ext cx="5291663" cy="1628775"/>
          </a:xfrm>
        </p:spPr>
        <p:txBody>
          <a:bodyPr anchor="b">
            <a:normAutofit/>
          </a:bodyPr>
          <a:lstStyle/>
          <a:p>
            <a:r>
              <a:rPr lang="es-ES" sz="4000" dirty="0"/>
              <a:t>💬 SPEAKING ACTIVITY</a:t>
            </a:r>
          </a:p>
        </p:txBody>
      </p:sp>
      <p:pic>
        <p:nvPicPr>
          <p:cNvPr id="12" name="Picture 11" descr="A person covering her face with her hands&#10;&#10;AI-generated content may be incorrect.">
            <a:extLst>
              <a:ext uri="{FF2B5EF4-FFF2-40B4-BE49-F238E27FC236}">
                <a16:creationId xmlns:a16="http://schemas.microsoft.com/office/drawing/2014/main" id="{2D4A22E0-75C8-5968-4609-9CB3BFE7EF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8758" r="1894" b="-2"/>
          <a:stretch>
            <a:fillRect/>
          </a:stretch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813E999-7784-F582-7A81-FBC67A465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7734" y="2614612"/>
            <a:ext cx="5291663" cy="3752849"/>
          </a:xfrm>
        </p:spPr>
        <p:txBody>
          <a:bodyPr>
            <a:normAutofit/>
          </a:bodyPr>
          <a:lstStyle/>
          <a:p>
            <a:r>
              <a:rPr lang="en-US" sz="1800" b="1" dirty="0"/>
              <a:t>Task: </a:t>
            </a:r>
            <a:r>
              <a:rPr lang="en-US" sz="1800" dirty="0"/>
              <a:t>In pairs, students answer:</a:t>
            </a:r>
          </a:p>
          <a:p>
            <a:endParaRPr lang="en-US" sz="1800" dirty="0"/>
          </a:p>
          <a:p>
            <a:pPr marL="914400" lvl="1" indent="-457200">
              <a:buFont typeface="+mj-lt"/>
              <a:buAutoNum type="arabicPeriod"/>
            </a:pPr>
            <a:r>
              <a:rPr lang="en-US" sz="1800" dirty="0"/>
              <a:t>What AI do you use daily?</a:t>
            </a:r>
          </a:p>
          <a:p>
            <a:pPr marL="914400" lvl="1" indent="-457200">
              <a:buFont typeface="+mj-lt"/>
              <a:buAutoNum type="arabicPeriod"/>
            </a:pPr>
            <a:endParaRPr lang="en-US" sz="1800" dirty="0"/>
          </a:p>
          <a:p>
            <a:pPr marL="914400" lvl="1" indent="-457200">
              <a:buFont typeface="+mj-lt"/>
              <a:buAutoNum type="arabicPeriod"/>
            </a:pPr>
            <a:r>
              <a:rPr lang="en-US" sz="1800" dirty="0"/>
              <a:t>Do you trust AI recommendations?</a:t>
            </a:r>
          </a:p>
          <a:p>
            <a:pPr marL="914400" lvl="1" indent="-457200">
              <a:buFont typeface="+mj-lt"/>
              <a:buAutoNum type="arabicPeriod"/>
            </a:pPr>
            <a:endParaRPr lang="en-US" sz="1800" dirty="0"/>
          </a:p>
          <a:p>
            <a:pPr marL="914400" lvl="1" indent="-457200">
              <a:buFont typeface="+mj-lt"/>
              <a:buAutoNum type="arabicPeriod"/>
            </a:pPr>
            <a:r>
              <a:rPr lang="en-US" sz="1800" dirty="0"/>
              <a:t>Could AI replace some jobs?</a:t>
            </a:r>
            <a:endParaRPr lang="es-ES" sz="1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E1AB0-3D82-A6E4-CC0D-86FDAE324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76622" y="6356350"/>
            <a:ext cx="2632773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tuSpeaking 2025, all rights reserved</a:t>
            </a:r>
            <a:endParaRPr lang="es-E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44210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5D745-8CF6-4B80-3041-6BA8BEA90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490537"/>
            <a:ext cx="5291663" cy="1628775"/>
          </a:xfrm>
        </p:spPr>
        <p:txBody>
          <a:bodyPr anchor="b">
            <a:normAutofit/>
          </a:bodyPr>
          <a:lstStyle/>
          <a:p>
            <a:r>
              <a:rPr lang="es-ES" sz="4000" dirty="0"/>
              <a:t>CONCLUSIONS</a:t>
            </a:r>
          </a:p>
        </p:txBody>
      </p:sp>
      <p:pic>
        <p:nvPicPr>
          <p:cNvPr id="8" name="Picture 7" descr="A light bulb with a brain inside">
            <a:extLst>
              <a:ext uri="{FF2B5EF4-FFF2-40B4-BE49-F238E27FC236}">
                <a16:creationId xmlns:a16="http://schemas.microsoft.com/office/drawing/2014/main" id="{0779376A-95CD-0E63-516C-4C1EC999F6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0166" r="20709"/>
          <a:stretch>
            <a:fillRect/>
          </a:stretch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0E5A0-9720-F5FF-3E8E-0318795D6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7734" y="2614612"/>
            <a:ext cx="5291663" cy="3752849"/>
          </a:xfrm>
        </p:spPr>
        <p:txBody>
          <a:bodyPr>
            <a:normAutofit/>
          </a:bodyPr>
          <a:lstStyle/>
          <a:p>
            <a:pPr lvl="1"/>
            <a:r>
              <a:rPr lang="en-US" sz="1800" dirty="0"/>
              <a:t>AI is already here, making daily life easier and more connected.</a:t>
            </a:r>
          </a:p>
          <a:p>
            <a:pPr lvl="1"/>
            <a:endParaRPr lang="en-US" sz="1800" dirty="0"/>
          </a:p>
          <a:p>
            <a:pPr lvl="1"/>
            <a:r>
              <a:rPr lang="en-US" sz="1800" dirty="0"/>
              <a:t>Vocabulary helps us describe and discuss technology.</a:t>
            </a:r>
          </a:p>
          <a:p>
            <a:pPr lvl="1"/>
            <a:endParaRPr lang="en-US" sz="1800" dirty="0"/>
          </a:p>
          <a:p>
            <a:pPr lvl="1"/>
            <a:r>
              <a:rPr lang="en-US" sz="1800" dirty="0"/>
              <a:t>Grammar with will and going to allows us to talk about the future of AI.</a:t>
            </a:r>
          </a:p>
          <a:p>
            <a:pPr lvl="1"/>
            <a:endParaRPr lang="en-US" sz="1800" dirty="0"/>
          </a:p>
          <a:p>
            <a:pPr lvl="1"/>
            <a:r>
              <a:rPr lang="en-US" sz="1800" dirty="0"/>
              <a:t>Students can now predict, plan, and share opinions about AI.</a:t>
            </a:r>
            <a:endParaRPr lang="es-ES" sz="1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EB276A-A310-E8E9-F550-B3D3299EB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17733" y="6356350"/>
            <a:ext cx="5291667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tuSpeaking 2025, all rights reserved</a:t>
            </a:r>
            <a:endParaRPr lang="es-E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0703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934BF-69C1-EEF1-3D8F-E5FED41A6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490537"/>
            <a:ext cx="5291663" cy="1628775"/>
          </a:xfrm>
        </p:spPr>
        <p:txBody>
          <a:bodyPr anchor="b">
            <a:normAutofit/>
          </a:bodyPr>
          <a:lstStyle/>
          <a:p>
            <a:r>
              <a:rPr lang="es-ES" sz="4000" dirty="0"/>
              <a:t>MEMORABLE ENDING</a:t>
            </a:r>
          </a:p>
        </p:txBody>
      </p:sp>
      <p:pic>
        <p:nvPicPr>
          <p:cNvPr id="6" name="Picture 5" descr="A hand holding a phone&#10;&#10;AI-generated content may be incorrect.">
            <a:extLst>
              <a:ext uri="{FF2B5EF4-FFF2-40B4-BE49-F238E27FC236}">
                <a16:creationId xmlns:a16="http://schemas.microsoft.com/office/drawing/2014/main" id="{DB31E8C8-E835-CFB2-CC50-0F9F32C135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4339" r="25201" b="-2"/>
          <a:stretch>
            <a:fillRect/>
          </a:stretch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42872-BA39-3124-255E-FE054B6C7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7734" y="2614612"/>
            <a:ext cx="5291663" cy="3752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“AI in Your Pocket” Challenge:</a:t>
            </a:r>
          </a:p>
          <a:p>
            <a:pPr marL="0" indent="0">
              <a:buNone/>
            </a:pPr>
            <a:r>
              <a:rPr lang="en-US" sz="1800" dirty="0"/>
              <a:t>Each student writes 1 sentence predicting the role of AI in their future (e.g., “AI will help me learn English faster.”). Share with the class.</a:t>
            </a:r>
            <a:endParaRPr lang="es-ES" sz="1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522D1E-CFB6-40CA-6B76-E50975B4C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17733" y="6356350"/>
            <a:ext cx="5291667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tuSpeaking 2025, all rights reserved</a:t>
            </a:r>
            <a:endParaRPr lang="es-E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3475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 descr="A red robot with a yellow speech bubble&#10;&#10;AI-generated content may be incorrect.">
            <a:extLst>
              <a:ext uri="{FF2B5EF4-FFF2-40B4-BE49-F238E27FC236}">
                <a16:creationId xmlns:a16="http://schemas.microsoft.com/office/drawing/2014/main" id="{83A3A966-2C72-7C97-4811-E97AFCF9DB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42CAAB-FE93-C1E0-1F8B-107F51F46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tuSpeaking 2025,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438301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</TotalTime>
  <Words>834</Words>
  <Application>Microsoft Office PowerPoint</Application>
  <PresentationFormat>Widescreen</PresentationFormat>
  <Paragraphs>116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AI in daily life: From Smart Speakers to Self-Driving Dreams</vt:lpstr>
      <vt:lpstr>✨ OBJECTIVES</vt:lpstr>
      <vt:lpstr>🌈 WARM-UP</vt:lpstr>
      <vt:lpstr>INTRODUCTION</vt:lpstr>
      <vt:lpstr>📚 VOCABULARY &amp; MEANINGS</vt:lpstr>
      <vt:lpstr>VOCABULARY EXERCISE</vt:lpstr>
      <vt:lpstr>VOCABULARY EXERCISE - ANSWERS</vt:lpstr>
      <vt:lpstr>⚖️ GRAMMAR FOCUS</vt:lpstr>
      <vt:lpstr>GRAMMAR EXERCISE</vt:lpstr>
      <vt:lpstr>GRAMMAR EXERCISE - ANSWERS</vt:lpstr>
      <vt:lpstr>💬 SPEAKING ACTIVITY</vt:lpstr>
      <vt:lpstr>CONCLUSIONS</vt:lpstr>
      <vt:lpstr>MEMORABLE ENDING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Javier Rodríguez</dc:creator>
  <cp:lastModifiedBy>Javier Rodríguez</cp:lastModifiedBy>
  <cp:revision>11</cp:revision>
  <dcterms:created xsi:type="dcterms:W3CDTF">2025-06-20T15:04:09Z</dcterms:created>
  <dcterms:modified xsi:type="dcterms:W3CDTF">2025-08-19T12:00:02Z</dcterms:modified>
</cp:coreProperties>
</file>