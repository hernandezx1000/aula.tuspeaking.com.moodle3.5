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A4C1AF-F97E-42D9-70F2-73246078F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826CCF7-09EA-EF24-CA59-77DD798D3D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A1C4C9C-93E7-C001-FF69-6AF1AC044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1E50-26DE-4488-9273-C33D0904EE24}" type="datetimeFigureOut">
              <a:rPr lang="es-ES" smtClean="0"/>
              <a:t>02/01/2025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73E9FE1-E46E-10CA-BFB4-D62E4B5D8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E03CFFC-186E-2D22-8A20-C402C31F0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2098-5B59-44C2-A768-3465517E7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0634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EC0AC0-7BAB-42FD-A14D-E98AC90F0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7631335-2A8F-170C-3E06-A17D8FC42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48AF207-7325-691D-7558-93D79C292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1E50-26DE-4488-9273-C33D0904EE24}" type="datetimeFigureOut">
              <a:rPr lang="es-ES" smtClean="0"/>
              <a:t>02/01/2025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DD1EBE4-85DC-4003-C620-E8F36CF8F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18854F1-D41C-3CC2-5721-D004BEDC7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2098-5B59-44C2-A768-3465517E7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4725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CD33A2-BE6C-F007-35DF-DB18EB5A9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D66D36A-023F-990D-2132-DAF0B108A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73899C1-A401-DE45-847B-0B185A68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1E50-26DE-4488-9273-C33D0904EE24}" type="datetimeFigureOut">
              <a:rPr lang="es-ES" smtClean="0"/>
              <a:t>02/01/2025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3FAC5C8-7355-2DFD-C46A-0095017E6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0CADD88-D204-7DED-C6FC-580596FD7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2098-5B59-44C2-A768-3465517E7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3287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0BBC41-A709-2695-FDDB-DEF952199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C3C6BB-0304-36DE-ED0F-1D4E5901BA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2ED193C-630D-F76A-CE57-D5164BD031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7E2F5DA-9A48-19BF-001E-BD95D1808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1E50-26DE-4488-9273-C33D0904EE24}" type="datetimeFigureOut">
              <a:rPr lang="es-ES" smtClean="0"/>
              <a:t>02/01/2025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AC8B40E-0048-9761-0D95-110515778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0EA0FC3-39D7-1D03-F65A-F38B16AF6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2098-5B59-44C2-A768-3465517E7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2744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06EC7F-4A0B-7552-24B5-418EF2311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F5561CC-BA1D-6900-881B-43C963A86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0F9D28D-E182-9235-BB04-24E7925F15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ED0EA499-453D-D1E8-1F0D-8002B18B7D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5557ABC-3857-2ECB-ECD6-B9940CBE6D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05B38EA1-F7A5-314C-E8B7-A294885CF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1E50-26DE-4488-9273-C33D0904EE24}" type="datetimeFigureOut">
              <a:rPr lang="es-ES" smtClean="0"/>
              <a:t>02/01/2025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3569A93-6746-6EC1-489E-3B88CF5F1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9FAC476-549A-9277-09DE-16CB28FC3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2098-5B59-44C2-A768-3465517E7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9603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90A455-5702-0D90-0837-CC0089CB1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079CCF3-27C5-8386-543C-AF7EC142A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1E50-26DE-4488-9273-C33D0904EE24}" type="datetimeFigureOut">
              <a:rPr lang="es-ES" smtClean="0"/>
              <a:t>02/01/2025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159BCA5-3937-ABA6-F589-5858F743C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82A6931-93FC-5689-9617-68424A209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2098-5B59-44C2-A768-3465517E7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0228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63932FF-887D-5BA6-EC51-588A25D4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1E50-26DE-4488-9273-C33D0904EE24}" type="datetimeFigureOut">
              <a:rPr lang="es-ES" smtClean="0"/>
              <a:t>02/01/2025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B727026B-B8FE-1C15-EABB-5343C78FD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F2E1182-435D-7D6E-2DEC-12A936D22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2098-5B59-44C2-A768-3465517E7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1097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1BB42B-D6CC-3E5D-D2BC-135196C29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CE7EB3D-D35D-CD53-1EE1-2727F26D7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84DF5E1-CB3C-4487-FC6F-1C4270FDB1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B9D60E3-BE87-906F-E825-42DE22A25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1E50-26DE-4488-9273-C33D0904EE24}" type="datetimeFigureOut">
              <a:rPr lang="es-ES" smtClean="0"/>
              <a:t>02/01/2025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AFE4C5C-15A2-8D24-E5B2-718049C2E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D1C70BA-ADAA-9CD7-FC89-4BF55E4A1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2098-5B59-44C2-A768-3465517E7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5870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0AE71E-CCBA-8EFF-4356-14F55DB3B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236E3A8B-7E12-6301-02B2-F53DB63778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1F77F21-5F6F-3423-C453-9947D843A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F1362BA-7570-69F1-DE41-CF5AF508E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1E50-26DE-4488-9273-C33D0904EE24}" type="datetimeFigureOut">
              <a:rPr lang="es-ES" smtClean="0"/>
              <a:t>02/01/2025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8EA4496-A53F-97DF-3346-0EEA1283B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CF0624F-70E0-AD7E-9707-FFF6151B1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2098-5B59-44C2-A768-3465517E7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162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F448F6-7E4D-40C6-9F09-465D36106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E0C2694-3800-D0EA-DF24-8FBBAECF86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C137E86-61A3-929A-42FC-624F496DE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1E50-26DE-4488-9273-C33D0904EE24}" type="datetimeFigureOut">
              <a:rPr lang="es-ES" smtClean="0"/>
              <a:t>02/01/2025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7AC49A6-0B25-143D-17B8-87237B864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F3150C2-73DA-78A4-EB45-1798B291D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2098-5B59-44C2-A768-3465517E7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1754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60EEE382-9B97-983B-3762-22016DA029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CB3B383-3588-99C8-661E-1909F707A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88CB3AF-6C86-9C2C-B127-7B03BA594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1E50-26DE-4488-9273-C33D0904EE24}" type="datetimeFigureOut">
              <a:rPr lang="es-ES" smtClean="0"/>
              <a:t>02/01/2025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57C4437-4FBD-7C26-A4A1-4ACF4F11C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0309BD5-6E13-7CEA-23FA-25DEE97BA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2098-5B59-44C2-A768-3465517E7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279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58261F8-741E-CD1E-A1DA-194C587FE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68F7091-5949-7FB4-F73D-B199F5534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A526589-3C73-9F8C-741A-8B4CAD0271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9C1E50-26DE-4488-9273-C33D0904EE24}" type="datetimeFigureOut">
              <a:rPr lang="es-ES" smtClean="0"/>
              <a:t>02/01/2025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6AB6E24-BD98-3D9F-8E50-A6A2533400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5396180-76F4-3F94-4436-1AC4C4C5D5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42098-5B59-44C2-A768-3465517E7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736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9FD3F6-EBA4-16A3-9B23-6BFFC3629D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Mass</a:t>
            </a:r>
            <a:r>
              <a:rPr lang="es-ES" dirty="0"/>
              <a:t> media and </a:t>
            </a:r>
            <a:r>
              <a:rPr lang="es-ES" dirty="0" err="1"/>
              <a:t>communication</a:t>
            </a:r>
            <a:endParaRPr lang="es-E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52C802C-AC53-EDBB-1597-A7974DF572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English </a:t>
            </a:r>
            <a:r>
              <a:rPr lang="es-ES" dirty="0" smtClean="0"/>
              <a:t>C1</a:t>
            </a:r>
            <a:endParaRPr lang="es-E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D0FDBDF-CB86-63E0-2DFB-C2162BA2B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0775" y="5734049"/>
            <a:ext cx="16383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611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04812C46-200A-4DEB-A05E-3ED6C68C23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On air sign with the light on">
            <a:extLst>
              <a:ext uri="{FF2B5EF4-FFF2-40B4-BE49-F238E27FC236}">
                <a16:creationId xmlns:a16="http://schemas.microsoft.com/office/drawing/2014/main" xmlns="" id="{22D9A0FB-1192-CCB5-FBA7-A7500767FE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3" r="5962" b="-1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D1EA859B-E555-4109-94F3-6700E046E0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778449-A1CD-384C-F8CE-3F9714E60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Warm up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3BF2D5F-20A2-1F39-7033-1EBA941484BD}"/>
              </a:ext>
            </a:extLst>
          </p:cNvPr>
          <p:cNvSpPr txBox="1"/>
          <p:nvPr/>
        </p:nvSpPr>
        <p:spPr>
          <a:xfrm>
            <a:off x="7531610" y="24342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i="0">
                <a:effectLst/>
              </a:rPr>
              <a:t>Introduction to Media:</a:t>
            </a:r>
            <a:endParaRPr lang="en-US" sz="1700" b="0" i="0">
              <a:effectLst/>
            </a:endParaRP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0" i="0">
                <a:effectLst/>
              </a:rPr>
              <a:t>What role does media play in your daily life?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0" i="0">
                <a:effectLst/>
              </a:rPr>
              <a:t>How has your consumption of media changed over the years?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i="0">
                <a:effectLst/>
              </a:rPr>
              <a:t>Media Preferences:</a:t>
            </a:r>
            <a:endParaRPr lang="en-US" sz="1700" b="0" i="0">
              <a:effectLst/>
            </a:endParaRP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0" i="0">
                <a:effectLst/>
              </a:rPr>
              <a:t>What types of media do you prefer—TV, radio, print, or online platforms?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0" i="0">
                <a:effectLst/>
              </a:rPr>
              <a:t>Are there specific genres or topics in the media that you find most interesting?</a:t>
            </a:r>
          </a:p>
        </p:txBody>
      </p:sp>
    </p:spTree>
    <p:extLst>
      <p:ext uri="{BB962C8B-B14F-4D97-AF65-F5344CB8AC3E}">
        <p14:creationId xmlns:p14="http://schemas.microsoft.com/office/powerpoint/2010/main" val="3794725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9228552E-C8B1-4A80-8448-0787CE0FC7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tro radio on a brown wooden rack">
            <a:extLst>
              <a:ext uri="{FF2B5EF4-FFF2-40B4-BE49-F238E27FC236}">
                <a16:creationId xmlns:a16="http://schemas.microsoft.com/office/drawing/2014/main" xmlns="" id="{5F983838-5C9F-1747-CB5E-B28B626C758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45" b="956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471198-9D37-7E91-EED6-FE3EE3FB2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 err="1">
                <a:solidFill>
                  <a:srgbClr val="FFFFFF"/>
                </a:solidFill>
              </a:rPr>
              <a:t>Vocabulary</a:t>
            </a:r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8EDEEE8-D0D8-CA4F-3CD7-CF47DAF95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numCol="2">
            <a:normAutofit fontScale="32500" lnSpcReduction="20000"/>
          </a:bodyPr>
          <a:lstStyle/>
          <a:p>
            <a:pPr>
              <a:buFont typeface="+mj-lt"/>
              <a:buAutoNum type="arabicPeriod"/>
            </a:pPr>
            <a:r>
              <a:rPr lang="en-GB" sz="4300" b="1" i="0" dirty="0">
                <a:solidFill>
                  <a:srgbClr val="FFFFFF"/>
                </a:solidFill>
                <a:effectLst/>
              </a:rPr>
              <a:t>Media:</a:t>
            </a:r>
            <a:endParaRPr lang="en-GB" sz="43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43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4300" b="0" i="0" dirty="0">
                <a:solidFill>
                  <a:srgbClr val="FFFFFF"/>
                </a:solidFill>
                <a:effectLst/>
              </a:rPr>
              <a:t> The means of communication, such as newspapers, radio, television, and the internet, that reach or influence people widely.</a:t>
            </a:r>
          </a:p>
          <a:p>
            <a:pPr>
              <a:buFont typeface="+mj-lt"/>
              <a:buAutoNum type="arabicPeriod"/>
            </a:pPr>
            <a:r>
              <a:rPr lang="en-GB" sz="4300" b="1" i="0" dirty="0">
                <a:solidFill>
                  <a:srgbClr val="FFFFFF"/>
                </a:solidFill>
                <a:effectLst/>
              </a:rPr>
              <a:t>Mass Media:</a:t>
            </a:r>
            <a:endParaRPr lang="en-GB" sz="43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43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4300" b="0" i="0" dirty="0">
                <a:solidFill>
                  <a:srgbClr val="FFFFFF"/>
                </a:solidFill>
                <a:effectLst/>
              </a:rPr>
              <a:t> Forms of communication that reach a large audience, typically including television, radio, newspapers, and the internet.</a:t>
            </a:r>
          </a:p>
          <a:p>
            <a:pPr>
              <a:buFont typeface="+mj-lt"/>
              <a:buAutoNum type="arabicPeriod"/>
            </a:pPr>
            <a:r>
              <a:rPr lang="en-GB" sz="4300" b="1" i="0" dirty="0">
                <a:solidFill>
                  <a:srgbClr val="FFFFFF"/>
                </a:solidFill>
                <a:effectLst/>
              </a:rPr>
              <a:t>Journalism:</a:t>
            </a:r>
            <a:endParaRPr lang="en-GB" sz="43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43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4300" b="0" i="0" dirty="0">
                <a:solidFill>
                  <a:srgbClr val="FFFFFF"/>
                </a:solidFill>
                <a:effectLst/>
              </a:rPr>
              <a:t> The profession or practice of reporting and analysing news events through print, broadcast, or online media.</a:t>
            </a:r>
          </a:p>
          <a:p>
            <a:pPr>
              <a:buFont typeface="+mj-lt"/>
              <a:buAutoNum type="arabicPeriod"/>
            </a:pPr>
            <a:r>
              <a:rPr lang="en-GB" sz="4300" b="1" i="0" dirty="0">
                <a:solidFill>
                  <a:srgbClr val="FFFFFF"/>
                </a:solidFill>
                <a:effectLst/>
              </a:rPr>
              <a:t>Broadcasting:</a:t>
            </a:r>
            <a:endParaRPr lang="en-GB" sz="43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43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4300" b="0" i="0" dirty="0">
                <a:solidFill>
                  <a:srgbClr val="FFFFFF"/>
                </a:solidFill>
                <a:effectLst/>
              </a:rPr>
              <a:t> The distribution of audio or video content to a dispersed audience via radio, television, or online platforms.</a:t>
            </a:r>
          </a:p>
          <a:p>
            <a:pPr>
              <a:buFont typeface="+mj-lt"/>
              <a:buAutoNum type="arabicPeriod"/>
            </a:pPr>
            <a:r>
              <a:rPr lang="en-GB" sz="4300" b="1" i="0" dirty="0">
                <a:solidFill>
                  <a:srgbClr val="FFFFFF"/>
                </a:solidFill>
                <a:effectLst/>
              </a:rPr>
              <a:t>Print Media:</a:t>
            </a:r>
            <a:endParaRPr lang="en-GB" sz="43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43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4300" b="0" i="0" dirty="0">
                <a:solidFill>
                  <a:srgbClr val="FFFFFF"/>
                </a:solidFill>
                <a:effectLst/>
              </a:rPr>
              <a:t> Media that is printed on paper, such as newspapers, magazines, and brochures.</a:t>
            </a:r>
          </a:p>
          <a:p>
            <a:pPr lvl="1"/>
            <a:endParaRPr lang="en-GB" sz="4300" dirty="0">
              <a:solidFill>
                <a:srgbClr val="FFFFFF"/>
              </a:solidFill>
            </a:endParaRPr>
          </a:p>
          <a:p>
            <a:pPr lvl="1"/>
            <a:endParaRPr lang="en-GB" sz="4300" b="0" i="0" dirty="0">
              <a:solidFill>
                <a:srgbClr val="FFFFFF"/>
              </a:solidFill>
              <a:effectLst/>
            </a:endParaRPr>
          </a:p>
          <a:p>
            <a:pPr lvl="1"/>
            <a:endParaRPr lang="en-GB" sz="4300" b="0" i="0" dirty="0">
              <a:solidFill>
                <a:srgbClr val="FFFFFF"/>
              </a:solidFill>
              <a:effectLst/>
            </a:endParaRPr>
          </a:p>
          <a:p>
            <a:pPr>
              <a:buFont typeface="+mj-lt"/>
              <a:buAutoNum type="arabicPeriod"/>
            </a:pPr>
            <a:r>
              <a:rPr lang="en-GB" sz="4300" b="1" i="0" dirty="0">
                <a:solidFill>
                  <a:srgbClr val="FFFFFF"/>
                </a:solidFill>
                <a:effectLst/>
              </a:rPr>
              <a:t>New Media:</a:t>
            </a:r>
            <a:endParaRPr lang="en-GB" sz="43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43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4300" b="0" i="0" dirty="0">
                <a:solidFill>
                  <a:srgbClr val="FFFFFF"/>
                </a:solidFill>
                <a:effectLst/>
              </a:rPr>
              <a:t> Digital forms of communication and media, including online platforms, social media, and digital content.</a:t>
            </a:r>
          </a:p>
          <a:p>
            <a:pPr>
              <a:buFont typeface="+mj-lt"/>
              <a:buAutoNum type="arabicPeriod"/>
            </a:pPr>
            <a:r>
              <a:rPr lang="en-GB" sz="4300" b="1" i="0" dirty="0">
                <a:solidFill>
                  <a:srgbClr val="FFFFFF"/>
                </a:solidFill>
                <a:effectLst/>
              </a:rPr>
              <a:t>Editorial:</a:t>
            </a:r>
            <a:endParaRPr lang="en-GB" sz="43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43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4300" b="0" i="0" dirty="0">
                <a:solidFill>
                  <a:srgbClr val="FFFFFF"/>
                </a:solidFill>
                <a:effectLst/>
              </a:rPr>
              <a:t> Content expressing the opinion or viewpoint of the media outlet, often found in newspapers or online articles.</a:t>
            </a:r>
          </a:p>
          <a:p>
            <a:pPr>
              <a:buFont typeface="+mj-lt"/>
              <a:buAutoNum type="arabicPeriod"/>
            </a:pPr>
            <a:r>
              <a:rPr lang="en-GB" sz="4300" b="1" i="0" dirty="0">
                <a:solidFill>
                  <a:srgbClr val="FFFFFF"/>
                </a:solidFill>
                <a:effectLst/>
              </a:rPr>
              <a:t>Press Release:</a:t>
            </a:r>
            <a:endParaRPr lang="en-GB" sz="43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43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4300" b="0" i="0" dirty="0">
                <a:solidFill>
                  <a:srgbClr val="FFFFFF"/>
                </a:solidFill>
                <a:effectLst/>
              </a:rPr>
              <a:t> A written or recorded communication provided to the media for publication, often announcing news or events.</a:t>
            </a:r>
          </a:p>
          <a:p>
            <a:pPr>
              <a:buFont typeface="+mj-lt"/>
              <a:buAutoNum type="arabicPeriod"/>
            </a:pPr>
            <a:r>
              <a:rPr lang="en-GB" sz="4300" b="1" i="0" dirty="0">
                <a:solidFill>
                  <a:srgbClr val="FFFFFF"/>
                </a:solidFill>
                <a:effectLst/>
              </a:rPr>
              <a:t>Infotainment:</a:t>
            </a:r>
            <a:endParaRPr lang="en-GB" sz="43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43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4300" b="0" i="0" dirty="0">
                <a:solidFill>
                  <a:srgbClr val="FFFFFF"/>
                </a:solidFill>
                <a:effectLst/>
              </a:rPr>
              <a:t> Media content that combines information and entertainment, often in a way that prioritizes entertainment value.</a:t>
            </a:r>
          </a:p>
          <a:p>
            <a:pPr>
              <a:buFont typeface="+mj-lt"/>
              <a:buAutoNum type="arabicPeriod"/>
            </a:pPr>
            <a:r>
              <a:rPr lang="en-GB" sz="4300" b="1" i="0" dirty="0">
                <a:solidFill>
                  <a:srgbClr val="FFFFFF"/>
                </a:solidFill>
                <a:effectLst/>
              </a:rPr>
              <a:t>Media Bias:</a:t>
            </a:r>
            <a:endParaRPr lang="en-GB" sz="43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43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4300" b="0" i="0" dirty="0">
                <a:solidFill>
                  <a:srgbClr val="FFFFFF"/>
                </a:solidFill>
                <a:effectLst/>
              </a:rPr>
              <a:t> The perceived or actual bias in the selection and presentation of news stories, reflecting a particular perspective.</a:t>
            </a:r>
          </a:p>
          <a:p>
            <a:endParaRPr lang="es-ES" sz="1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8439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1A9F7B4E-B03D-4F64-BE33-00D074458D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Vintage TVs on shelves">
            <a:extLst>
              <a:ext uri="{FF2B5EF4-FFF2-40B4-BE49-F238E27FC236}">
                <a16:creationId xmlns:a16="http://schemas.microsoft.com/office/drawing/2014/main" xmlns="" id="{9C2A1000-D23C-22D3-6BBD-8313785D91D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44" b="2786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471198-9D37-7E91-EED6-FE3EE3FB2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sz="5400" dirty="0" err="1">
                <a:solidFill>
                  <a:schemeClr val="bg1"/>
                </a:solidFill>
              </a:rPr>
              <a:t>Vocabulary</a:t>
            </a:r>
            <a:endParaRPr lang="es-ES" sz="5400" dirty="0">
              <a:solidFill>
                <a:schemeClr val="bg1"/>
              </a:solidFill>
            </a:endParaRPr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xmlns="" id="{7E2BE7F7-CA89-4002-ACCE-A478AEA24F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8EDEEE8-D0D8-CA4F-3CD7-CF47DAF95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 numCol="2">
            <a:normAutofit fontScale="92500" lnSpcReduction="20000"/>
          </a:bodyPr>
          <a:lstStyle/>
          <a:p>
            <a:pPr>
              <a:buFont typeface="+mj-lt"/>
              <a:buAutoNum type="arabicPeriod"/>
            </a:pPr>
            <a:r>
              <a:rPr lang="en-GB" sz="1600" b="1" i="0" dirty="0">
                <a:solidFill>
                  <a:schemeClr val="bg1"/>
                </a:solidFill>
                <a:effectLst/>
              </a:rPr>
              <a:t>Censorship:</a:t>
            </a:r>
            <a:endParaRPr lang="en-GB" sz="16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6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600" b="0" i="0" dirty="0">
                <a:solidFill>
                  <a:schemeClr val="bg1"/>
                </a:solidFill>
                <a:effectLst/>
              </a:rPr>
              <a:t> The control or suppression of information, ideas, or artistic expression by an authority or government.</a:t>
            </a:r>
          </a:p>
          <a:p>
            <a:pPr>
              <a:buFont typeface="+mj-lt"/>
              <a:buAutoNum type="arabicPeriod"/>
            </a:pPr>
            <a:r>
              <a:rPr lang="en-GB" sz="1600" b="1" i="0" dirty="0">
                <a:solidFill>
                  <a:schemeClr val="bg1"/>
                </a:solidFill>
                <a:effectLst/>
              </a:rPr>
              <a:t>Media Literacy:</a:t>
            </a:r>
            <a:endParaRPr lang="en-GB" sz="16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6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600" b="0" i="0" dirty="0">
                <a:solidFill>
                  <a:schemeClr val="bg1"/>
                </a:solidFill>
                <a:effectLst/>
              </a:rPr>
              <a:t> The ability to access, analyse, evaluate, and create media in various forms, promoting critical thinking and responsible use.</a:t>
            </a:r>
          </a:p>
          <a:p>
            <a:pPr>
              <a:buFont typeface="+mj-lt"/>
              <a:buAutoNum type="arabicPeriod"/>
            </a:pPr>
            <a:r>
              <a:rPr lang="en-GB" sz="1600" b="1" i="0" dirty="0">
                <a:solidFill>
                  <a:schemeClr val="bg1"/>
                </a:solidFill>
                <a:effectLst/>
              </a:rPr>
              <a:t>Clickbait:</a:t>
            </a:r>
            <a:endParaRPr lang="en-GB" sz="16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6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600" b="0" i="0" dirty="0">
                <a:solidFill>
                  <a:schemeClr val="bg1"/>
                </a:solidFill>
                <a:effectLst/>
              </a:rPr>
              <a:t> Online content, typically in the form of headlines or thumbnails, designed to attract attention and encourage users to click for more information.</a:t>
            </a:r>
          </a:p>
          <a:p>
            <a:pPr>
              <a:buFont typeface="+mj-lt"/>
              <a:buAutoNum type="arabicPeriod"/>
            </a:pPr>
            <a:r>
              <a:rPr lang="en-GB" sz="1600" b="1" i="0" dirty="0">
                <a:solidFill>
                  <a:schemeClr val="bg1"/>
                </a:solidFill>
                <a:effectLst/>
              </a:rPr>
              <a:t>Viral:</a:t>
            </a:r>
            <a:endParaRPr lang="en-GB" sz="16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6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600" b="0" i="0" dirty="0">
                <a:solidFill>
                  <a:schemeClr val="bg1"/>
                </a:solidFill>
                <a:effectLst/>
              </a:rPr>
              <a:t> Content, often online, that spreads rapidly and widely among users through sharing and reposting.</a:t>
            </a:r>
          </a:p>
          <a:p>
            <a:pPr>
              <a:buFont typeface="+mj-lt"/>
              <a:buAutoNum type="arabicPeriod"/>
            </a:pPr>
            <a:r>
              <a:rPr lang="en-GB" sz="1600" b="1" i="0" dirty="0">
                <a:solidFill>
                  <a:schemeClr val="bg1"/>
                </a:solidFill>
                <a:effectLst/>
              </a:rPr>
              <a:t>Podcast:</a:t>
            </a:r>
            <a:endParaRPr lang="en-GB" sz="16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6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600" b="0" i="0" dirty="0">
                <a:solidFill>
                  <a:schemeClr val="bg1"/>
                </a:solidFill>
                <a:effectLst/>
              </a:rPr>
              <a:t> A digital audio or video file available for streaming or download, often part of a series covering various topics.</a:t>
            </a:r>
          </a:p>
          <a:p>
            <a:pPr>
              <a:buFont typeface="+mj-lt"/>
              <a:buAutoNum type="arabicPeriod"/>
            </a:pPr>
            <a:r>
              <a:rPr lang="en-GB" sz="1600" b="1" i="0" dirty="0">
                <a:solidFill>
                  <a:schemeClr val="bg1"/>
                </a:solidFill>
                <a:effectLst/>
              </a:rPr>
              <a:t>Aggregator:</a:t>
            </a:r>
            <a:endParaRPr lang="en-GB" sz="16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6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600" b="0" i="0" dirty="0">
                <a:solidFill>
                  <a:schemeClr val="bg1"/>
                </a:solidFill>
                <a:effectLst/>
              </a:rPr>
              <a:t> A website or application that collects and displays content from various sources, providing a centralized location for users.</a:t>
            </a:r>
          </a:p>
          <a:p>
            <a:pPr>
              <a:buFont typeface="+mj-lt"/>
              <a:buAutoNum type="arabicPeriod"/>
            </a:pPr>
            <a:r>
              <a:rPr lang="en-GB" sz="1600" b="1" i="0" dirty="0">
                <a:solidFill>
                  <a:schemeClr val="bg1"/>
                </a:solidFill>
                <a:effectLst/>
              </a:rPr>
              <a:t>Caption:</a:t>
            </a:r>
            <a:endParaRPr lang="en-GB" sz="16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6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600" b="0" i="0" dirty="0">
                <a:solidFill>
                  <a:schemeClr val="bg1"/>
                </a:solidFill>
                <a:effectLst/>
              </a:rPr>
              <a:t> A brief explanation or description accompanying an image, providing context or additional information.</a:t>
            </a:r>
          </a:p>
          <a:p>
            <a:pPr>
              <a:buFont typeface="+mj-lt"/>
              <a:buAutoNum type="arabicPeriod"/>
            </a:pPr>
            <a:r>
              <a:rPr lang="en-GB" sz="1600" b="1" i="0" dirty="0">
                <a:solidFill>
                  <a:schemeClr val="bg1"/>
                </a:solidFill>
                <a:effectLst/>
              </a:rPr>
              <a:t>Analytics:</a:t>
            </a:r>
            <a:endParaRPr lang="en-GB" sz="16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6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600" b="0" i="0" dirty="0">
                <a:solidFill>
                  <a:schemeClr val="bg1"/>
                </a:solidFill>
                <a:effectLst/>
              </a:rPr>
              <a:t> The collection, measurement, analysis, and reporting of data related to the performance and effectiveness of media content.</a:t>
            </a:r>
          </a:p>
          <a:p>
            <a:pPr>
              <a:buFont typeface="+mj-lt"/>
              <a:buAutoNum type="arabicPeriod"/>
            </a:pPr>
            <a:r>
              <a:rPr lang="en-GB" sz="1600" b="1" i="0" dirty="0">
                <a:solidFill>
                  <a:schemeClr val="bg1"/>
                </a:solidFill>
                <a:effectLst/>
              </a:rPr>
              <a:t>SEO (Search Engine Optimization):</a:t>
            </a:r>
            <a:endParaRPr lang="en-GB" sz="16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6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600" b="0" i="0" dirty="0">
                <a:solidFill>
                  <a:schemeClr val="bg1"/>
                </a:solidFill>
                <a:effectLst/>
              </a:rPr>
              <a:t> The practice of optimizing online content to improve its visibility and ranking in search engine results.</a:t>
            </a:r>
          </a:p>
          <a:p>
            <a:pPr>
              <a:buFont typeface="+mj-lt"/>
              <a:buAutoNum type="arabicPeriod"/>
            </a:pPr>
            <a:r>
              <a:rPr lang="en-GB" sz="1600" b="1" i="0" dirty="0">
                <a:solidFill>
                  <a:schemeClr val="bg1"/>
                </a:solidFill>
                <a:effectLst/>
              </a:rPr>
              <a:t>Meme:</a:t>
            </a:r>
            <a:endParaRPr lang="en-GB" sz="16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6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600" b="0" i="0" dirty="0">
                <a:solidFill>
                  <a:schemeClr val="bg1"/>
                </a:solidFill>
                <a:effectLst/>
              </a:rPr>
              <a:t> A humorous image, video, or piece of text that is copied and spread rapidly by internet users.</a:t>
            </a:r>
          </a:p>
        </p:txBody>
      </p:sp>
    </p:spTree>
    <p:extLst>
      <p:ext uri="{BB962C8B-B14F-4D97-AF65-F5344CB8AC3E}">
        <p14:creationId xmlns:p14="http://schemas.microsoft.com/office/powerpoint/2010/main" val="1981592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9AA72BD9-2C5A-4EDC-931F-5AA08EACA0F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8DBE59A-C611-264D-F880-512DF7CC54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39666" b="1"/>
          <a:stretch/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D3981AC-7B61-4947-BCF3-F7AA7FA385B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95ADF3-781A-D4DE-2541-6FB5D4B90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s-ES" sz="2600" b="1" i="0">
                <a:solidFill>
                  <a:schemeClr val="bg1"/>
                </a:solidFill>
                <a:effectLst/>
                <a:latin typeface="+mn-lt"/>
              </a:rPr>
              <a:t>1. Objective Reporting vs. Advocacy:</a:t>
            </a:r>
            <a:endParaRPr lang="es-ES" sz="26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55D4142C-5077-457F-A6AD-3FECFDB396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7A5F0580-5EE9-419F-96EE-B6529EF6E7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0DB6D1B-34BB-36B5-3CDC-6996F4D0A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GB" sz="1700" b="1" i="1" dirty="0">
                <a:solidFill>
                  <a:schemeClr val="bg1"/>
                </a:solidFill>
                <a:effectLst/>
              </a:rPr>
              <a:t>Discussion:</a:t>
            </a:r>
            <a:r>
              <a:rPr lang="en-GB" sz="1700" b="1" i="0" dirty="0">
                <a:solidFill>
                  <a:schemeClr val="bg1"/>
                </a:solidFill>
                <a:effectLst/>
              </a:rPr>
              <a:t> </a:t>
            </a:r>
            <a:r>
              <a:rPr lang="en-GB" sz="1700" b="0" i="0" dirty="0">
                <a:solidFill>
                  <a:schemeClr val="bg1"/>
                </a:solidFill>
                <a:effectLst/>
              </a:rPr>
              <a:t>Explore the balance between objective reporting and advocacy journalism. Should journalists strive to remain impartial, or is it acceptable for them to express personal opinions in their reporting?</a:t>
            </a:r>
            <a:endParaRPr lang="es-ES" sz="1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3605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5BF6C0-74EA-41F6-FC97-F6059FBCC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es-ES" sz="4000" b="1" i="0">
                <a:effectLst/>
                <a:latin typeface="+mn-lt"/>
              </a:rPr>
              <a:t>2. Sensationalism in Media:</a:t>
            </a:r>
            <a:endParaRPr lang="es-ES" sz="400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CF5143A-3FB5-579A-9CFF-AEB3F2F2C8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2" r="1" b="1"/>
          <a:stretch/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A5CA413-10E8-A04C-2969-A7A283EAC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734" y="2614612"/>
            <a:ext cx="5291663" cy="3752849"/>
          </a:xfrm>
        </p:spPr>
        <p:txBody>
          <a:bodyPr>
            <a:normAutofit/>
          </a:bodyPr>
          <a:lstStyle/>
          <a:p>
            <a:r>
              <a:rPr lang="en-GB" sz="1800" b="1" i="1" dirty="0">
                <a:effectLst/>
              </a:rPr>
              <a:t>Discussion:</a:t>
            </a:r>
            <a:r>
              <a:rPr lang="en-GB" sz="1800" b="1" i="0" dirty="0">
                <a:effectLst/>
              </a:rPr>
              <a:t> </a:t>
            </a:r>
            <a:r>
              <a:rPr lang="en-GB" sz="1800" b="0" i="0" dirty="0">
                <a:effectLst/>
              </a:rPr>
              <a:t>Discuss the ethical implications of sensationalism in media. How does sensationalism impact public perception, and what responsibilities do media professionals have in avoiding sensationalistic practices?</a:t>
            </a:r>
          </a:p>
          <a:p>
            <a:r>
              <a:rPr lang="en-GB" sz="1800" dirty="0"/>
              <a:t>Can you think of any other examples closer to home?</a:t>
            </a:r>
            <a:endParaRPr lang="es-ES" sz="1800" dirty="0"/>
          </a:p>
        </p:txBody>
      </p:sp>
    </p:spTree>
    <p:extLst>
      <p:ext uri="{BB962C8B-B14F-4D97-AF65-F5344CB8AC3E}">
        <p14:creationId xmlns:p14="http://schemas.microsoft.com/office/powerpoint/2010/main" val="1162778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8F90786E-B72D-4C32-BDCE-A170B007822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5E46F2E7-848F-4A6C-A098-4764FDEA771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84F1867-28E0-524D-B4BE-CD236AB1802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b="15730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144B3F-101C-D4BA-3E11-12C233F14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71570"/>
            <a:ext cx="5155261" cy="4072044"/>
          </a:xfrm>
        </p:spPr>
        <p:txBody>
          <a:bodyPr anchor="t">
            <a:normAutofit/>
          </a:bodyPr>
          <a:lstStyle/>
          <a:p>
            <a:r>
              <a:rPr lang="es-ES" b="1" i="0">
                <a:solidFill>
                  <a:srgbClr val="FFFFFF"/>
                </a:solidFill>
                <a:effectLst/>
                <a:latin typeface="+mn-lt"/>
              </a:rPr>
              <a:t>3. Privacy and Intrusion:</a:t>
            </a:r>
            <a:endParaRPr lang="es-ES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96CFCF3-7459-D2D4-E95D-947DF3164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5986" y="1671566"/>
            <a:ext cx="5170861" cy="4072043"/>
          </a:xfrm>
        </p:spPr>
        <p:txBody>
          <a:bodyPr>
            <a:normAutofit/>
          </a:bodyPr>
          <a:lstStyle/>
          <a:p>
            <a:r>
              <a:rPr lang="en-GB" sz="2000" b="1" i="1">
                <a:solidFill>
                  <a:srgbClr val="FFFFFF"/>
                </a:solidFill>
                <a:effectLst/>
              </a:rPr>
              <a:t>Discussion:</a:t>
            </a:r>
            <a:r>
              <a:rPr lang="en-GB" sz="2000" b="1" i="0">
                <a:solidFill>
                  <a:srgbClr val="FFFFFF"/>
                </a:solidFill>
                <a:effectLst/>
              </a:rPr>
              <a:t> </a:t>
            </a:r>
            <a:r>
              <a:rPr lang="en-GB" sz="2000" b="0" i="0">
                <a:solidFill>
                  <a:srgbClr val="FFFFFF"/>
                </a:solidFill>
                <a:effectLst/>
              </a:rPr>
              <a:t>Examine the ethical considerations surrounding the invasion of privacy by the media. When is it justified to intrude into someone's private life for the sake of a news story?</a:t>
            </a:r>
            <a:endParaRPr lang="es-E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982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F13C74B1-5B17-4795-BED0-7140497B445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89C829-6C3D-B873-A777-73E730157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GB" sz="4200" b="1" i="0">
                <a:effectLst/>
                <a:latin typeface="+mn-lt"/>
              </a:rPr>
              <a:t>4. Fake News and Misinformation:</a:t>
            </a:r>
            <a:endParaRPr lang="es-ES" sz="4200">
              <a:latin typeface="+mn-lt"/>
            </a:endParaRP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xmlns="" id="{D4974D33-8DC5-464E-8C6D-BE58F0669C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5C02089-86BD-771E-16EF-68F5C6DA5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GB" sz="2200" b="1" i="1">
                <a:effectLst/>
              </a:rPr>
              <a:t>Discussion:</a:t>
            </a:r>
            <a:r>
              <a:rPr lang="en-GB" sz="2200" b="1" i="0">
                <a:effectLst/>
              </a:rPr>
              <a:t> </a:t>
            </a:r>
            <a:r>
              <a:rPr lang="en-GB" sz="2200" b="0" i="0">
                <a:effectLst/>
              </a:rPr>
              <a:t>Explore the role of media in combating fake news and misinformation. How can media organizations maintain trust, and what responsibility do they have in verifying and correcting information?</a:t>
            </a:r>
            <a:endParaRPr lang="es-ES" sz="2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DC9E1B6-2032-D8FD-C342-ED9DCC4D81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007" b="-2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92291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9228552E-C8B1-4A80-8448-0787CE0FC7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mera lens close up">
            <a:extLst>
              <a:ext uri="{FF2B5EF4-FFF2-40B4-BE49-F238E27FC236}">
                <a16:creationId xmlns:a16="http://schemas.microsoft.com/office/drawing/2014/main" xmlns="" id="{FBF568BF-9F06-0704-E617-28E292F938C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452968-6101-D337-B1D4-4A0B3A1B2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Vocabulary 2</a:t>
            </a:r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9D49F17-AEE1-231C-7112-09B5DF623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numCol="2">
            <a:noAutofit/>
          </a:bodyPr>
          <a:lstStyle/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rgbClr val="FFFFFF"/>
                </a:solidFill>
                <a:effectLst/>
              </a:rPr>
              <a:t>Clarity:</a:t>
            </a:r>
            <a:endParaRPr lang="en-GB" sz="14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rgbClr val="FFFFFF"/>
                </a:solidFill>
                <a:effectLst/>
              </a:rPr>
              <a:t> The quality of being clear, easy to understand, and free from ambiguity in media messages.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rgbClr val="FFFFFF"/>
                </a:solidFill>
                <a:effectLst/>
              </a:rPr>
              <a:t>Conciseness:</a:t>
            </a:r>
            <a:endParaRPr lang="en-GB" sz="14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rgbClr val="FFFFFF"/>
                </a:solidFill>
                <a:effectLst/>
              </a:rPr>
              <a:t> Expressing ideas in a clear and brief manner without unnecessary details or redundancy.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rgbClr val="FFFFFF"/>
                </a:solidFill>
                <a:effectLst/>
              </a:rPr>
              <a:t>Credibility:</a:t>
            </a:r>
            <a:endParaRPr lang="en-GB" sz="14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rgbClr val="FFFFFF"/>
                </a:solidFill>
                <a:effectLst/>
              </a:rPr>
              <a:t> The trustworthiness and reliability of the source of information, crucial for effective communication.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rgbClr val="FFFFFF"/>
                </a:solidFill>
                <a:effectLst/>
              </a:rPr>
              <a:t>Engagement:</a:t>
            </a:r>
            <a:endParaRPr lang="en-GB" sz="14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rgbClr val="FFFFFF"/>
                </a:solidFill>
                <a:effectLst/>
              </a:rPr>
              <a:t> The ability of media content to capture and maintain the audience's attention, involvement, and interest.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rgbClr val="FFFFFF"/>
                </a:solidFill>
                <a:effectLst/>
              </a:rPr>
              <a:t>Feedback:</a:t>
            </a:r>
            <a:endParaRPr lang="en-GB" sz="14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rgbClr val="FFFFFF"/>
                </a:solidFill>
                <a:effectLst/>
              </a:rPr>
              <a:t> Responses, reactions, or opinions provided by the audience to the media content, facilitating a two-way communication process.</a:t>
            </a:r>
          </a:p>
          <a:p>
            <a:pPr lvl="1"/>
            <a:endParaRPr lang="en-GB" sz="1400" dirty="0">
              <a:solidFill>
                <a:srgbClr val="FFFFFF"/>
              </a:solidFill>
            </a:endParaRPr>
          </a:p>
          <a:p>
            <a:pPr lvl="1"/>
            <a:endParaRPr lang="en-GB" sz="1400" b="0" i="0" dirty="0">
              <a:solidFill>
                <a:srgbClr val="FFFFFF"/>
              </a:solidFill>
              <a:effectLst/>
            </a:endParaRPr>
          </a:p>
          <a:p>
            <a:pPr lvl="1"/>
            <a:endParaRPr lang="en-GB" sz="1400" dirty="0">
              <a:solidFill>
                <a:srgbClr val="FFFFFF"/>
              </a:solidFill>
            </a:endParaRPr>
          </a:p>
          <a:p>
            <a:pPr lvl="1"/>
            <a:endParaRPr lang="en-GB" sz="1400" b="0" i="0" dirty="0">
              <a:solidFill>
                <a:srgbClr val="FFFFFF"/>
              </a:solidFill>
              <a:effectLst/>
            </a:endParaRP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rgbClr val="FFFFFF"/>
                </a:solidFill>
                <a:effectLst/>
              </a:rPr>
              <a:t>Inclusivity:</a:t>
            </a:r>
            <a:endParaRPr lang="en-GB" sz="14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rgbClr val="FFFFFF"/>
                </a:solidFill>
                <a:effectLst/>
              </a:rPr>
              <a:t> Ensuring that media content is designed to be accessible and relatable to a diverse audience, representing various backgrounds and perspectives.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rgbClr val="FFFFFF"/>
                </a:solidFill>
                <a:effectLst/>
              </a:rPr>
              <a:t>Interactivity:</a:t>
            </a:r>
            <a:endParaRPr lang="en-GB" sz="14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rgbClr val="FFFFFF"/>
                </a:solidFill>
                <a:effectLst/>
              </a:rPr>
              <a:t> The degree to which the audience can actively engage with and participate in media content, often facilitated by digital platforms.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rgbClr val="FFFFFF"/>
                </a:solidFill>
                <a:effectLst/>
              </a:rPr>
              <a:t>Message Framing:</a:t>
            </a:r>
            <a:endParaRPr lang="en-GB" sz="14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rgbClr val="FFFFFF"/>
                </a:solidFill>
                <a:effectLst/>
              </a:rPr>
              <a:t> The deliberate presentation of information in a particular way to shape the audience's perception or interpretation.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rgbClr val="FFFFFF"/>
                </a:solidFill>
                <a:effectLst/>
              </a:rPr>
              <a:t>Multimodal Communication:</a:t>
            </a:r>
            <a:endParaRPr lang="en-GB" sz="14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rgbClr val="FFFFFF"/>
                </a:solidFill>
                <a:effectLst/>
              </a:rPr>
              <a:t> Using multiple modes of communication, such as text, images, audio, and video, to convey a message effectively.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rgbClr val="FFFFFF"/>
                </a:solidFill>
                <a:effectLst/>
              </a:rPr>
              <a:t>Narrative Storytelling:</a:t>
            </a:r>
            <a:endParaRPr lang="en-GB" sz="1400" b="0" i="0" dirty="0">
              <a:solidFill>
                <a:srgbClr val="FFFFFF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rgbClr val="FFFFFF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rgbClr val="FFFFFF"/>
                </a:solidFill>
                <a:effectLst/>
              </a:rPr>
              <a:t> Presenting information or messages in the form of a story, making it more engaging and relatable for the audience.</a:t>
            </a:r>
          </a:p>
          <a:p>
            <a:endParaRPr lang="es-ES" sz="1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6205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1A9F7B4E-B03D-4F64-BE33-00D074458D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tack of newspaper">
            <a:extLst>
              <a:ext uri="{FF2B5EF4-FFF2-40B4-BE49-F238E27FC236}">
                <a16:creationId xmlns:a16="http://schemas.microsoft.com/office/drawing/2014/main" xmlns="" id="{CB8F4B95-CF5F-2575-0348-F02D543F34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29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452968-6101-D337-B1D4-4A0B3A1B2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>
                <a:solidFill>
                  <a:schemeClr val="bg1"/>
                </a:solidFill>
              </a:rPr>
              <a:t>Vocabulary 2</a:t>
            </a:r>
            <a:endParaRPr lang="es-ES" sz="5400">
              <a:solidFill>
                <a:schemeClr val="bg1"/>
              </a:solidFill>
            </a:endParaRP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xmlns="" id="{7E2BE7F7-CA89-4002-ACCE-A478AEA24F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9D49F17-AEE1-231C-7112-09B5DF623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 numCol="2">
            <a:normAutofit lnSpcReduction="10000"/>
          </a:bodyPr>
          <a:lstStyle/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chemeClr val="bg1"/>
                </a:solidFill>
                <a:effectLst/>
              </a:rPr>
              <a:t>Objectivity:</a:t>
            </a:r>
            <a:endParaRPr lang="en-GB" sz="14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chemeClr val="bg1"/>
                </a:solidFill>
                <a:effectLst/>
              </a:rPr>
              <a:t> Presenting information without personal bias or opinion, maintaining a neutral and impartial stance in media content.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chemeClr val="bg1"/>
                </a:solidFill>
                <a:effectLst/>
              </a:rPr>
              <a:t>Persuasion:</a:t>
            </a:r>
            <a:endParaRPr lang="en-GB" sz="14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chemeClr val="bg1"/>
                </a:solidFill>
                <a:effectLst/>
              </a:rPr>
              <a:t> The use of techniques to influence or change the attitudes, beliefs, or behaviours of the audience through media messages.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chemeClr val="bg1"/>
                </a:solidFill>
                <a:effectLst/>
              </a:rPr>
              <a:t>Sensationalism:</a:t>
            </a:r>
            <a:endParaRPr lang="en-GB" sz="14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chemeClr val="bg1"/>
                </a:solidFill>
                <a:effectLst/>
              </a:rPr>
              <a:t> The use of exaggerated or sensationalized content to evoke strong emotions or reactions from the audience.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chemeClr val="bg1"/>
                </a:solidFill>
                <a:effectLst/>
              </a:rPr>
              <a:t>Transparency:</a:t>
            </a:r>
            <a:endParaRPr lang="en-GB" sz="14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chemeClr val="bg1"/>
                </a:solidFill>
                <a:effectLst/>
              </a:rPr>
              <a:t> Openness and honesty in communication, providing clear information about sources, motives, and intentions.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chemeClr val="bg1"/>
                </a:solidFill>
                <a:effectLst/>
              </a:rPr>
              <a:t>User Experience (UX):</a:t>
            </a:r>
            <a:endParaRPr lang="en-GB" sz="14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chemeClr val="bg1"/>
                </a:solidFill>
                <a:effectLst/>
              </a:rPr>
              <a:t> The overall experience of a person using media content or platforms, encompassing usability, accessibility, and satisfaction.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chemeClr val="bg1"/>
                </a:solidFill>
                <a:effectLst/>
              </a:rPr>
              <a:t>Visual Communication:</a:t>
            </a:r>
            <a:endParaRPr lang="en-GB" sz="14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chemeClr val="bg1"/>
                </a:solidFill>
                <a:effectLst/>
              </a:rPr>
              <a:t> Conveying information or messages through visual elements such as images, graphics, and videos.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chemeClr val="bg1"/>
                </a:solidFill>
                <a:effectLst/>
              </a:rPr>
              <a:t>Digital Literacy:</a:t>
            </a:r>
            <a:endParaRPr lang="en-GB" sz="14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chemeClr val="bg1"/>
                </a:solidFill>
                <a:effectLst/>
              </a:rPr>
              <a:t> The ability to access, analyse, and evaluate information effectively in the digital age, including understanding media sources and content.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chemeClr val="bg1"/>
                </a:solidFill>
                <a:effectLst/>
              </a:rPr>
              <a:t>Ethical Journalism:</a:t>
            </a:r>
            <a:endParaRPr lang="en-GB" sz="14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chemeClr val="bg1"/>
                </a:solidFill>
                <a:effectLst/>
              </a:rPr>
              <a:t> Adhering to moral principles and standards in journalism, including truthfulness, accuracy, and respect for individuals' rights and privacy.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chemeClr val="bg1"/>
                </a:solidFill>
                <a:effectLst/>
              </a:rPr>
              <a:t>Media Advocacy:</a:t>
            </a:r>
            <a:endParaRPr lang="en-GB" sz="14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chemeClr val="bg1"/>
                </a:solidFill>
                <a:effectLst/>
              </a:rPr>
              <a:t> Using media channels to promote a cause or social issue, aiming to influence public opinion or policy.</a:t>
            </a:r>
          </a:p>
          <a:p>
            <a:pPr>
              <a:buFont typeface="+mj-lt"/>
              <a:buAutoNum type="arabicPeriod"/>
            </a:pPr>
            <a:r>
              <a:rPr lang="en-GB" sz="1400" b="1" i="0" dirty="0">
                <a:solidFill>
                  <a:schemeClr val="bg1"/>
                </a:solidFill>
                <a:effectLst/>
              </a:rPr>
              <a:t>Gatekeeping:</a:t>
            </a:r>
            <a:endParaRPr lang="en-GB" sz="1400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sz="1400" b="0" i="1" dirty="0">
                <a:solidFill>
                  <a:schemeClr val="bg1"/>
                </a:solidFill>
                <a:effectLst/>
              </a:rPr>
              <a:t>Definition:</a:t>
            </a:r>
            <a:r>
              <a:rPr lang="en-GB" sz="1400" b="0" i="0" dirty="0">
                <a:solidFill>
                  <a:schemeClr val="bg1"/>
                </a:solidFill>
                <a:effectLst/>
              </a:rPr>
              <a:t> The process by which media professionals decide which information is selected, presented, and omitted in news coverage.</a:t>
            </a:r>
          </a:p>
          <a:p>
            <a:endParaRPr lang="es-E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243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79BB35BC-D5C2-4C8B-A22A-A71E619191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1C4A41-916A-4D94-92B3-82B7CD961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s-ES" b="1" i="0" dirty="0">
                <a:effectLst/>
                <a:latin typeface="+mn-lt"/>
              </a:rPr>
              <a:t>5. </a:t>
            </a:r>
            <a:r>
              <a:rPr lang="es-ES" b="1" i="0" dirty="0" err="1">
                <a:effectLst/>
                <a:latin typeface="+mn-lt"/>
              </a:rPr>
              <a:t>Censorship</a:t>
            </a:r>
            <a:r>
              <a:rPr lang="es-ES" b="1" i="0" dirty="0">
                <a:effectLst/>
                <a:latin typeface="+mn-lt"/>
              </a:rPr>
              <a:t>:</a:t>
            </a:r>
            <a:endParaRPr lang="es-ES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563692D-2A00-CF8F-3746-365A6397B3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96" r="5315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6C0D033-62D1-1A19-0D01-E24FFC831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r>
              <a:rPr lang="en-GB" sz="2000" b="0" i="1" dirty="0">
                <a:effectLst/>
              </a:rPr>
              <a:t>Discussion:</a:t>
            </a:r>
            <a:r>
              <a:rPr lang="en-GB" sz="2000" b="0" i="0" dirty="0">
                <a:effectLst/>
              </a:rPr>
              <a:t> Explore the concept of censorship in the media. Under what circumstances, if any, is censorship justifiable?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3923150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xmlns="" id="{F13C74B1-5B17-4795-BED0-7140497B445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C47545-7BA1-2443-2967-41AABD8CD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s-ES" sz="4200" b="1" i="0">
                <a:effectLst/>
                <a:latin typeface="+mn-lt"/>
              </a:rPr>
              <a:t>6. Media Ownership and Independence:</a:t>
            </a:r>
            <a:endParaRPr lang="es-ES" sz="4200">
              <a:latin typeface="+mn-lt"/>
            </a:endParaRPr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xmlns="" id="{D4974D33-8DC5-464E-8C6D-BE58F0669C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A0C6678-C6C7-D60E-BB5A-F86CF8019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GB" sz="2200" b="0" i="1" dirty="0">
                <a:effectLst/>
              </a:rPr>
              <a:t>Discussion:</a:t>
            </a:r>
            <a:r>
              <a:rPr lang="en-GB" sz="2200" b="0" i="0" dirty="0">
                <a:effectLst/>
              </a:rPr>
              <a:t> Explore the ethical implications of media ownership and its potential impact on editorial independence. How can media organizations maintain integrity in the face of corporate or political influence?</a:t>
            </a:r>
            <a:endParaRPr lang="es-ES" sz="2200" dirty="0"/>
          </a:p>
        </p:txBody>
      </p:sp>
      <p:pic>
        <p:nvPicPr>
          <p:cNvPr id="1026" name="Picture 2" descr="Berlusconi: 'Il Cavaliere' que reinó en la televisión y moldeó la política  italiana">
            <a:extLst>
              <a:ext uri="{FF2B5EF4-FFF2-40B4-BE49-F238E27FC236}">
                <a16:creationId xmlns:a16="http://schemas.microsoft.com/office/drawing/2014/main" xmlns="" id="{A0F589E5-F6FC-AB58-5FCA-563078ADD5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40" r="29040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3169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xmlns="" id="{2C61293E-6EBE-43EF-A52C-9BEBFD7679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8E3973-63C4-C0D8-7A49-D7F667331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s-ES" sz="5400" b="1" i="0">
                <a:effectLst/>
                <a:latin typeface="+mn-lt"/>
              </a:rPr>
              <a:t>7. Diversity and Inclusivity:</a:t>
            </a:r>
            <a:endParaRPr lang="es-ES" sz="540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A5ABFEE-DB19-2395-06A2-E02E067AF4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113" r="25142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xmlns="" id="{21540236-BFD5-4A9D-8840-4703E7F7682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73041F8-C236-7EAB-DFA5-6EF4EBB73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GB" sz="2200" b="0" i="1">
                <a:effectLst/>
              </a:rPr>
              <a:t>Discussion:</a:t>
            </a:r>
            <a:r>
              <a:rPr lang="en-GB" sz="2200" b="0" i="0">
                <a:effectLst/>
              </a:rPr>
              <a:t> How can media organizations promote diversity and inclusivity in their coverage? What are the ethical considerations related to representation in the media?</a:t>
            </a:r>
            <a:endParaRPr lang="es-ES" sz="2200"/>
          </a:p>
        </p:txBody>
      </p:sp>
    </p:spTree>
    <p:extLst>
      <p:ext uri="{BB962C8B-B14F-4D97-AF65-F5344CB8AC3E}">
        <p14:creationId xmlns:p14="http://schemas.microsoft.com/office/powerpoint/2010/main" val="3462404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2B97F24A-32CE-4C1C-A50D-3016B394DC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2C7236-6B8E-8EE4-EDF8-AE7015E97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s-ES" sz="3400" b="1" i="0">
                <a:effectLst/>
                <a:latin typeface="+mn-lt"/>
              </a:rPr>
              <a:t>8. Whistleblowing and Anonymous Sources:</a:t>
            </a:r>
            <a:endParaRPr lang="es-ES" sz="3400">
              <a:latin typeface="+mn-lt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xmlns="" id="{CD8B4F24-440B-49E9-B85D-733523DC064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4EB19D1-399E-6A0B-9261-AD08BEDD4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GB" sz="2200" b="0" i="1">
                <a:effectLst/>
              </a:rPr>
              <a:t>Discussion:</a:t>
            </a:r>
            <a:r>
              <a:rPr lang="en-GB" sz="2200" b="0" i="0">
                <a:effectLst/>
              </a:rPr>
              <a:t> Explore the ethical considerations surrounding whistleblowing and the use of anonymous sources in journalism. When is it justifiable for journalists to protect their sources?</a:t>
            </a:r>
            <a:endParaRPr lang="es-ES" sz="2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C14B52D-0CEC-43F2-1AC9-07DA9803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668552"/>
            <a:ext cx="6903720" cy="35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241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F13C74B1-5B17-4795-BED0-7140497B445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8C557C06-5401-16EB-5146-DD334675B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GB" sz="4200" b="1" i="0">
                <a:effectLst/>
                <a:latin typeface="+mn-lt"/>
              </a:rPr>
              <a:t>9. Social Media and Citizen Journalism:</a:t>
            </a:r>
            <a:endParaRPr lang="es-ES" sz="4200">
              <a:latin typeface="+mn-lt"/>
            </a:endParaRP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xmlns="" id="{D4974D33-8DC5-464E-8C6D-BE58F0669C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8C38DA5-F447-B708-C263-AFCDFD49D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GB" sz="2200" b="0" i="1">
                <a:effectLst/>
              </a:rPr>
              <a:t>Discussion:</a:t>
            </a:r>
            <a:r>
              <a:rPr lang="en-GB" sz="2200" b="0" i="0">
                <a:effectLst/>
              </a:rPr>
              <a:t> How has the rise of social media impacted traditional journalism ethics? Discuss the role of citizen journalism and the challenges it poses.</a:t>
            </a:r>
            <a:endParaRPr lang="es-ES" sz="2200"/>
          </a:p>
        </p:txBody>
      </p:sp>
      <p:pic>
        <p:nvPicPr>
          <p:cNvPr id="5" name="Picture 4" descr="Person holding cellphone to take photo of food bowls, cups of coffee, croissants, napkins, and cutlery on wood table">
            <a:extLst>
              <a:ext uri="{FF2B5EF4-FFF2-40B4-BE49-F238E27FC236}">
                <a16:creationId xmlns:a16="http://schemas.microsoft.com/office/drawing/2014/main" xmlns="" id="{ADEEEB11-A7CC-A73F-398D-68367485AA1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21" r="17426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384296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63D373-B57F-7FF7-03F2-D641A5C0C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Delayed feedback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DF2E930-BE18-E6AA-9A5A-7C49A7E3F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C3F0058F-01C7-50CA-5B72-171CC7BE6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0775" y="5734049"/>
            <a:ext cx="16383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464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1362</Words>
  <Application>Microsoft Office PowerPoint</Application>
  <PresentationFormat>Panorámica</PresentationFormat>
  <Paragraphs>120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Mass media and communication</vt:lpstr>
      <vt:lpstr>Warm up</vt:lpstr>
      <vt:lpstr>Vocabulary</vt:lpstr>
      <vt:lpstr>Vocabulary</vt:lpstr>
      <vt:lpstr>1. Objective Reporting vs. Advocacy:</vt:lpstr>
      <vt:lpstr>2. Sensationalism in Media:</vt:lpstr>
      <vt:lpstr>3. Privacy and Intrusion:</vt:lpstr>
      <vt:lpstr>4. Fake News and Misinformation:</vt:lpstr>
      <vt:lpstr>Vocabulary 2</vt:lpstr>
      <vt:lpstr>Vocabulary 2</vt:lpstr>
      <vt:lpstr>5. Censorship:</vt:lpstr>
      <vt:lpstr>6. Media Ownership and Independence:</vt:lpstr>
      <vt:lpstr>7. Diversity and Inclusivity:</vt:lpstr>
      <vt:lpstr>8. Whistleblowing and Anonymous Sources:</vt:lpstr>
      <vt:lpstr>9. Social Media and Citizen Journalism:</vt:lpstr>
      <vt:lpstr>Delayed feedback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 media and communication</dc:title>
  <dc:creator>Theo Clarke</dc:creator>
  <cp:lastModifiedBy>JaviRo</cp:lastModifiedBy>
  <cp:revision>3</cp:revision>
  <dcterms:created xsi:type="dcterms:W3CDTF">2024-01-04T11:28:26Z</dcterms:created>
  <dcterms:modified xsi:type="dcterms:W3CDTF">2025-01-02T10:30:02Z</dcterms:modified>
</cp:coreProperties>
</file>