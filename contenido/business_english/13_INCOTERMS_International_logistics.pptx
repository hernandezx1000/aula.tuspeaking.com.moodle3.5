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4"/>
  </p:notesMasterIdLst>
  <p:sldIdLst>
    <p:sldId id="280" r:id="rId2"/>
    <p:sldId id="281" r:id="rId3"/>
    <p:sldId id="284" r:id="rId4"/>
    <p:sldId id="283" r:id="rId5"/>
    <p:sldId id="273" r:id="rId6"/>
    <p:sldId id="271" r:id="rId7"/>
    <p:sldId id="258" r:id="rId8"/>
    <p:sldId id="259" r:id="rId9"/>
    <p:sldId id="260" r:id="rId10"/>
    <p:sldId id="261" r:id="rId11"/>
    <p:sldId id="262" r:id="rId12"/>
    <p:sldId id="264" r:id="rId13"/>
    <p:sldId id="266" r:id="rId14"/>
    <p:sldId id="269" r:id="rId15"/>
    <p:sldId id="272" r:id="rId16"/>
    <p:sldId id="285" r:id="rId17"/>
    <p:sldId id="277" r:id="rId18"/>
    <p:sldId id="279" r:id="rId19"/>
    <p:sldId id="289" r:id="rId20"/>
    <p:sldId id="288" r:id="rId21"/>
    <p:sldId id="286" r:id="rId22"/>
    <p:sldId id="287" r:id="rId2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3FB2B-6F9B-4AD5-88CA-8FCB4017FD4B}" v="13" dt="2023-09-08T12:18:34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53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xmlns="" id="{FCE00AC6-1AA1-42D9-83DD-4C308C3F9322}"/>
              </a:ext>
            </a:extLst>
          </p:cNvPr>
          <p:cNvSpPr/>
          <p:nvPr/>
        </p:nvSpPr>
        <p:spPr>
          <a:xfrm>
            <a:off x="4800600" y="1304884"/>
            <a:ext cx="9829800" cy="692471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487489" y="220719"/>
            <a:ext cx="0" cy="1917250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560F3E26-F530-48F5-983F-9DCFF41D4F39}"/>
              </a:ext>
            </a:extLst>
          </p:cNvPr>
          <p:cNvSpPr/>
          <p:nvPr/>
        </p:nvSpPr>
        <p:spPr>
          <a:xfrm>
            <a:off x="6350818" y="2"/>
            <a:ext cx="2735690" cy="1521342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5C97701E-DAF9-4174-AA91-DA203CD27D6A}"/>
              </a:ext>
            </a:extLst>
          </p:cNvPr>
          <p:cNvSpPr/>
          <p:nvPr/>
        </p:nvSpPr>
        <p:spPr>
          <a:xfrm>
            <a:off x="12250434" y="2"/>
            <a:ext cx="1362079" cy="573596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4F765374-1A4B-41DC-9E75-A95A6C655328}"/>
              </a:ext>
            </a:extLst>
          </p:cNvPr>
          <p:cNvSpPr/>
          <p:nvPr/>
        </p:nvSpPr>
        <p:spPr>
          <a:xfrm>
            <a:off x="1882854" y="617878"/>
            <a:ext cx="2872021" cy="27941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7618DB8E-B14E-42E2-B454-6F4F36A8A9D9}"/>
              </a:ext>
            </a:extLst>
          </p:cNvPr>
          <p:cNvSpPr/>
          <p:nvPr/>
        </p:nvSpPr>
        <p:spPr>
          <a:xfrm flipH="1">
            <a:off x="1" y="3539688"/>
            <a:ext cx="1423741" cy="212598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xmlns="" id="{97666F55-03F1-4D18-9653-0F360E127A7E}"/>
              </a:ext>
            </a:extLst>
          </p:cNvPr>
          <p:cNvSpPr/>
          <p:nvPr/>
        </p:nvSpPr>
        <p:spPr>
          <a:xfrm rot="16200000">
            <a:off x="1847620" y="5044113"/>
            <a:ext cx="4900120" cy="490012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/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/>
          <a:lstStyle>
            <a:lvl1pPr marL="0" indent="0" algn="r">
              <a:buNone/>
              <a:defRPr sz="28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439563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AFA665D7-34D0-4262-B345-9B1A1BA8DA17}"/>
              </a:ext>
            </a:extLst>
          </p:cNvPr>
          <p:cNvSpPr/>
          <p:nvPr/>
        </p:nvSpPr>
        <p:spPr>
          <a:xfrm>
            <a:off x="587027" y="1342837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39ECC553-79E5-4B14-89C9-4DAD2B1021B1}"/>
              </a:ext>
            </a:extLst>
          </p:cNvPr>
          <p:cNvSpPr/>
          <p:nvPr/>
        </p:nvSpPr>
        <p:spPr>
          <a:xfrm rot="19809111">
            <a:off x="10420465" y="1129378"/>
            <a:ext cx="3585479" cy="358547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5797934-7E2B-4F94-89C4-0279413FF821}"/>
              </a:ext>
            </a:extLst>
          </p:cNvPr>
          <p:cNvSpPr/>
          <p:nvPr/>
        </p:nvSpPr>
        <p:spPr>
          <a:xfrm>
            <a:off x="1092058" y="5737190"/>
            <a:ext cx="655320" cy="655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/>
          <a:lstStyle>
            <a:lvl1pPr marL="0" indent="0">
              <a:buNone/>
              <a:defRPr/>
            </a:lvl1pPr>
            <a:lvl2pPr marL="274320">
              <a:defRPr/>
            </a:lvl2pPr>
            <a:lvl3pPr marL="54864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14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40575" y="1380252"/>
            <a:ext cx="2648455" cy="264501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33559" y="3095620"/>
            <a:ext cx="3716168" cy="3716168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E8E71C73-7BAD-4838-88C1-42E045A9D179}"/>
              </a:ext>
            </a:extLst>
          </p:cNvPr>
          <p:cNvSpPr/>
          <p:nvPr/>
        </p:nvSpPr>
        <p:spPr>
          <a:xfrm>
            <a:off x="12299544" y="1866081"/>
            <a:ext cx="983164" cy="9564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4560922-5803-412D-880B-065E75DCBC0A}"/>
              </a:ext>
            </a:extLst>
          </p:cNvPr>
          <p:cNvSpPr/>
          <p:nvPr/>
        </p:nvSpPr>
        <p:spPr>
          <a:xfrm>
            <a:off x="9108107" y="4841272"/>
            <a:ext cx="1052045" cy="1052045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133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15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xmlns="" id="{200EACD1-D216-4037-8AFF-80CF273586DF}"/>
              </a:ext>
            </a:extLst>
          </p:cNvPr>
          <p:cNvSpPr/>
          <p:nvPr/>
        </p:nvSpPr>
        <p:spPr>
          <a:xfrm>
            <a:off x="3379115" y="178715"/>
            <a:ext cx="7872170" cy="78721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xmlns="" id="{F941DE04-3FEA-4A57-B200-F9F6A765C792}"/>
              </a:ext>
            </a:extLst>
          </p:cNvPr>
          <p:cNvSpPr/>
          <p:nvPr/>
        </p:nvSpPr>
        <p:spPr>
          <a:xfrm rot="9222429" flipV="1">
            <a:off x="2992943" y="-34202"/>
            <a:ext cx="8179514" cy="817951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565C7B4-4152-4548-A771-EB148A028FDB}"/>
              </a:ext>
            </a:extLst>
          </p:cNvPr>
          <p:cNvSpPr/>
          <p:nvPr/>
        </p:nvSpPr>
        <p:spPr>
          <a:xfrm>
            <a:off x="9798501" y="6290386"/>
            <a:ext cx="911284" cy="886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27" y="1656893"/>
            <a:ext cx="6671462" cy="3017520"/>
          </a:xfrm>
        </p:spPr>
        <p:txBody>
          <a:bodyPr anchor="b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127" y="4893869"/>
            <a:ext cx="6671462" cy="1843430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bg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xmlns="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785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91" y="2293315"/>
            <a:ext cx="1179576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3DA7759-3209-4FE2-96D1-4EEDD81E9EA0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41460DAD-8769-4C9F-9C8C-BB0443909D76}"/>
              </a:ext>
            </a:extLst>
          </p:cNvPr>
          <p:cNvSpPr/>
          <p:nvPr/>
        </p:nvSpPr>
        <p:spPr>
          <a:xfrm flipH="1">
            <a:off x="148244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14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C13EF9C-0B5A-4364-91AA-E5DD5B536E54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F674475-6327-490A-BD7F-084F5C07F2E4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93315"/>
            <a:ext cx="1261872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xmlns="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138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6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44720"/>
            <a:ext cx="7108610" cy="7108610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0365" y="5255971"/>
            <a:ext cx="6046013" cy="855878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TuSpeaking 2023,  All rights reserved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Personal information 1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white"/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5701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B4EC5136-99DA-40B5-8F79-5C3A56D38BA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4F8FB775-26C4-41BA-837C-4478D48D215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873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xmlns="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898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3754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43754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xmlns="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8010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xmlns="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78010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xmlns="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505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1511" y="3273276"/>
            <a:ext cx="5148888" cy="4956325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3932" y="1"/>
            <a:ext cx="4223173" cy="3609491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7BFFB5A-A05C-4B0C-905C-5884361304B2}"/>
              </a:ext>
            </a:extLst>
          </p:cNvPr>
          <p:cNvSpPr/>
          <p:nvPr/>
        </p:nvSpPr>
        <p:spPr>
          <a:xfrm>
            <a:off x="12504683" y="1637679"/>
            <a:ext cx="1136986" cy="1106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9F33AC6C-4807-4785-AE9F-84BFEEDA9F7E}"/>
              </a:ext>
            </a:extLst>
          </p:cNvPr>
          <p:cNvSpPr/>
          <p:nvPr/>
        </p:nvSpPr>
        <p:spPr>
          <a:xfrm rot="4759070" flipV="1">
            <a:off x="7240966" y="-807768"/>
            <a:ext cx="4825432" cy="48254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8" y="438912"/>
            <a:ext cx="614476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97" y="2194560"/>
            <a:ext cx="6111850" cy="5223053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/>
            </a:lvl2pPr>
            <a:lvl3pPr marL="548640">
              <a:defRPr/>
            </a:lvl3pPr>
            <a:lvl4pPr marL="8229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2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642EAF0-DE94-4F90-82E3-6F316AA8353A}"/>
              </a:ext>
            </a:extLst>
          </p:cNvPr>
          <p:cNvSpPr/>
          <p:nvPr/>
        </p:nvSpPr>
        <p:spPr>
          <a:xfrm>
            <a:off x="848871" y="1017120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D22D7888-22FA-4AA1-9BA4-CC61D6643D47}"/>
              </a:ext>
            </a:extLst>
          </p:cNvPr>
          <p:cNvSpPr/>
          <p:nvPr/>
        </p:nvSpPr>
        <p:spPr>
          <a:xfrm flipH="1">
            <a:off x="636635" y="1"/>
            <a:ext cx="1386170" cy="709211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BB6E464-8999-4773-A1F2-E6CAA990E572}"/>
              </a:ext>
            </a:extLst>
          </p:cNvPr>
          <p:cNvSpPr/>
          <p:nvPr/>
        </p:nvSpPr>
        <p:spPr>
          <a:xfrm flipH="1">
            <a:off x="4753814" y="-1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CE9CE183-B21E-41EB-A082-DF9C3AD659D5}"/>
              </a:ext>
            </a:extLst>
          </p:cNvPr>
          <p:cNvSpPr/>
          <p:nvPr/>
        </p:nvSpPr>
        <p:spPr>
          <a:xfrm flipH="1">
            <a:off x="1" y="3524197"/>
            <a:ext cx="191689" cy="663595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EA14BE8-FDD0-4434-9C3E-BFF78C22D9E3}"/>
              </a:ext>
            </a:extLst>
          </p:cNvPr>
          <p:cNvSpPr/>
          <p:nvPr/>
        </p:nvSpPr>
        <p:spPr>
          <a:xfrm flipH="1">
            <a:off x="0" y="7002780"/>
            <a:ext cx="1857816" cy="122682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5C76330B-4C5E-463F-921A-D91F1F1F6049}"/>
              </a:ext>
            </a:extLst>
          </p:cNvPr>
          <p:cNvSpPr/>
          <p:nvPr/>
        </p:nvSpPr>
        <p:spPr>
          <a:xfrm flipH="1">
            <a:off x="4086068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E494E364-7EA8-4D92-915D-75D1A3A67C07}"/>
              </a:ext>
            </a:extLst>
          </p:cNvPr>
          <p:cNvSpPr/>
          <p:nvPr/>
        </p:nvSpPr>
        <p:spPr>
          <a:xfrm flipH="1">
            <a:off x="4959566" y="7510507"/>
            <a:ext cx="1879128" cy="71909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866" y="148132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18995" y="7627621"/>
            <a:ext cx="1854403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8858" y="7627621"/>
            <a:ext cx="4937760" cy="438150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7747" y="7627621"/>
            <a:ext cx="1020470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1"/>
            <a:ext cx="5650992" cy="2106778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 sz="2160"/>
            </a:lvl2pPr>
            <a:lvl3pPr marL="548640">
              <a:defRPr sz="216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xmlns="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218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xmlns="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414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xmlns="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81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2C155C63-9F58-4422-B669-F9748628067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385DBA62-0EDB-47AA-86C7-90463BC9B308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854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6BA9707F-7BCE-464F-BF45-E216527084EE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BC589723-2CC8-49D1-B4E1-36FECED6A2D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xmlns="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431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60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430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755D6A-A21E-9A62-079B-F7500FFA2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>
            <a:normAutofit/>
          </a:bodyPr>
          <a:lstStyle/>
          <a:p>
            <a:r>
              <a:rPr lang="en-ZA" dirty="0" err="1"/>
              <a:t>Português</a:t>
            </a:r>
            <a:r>
              <a:rPr lang="en-ZA" dirty="0"/>
              <a:t> de </a:t>
            </a:r>
            <a:r>
              <a:rPr lang="en-ZA" dirty="0" err="1"/>
              <a:t>negócios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63EDF7-8E63-DB48-BC28-0BEA18114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>
            <a:normAutofit/>
          </a:bodyPr>
          <a:lstStyle/>
          <a:p>
            <a:r>
              <a:rPr lang="en-ZA" dirty="0" err="1"/>
              <a:t>Tuspeaking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837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78802-F616-D75A-F769-04B62305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 anchor="ctr">
            <a:normAutofit fontScale="90000"/>
          </a:bodyPr>
          <a:lstStyle/>
          <a:p>
            <a:r>
              <a:rPr lang="pt-PT" dirty="0"/>
              <a:t>Logística internacional: Desbloquear o comércio global</a:t>
            </a:r>
            <a:r>
              <a:rPr lang="en-US" dirty="0"/>
              <a:t/>
            </a:r>
            <a:br>
              <a:rPr lang="en-US" dirty="0"/>
            </a:br>
            <a:endParaRPr lang="en-ZA" dirty="0"/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xmlns="" id="{17183813-A86C-308E-888A-A756FBC52F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1862" b="6792"/>
          <a:stretch/>
        </p:blipFill>
        <p:spPr>
          <a:xfrm>
            <a:off x="6945783" y="1832458"/>
            <a:ext cx="6133795" cy="47183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179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B9D708-C095-5ECC-1FA0-83C13988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 anchor="ctr">
            <a:normAutofit fontScale="90000"/>
          </a:bodyPr>
          <a:lstStyle/>
          <a:p>
            <a:r>
              <a:rPr lang="pt-PT" dirty="0"/>
              <a:t>Logística internacional: Desbloquear o comércio global</a:t>
            </a:r>
            <a:r>
              <a:rPr lang="en-US" dirty="0"/>
              <a:t/>
            </a:r>
            <a:br>
              <a:rPr lang="en-US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6B3E30-9F24-D7BB-21D5-72B1F52B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>
            <a:normAutofit lnSpcReduction="10000"/>
          </a:bodyPr>
          <a:lstStyle/>
          <a:p>
            <a:r>
              <a:rPr lang="pt-PT" sz="2900" dirty="0"/>
              <a:t>Neste módulo, vamos explorar o fascinante mundo da logística internacional e mergulhar no vocabulário especializado relacionado com o transporte marítimo, alfândegas e comércio. Prepare-se para refletir sobre a importância da logística internacional na facilitação do comércio global e o seu impacto na vida quotidiana. </a:t>
            </a:r>
            <a:endParaRPr lang="pt-PT" sz="2900" dirty="0" smtClean="0"/>
          </a:p>
          <a:p>
            <a:r>
              <a:rPr lang="pt-PT" sz="2900" dirty="0" smtClean="0"/>
              <a:t>Vamos </a:t>
            </a:r>
            <a:r>
              <a:rPr lang="pt-PT" sz="2900" dirty="0"/>
              <a:t>começar!</a:t>
            </a:r>
            <a:endParaRPr lang="en-ZA" sz="2900" dirty="0"/>
          </a:p>
        </p:txBody>
      </p:sp>
    </p:spTree>
    <p:extLst>
      <p:ext uri="{BB962C8B-B14F-4D97-AF65-F5344CB8AC3E}">
        <p14:creationId xmlns:p14="http://schemas.microsoft.com/office/powerpoint/2010/main" val="41589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CE6BEB-6A55-C924-6179-0B35F4E8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550606"/>
            <a:ext cx="11102153" cy="1602658"/>
          </a:xfrm>
        </p:spPr>
        <p:txBody>
          <a:bodyPr>
            <a:noAutofit/>
          </a:bodyPr>
          <a:lstStyle/>
          <a:p>
            <a:r>
              <a:rPr lang="pt-PT" sz="4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Comecemos por algumas questões que nos levam a refletir sobre a logística internacional:</a:t>
            </a:r>
            <a:endParaRPr lang="en-Z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8A021B-58EE-DDD3-95F8-98D90DDE5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sz="3600" dirty="0"/>
              <a:t>1. Quais são alguns dos desafios que as empresas enfrentam quando gerem cadeias de abastecimento globais</a:t>
            </a:r>
            <a:r>
              <a:rPr lang="pt-PT" sz="3600" dirty="0" smtClean="0"/>
              <a:t>?</a:t>
            </a:r>
          </a:p>
          <a:p>
            <a:r>
              <a:rPr lang="pt-PT" sz="3600" dirty="0" smtClean="0"/>
              <a:t>2</a:t>
            </a:r>
            <a:r>
              <a:rPr lang="pt-PT" sz="3600" dirty="0"/>
              <a:t>. Quais são algumas das vantagens da utilização do transporte aéreo de mercadorias em relação a outros métodos de transporte</a:t>
            </a:r>
            <a:r>
              <a:rPr lang="pt-PT" sz="3600" dirty="0" smtClean="0"/>
              <a:t>?</a:t>
            </a:r>
          </a:p>
          <a:p>
            <a:r>
              <a:rPr lang="pt-PT" sz="3600" dirty="0" smtClean="0"/>
              <a:t>3</a:t>
            </a:r>
            <a:r>
              <a:rPr lang="pt-PT" sz="3600" dirty="0"/>
              <a:t>. Como é que as empresas podem melhorar a sua conformidade aduaneira e reduzir o risco de problemas aduaneiros</a:t>
            </a:r>
            <a:r>
              <a:rPr lang="pt-PT" sz="3600" dirty="0" smtClean="0"/>
              <a:t>?</a:t>
            </a:r>
          </a:p>
          <a:p>
            <a:r>
              <a:rPr lang="pt-PT" sz="3600" dirty="0" smtClean="0"/>
              <a:t>4</a:t>
            </a:r>
            <a:r>
              <a:rPr lang="pt-PT" sz="3600" dirty="0"/>
              <a:t>. Como é que as empresas podem melhorar a sua sustentabilidade na logística internacional?</a:t>
            </a:r>
            <a:br>
              <a:rPr lang="pt-PT" sz="3600" dirty="0"/>
            </a:br>
            <a:r>
              <a:rPr lang="pt-PT" sz="3600" dirty="0"/>
              <a:t/>
            </a:r>
            <a:br>
              <a:rPr lang="pt-PT" sz="3600" dirty="0"/>
            </a:br>
            <a:endParaRPr lang="en-US" sz="3600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5751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643188" y="630234"/>
            <a:ext cx="4977712" cy="336780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4800" dirty="0">
                <a:ea typeface="+mj-ea"/>
                <a:cs typeface="+mj-cs"/>
              </a:rPr>
              <a:t>6 Atividade do Chapéu Pensante: Logística Internacional</a:t>
            </a:r>
            <a:endParaRPr lang="en-US" sz="4800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43188" y="4231560"/>
            <a:ext cx="4977712" cy="310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/>
              <a:t>Utilizar os 6 chapéus de pensamento para analisar os desafios e as oportunidades da logística internacional.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52946" y="206058"/>
            <a:ext cx="5071872" cy="36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850392">
              <a:lnSpc>
                <a:spcPts val="2848"/>
              </a:lnSpc>
              <a:spcAft>
                <a:spcPts val="600"/>
              </a:spcAft>
            </a:pPr>
            <a:r>
              <a:rPr lang="pt-PT" sz="2278" dirty="0">
                <a:solidFill>
                  <a:srgbClr val="312F2B"/>
                </a:solidFill>
                <a:ea typeface="Gelasio" pitchFamily="34" charset="-122"/>
              </a:rPr>
              <a:t>Chapéu branco: Factos e informações</a:t>
            </a:r>
            <a:endParaRPr lang="en-US" sz="2449" dirty="0"/>
          </a:p>
        </p:txBody>
      </p:sp>
      <p:sp>
        <p:nvSpPr>
          <p:cNvPr id="7" name="Text 4"/>
          <p:cNvSpPr/>
          <p:nvPr/>
        </p:nvSpPr>
        <p:spPr>
          <a:xfrm>
            <a:off x="752946" y="786803"/>
            <a:ext cx="6896910" cy="46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850392">
              <a:lnSpc>
                <a:spcPts val="1823"/>
              </a:lnSpc>
              <a:spcAft>
                <a:spcPts val="600"/>
              </a:spcAft>
            </a:pPr>
            <a:r>
              <a:rPr lang="pt-PT" sz="1139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Quais são os principais factos e números sobre a logística internacional? Quais são alguns dos maiores desafios e oportunidades que o sector enfrenta?</a:t>
            </a:r>
            <a:endParaRPr lang="en-US" sz="1225" dirty="0"/>
          </a:p>
        </p:txBody>
      </p:sp>
      <p:sp>
        <p:nvSpPr>
          <p:cNvPr id="8" name="Text 5"/>
          <p:cNvSpPr/>
          <p:nvPr/>
        </p:nvSpPr>
        <p:spPr>
          <a:xfrm>
            <a:off x="752946" y="1468913"/>
            <a:ext cx="5706848" cy="36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850392">
              <a:lnSpc>
                <a:spcPts val="2848"/>
              </a:lnSpc>
              <a:spcAft>
                <a:spcPts val="600"/>
              </a:spcAft>
            </a:pPr>
            <a:r>
              <a:rPr lang="pt-PT" sz="2278" dirty="0">
                <a:solidFill>
                  <a:srgbClr val="312F2B"/>
                </a:solidFill>
                <a:ea typeface="Gelasio" pitchFamily="34" charset="-122"/>
              </a:rPr>
              <a:t>Chapéu Vermelho: Emoções e sentimentos</a:t>
            </a:r>
            <a:endParaRPr lang="en-US" sz="2449" dirty="0"/>
          </a:p>
        </p:txBody>
      </p:sp>
      <p:sp>
        <p:nvSpPr>
          <p:cNvPr id="9" name="Text 6"/>
          <p:cNvSpPr/>
          <p:nvPr/>
        </p:nvSpPr>
        <p:spPr>
          <a:xfrm>
            <a:off x="752946" y="2049658"/>
            <a:ext cx="6896910" cy="46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850392">
              <a:lnSpc>
                <a:spcPts val="1823"/>
              </a:lnSpc>
              <a:spcAft>
                <a:spcPts val="600"/>
              </a:spcAft>
            </a:pPr>
            <a:r>
              <a:rPr lang="pt-PT" sz="1139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Qual é a sua opinião sobre o papel da logística internacional no comércio global? Quais são algumas das emoções que as pessoas podem sentir quando lidam com a logística internacional?</a:t>
            </a:r>
            <a:endParaRPr lang="en-US" sz="1225" dirty="0"/>
          </a:p>
        </p:txBody>
      </p:sp>
      <p:sp>
        <p:nvSpPr>
          <p:cNvPr id="10" name="Text 7"/>
          <p:cNvSpPr/>
          <p:nvPr/>
        </p:nvSpPr>
        <p:spPr>
          <a:xfrm>
            <a:off x="752946" y="2731768"/>
            <a:ext cx="4417437" cy="36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850392">
              <a:lnSpc>
                <a:spcPts val="2848"/>
              </a:lnSpc>
              <a:spcAft>
                <a:spcPts val="600"/>
              </a:spcAft>
            </a:pPr>
            <a:r>
              <a:rPr lang="pt-PT" sz="2278" dirty="0">
                <a:solidFill>
                  <a:srgbClr val="312F2B"/>
                </a:solidFill>
                <a:ea typeface="Gelasio" pitchFamily="34" charset="-122"/>
              </a:rPr>
              <a:t>Chapéu preto: Riscos e desafios</a:t>
            </a:r>
            <a:endParaRPr lang="en-US" sz="2449" dirty="0"/>
          </a:p>
        </p:txBody>
      </p:sp>
      <p:sp>
        <p:nvSpPr>
          <p:cNvPr id="11" name="Text 8"/>
          <p:cNvSpPr/>
          <p:nvPr/>
        </p:nvSpPr>
        <p:spPr>
          <a:xfrm>
            <a:off x="752946" y="3312513"/>
            <a:ext cx="6896910" cy="46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850392">
              <a:lnSpc>
                <a:spcPts val="1823"/>
              </a:lnSpc>
              <a:spcAft>
                <a:spcPts val="600"/>
              </a:spcAft>
            </a:pPr>
            <a:r>
              <a:rPr lang="pt-PT" sz="1139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Quais são alguns dos riscos e desafios da logística internacional? Quais são algumas das potenciais desvantagens de depender da logística internacional para movimentar mercadorias em todo o mundo?</a:t>
            </a:r>
            <a:endParaRPr lang="en-US" sz="1225" dirty="0"/>
          </a:p>
        </p:txBody>
      </p:sp>
      <p:sp>
        <p:nvSpPr>
          <p:cNvPr id="12" name="Text 9"/>
          <p:cNvSpPr/>
          <p:nvPr/>
        </p:nvSpPr>
        <p:spPr>
          <a:xfrm>
            <a:off x="752945" y="3994624"/>
            <a:ext cx="5952655" cy="36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850392">
              <a:lnSpc>
                <a:spcPts val="2848"/>
              </a:lnSpc>
              <a:spcAft>
                <a:spcPts val="600"/>
              </a:spcAft>
            </a:pPr>
            <a:r>
              <a:rPr lang="pt-PT" sz="2278" dirty="0">
                <a:solidFill>
                  <a:srgbClr val="312F2B"/>
                </a:solidFill>
                <a:ea typeface="Gelasio" pitchFamily="34" charset="-122"/>
              </a:rPr>
              <a:t>Chapéu Amarelo: Benefícios e oportunidades</a:t>
            </a:r>
            <a:endParaRPr lang="en-US" sz="2449" dirty="0"/>
          </a:p>
        </p:txBody>
      </p:sp>
      <p:sp>
        <p:nvSpPr>
          <p:cNvPr id="13" name="Text 10"/>
          <p:cNvSpPr/>
          <p:nvPr/>
        </p:nvSpPr>
        <p:spPr>
          <a:xfrm>
            <a:off x="752946" y="4575368"/>
            <a:ext cx="6896910" cy="46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850392">
              <a:lnSpc>
                <a:spcPts val="1823"/>
              </a:lnSpc>
              <a:spcAft>
                <a:spcPts val="600"/>
              </a:spcAft>
            </a:pPr>
            <a:r>
              <a:rPr lang="pt-PT" sz="1139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Quais são os benefícios e as oportunidades da logística internacional? Como é que a logística internacional contribui para o comércio global e o crescimento económico?</a:t>
            </a:r>
            <a:endParaRPr lang="en-US" sz="1225" dirty="0"/>
          </a:p>
        </p:txBody>
      </p:sp>
      <p:sp>
        <p:nvSpPr>
          <p:cNvPr id="14" name="Text 11"/>
          <p:cNvSpPr/>
          <p:nvPr/>
        </p:nvSpPr>
        <p:spPr>
          <a:xfrm>
            <a:off x="752946" y="5257480"/>
            <a:ext cx="5071872" cy="36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850392">
              <a:lnSpc>
                <a:spcPts val="2848"/>
              </a:lnSpc>
              <a:spcAft>
                <a:spcPts val="600"/>
              </a:spcAft>
            </a:pPr>
            <a:r>
              <a:rPr lang="pt-PT" sz="2278" dirty="0">
                <a:solidFill>
                  <a:srgbClr val="312F2B"/>
                </a:solidFill>
                <a:ea typeface="Gelasio" pitchFamily="34" charset="-122"/>
              </a:rPr>
              <a:t>Chapéu Verde: Criatividade e Inovação</a:t>
            </a:r>
            <a:endParaRPr lang="en-US" sz="2449" dirty="0"/>
          </a:p>
        </p:txBody>
      </p:sp>
      <p:sp>
        <p:nvSpPr>
          <p:cNvPr id="15" name="Text 12"/>
          <p:cNvSpPr/>
          <p:nvPr/>
        </p:nvSpPr>
        <p:spPr>
          <a:xfrm>
            <a:off x="752946" y="5838224"/>
            <a:ext cx="6896910" cy="580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850392">
              <a:lnSpc>
                <a:spcPts val="1823"/>
              </a:lnSpc>
              <a:spcAft>
                <a:spcPts val="600"/>
              </a:spcAft>
            </a:pPr>
            <a:r>
              <a:rPr lang="pt-PT" sz="1139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Quais são algumas soluções criativas para os desafios da logística internacional? Como é que o sector pode inovar para melhorar a eficiência e reduzir os custos?</a:t>
            </a:r>
            <a:endParaRPr lang="en-US" sz="1225" dirty="0"/>
          </a:p>
        </p:txBody>
      </p:sp>
      <p:sp>
        <p:nvSpPr>
          <p:cNvPr id="16" name="Text 13"/>
          <p:cNvSpPr/>
          <p:nvPr/>
        </p:nvSpPr>
        <p:spPr>
          <a:xfrm>
            <a:off x="752946" y="6520335"/>
            <a:ext cx="5071872" cy="36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850392">
              <a:lnSpc>
                <a:spcPts val="2848"/>
              </a:lnSpc>
              <a:spcAft>
                <a:spcPts val="600"/>
              </a:spcAft>
            </a:pPr>
            <a:r>
              <a:rPr lang="pt-PT" sz="2278" dirty="0">
                <a:solidFill>
                  <a:srgbClr val="312F2B"/>
                </a:solidFill>
                <a:ea typeface="Gelasio" pitchFamily="34" charset="-122"/>
              </a:rPr>
              <a:t>Chapéu Azul: Reflexão e planeamento</a:t>
            </a:r>
            <a:endParaRPr lang="en-US" sz="2449" dirty="0"/>
          </a:p>
        </p:txBody>
      </p:sp>
      <p:sp>
        <p:nvSpPr>
          <p:cNvPr id="17" name="Text 14"/>
          <p:cNvSpPr/>
          <p:nvPr/>
        </p:nvSpPr>
        <p:spPr>
          <a:xfrm>
            <a:off x="752946" y="7101079"/>
            <a:ext cx="6896910" cy="682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850392">
              <a:lnSpc>
                <a:spcPts val="1823"/>
              </a:lnSpc>
              <a:spcAft>
                <a:spcPts val="600"/>
              </a:spcAft>
            </a:pPr>
            <a:r>
              <a:rPr lang="pt-PT" sz="1139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Como podemos utilizar os conhecimentos adquiridos com esta atividade para melhorar a nossa compreensão da logística internacional? Quais são os próximos passos que podemos dar para melhorar os nossos processos logísticos?</a:t>
            </a:r>
            <a:endParaRPr lang="en-US" sz="12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36319" y="539865"/>
            <a:ext cx="10369099" cy="51220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>
              <a:lnSpc>
                <a:spcPts val="4033"/>
              </a:lnSpc>
            </a:pPr>
            <a:r>
              <a:rPr lang="en-US" sz="44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Vocabulário</a:t>
            </a:r>
            <a:r>
              <a:rPr lang="en-US" sz="44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de </a:t>
            </a:r>
            <a:r>
              <a:rPr lang="en-US" sz="44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logística</a:t>
            </a:r>
            <a:r>
              <a:rPr lang="en-US" sz="44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</a:t>
            </a:r>
            <a:r>
              <a:rPr lang="en-US" sz="44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internacional</a:t>
            </a:r>
            <a:endParaRPr lang="en-US" sz="44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84389" y="1290757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Cadeia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de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fornecimento</a:t>
            </a:r>
            <a:endParaRPr lang="en-US" sz="1291" dirty="0"/>
          </a:p>
        </p:txBody>
      </p:sp>
      <p:sp>
        <p:nvSpPr>
          <p:cNvPr id="6" name="Text 3"/>
          <p:cNvSpPr/>
          <p:nvPr/>
        </p:nvSpPr>
        <p:spPr>
          <a:xfrm>
            <a:off x="3684389" y="1618536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Transitário</a:t>
            </a:r>
            <a:endParaRPr lang="en-US" sz="1291" dirty="0"/>
          </a:p>
        </p:txBody>
      </p:sp>
      <p:sp>
        <p:nvSpPr>
          <p:cNvPr id="7" name="Text 4"/>
          <p:cNvSpPr/>
          <p:nvPr/>
        </p:nvSpPr>
        <p:spPr>
          <a:xfrm>
            <a:off x="3684389" y="1946315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Desembaraço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aduaneiro</a:t>
            </a:r>
            <a:endParaRPr lang="en-US" sz="1291" dirty="0"/>
          </a:p>
        </p:txBody>
      </p:sp>
      <p:sp>
        <p:nvSpPr>
          <p:cNvPr id="8" name="Text 5"/>
          <p:cNvSpPr/>
          <p:nvPr/>
        </p:nvSpPr>
        <p:spPr>
          <a:xfrm>
            <a:off x="3684389" y="2274094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Conhecimento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de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embarque</a:t>
            </a:r>
            <a:endParaRPr lang="en-US" sz="1291" dirty="0"/>
          </a:p>
        </p:txBody>
      </p:sp>
      <p:sp>
        <p:nvSpPr>
          <p:cNvPr id="9" name="Text 6"/>
          <p:cNvSpPr/>
          <p:nvPr/>
        </p:nvSpPr>
        <p:spPr>
          <a:xfrm>
            <a:off x="3684389" y="2601873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Termos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e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condições</a:t>
            </a:r>
            <a:endParaRPr lang="en-US" sz="1291" dirty="0"/>
          </a:p>
        </p:txBody>
      </p:sp>
      <p:sp>
        <p:nvSpPr>
          <p:cNvPr id="10" name="Text 7"/>
          <p:cNvSpPr/>
          <p:nvPr/>
        </p:nvSpPr>
        <p:spPr>
          <a:xfrm>
            <a:off x="3684389" y="2929652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Contentorização</a:t>
            </a:r>
            <a:endParaRPr lang="en-US" sz="1291" dirty="0"/>
          </a:p>
        </p:txBody>
      </p:sp>
      <p:sp>
        <p:nvSpPr>
          <p:cNvPr id="11" name="Text 8"/>
          <p:cNvSpPr/>
          <p:nvPr/>
        </p:nvSpPr>
        <p:spPr>
          <a:xfrm>
            <a:off x="3684389" y="3257431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Transbordo</a:t>
            </a:r>
            <a:endParaRPr lang="en-US" sz="1291" dirty="0"/>
          </a:p>
        </p:txBody>
      </p:sp>
      <p:sp>
        <p:nvSpPr>
          <p:cNvPr id="12" name="Text 9"/>
          <p:cNvSpPr/>
          <p:nvPr/>
        </p:nvSpPr>
        <p:spPr>
          <a:xfrm>
            <a:off x="3684389" y="3585210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Sobreestadia</a:t>
            </a:r>
            <a:endParaRPr lang="en-US" sz="1291" dirty="0"/>
          </a:p>
        </p:txBody>
      </p:sp>
      <p:sp>
        <p:nvSpPr>
          <p:cNvPr id="13" name="Text 10"/>
          <p:cNvSpPr/>
          <p:nvPr/>
        </p:nvSpPr>
        <p:spPr>
          <a:xfrm>
            <a:off x="3684389" y="3912989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Detenção</a:t>
            </a:r>
            <a:endParaRPr lang="en-US" sz="1291" dirty="0"/>
          </a:p>
        </p:txBody>
      </p:sp>
      <p:sp>
        <p:nvSpPr>
          <p:cNvPr id="14" name="Text 11"/>
          <p:cNvSpPr/>
          <p:nvPr/>
        </p:nvSpPr>
        <p:spPr>
          <a:xfrm>
            <a:off x="3684389" y="4240768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Consolidação</a:t>
            </a:r>
            <a:endParaRPr lang="en-US" sz="1291" dirty="0"/>
          </a:p>
        </p:txBody>
      </p:sp>
      <p:sp>
        <p:nvSpPr>
          <p:cNvPr id="15" name="Text 12"/>
          <p:cNvSpPr/>
          <p:nvPr/>
        </p:nvSpPr>
        <p:spPr>
          <a:xfrm>
            <a:off x="3684389" y="4568547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Desconsolidação</a:t>
            </a:r>
            <a:endParaRPr lang="en-US" sz="1291" dirty="0"/>
          </a:p>
        </p:txBody>
      </p:sp>
      <p:sp>
        <p:nvSpPr>
          <p:cNvPr id="16" name="Text 13"/>
          <p:cNvSpPr/>
          <p:nvPr/>
        </p:nvSpPr>
        <p:spPr>
          <a:xfrm>
            <a:off x="3684389" y="4896326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Transporte</a:t>
            </a:r>
            <a:endParaRPr lang="en-US" sz="1291" dirty="0"/>
          </a:p>
        </p:txBody>
      </p:sp>
      <p:sp>
        <p:nvSpPr>
          <p:cNvPr id="17" name="Text 14"/>
          <p:cNvSpPr/>
          <p:nvPr/>
        </p:nvSpPr>
        <p:spPr>
          <a:xfrm>
            <a:off x="3684389" y="5224105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pt-PT" sz="1291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ECC </a:t>
            </a:r>
            <a:r>
              <a:rPr lang="pt-PT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(Estação de Carga de Contentores)</a:t>
            </a:r>
            <a:endParaRPr lang="en-US" sz="1291" dirty="0"/>
          </a:p>
        </p:txBody>
      </p:sp>
      <p:sp>
        <p:nvSpPr>
          <p:cNvPr id="18" name="Text 15"/>
          <p:cNvSpPr/>
          <p:nvPr/>
        </p:nvSpPr>
        <p:spPr>
          <a:xfrm>
            <a:off x="3684389" y="5551884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Seguro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de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carga</a:t>
            </a:r>
            <a:endParaRPr lang="en-US" sz="1291" dirty="0"/>
          </a:p>
        </p:txBody>
      </p:sp>
      <p:sp>
        <p:nvSpPr>
          <p:cNvPr id="19" name="Text 16"/>
          <p:cNvSpPr/>
          <p:nvPr/>
        </p:nvSpPr>
        <p:spPr>
          <a:xfrm>
            <a:off x="3684389" y="5879663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Carta de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crédito</a:t>
            </a:r>
            <a:endParaRPr lang="en-US" sz="1291" dirty="0"/>
          </a:p>
        </p:txBody>
      </p:sp>
      <p:sp>
        <p:nvSpPr>
          <p:cNvPr id="20" name="Text 17"/>
          <p:cNvSpPr/>
          <p:nvPr/>
        </p:nvSpPr>
        <p:spPr>
          <a:xfrm>
            <a:off x="3684389" y="6207443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Sistema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Harmonizado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(SH)</a:t>
            </a:r>
            <a:endParaRPr lang="en-US" sz="1291" dirty="0"/>
          </a:p>
        </p:txBody>
      </p:sp>
      <p:sp>
        <p:nvSpPr>
          <p:cNvPr id="21" name="Text 18"/>
          <p:cNvSpPr/>
          <p:nvPr/>
        </p:nvSpPr>
        <p:spPr>
          <a:xfrm>
            <a:off x="3684389" y="6535222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Despachante</a:t>
            </a:r>
            <a:r>
              <a:rPr lang="en-US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</a:t>
            </a:r>
            <a:r>
              <a:rPr lang="en-US" sz="1291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aduaneiro</a:t>
            </a:r>
            <a:endParaRPr lang="en-US" sz="1291" dirty="0"/>
          </a:p>
        </p:txBody>
      </p:sp>
      <p:sp>
        <p:nvSpPr>
          <p:cNvPr id="22" name="Text 19"/>
          <p:cNvSpPr/>
          <p:nvPr/>
        </p:nvSpPr>
        <p:spPr>
          <a:xfrm>
            <a:off x="3684389" y="6863001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pt-PT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Acordo de comércio livre (ACL)</a:t>
            </a:r>
            <a:endParaRPr lang="en-US" sz="1291" dirty="0"/>
          </a:p>
        </p:txBody>
      </p:sp>
      <p:sp>
        <p:nvSpPr>
          <p:cNvPr id="23" name="Text 20"/>
          <p:cNvSpPr/>
          <p:nvPr/>
        </p:nvSpPr>
        <p:spPr>
          <a:xfrm>
            <a:off x="3684389" y="7190780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pt-PT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Sistema de Preferências Generalizadas (SPG)</a:t>
            </a:r>
            <a:endParaRPr lang="en-US" sz="1291" dirty="0"/>
          </a:p>
        </p:txBody>
      </p:sp>
      <p:sp>
        <p:nvSpPr>
          <p:cNvPr id="24" name="Text 21"/>
          <p:cNvSpPr/>
          <p:nvPr/>
        </p:nvSpPr>
        <p:spPr>
          <a:xfrm>
            <a:off x="3684389" y="7518559"/>
            <a:ext cx="7523798" cy="2622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/>
          <a:lstStyle/>
          <a:p>
            <a:pPr marL="342900" indent="-342900">
              <a:lnSpc>
                <a:spcPts val="2065"/>
              </a:lnSpc>
              <a:buSzPct val="100000"/>
              <a:buChar char="•"/>
            </a:pPr>
            <a:r>
              <a:rPr lang="pt-PT" sz="1291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Zona de comércio livre (FTZ)</a:t>
            </a:r>
            <a:endParaRPr lang="en-US" sz="12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defTabSz="109728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3840" dirty="0">
                <a:latin typeface="+mj-lt"/>
                <a:ea typeface="+mj-ea"/>
                <a:cs typeface="+mj-cs"/>
              </a:rPr>
              <a:t>O papel do transporte marítimo na logística internacional</a:t>
            </a:r>
            <a:endParaRPr lang="en-US" sz="384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 rotWithShape="1">
          <a:blip r:embed="rId3"/>
          <a:srcRect l="20334" r="8430" b="1"/>
          <a:stretch/>
        </p:blipFill>
        <p:spPr>
          <a:xfrm>
            <a:off x="6219826" y="1184911"/>
            <a:ext cx="7406640" cy="5848350"/>
          </a:xfrm>
          <a:prstGeom prst="rect">
            <a:avLst/>
          </a:prstGeom>
          <a:noFill/>
        </p:spPr>
      </p:pic>
      <p:sp>
        <p:nvSpPr>
          <p:cNvPr id="7" name="Text 3"/>
          <p:cNvSpPr/>
          <p:nvPr/>
        </p:nvSpPr>
        <p:spPr>
          <a:xfrm>
            <a:off x="1003934" y="2633003"/>
            <a:ext cx="4718684" cy="457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109728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pt-PT" sz="1920" dirty="0"/>
              <a:t>O transporte marítimo desempenha um papel crucial na logística internacional</a:t>
            </a:r>
            <a:r>
              <a:rPr lang="pt-PT" sz="1920" dirty="0" smtClean="0"/>
              <a:t>.</a:t>
            </a:r>
          </a:p>
          <a:p>
            <a:pPr defTabSz="109728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pt-PT" sz="1920" dirty="0" smtClean="0"/>
              <a:t>Como </a:t>
            </a:r>
            <a:r>
              <a:rPr lang="pt-PT" sz="1920" dirty="0"/>
              <a:t>é que o transporte marítimo liga as nações</a:t>
            </a:r>
            <a:r>
              <a:rPr lang="pt-PT" sz="1920" dirty="0" smtClean="0"/>
              <a:t>?</a:t>
            </a:r>
          </a:p>
          <a:p>
            <a:pPr defTabSz="109728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pt-PT" sz="1920" dirty="0" smtClean="0"/>
              <a:t>Enumere </a:t>
            </a:r>
            <a:r>
              <a:rPr lang="pt-PT" sz="1920" dirty="0"/>
              <a:t>as vantagens do transporte marítimo</a:t>
            </a:r>
            <a:r>
              <a:rPr lang="pt-PT" sz="1920" dirty="0" smtClean="0"/>
              <a:t>.</a:t>
            </a:r>
          </a:p>
          <a:p>
            <a:pPr defTabSz="109728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pt-PT" sz="1920" dirty="0" smtClean="0"/>
              <a:t>Enumere </a:t>
            </a:r>
            <a:r>
              <a:rPr lang="pt-PT" sz="1920" dirty="0"/>
              <a:t>as possíveis desvantagens do transporte marítimo.</a:t>
            </a:r>
            <a:endParaRPr lang="en-US" sz="192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" y="1225250"/>
            <a:ext cx="4086466" cy="2525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2160" y="4095017"/>
            <a:ext cx="2754917" cy="430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1124712">
              <a:lnSpc>
                <a:spcPts val="3363"/>
              </a:lnSpc>
              <a:spcAft>
                <a:spcPts val="600"/>
              </a:spcAft>
            </a:pPr>
            <a:r>
              <a:rPr lang="en-US" sz="269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Transporte</a:t>
            </a:r>
            <a:r>
              <a:rPr lang="en-US" sz="269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 </a:t>
            </a:r>
            <a:r>
              <a:rPr lang="en-US" sz="269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aéreo</a:t>
            </a:r>
            <a:endParaRPr lang="en-US" sz="2187" dirty="0"/>
          </a:p>
        </p:txBody>
      </p:sp>
      <p:sp>
        <p:nvSpPr>
          <p:cNvPr id="6" name="Text 2"/>
          <p:cNvSpPr/>
          <p:nvPr/>
        </p:nvSpPr>
        <p:spPr>
          <a:xfrm>
            <a:off x="633046" y="4800944"/>
            <a:ext cx="4340888" cy="25845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124712">
              <a:lnSpc>
                <a:spcPts val="3443"/>
              </a:lnSpc>
              <a:spcAft>
                <a:spcPts val="600"/>
              </a:spcAft>
            </a:pPr>
            <a:r>
              <a:rPr lang="pt-PT" sz="215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Pense na rapidez e eficiência da carga aérea, um componente essencial da logística internacional que mantém as cadeias de abastecimento globais em movimento.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819" y="1225250"/>
            <a:ext cx="4086613" cy="25256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71819" y="4095165"/>
            <a:ext cx="3705033" cy="430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1124712">
              <a:lnSpc>
                <a:spcPts val="3363"/>
              </a:lnSpc>
              <a:spcAft>
                <a:spcPts val="600"/>
              </a:spcAft>
            </a:pPr>
            <a:r>
              <a:rPr lang="en-US" sz="269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Transporte</a:t>
            </a:r>
            <a:r>
              <a:rPr lang="en-US" sz="269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 </a:t>
            </a:r>
            <a:r>
              <a:rPr lang="en-US" sz="269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rodoviário</a:t>
            </a:r>
            <a:endParaRPr lang="en-US" sz="2187" dirty="0"/>
          </a:p>
        </p:txBody>
      </p:sp>
      <p:sp>
        <p:nvSpPr>
          <p:cNvPr id="9" name="Text 4"/>
          <p:cNvSpPr/>
          <p:nvPr/>
        </p:nvSpPr>
        <p:spPr>
          <a:xfrm>
            <a:off x="5271819" y="4800943"/>
            <a:ext cx="4086613" cy="22032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124712">
              <a:lnSpc>
                <a:spcPts val="3443"/>
              </a:lnSpc>
              <a:spcAft>
                <a:spcPts val="600"/>
              </a:spcAft>
            </a:pPr>
            <a:r>
              <a:rPr lang="pt-PT" sz="215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transporte rodoviário, a espinha dorsal da logística internacional, garante que as mercadorias cheguem ao seu destino de forma eficiente.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626" y="1225250"/>
            <a:ext cx="4086613" cy="25256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1627" y="4095165"/>
            <a:ext cx="3723310" cy="430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1124712">
              <a:lnSpc>
                <a:spcPts val="3363"/>
              </a:lnSpc>
              <a:spcAft>
                <a:spcPts val="600"/>
              </a:spcAft>
            </a:pPr>
            <a:r>
              <a:rPr lang="en-US" sz="269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Transporte</a:t>
            </a:r>
            <a:r>
              <a:rPr lang="en-US" sz="269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 </a:t>
            </a:r>
            <a:r>
              <a:rPr lang="en-US" sz="2690" dirty="0" err="1" smtClean="0">
                <a:solidFill>
                  <a:srgbClr val="312F2B"/>
                </a:solidFill>
                <a:latin typeface="Gelasio" pitchFamily="34" charset="0"/>
                <a:ea typeface="Gelasio" pitchFamily="34" charset="-122"/>
              </a:rPr>
              <a:t>ferroviário</a:t>
            </a:r>
            <a:endParaRPr lang="en-US" sz="2187" dirty="0"/>
          </a:p>
        </p:txBody>
      </p:sp>
      <p:sp>
        <p:nvSpPr>
          <p:cNvPr id="12" name="Text 6"/>
          <p:cNvSpPr/>
          <p:nvPr/>
        </p:nvSpPr>
        <p:spPr>
          <a:xfrm>
            <a:off x="9771626" y="4801092"/>
            <a:ext cx="4086613" cy="22032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124712">
              <a:lnSpc>
                <a:spcPts val="3443"/>
              </a:lnSpc>
              <a:spcAft>
                <a:spcPts val="600"/>
              </a:spcAft>
            </a:pPr>
            <a:r>
              <a:rPr lang="pt-PT" sz="215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Considere o transporte ferroviário de mercadorias, um modo de transporte fiável e amigo do ambiente na logística internacional.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 rotWithShape="1">
          <a:blip r:embed="rId3"/>
          <a:srcRect r="-1" b="35145"/>
          <a:stretch/>
        </p:blipFill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  <a:noFill/>
        </p:spPr>
      </p:pic>
      <p:sp>
        <p:nvSpPr>
          <p:cNvPr id="4" name="Text 1"/>
          <p:cNvSpPr/>
          <p:nvPr/>
        </p:nvSpPr>
        <p:spPr>
          <a:xfrm>
            <a:off x="647395" y="438149"/>
            <a:ext cx="6967728" cy="1591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defTabSz="109728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4900" dirty="0">
                <a:latin typeface="+mj-lt"/>
                <a:ea typeface="+mj-ea"/>
                <a:cs typeface="+mj-cs"/>
              </a:rPr>
              <a:t>A importância das alfândegas na logística internacional</a:t>
            </a:r>
            <a:endParaRPr lang="en-US" sz="49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7395" y="2190750"/>
            <a:ext cx="6967728" cy="5223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109728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880" dirty="0"/>
              <a:t>Os procedimentos aduaneiros são vitais na logística internacional, assegurando o bom fluxo de mercadorias através das fronteiras</a:t>
            </a:r>
            <a:r>
              <a:rPr lang="pt-PT" sz="2880" dirty="0" smtClean="0"/>
              <a:t>.</a:t>
            </a:r>
          </a:p>
          <a:p>
            <a:pPr defTabSz="1097280">
              <a:lnSpc>
                <a:spcPct val="110000"/>
              </a:lnSpc>
              <a:spcAft>
                <a:spcPts val="600"/>
              </a:spcAft>
            </a:pPr>
            <a:r>
              <a:rPr lang="pt-PT" sz="2880" dirty="0" smtClean="0"/>
              <a:t>Vamos </a:t>
            </a:r>
            <a:r>
              <a:rPr lang="pt-PT" sz="2880" dirty="0"/>
              <a:t>fazer uma reflexão sobre o papel que as alfândegas desempenham no comércio internacional.</a:t>
            </a:r>
            <a:endParaRPr lang="en-US" sz="2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287741" y="1092686"/>
            <a:ext cx="55063" cy="6044225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2"/>
          <p:cNvSpPr/>
          <p:nvPr/>
        </p:nvSpPr>
        <p:spPr>
          <a:xfrm>
            <a:off x="7625131" y="1590245"/>
            <a:ext cx="964117" cy="5506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7005267" y="1307918"/>
            <a:ext cx="619863" cy="619863"/>
          </a:xfrm>
          <a:prstGeom prst="roundRect">
            <a:avLst>
              <a:gd name="adj" fmla="val 20000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7225370" y="1359586"/>
            <a:ext cx="179508" cy="5163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defTabSz="1124712">
              <a:lnSpc>
                <a:spcPts val="4036"/>
              </a:lnSpc>
              <a:spcAft>
                <a:spcPts val="600"/>
              </a:spcAft>
            </a:pPr>
            <a:r>
              <a:rPr lang="en-US" sz="3228" kern="120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+mn-cs"/>
              </a:rPr>
              <a:t>1</a:t>
            </a:r>
            <a:endParaRPr lang="en-US" sz="2624"/>
          </a:p>
        </p:txBody>
      </p:sp>
      <p:sp>
        <p:nvSpPr>
          <p:cNvPr id="8" name="Text 5"/>
          <p:cNvSpPr/>
          <p:nvPr/>
        </p:nvSpPr>
        <p:spPr>
          <a:xfrm>
            <a:off x="8830389" y="1368147"/>
            <a:ext cx="3890824" cy="430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1124712">
              <a:lnSpc>
                <a:spcPts val="3363"/>
              </a:lnSpc>
              <a:spcAft>
                <a:spcPts val="600"/>
              </a:spcAft>
            </a:pPr>
            <a:r>
              <a:rPr lang="en-US" sz="269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Processo</a:t>
            </a:r>
            <a:r>
              <a:rPr lang="en-US" sz="269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 de </a:t>
            </a:r>
            <a:r>
              <a:rPr lang="en-US" sz="269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importação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8830389" y="2074075"/>
            <a:ext cx="5177012" cy="16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124712">
              <a:lnSpc>
                <a:spcPts val="3443"/>
              </a:lnSpc>
              <a:spcAft>
                <a:spcPts val="600"/>
              </a:spcAft>
            </a:pPr>
            <a:r>
              <a:rPr lang="pt-PT" sz="215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Quais são as etapas envolvidas na importação de mercadorias, desde a preparação dos documentos até à declaração aduaneira.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041149" y="2967556"/>
            <a:ext cx="964117" cy="5506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7005267" y="2685229"/>
            <a:ext cx="619863" cy="619863"/>
          </a:xfrm>
          <a:prstGeom prst="roundRect">
            <a:avLst>
              <a:gd name="adj" fmla="val 20000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7197027" y="2736897"/>
            <a:ext cx="236195" cy="5163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defTabSz="1124712">
              <a:lnSpc>
                <a:spcPts val="4036"/>
              </a:lnSpc>
              <a:spcAft>
                <a:spcPts val="600"/>
              </a:spcAft>
            </a:pPr>
            <a:r>
              <a:rPr lang="en-US" sz="3228" kern="120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+mn-cs"/>
              </a:rPr>
              <a:t>2</a:t>
            </a:r>
            <a:endParaRPr lang="en-US" sz="2624"/>
          </a:p>
        </p:txBody>
      </p:sp>
      <p:sp>
        <p:nvSpPr>
          <p:cNvPr id="13" name="Text 10"/>
          <p:cNvSpPr/>
          <p:nvPr/>
        </p:nvSpPr>
        <p:spPr>
          <a:xfrm>
            <a:off x="2049864" y="2745458"/>
            <a:ext cx="3750145" cy="430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r" defTabSz="1124712">
              <a:lnSpc>
                <a:spcPts val="3363"/>
              </a:lnSpc>
              <a:spcAft>
                <a:spcPts val="600"/>
              </a:spcAft>
            </a:pPr>
            <a:r>
              <a:rPr lang="en-US" sz="269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Processo</a:t>
            </a:r>
            <a:r>
              <a:rPr lang="en-US" sz="269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 de </a:t>
            </a:r>
            <a:r>
              <a:rPr lang="en-US" sz="269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exportação</a:t>
            </a:r>
            <a:endParaRPr lang="en-US" sz="2187" dirty="0"/>
          </a:p>
        </p:txBody>
      </p:sp>
      <p:sp>
        <p:nvSpPr>
          <p:cNvPr id="14" name="Text 11"/>
          <p:cNvSpPr/>
          <p:nvPr/>
        </p:nvSpPr>
        <p:spPr>
          <a:xfrm>
            <a:off x="772160" y="3451386"/>
            <a:ext cx="5027850" cy="17626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defTabSz="1124712">
              <a:lnSpc>
                <a:spcPts val="3443"/>
              </a:lnSpc>
              <a:spcAft>
                <a:spcPts val="600"/>
              </a:spcAft>
            </a:pPr>
            <a:r>
              <a:rPr lang="pt-PT" sz="215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Enumerar o processo de exportação de mercadorias, incluindo documentação, embalagem e cumprimento dos regulamentos de exportação.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625131" y="4615014"/>
            <a:ext cx="964117" cy="5506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3"/>
          <p:cNvSpPr/>
          <p:nvPr/>
        </p:nvSpPr>
        <p:spPr>
          <a:xfrm>
            <a:off x="7005267" y="4332687"/>
            <a:ext cx="619863" cy="619863"/>
          </a:xfrm>
          <a:prstGeom prst="roundRect">
            <a:avLst>
              <a:gd name="adj" fmla="val 20000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7201751" y="4384355"/>
            <a:ext cx="226747" cy="5163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defTabSz="1124712">
              <a:lnSpc>
                <a:spcPts val="4036"/>
              </a:lnSpc>
              <a:spcAft>
                <a:spcPts val="600"/>
              </a:spcAft>
            </a:pPr>
            <a:r>
              <a:rPr lang="en-US" sz="3228" kern="120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+mn-cs"/>
              </a:rPr>
              <a:t>3</a:t>
            </a:r>
            <a:endParaRPr lang="en-US" sz="2624"/>
          </a:p>
        </p:txBody>
      </p:sp>
      <p:sp>
        <p:nvSpPr>
          <p:cNvPr id="18" name="Text 15"/>
          <p:cNvSpPr/>
          <p:nvPr/>
        </p:nvSpPr>
        <p:spPr>
          <a:xfrm>
            <a:off x="8830389" y="4392918"/>
            <a:ext cx="4071695" cy="430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1124712">
              <a:lnSpc>
                <a:spcPts val="3363"/>
              </a:lnSpc>
              <a:spcAft>
                <a:spcPts val="600"/>
              </a:spcAft>
            </a:pPr>
            <a:r>
              <a:rPr lang="en-US" sz="269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Conformidade</a:t>
            </a:r>
            <a:r>
              <a:rPr lang="en-US" sz="269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 </a:t>
            </a:r>
            <a:r>
              <a:rPr lang="en-US" sz="269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</a:rPr>
              <a:t>comercial</a:t>
            </a:r>
            <a:endParaRPr lang="en-US" sz="2187" dirty="0"/>
          </a:p>
        </p:txBody>
      </p:sp>
      <p:sp>
        <p:nvSpPr>
          <p:cNvPr id="19" name="Text 16"/>
          <p:cNvSpPr/>
          <p:nvPr/>
        </p:nvSpPr>
        <p:spPr>
          <a:xfrm>
            <a:off x="8830388" y="5098845"/>
            <a:ext cx="5177013" cy="17626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124712">
              <a:lnSpc>
                <a:spcPts val="3443"/>
              </a:lnSpc>
              <a:spcAft>
                <a:spcPts val="600"/>
              </a:spcAft>
            </a:pPr>
            <a:r>
              <a:rPr lang="pt-PT" sz="2153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Explicar a importância da conformidade comercial na logística internacional, garantindo o cumprimento dos regulamentos de importação/exportação.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 rotWithShape="1">
          <a:blip r:embed="rId3"/>
          <a:srcRect t="2000" r="-1" b="33145"/>
          <a:stretch/>
        </p:blipFill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  <a:noFill/>
          <a:effectLst/>
        </p:spPr>
      </p:pic>
      <p:sp>
        <p:nvSpPr>
          <p:cNvPr id="4" name="Text 1"/>
          <p:cNvSpPr/>
          <p:nvPr/>
        </p:nvSpPr>
        <p:spPr>
          <a:xfrm>
            <a:off x="647395" y="438149"/>
            <a:ext cx="6967728" cy="1591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defTabSz="109728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5280" dirty="0">
                <a:latin typeface="+mj-lt"/>
                <a:ea typeface="+mj-ea"/>
                <a:cs typeface="+mj-cs"/>
              </a:rPr>
              <a:t>Desbloquear o comércio: Zonas de comércio livre</a:t>
            </a:r>
            <a:endParaRPr lang="en-US" sz="528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7395" y="2190750"/>
            <a:ext cx="6967728" cy="5223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109728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880" dirty="0"/>
              <a:t>As zonas de comércio livre são áreas designadas que impulsionam a logística internacional através da promoção do comércio e do investimento. Discuta os benefícios destas zonas e explique como contribuem para o comércio global e o crescimento económico.</a:t>
            </a:r>
            <a:endParaRPr lang="en-US" sz="2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1771294"/>
            <a:ext cx="12618720" cy="1567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4400" dirty="0">
                <a:latin typeface="+mj-lt"/>
                <a:ea typeface="+mj-ea"/>
                <a:cs typeface="+mj-cs"/>
              </a:rPr>
              <a:t>Adotar a digitalização na logística internacional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39108" y="3323134"/>
            <a:ext cx="9994538" cy="4156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/>
              <a:t>A revolução digital transformou a logística internacional, revolucionando processos e melhorando a eficiência. Investigue o papel de tecnologias como IoT, blockchain e IA na racionalização das cadeias de abastecimento, melhorando as capacidades de rastreamento e garantindo a transparência. </a:t>
            </a:r>
            <a:endParaRPr lang="pt-PT" sz="2400" dirty="0" smtClean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/>
              <a:t>Discuta </a:t>
            </a:r>
            <a:r>
              <a:rPr lang="pt-PT" sz="2400" dirty="0"/>
              <a:t>as suas ideias sobre o futuro da digitalização na logística internacional.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3331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 rotWithShape="1">
          <a:blip r:embed="rId3"/>
          <a:srcRect l="21439" r="20666" b="-2"/>
          <a:stretch/>
        </p:blipFill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  <a:noFill/>
        </p:spPr>
      </p:pic>
      <p:sp>
        <p:nvSpPr>
          <p:cNvPr id="6" name="Text 2"/>
          <p:cNvSpPr/>
          <p:nvPr/>
        </p:nvSpPr>
        <p:spPr>
          <a:xfrm>
            <a:off x="647395" y="438149"/>
            <a:ext cx="6967728" cy="1591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109728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80" dirty="0" err="1">
                <a:latin typeface="+mj-lt"/>
                <a:ea typeface="+mj-ea"/>
                <a:cs typeface="+mj-cs"/>
              </a:rPr>
              <a:t>Sustentabilidade</a:t>
            </a:r>
            <a:r>
              <a:rPr lang="en-US" sz="5280" dirty="0">
                <a:latin typeface="+mj-lt"/>
                <a:ea typeface="+mj-ea"/>
                <a:cs typeface="+mj-cs"/>
              </a:rPr>
              <a:t> </a:t>
            </a:r>
            <a:r>
              <a:rPr lang="en-US" sz="5280" dirty="0" err="1">
                <a:latin typeface="+mj-lt"/>
                <a:ea typeface="+mj-ea"/>
                <a:cs typeface="+mj-cs"/>
              </a:rPr>
              <a:t>na</a:t>
            </a:r>
            <a:r>
              <a:rPr lang="en-US" sz="5280" dirty="0">
                <a:latin typeface="+mj-lt"/>
                <a:ea typeface="+mj-ea"/>
                <a:cs typeface="+mj-cs"/>
              </a:rPr>
              <a:t> </a:t>
            </a:r>
            <a:r>
              <a:rPr lang="en-US" sz="5280" dirty="0" err="1">
                <a:latin typeface="+mj-lt"/>
                <a:ea typeface="+mj-ea"/>
                <a:cs typeface="+mj-cs"/>
              </a:rPr>
              <a:t>logística</a:t>
            </a:r>
            <a:r>
              <a:rPr lang="en-US" sz="5280" dirty="0">
                <a:latin typeface="+mj-lt"/>
                <a:ea typeface="+mj-ea"/>
                <a:cs typeface="+mj-cs"/>
              </a:rPr>
              <a:t> </a:t>
            </a:r>
            <a:r>
              <a:rPr lang="en-US" sz="5280" dirty="0" err="1">
                <a:latin typeface="+mj-lt"/>
                <a:ea typeface="+mj-ea"/>
                <a:cs typeface="+mj-cs"/>
              </a:rPr>
              <a:t>internacional</a:t>
            </a:r>
            <a:endParaRPr lang="en-US" sz="528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647395" y="2190750"/>
            <a:ext cx="6967728" cy="5223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1097280">
              <a:lnSpc>
                <a:spcPct val="110000"/>
              </a:lnSpc>
              <a:spcAft>
                <a:spcPts val="600"/>
              </a:spcAft>
            </a:pPr>
            <a:r>
              <a:rPr lang="pt-PT" sz="2880" dirty="0"/>
              <a:t>Como é que a logística internacional pode contribuir para um futuro mais verde e mais sustentável?</a:t>
            </a:r>
            <a:endParaRPr lang="en-US" sz="2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438150"/>
            <a:ext cx="1096985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109728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PT" sz="5280" dirty="0">
                <a:latin typeface="+mj-lt"/>
                <a:ea typeface="+mj-ea"/>
                <a:cs typeface="+mj-cs"/>
              </a:rPr>
              <a:t>Tendências emergentes na logística internacional</a:t>
            </a:r>
            <a:endParaRPr lang="en-US" sz="528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5840" y="2190750"/>
            <a:ext cx="62179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74320" defTabSz="109728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3360" dirty="0"/>
              <a:t>Discutir as tecnologias que melhoram a entrega na última milha, reduzem o congestionamento e aumentam a eficiência das cadeias de abastecimento globais.</a:t>
            </a:r>
            <a:endParaRPr lang="en-US" sz="336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 rotWithShape="1">
          <a:blip r:embed="rId3"/>
          <a:srcRect t="11580" b="32365"/>
          <a:stretch/>
        </p:blipFill>
        <p:spPr>
          <a:xfrm>
            <a:off x="7406640" y="2190750"/>
            <a:ext cx="6217920" cy="5221606"/>
          </a:xfrm>
          <a:prstGeom prst="rect">
            <a:avLst/>
          </a:prstGeom>
          <a:noFill/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87107" y="427673"/>
            <a:ext cx="9423577" cy="97202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lnSpc>
                <a:spcPts val="3827"/>
              </a:lnSpc>
            </a:pPr>
            <a:r>
              <a:rPr lang="en-US" sz="52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Ficha</a:t>
            </a:r>
            <a:r>
              <a:rPr lang="en-US" sz="52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de </a:t>
            </a:r>
            <a:r>
              <a:rPr lang="en-US" sz="52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vocabulário</a:t>
            </a:r>
            <a:r>
              <a:rPr lang="en-US" sz="52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</a:t>
            </a:r>
            <a:r>
              <a:rPr lang="en-US" sz="52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sobre</a:t>
            </a:r>
            <a:r>
              <a:rPr lang="en-US" sz="52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</a:t>
            </a:r>
            <a:r>
              <a:rPr lang="en-US" sz="52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logística</a:t>
            </a:r>
            <a:r>
              <a:rPr lang="en-US" sz="52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</a:t>
            </a:r>
            <a:r>
              <a:rPr lang="en-US" sz="52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internacional</a:t>
            </a:r>
            <a:endParaRPr lang="en-US" sz="52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56470" y="1652454"/>
            <a:ext cx="11381336" cy="29719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>
              <a:lnSpc>
                <a:spcPts val="1960"/>
              </a:lnSpc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Utiliza as palavras do vocabulário do baralho da Logística Internacional para preencher os espaços em branco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56469" y="2251887"/>
            <a:ext cx="9070757" cy="29101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 é o processo de transferência de bens do fabricante para o consumidor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56470" y="2574857"/>
            <a:ext cx="10761904" cy="24872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2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 __________ é uma empresa que organiza a expedição de mercadorias em nome dos seus clientes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56470" y="2872048"/>
            <a:ext cx="10761904" cy="2918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3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o processo de obtenção de autorização das autoridades governamentais para importar ou exportar mercadorias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87107" y="3163920"/>
            <a:ext cx="10239654" cy="24872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4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Um __________ é um documento que serve de contrato entre um transportador e um expedidor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056470" y="3449913"/>
            <a:ext cx="11302678" cy="49744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5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são termos normalizados utilizados no comércio internacional para definir as responsabilidades dos compradores e dos vendedores.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87107" y="3995826"/>
            <a:ext cx="10239654" cy="24872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6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o processo de acondicionamento de mercadorias em contentores para expedição.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56470" y="4339845"/>
            <a:ext cx="10761904" cy="24872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7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o processo de transferência de mercadorias de um navio para outro durante o trânsito.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56470" y="4650717"/>
            <a:ext cx="12492382" cy="49744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8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uma taxa cobrada pelos transportadores pelo armazenamento de mercadorias nos seus contentores para além de um determinado período de tempo.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56469" y="5166950"/>
            <a:ext cx="13262432" cy="61569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9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uma taxa cobrada pelos transportadores pela utilização dos seus contentores para além de um </a:t>
            </a:r>
            <a:r>
              <a:rPr lang="pt-PT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determinado</a:t>
            </a:r>
          </a:p>
          <a:p>
            <a:pPr>
              <a:lnSpc>
                <a:spcPts val="1960"/>
              </a:lnSpc>
              <a:buSzPct val="100000"/>
            </a:pPr>
            <a:r>
              <a:rPr lang="pt-PT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</a:t>
            </a: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período de tempo.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87107" y="5756013"/>
            <a:ext cx="10859087" cy="53471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l">
              <a:lnSpc>
                <a:spcPts val="1960"/>
              </a:lnSpc>
              <a:buSzPct val="100000"/>
            </a:pPr>
            <a:endParaRPr lang="en-US" dirty="0" smtClean="0">
              <a:solidFill>
                <a:srgbClr val="272525"/>
              </a:solidFill>
              <a:ea typeface="Lato" pitchFamily="34" charset="-122"/>
              <a:cs typeface="Lato" pitchFamily="34" charset="-120"/>
            </a:endParaRPr>
          </a:p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0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o processo de combinar vários envios num único envio para reduzir os custos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56470" y="6479457"/>
            <a:ext cx="12089259" cy="81018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ts val="1960"/>
              </a:lnSpc>
              <a:buSzPct val="100000"/>
            </a:pPr>
            <a:endParaRPr lang="en-US" dirty="0" smtClean="0">
              <a:solidFill>
                <a:srgbClr val="272525"/>
              </a:solidFill>
              <a:ea typeface="Lato" pitchFamily="34" charset="-122"/>
              <a:cs typeface="Lato" pitchFamily="34" charset="-120"/>
            </a:endParaRPr>
          </a:p>
          <a:p>
            <a:pPr>
              <a:lnSpc>
                <a:spcPts val="1960"/>
              </a:lnSpc>
              <a:buSzPct val="100000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11.__________ é o processo de transporte de mercadorias numa curta distância, normalmente de um porto para um armazém ou vice-versa.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5">
            <a:extLst>
              <a:ext uri="{FF2B5EF4-FFF2-40B4-BE49-F238E27FC236}">
                <a16:creationId xmlns:a16="http://schemas.microsoft.com/office/drawing/2014/main" xmlns="" id="{3A483DD1-5C9A-9FCA-B322-3056EE6E0D4A}"/>
              </a:ext>
            </a:extLst>
          </p:cNvPr>
          <p:cNvSpPr/>
          <p:nvPr/>
        </p:nvSpPr>
        <p:spPr>
          <a:xfrm>
            <a:off x="1453661" y="3132165"/>
            <a:ext cx="10620352" cy="38312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3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uma instalação onde a carga é consolidada e desconsolidada para expedição</a:t>
            </a:r>
            <a:endParaRPr lang="en-US" dirty="0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xmlns="" id="{BD5E72C0-2576-0BE7-0AC8-8A5046BBA1D1}"/>
              </a:ext>
            </a:extLst>
          </p:cNvPr>
          <p:cNvSpPr/>
          <p:nvPr/>
        </p:nvSpPr>
        <p:spPr>
          <a:xfrm>
            <a:off x="1438799" y="3515292"/>
            <a:ext cx="9205754" cy="48004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4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__________ é um tipo de seguro que protege os proprietários de cargas em caso de perda ou dano das suas mercadorias durante o transporte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4" name="Text 17">
            <a:extLst>
              <a:ext uri="{FF2B5EF4-FFF2-40B4-BE49-F238E27FC236}">
                <a16:creationId xmlns:a16="http://schemas.microsoft.com/office/drawing/2014/main" xmlns="" id="{77817B3C-E148-B0CB-9C26-551A78D40916}"/>
              </a:ext>
            </a:extLst>
          </p:cNvPr>
          <p:cNvSpPr/>
          <p:nvPr/>
        </p:nvSpPr>
        <p:spPr>
          <a:xfrm>
            <a:off x="1438799" y="4126160"/>
            <a:ext cx="9504504" cy="25598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5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Um __________ é um instrumento financeiro que garante o pagamento a um vendedor por parte de um comprador.</a:t>
            </a:r>
            <a:endParaRPr lang="en-US" dirty="0"/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xmlns="" id="{33B8E6D2-E033-70C9-3676-923BDB210D0A}"/>
              </a:ext>
            </a:extLst>
          </p:cNvPr>
          <p:cNvSpPr/>
          <p:nvPr/>
        </p:nvSpPr>
        <p:spPr>
          <a:xfrm>
            <a:off x="1438798" y="4647196"/>
            <a:ext cx="11126827" cy="24163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7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Um __________ é um profissional licenciado que presta assistência no processo de desalfandegamento</a:t>
            </a:r>
            <a:r>
              <a:rPr lang="en-US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  <a:endParaRPr lang="en-US" dirty="0"/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xmlns="" id="{C88EE2B6-E3D6-778C-A76E-9656A967F6AE}"/>
              </a:ext>
            </a:extLst>
          </p:cNvPr>
          <p:cNvSpPr/>
          <p:nvPr/>
        </p:nvSpPr>
        <p:spPr>
          <a:xfrm>
            <a:off x="1438798" y="4382141"/>
            <a:ext cx="12464015" cy="26505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6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O __________ é um sistema normalizado de nomes e números utilizado para classificar os produtos comercializados.</a:t>
            </a:r>
            <a:endParaRPr lang="en-US" dirty="0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xmlns="" id="{ABDF1888-2C2F-2D89-1777-86B9B694F200}"/>
              </a:ext>
            </a:extLst>
          </p:cNvPr>
          <p:cNvSpPr/>
          <p:nvPr/>
        </p:nvSpPr>
        <p:spPr>
          <a:xfrm>
            <a:off x="1438799" y="4862184"/>
            <a:ext cx="11126826" cy="30830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8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Um __________ é um acordo entre dois ou mais países para eliminar ou reduzir as barreiras </a:t>
            </a:r>
            <a:r>
              <a:rPr lang="pt-PT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comerciais.</a:t>
            </a:r>
            <a:endParaRPr lang="en-US" dirty="0"/>
          </a:p>
        </p:txBody>
      </p:sp>
      <p:sp>
        <p:nvSpPr>
          <p:cNvPr id="8" name="Text 22">
            <a:extLst>
              <a:ext uri="{FF2B5EF4-FFF2-40B4-BE49-F238E27FC236}">
                <a16:creationId xmlns:a16="http://schemas.microsoft.com/office/drawing/2014/main" xmlns="" id="{27390A0B-2110-57DB-A349-E9F2FCA51C58}"/>
              </a:ext>
            </a:extLst>
          </p:cNvPr>
          <p:cNvSpPr/>
          <p:nvPr/>
        </p:nvSpPr>
        <p:spPr>
          <a:xfrm>
            <a:off x="1453662" y="5667931"/>
            <a:ext cx="12198544" cy="86684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20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Um __________ é uma área geográfica designada onde as mercadorias podem ser importadas, armazenadas e processadas sem estarem sujeitas a direitos aduaneiros.</a:t>
            </a:r>
            <a:endParaRPr lang="en-US" dirty="0"/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xmlns="" id="{362F5DF6-CDA2-8031-FE76-C19F881F4D83}"/>
              </a:ext>
            </a:extLst>
          </p:cNvPr>
          <p:cNvSpPr/>
          <p:nvPr/>
        </p:nvSpPr>
        <p:spPr>
          <a:xfrm>
            <a:off x="1438799" y="5170488"/>
            <a:ext cx="12552504" cy="49744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9"/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O __________ é um sistema de tarifas preferenciais que permite aos países em desenvolvimento pagar tarifas mais baixas nas suas exportações para os países desenvolvidos</a:t>
            </a:r>
            <a:r>
              <a:rPr lang="pt-PT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.</a:t>
            </a:r>
          </a:p>
          <a:p>
            <a:pPr marL="342900" indent="-342900">
              <a:lnSpc>
                <a:spcPts val="1960"/>
              </a:lnSpc>
              <a:buSzPct val="100000"/>
              <a:buFont typeface="+mj-lt"/>
              <a:buAutoNum type="arabicPeriod" startAt="19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B2C9686-25F5-118C-ABCE-D2C082C118CC}"/>
              </a:ext>
            </a:extLst>
          </p:cNvPr>
          <p:cNvSpPr txBox="1"/>
          <p:nvPr/>
        </p:nvSpPr>
        <p:spPr>
          <a:xfrm>
            <a:off x="1453662" y="2283810"/>
            <a:ext cx="10386646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60"/>
              </a:lnSpc>
            </a:pPr>
            <a:r>
              <a:rPr lang="pt-PT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Utiliza as palavras do vocabulário do baralho da Logística Internacional para preencher os espaços em branco.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D3B42EE-C6F9-58EF-A08B-E32D563CF707}"/>
              </a:ext>
            </a:extLst>
          </p:cNvPr>
          <p:cNvSpPr txBox="1"/>
          <p:nvPr/>
        </p:nvSpPr>
        <p:spPr>
          <a:xfrm>
            <a:off x="1438798" y="768254"/>
            <a:ext cx="10984523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827"/>
              </a:lnSpc>
            </a:pPr>
            <a:r>
              <a:rPr lang="pt-PT" sz="48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Ficha de vocabulário sobre logística internacional - continuação</a:t>
            </a:r>
            <a:endParaRPr lang="en-US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403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1969" y="581500"/>
            <a:ext cx="7520921" cy="5355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4118"/>
              </a:lnSpc>
            </a:pPr>
            <a:r>
              <a:rPr lang="en-US" sz="54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Associação</a:t>
            </a:r>
            <a:r>
              <a:rPr lang="en-US" sz="5400" dirty="0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 de </a:t>
            </a:r>
            <a:r>
              <a:rPr lang="en-US" sz="5400" dirty="0" err="1">
                <a:solidFill>
                  <a:srgbClr val="312F2B"/>
                </a:solidFill>
                <a:latin typeface="+mj-lt"/>
                <a:ea typeface="Gelasio" pitchFamily="34" charset="-122"/>
                <a:cs typeface="Gelasio" pitchFamily="34" charset="-120"/>
              </a:rPr>
              <a:t>palavras</a:t>
            </a:r>
            <a:endParaRPr lang="en-US" sz="54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01969" y="1317784"/>
            <a:ext cx="11868073" cy="803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08"/>
              </a:lnSpc>
            </a:pPr>
            <a:r>
              <a:rPr lang="pt-PT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Em conjunto, vamos fazer um brainstorming de uma lista de palavras relacionadas com a logística internacional. Cada pessoa dirá uma palavra que associa ao tópico e, quando terminarmos, agruparemos as palavras por tema e discutiremos a sua relação com a logística internacional.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08427" y="2208906"/>
            <a:ext cx="7948851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108"/>
              </a:lnSpc>
            </a:pPr>
            <a:r>
              <a:rPr lang="pt-PT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Eis uma lista para começarmos </a:t>
            </a:r>
            <a:r>
              <a:rPr lang="en-US" sz="2000" dirty="0" smtClean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08427" y="2765346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Transporte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08427" y="3100030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Aduanas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08427" y="3434715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Comércio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08427" y="3769400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Cadeia</a:t>
            </a:r>
            <a:r>
              <a:rPr lang="en-US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de </a:t>
            </a: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fornecimento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08427" y="4104084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Eficiência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08427" y="4438769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Digitalização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608427" y="4773454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Sustentabilidade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608427" y="5053252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Armazém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608427" y="5442823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Tendências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608427" y="5777508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Mundial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608427" y="6112193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Ligação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608427" y="6446877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Transporte</a:t>
            </a:r>
            <a:r>
              <a:rPr lang="en-US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</a:t>
            </a: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aéreo</a:t>
            </a:r>
            <a:r>
              <a:rPr lang="en-US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de </a:t>
            </a: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mercadorias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608427" y="6781562"/>
            <a:ext cx="7681198" cy="2677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>
              <a:lnSpc>
                <a:spcPts val="2108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Zonas de </a:t>
            </a:r>
            <a:r>
              <a:rPr lang="en-US" sz="2000" dirty="0" err="1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comércio</a:t>
            </a:r>
            <a:r>
              <a:rPr lang="en-US" sz="20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 livre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037993" y="3767614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17BBB0-7C37-9085-7248-7CE3A9DA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Resumo</a:t>
            </a:r>
            <a:r>
              <a:rPr lang="en-ZA" dirty="0"/>
              <a:t>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4C9225-F6D1-BD0B-9AED-48614A55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0"/>
            <a:ext cx="5736494" cy="3909661"/>
          </a:xfrm>
        </p:spPr>
        <p:txBody>
          <a:bodyPr>
            <a:noAutofit/>
          </a:bodyPr>
          <a:lstStyle/>
          <a:p>
            <a:r>
              <a:rPr lang="pt-PT" sz="2800" dirty="0">
                <a:solidFill>
                  <a:srgbClr val="272525"/>
                </a:solidFill>
                <a:ea typeface="Lato" pitchFamily="34" charset="-122"/>
                <a:cs typeface="Lato" pitchFamily="34" charset="-120"/>
              </a:rPr>
              <a:t>Explore o fascinante mundo da logística internacional e mergulhe no vocabulário especializado relacionado com o transporte marítimo, as alfândegas e o comércio. Prepare-se para refletir sobre a importância da logística internacional na facilitação do comércio global e o seu impacto na vida quotidiana. </a:t>
            </a:r>
            <a:endParaRPr lang="en-ZA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0E45AE-8BE9-7A3F-E0C1-E11D3A42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Resumo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0626E6-1C75-1AF2-A271-A5E199EAB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Vocabulário</a:t>
            </a:r>
            <a:r>
              <a:rPr lang="en-US" sz="3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 </a:t>
            </a:r>
            <a:r>
              <a:rPr lang="en-US" sz="320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logística</a:t>
            </a:r>
            <a:r>
              <a:rPr lang="en-US" sz="3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320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internacional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4225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ED8F002A-CAAA-7F86-AB26-6FD42440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90" y="1481328"/>
            <a:ext cx="5358581" cy="48828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Declaração de exoneração de responsabilidade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5DECF1-4D7B-39E1-23B7-DD518E634E04}"/>
              </a:ext>
            </a:extLst>
          </p:cNvPr>
          <p:cNvSpPr txBox="1">
            <a:spLocks/>
          </p:cNvSpPr>
          <p:nvPr/>
        </p:nvSpPr>
        <p:spPr>
          <a:xfrm>
            <a:off x="7999171" y="3061411"/>
            <a:ext cx="5650992" cy="2106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80" dirty="0"/>
              <a:t>O conteúdo desta apresentação de diapositivos foi, em parte, gerado utilizando tecnologia de IA e foi formatado e revisto por Learning Like a Lioness.</a:t>
            </a:r>
            <a:endParaRPr lang="en-US" sz="2880" dirty="0"/>
          </a:p>
        </p:txBody>
      </p:sp>
    </p:spTree>
    <p:extLst>
      <p:ext uri="{BB962C8B-B14F-4D97-AF65-F5344CB8AC3E}">
        <p14:creationId xmlns:p14="http://schemas.microsoft.com/office/powerpoint/2010/main" val="2008433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xmlns="" id="{186839CF-727A-C3E3-65F8-9650522A3F91}"/>
              </a:ext>
            </a:extLst>
          </p:cNvPr>
          <p:cNvSpPr txBox="1">
            <a:spLocks/>
          </p:cNvSpPr>
          <p:nvPr/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Feedback </a:t>
            </a:r>
            <a:r>
              <a:rPr lang="en-US" dirty="0" err="1"/>
              <a:t>atrasado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Date Placeholder 4" hidden="1">
            <a:extLst>
              <a:ext uri="{FF2B5EF4-FFF2-40B4-BE49-F238E27FC236}">
                <a16:creationId xmlns:a16="http://schemas.microsoft.com/office/drawing/2014/main" xmlns="" id="{97E552B1-20E9-3791-4CE6-3C132585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6937" y="7681277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 err="1">
                <a:solidFill>
                  <a:prstClr val="black">
                    <a:tint val="75000"/>
                  </a:prstClr>
                </a:solidFill>
              </a:rPr>
              <a:t>TuSpeaking</a:t>
            </a: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289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5DE3DD33-02A8-D7DA-AD3D-F69228F5E5D2}"/>
              </a:ext>
            </a:extLst>
          </p:cNvPr>
          <p:cNvSpPr txBox="1">
            <a:spLocks/>
          </p:cNvSpPr>
          <p:nvPr/>
        </p:nvSpPr>
        <p:spPr>
          <a:xfrm>
            <a:off x="1404519" y="1678838"/>
            <a:ext cx="3884371" cy="4882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Obrigado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xmlns="" id="{2A8CD1ED-0957-66FA-AFAA-54FB2354F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53528" y="1832458"/>
            <a:ext cx="4718304" cy="4718304"/>
          </a:xfrm>
          <a:prstGeom prst="rect">
            <a:avLst/>
          </a:prstGeom>
        </p:spPr>
      </p:pic>
      <p:sp>
        <p:nvSpPr>
          <p:cNvPr id="7" name="Date Placeholder 3" hidden="1">
            <a:extLst>
              <a:ext uri="{FF2B5EF4-FFF2-40B4-BE49-F238E27FC236}">
                <a16:creationId xmlns:a16="http://schemas.microsoft.com/office/drawing/2014/main" xmlns="" id="{BE2F568E-D5D4-A9E8-BCF3-83EAA8B1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100" noProof="0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9315686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Theme2. Tuspeaking</Template>
  <TotalTime>326</TotalTime>
  <Words>1437</Words>
  <Application>Microsoft Office PowerPoint</Application>
  <PresentationFormat>Personalizado</PresentationFormat>
  <Paragraphs>143</Paragraphs>
  <Slides>22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Avenir Next LT Pro</vt:lpstr>
      <vt:lpstr>Calibri</vt:lpstr>
      <vt:lpstr>Gelasio</vt:lpstr>
      <vt:lpstr>Lato</vt:lpstr>
      <vt:lpstr>Tw Cen MT</vt:lpstr>
      <vt:lpstr>Theme2. Tuspeaking</vt:lpstr>
      <vt:lpstr>Português de negócios</vt:lpstr>
      <vt:lpstr>Logística internacional: Desbloquear o comércio global </vt:lpstr>
      <vt:lpstr>Logística internacional: Desbloquear o comércio global </vt:lpstr>
      <vt:lpstr>Comecemos por algumas questões que nos levam a refletir sobre a logística internacional: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Resumo </vt:lpstr>
      <vt:lpstr>Resumo</vt:lpstr>
      <vt:lpstr>Declaração de exoneração de responsabilidade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JaviRo</cp:lastModifiedBy>
  <cp:revision>10</cp:revision>
  <dcterms:created xsi:type="dcterms:W3CDTF">2023-09-06T14:06:26Z</dcterms:created>
  <dcterms:modified xsi:type="dcterms:W3CDTF">2023-10-31T18:08:13Z</dcterms:modified>
</cp:coreProperties>
</file>