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7DD37-D658-9AED-AD10-B33CD1837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4295EE0-AE6B-D40C-9276-6705D688E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0968830-4EBA-300B-20A8-E2ECC72A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0330D13-24A5-0787-F325-A56EB071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FED0737-604C-2433-950C-B24C9A82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09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623177-8F66-B60D-EADA-1DD21E684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4EC1BB-7AA0-6729-C712-4BA9C8EE1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2CB058A-BC96-688D-0457-4F46CA31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4D488FA-1D96-01EB-E5B9-9BA9348E2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7F09AD4-3BC7-B19B-A3E9-C51DCB7B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540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3DE020-6FF0-39FE-6F6C-F3A99DBC7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3D3FF36-74A9-B95B-632C-80318D1DD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BC87356-09D5-BE01-D10A-0E4D23C0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500E4E7-4FC6-4EA8-773B-94739DD9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4E40DE2-BABD-08A8-B839-0212E5077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172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CD969-429F-F2B7-CF42-69CA43A9C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8358EE-A9E4-9E1F-44D7-AB7C3C16D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EDE27AB-4B6F-0766-4270-CC9ECA729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DF7388F-AC94-A975-0D56-623CAB8B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87C2E32-DE9F-257C-29D3-FA309DC7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9B39110-9137-5936-F74A-73A59E4A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581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C91927-245F-330D-18EC-B2414902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0C0E279-9189-B715-2202-B568A7958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28E531A-BAA5-9A08-F2DD-7BFE55B8B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9F8DEB2-D4CF-812F-82A4-81ADDB8CC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C8F2D72-707B-80CA-43B4-BEC361617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BF65D42-9C67-99DE-65D6-60D890E8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5AE8439-6F41-C9F4-92EA-53DFEFA4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44E7B33-9850-548B-6D94-69447D26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053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449C42-0B13-D4E2-F25C-0037689A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1A922A5-0B85-0267-CC0C-53CC30AE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42617DB-77FB-2C9A-B218-F928D3C2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D4F443E-DA6B-BA3C-797A-C918E302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174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78BF082-5D7C-F747-D0C9-B88545A4F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70F0429-F7D0-EB93-F588-762E222C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9D469BE-63F0-F6DC-C941-CA1BA370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30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56E206-9E94-ED56-B06C-1AF2FD6C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5CCB25-E331-F3C2-F569-92D4F21CE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37EF3D0-B9C7-BC6F-4D57-A30D2467B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6740C33-F851-116F-ADF1-B841BF34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AF3BD38-FE43-0E35-0701-49ABC0B1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9631BD6-DCF3-5978-E67F-18C841DB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945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F1B05F-44F0-49E9-400A-72C7285A2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28C3A85-1C96-4CDE-9FDA-2FB487BB3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6F73FC8-0D07-1D8D-A888-6AC5C56B3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C741BEA-A23B-D314-89CC-B4B4B23BE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F760A10-1ACD-DED4-6548-4332398A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9341396-3250-59E4-C1DC-4C7A6580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162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96E316-E484-6F2E-2F9C-437899F3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82FADA6-5D43-72FF-C5C1-1FAAA7937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BE93AB-A99C-F9E7-DF72-143AD8315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AAF8D5F-7649-4312-9A04-BA3F8DA5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8A3B27-86D2-F256-43F8-A84EDCBA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204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54EBC73-3D62-9FF3-50B1-2D15C713BC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C1B7351-1213-3777-82C5-82A628A7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5FF9DF-59C0-A01F-66F4-15203780E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6A58C8F-5BD5-1439-C275-74E43AA7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60A941-5E68-3824-0DD2-97615602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907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7652316-9F94-E619-917C-ABF9FF2C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F3FF267-67D6-C335-05DD-A3ECB046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ABADFFE-194A-026F-6F37-D0FB0382B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302D5E-D9DC-CC35-8A44-8122FBE5E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57D7BD-F65C-4F22-7ADC-02F4044E6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865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2D1C10-EF0E-D430-A224-9892BE1E61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Art and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9C1BCCB-D479-5D19-A7A0-0F9706CCF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English </a:t>
            </a:r>
            <a:r>
              <a:rPr lang="en-GB" dirty="0" smtClean="0"/>
              <a:t>C1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80C80E8-D186-E5E8-47CD-E2A3536D3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711" y="127519"/>
            <a:ext cx="1638300" cy="76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191748F-A243-B9EF-7160-4C36E6E53D64}"/>
              </a:ext>
            </a:extLst>
          </p:cNvPr>
          <p:cNvSpPr txBox="1"/>
          <p:nvPr/>
        </p:nvSpPr>
        <p:spPr>
          <a:xfrm>
            <a:off x="167555" y="628083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err="1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586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Panthon interior Paris France">
            <a:extLst>
              <a:ext uri="{FF2B5EF4-FFF2-40B4-BE49-F238E27FC236}">
                <a16:creationId xmlns:a16="http://schemas.microsoft.com/office/drawing/2014/main" xmlns="" id="{56A527CE-81CC-5AD3-E213-B37D32E8E5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6" r="6257" b="3"/>
          <a:stretch/>
        </p:blipFill>
        <p:spPr>
          <a:xfrm>
            <a:off x="4" y="-6236"/>
            <a:ext cx="3255403" cy="2505456"/>
          </a:xfrm>
          <a:custGeom>
            <a:avLst/>
            <a:gdLst/>
            <a:ahLst/>
            <a:cxnLst/>
            <a:rect l="l" t="t" r="r" b="b"/>
            <a:pathLst>
              <a:path w="3255403" h="2505456">
                <a:moveTo>
                  <a:pt x="0" y="0"/>
                </a:moveTo>
                <a:lnTo>
                  <a:pt x="3255403" y="0"/>
                </a:lnTo>
                <a:lnTo>
                  <a:pt x="2094477" y="2505456"/>
                </a:lnTo>
                <a:lnTo>
                  <a:pt x="0" y="2505456"/>
                </a:lnTo>
                <a:close/>
              </a:path>
            </a:pathLst>
          </a:custGeom>
        </p:spPr>
      </p:pic>
      <p:pic>
        <p:nvPicPr>
          <p:cNvPr id="11" name="Picture 10" descr="Buddha figurine and lit candles on the ledge">
            <a:extLst>
              <a:ext uri="{FF2B5EF4-FFF2-40B4-BE49-F238E27FC236}">
                <a16:creationId xmlns:a16="http://schemas.microsoft.com/office/drawing/2014/main" xmlns="" id="{71968C64-B406-E6AE-18E3-5C4ADF155A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19" b="3"/>
          <a:stretch/>
        </p:blipFill>
        <p:spPr>
          <a:xfrm>
            <a:off x="4675539" y="-6235"/>
            <a:ext cx="3677817" cy="2505456"/>
          </a:xfrm>
          <a:custGeom>
            <a:avLst/>
            <a:gdLst/>
            <a:ahLst/>
            <a:cxnLst/>
            <a:rect l="l" t="t" r="r" b="b"/>
            <a:pathLst>
              <a:path w="3677817" h="2505456">
                <a:moveTo>
                  <a:pt x="1160926" y="0"/>
                </a:moveTo>
                <a:lnTo>
                  <a:pt x="3677817" y="0"/>
                </a:lnTo>
                <a:lnTo>
                  <a:pt x="2516891" y="2505456"/>
                </a:lnTo>
                <a:lnTo>
                  <a:pt x="0" y="2505456"/>
                </a:lnTo>
                <a:close/>
              </a:path>
            </a:pathLst>
          </a:custGeom>
        </p:spPr>
      </p:pic>
      <p:pic>
        <p:nvPicPr>
          <p:cNvPr id="9" name="Picture 8" descr="Food arranged on plates">
            <a:extLst>
              <a:ext uri="{FF2B5EF4-FFF2-40B4-BE49-F238E27FC236}">
                <a16:creationId xmlns:a16="http://schemas.microsoft.com/office/drawing/2014/main" xmlns="" id="{2DD6346A-B545-3A81-6245-B2B6E865D1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80" r="-3" b="-3"/>
          <a:stretch/>
        </p:blipFill>
        <p:spPr>
          <a:xfrm>
            <a:off x="7381876" y="1"/>
            <a:ext cx="4810125" cy="2501837"/>
          </a:xfrm>
          <a:custGeom>
            <a:avLst/>
            <a:gdLst/>
            <a:ahLst/>
            <a:cxnLst/>
            <a:rect l="l" t="t" r="r" b="b"/>
            <a:pathLst>
              <a:path w="4810125" h="2501837">
                <a:moveTo>
                  <a:pt x="1159248" y="0"/>
                </a:moveTo>
                <a:lnTo>
                  <a:pt x="4810125" y="0"/>
                </a:lnTo>
                <a:lnTo>
                  <a:pt x="4810125" y="2501837"/>
                </a:lnTo>
                <a:lnTo>
                  <a:pt x="0" y="2501837"/>
                </a:lnTo>
                <a:close/>
              </a:path>
            </a:pathLst>
          </a:custGeom>
        </p:spPr>
      </p:pic>
      <p:pic>
        <p:nvPicPr>
          <p:cNvPr id="15" name="Picture 14" descr="Drawing of plant">
            <a:extLst>
              <a:ext uri="{FF2B5EF4-FFF2-40B4-BE49-F238E27FC236}">
                <a16:creationId xmlns:a16="http://schemas.microsoft.com/office/drawing/2014/main" xmlns="" id="{A007A9C6-DE7A-1B72-C03E-79C7FDB20A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3" r="-3" b="13288"/>
          <a:stretch/>
        </p:blipFill>
        <p:spPr>
          <a:xfrm>
            <a:off x="20" y="2658276"/>
            <a:ext cx="3770704" cy="4199724"/>
          </a:xfrm>
          <a:custGeom>
            <a:avLst/>
            <a:gdLst/>
            <a:ahLst/>
            <a:cxnLst/>
            <a:rect l="l" t="t" r="r" b="b"/>
            <a:pathLst>
              <a:path w="3770724" h="4199724">
                <a:moveTo>
                  <a:pt x="0" y="0"/>
                </a:moveTo>
                <a:lnTo>
                  <a:pt x="3770724" y="0"/>
                </a:lnTo>
                <a:lnTo>
                  <a:pt x="1824067" y="4199724"/>
                </a:lnTo>
                <a:lnTo>
                  <a:pt x="0" y="4199724"/>
                </a:lnTo>
                <a:close/>
              </a:path>
            </a:pathLst>
          </a:custGeom>
        </p:spPr>
      </p:pic>
      <p:pic>
        <p:nvPicPr>
          <p:cNvPr id="5" name="Content Placeholder 4" descr="Woman covered in paint">
            <a:extLst>
              <a:ext uri="{FF2B5EF4-FFF2-40B4-BE49-F238E27FC236}">
                <a16:creationId xmlns:a16="http://schemas.microsoft.com/office/drawing/2014/main" xmlns="" id="{89CDBCB8-D9F8-9D67-015A-FF6E96B4B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" r="3" b="3"/>
          <a:stretch/>
        </p:blipFill>
        <p:spPr>
          <a:xfrm>
            <a:off x="2013796" y="2661900"/>
            <a:ext cx="5108726" cy="4197911"/>
          </a:xfrm>
          <a:custGeom>
            <a:avLst/>
            <a:gdLst/>
            <a:ahLst/>
            <a:cxnLst/>
            <a:rect l="l" t="t" r="r" b="b"/>
            <a:pathLst>
              <a:path w="5108726" h="4197911">
                <a:moveTo>
                  <a:pt x="1945141" y="0"/>
                </a:moveTo>
                <a:lnTo>
                  <a:pt x="5108726" y="0"/>
                </a:lnTo>
                <a:lnTo>
                  <a:pt x="3163585" y="4197911"/>
                </a:lnTo>
                <a:lnTo>
                  <a:pt x="3157362" y="4197911"/>
                </a:lnTo>
                <a:lnTo>
                  <a:pt x="1967571" y="4197911"/>
                </a:lnTo>
                <a:lnTo>
                  <a:pt x="317526" y="4197911"/>
                </a:lnTo>
                <a:lnTo>
                  <a:pt x="0" y="4197911"/>
                </a:lnTo>
                <a:close/>
              </a:path>
            </a:pathLst>
          </a:custGeom>
        </p:spPr>
      </p:pic>
      <p:sp>
        <p:nvSpPr>
          <p:cNvPr id="20" name="Freeform 43">
            <a:extLst>
              <a:ext uri="{FF2B5EF4-FFF2-40B4-BE49-F238E27FC236}">
                <a16:creationId xmlns:a16="http://schemas.microsoft.com/office/drawing/2014/main" xmlns="" id="{AAD8F19F-4A55-467B-BED0-8837659A90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353050" y="2660089"/>
            <a:ext cx="6838950" cy="4197911"/>
          </a:xfrm>
          <a:custGeom>
            <a:avLst/>
            <a:gdLst>
              <a:gd name="connsiteX0" fmla="*/ 4893809 w 6838950"/>
              <a:gd name="connsiteY0" fmla="*/ 0 h 4197911"/>
              <a:gd name="connsiteX1" fmla="*/ 4887586 w 6838950"/>
              <a:gd name="connsiteY1" fmla="*/ 0 h 4197911"/>
              <a:gd name="connsiteX2" fmla="*/ 3697795 w 6838950"/>
              <a:gd name="connsiteY2" fmla="*/ 0 h 4197911"/>
              <a:gd name="connsiteX3" fmla="*/ 2047750 w 6838950"/>
              <a:gd name="connsiteY3" fmla="*/ 0 h 4197911"/>
              <a:gd name="connsiteX4" fmla="*/ 0 w 6838950"/>
              <a:gd name="connsiteY4" fmla="*/ 0 h 4197911"/>
              <a:gd name="connsiteX5" fmla="*/ 0 w 6838950"/>
              <a:gd name="connsiteY5" fmla="*/ 4197911 h 4197911"/>
              <a:gd name="connsiteX6" fmla="*/ 6838950 w 6838950"/>
              <a:gd name="connsiteY6" fmla="*/ 4197911 h 419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38950" h="4197911">
                <a:moveTo>
                  <a:pt x="4893809" y="0"/>
                </a:moveTo>
                <a:lnTo>
                  <a:pt x="4887586" y="0"/>
                </a:lnTo>
                <a:lnTo>
                  <a:pt x="3697795" y="0"/>
                </a:lnTo>
                <a:lnTo>
                  <a:pt x="2047750" y="0"/>
                </a:lnTo>
                <a:lnTo>
                  <a:pt x="0" y="0"/>
                </a:lnTo>
                <a:lnTo>
                  <a:pt x="0" y="4197911"/>
                </a:lnTo>
                <a:lnTo>
                  <a:pt x="6838950" y="4197911"/>
                </a:lnTo>
                <a:close/>
              </a:path>
            </a:pathLst>
          </a:custGeom>
          <a:solidFill>
            <a:srgbClr val="277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16B446-B389-E72A-DAF4-0F7405527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64" y="4189864"/>
            <a:ext cx="4997354" cy="216387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r"/>
            <a:r>
              <a:rPr lang="en-US" sz="4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many forms of art can you think of?</a:t>
            </a:r>
          </a:p>
        </p:txBody>
      </p:sp>
      <p:pic>
        <p:nvPicPr>
          <p:cNvPr id="7" name="Picture 6" descr="Art paintbrushes on surface scraped with paint samples">
            <a:extLst>
              <a:ext uri="{FF2B5EF4-FFF2-40B4-BE49-F238E27FC236}">
                <a16:creationId xmlns:a16="http://schemas.microsoft.com/office/drawing/2014/main" xmlns="" id="{5FFFC79A-0C4A-4F38-04FC-88F66E091C1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0" r="7295" b="1"/>
          <a:stretch/>
        </p:blipFill>
        <p:spPr>
          <a:xfrm>
            <a:off x="2261968" y="1"/>
            <a:ext cx="3393943" cy="2502843"/>
          </a:xfrm>
          <a:custGeom>
            <a:avLst/>
            <a:gdLst/>
            <a:ahLst/>
            <a:cxnLst/>
            <a:rect l="l" t="t" r="r" b="b"/>
            <a:pathLst>
              <a:path w="3393943" h="2502843">
                <a:moveTo>
                  <a:pt x="1159715" y="0"/>
                </a:moveTo>
                <a:lnTo>
                  <a:pt x="3393943" y="0"/>
                </a:lnTo>
                <a:lnTo>
                  <a:pt x="2234228" y="2502843"/>
                </a:lnTo>
                <a:lnTo>
                  <a:pt x="0" y="250284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65470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D009D6D5-DAC2-4A8B-A17A-E206B9012D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44BD65-58DB-7378-4AD3-11FD5CD1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GB" dirty="0"/>
              <a:t>Music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C76D4F28-6DD6-0149-373E-31A24217F0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33297"/>
            <a:ext cx="4619621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Melody: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A sequence of notes that is musically satisfying.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Rhythm: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The pattern of sounds and silences in music.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Harmony: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The combination of different musical notes played or sung simultaneously.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Genre: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A category of music characterized by similarities in form, style, or subject matter (e.g., classical, jazz, pop, rock). </a:t>
            </a:r>
          </a:p>
        </p:txBody>
      </p:sp>
      <p:pic>
        <p:nvPicPr>
          <p:cNvPr id="7" name="Picture 6" descr="Music sheet">
            <a:extLst>
              <a:ext uri="{FF2B5EF4-FFF2-40B4-BE49-F238E27FC236}">
                <a16:creationId xmlns:a16="http://schemas.microsoft.com/office/drawing/2014/main" xmlns="" id="{0AED4DAF-BCA9-2C6C-59FF-1D0B44C6C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62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85012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DC7415-DFFC-0B80-E400-ABE44E64E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GB" sz="3600"/>
              <a:t>Dancing</a:t>
            </a:r>
          </a:p>
        </p:txBody>
      </p:sp>
      <p:pic>
        <p:nvPicPr>
          <p:cNvPr id="6" name="Picture 5" descr="Ballet dancers in silhouette mid jump">
            <a:extLst>
              <a:ext uri="{FF2B5EF4-FFF2-40B4-BE49-F238E27FC236}">
                <a16:creationId xmlns:a16="http://schemas.microsoft.com/office/drawing/2014/main" xmlns="" id="{7C4F3DC9-8F07-54B1-8D8D-93133A3FD6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62" b="22947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208F23D8-31EE-9573-7B06-1AF67ECF39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23982" y="3752850"/>
            <a:ext cx="7485413" cy="2452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Choreography: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The art of designing sequences of movements in which motion, form, or both are specified.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Movement: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The physical motion performed by dancers.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Style: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Distinctive techniques and forms in dance (e.g., ballet, hip-hop, salsa). </a:t>
            </a:r>
          </a:p>
        </p:txBody>
      </p:sp>
    </p:spTree>
    <p:extLst>
      <p:ext uri="{BB962C8B-B14F-4D97-AF65-F5344CB8AC3E}">
        <p14:creationId xmlns:p14="http://schemas.microsoft.com/office/powerpoint/2010/main" val="1760846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xmlns="" id="{5D13CC36-B950-4F02-9BAF-9A7EB26739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D1BDED99-B35B-4FEE-A274-8E8DB6FEEE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Close up of song composition">
            <a:extLst>
              <a:ext uri="{FF2B5EF4-FFF2-40B4-BE49-F238E27FC236}">
                <a16:creationId xmlns:a16="http://schemas.microsoft.com/office/drawing/2014/main" xmlns="" id="{968091A3-7698-1C8E-6D7E-D58BAE0DE3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37" r="30171"/>
          <a:stretch/>
        </p:blipFill>
        <p:spPr>
          <a:xfrm>
            <a:off x="7968222" y="10"/>
            <a:ext cx="4223778" cy="6857990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906528-56C1-D19D-5255-AA7703CF9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31188" cy="1322887"/>
          </a:xfrm>
        </p:spPr>
        <p:txBody>
          <a:bodyPr>
            <a:normAutofit/>
          </a:bodyPr>
          <a:lstStyle/>
          <a:p>
            <a:r>
              <a:rPr lang="en-GB" dirty="0"/>
              <a:t>Music Vocabulary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0DD88E62-0E86-AFB1-B141-229D90565E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9959" y="1810140"/>
            <a:ext cx="7513292" cy="42925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2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Melody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: A sequence of notes that is musically satisfying.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Example: The melody of the song is very catchy and easy to remember.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Rhythm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: The pattern of beats or a sequence of sounds and silences in music.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Example: The rhythm of the drum gives the song its lively feel.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Harmony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: The combination of different musical notes played or sung simultaneously to produce a pleasing sound.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Example: The harmony between the vocalists created a beautiful sound.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Genre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: A category of music characterized by similarities in form, style, or subject matter.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Example: My favorite genre of music is jazz.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Tempo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: The speed at which a piece of music is played.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Example: The song has a fast tempo, making it perfect for dancing.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Dynamics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: The volume of sound, varying from soft to loud.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Example: The dynamics of the symphony range from very soft to extremely loud.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Pitch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: The highness or lowness of a sound.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Example: The singer has an impressive range of pitch.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Beat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: The basic unit of time in a piece of music, often what listeners tap their feet to.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Example: The strong beat in the song makes it great for dancing.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Chord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: A group of notes played together to form harmony.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Example: The guitarist played a beautiful chord progression.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Lyrics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: The words of a song.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Example: The lyrics of the song tell a beautiful story.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0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10732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E51BA4DF-2BD4-4EC2-B1DB-B27C8AC718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CA8B28-1D86-57BF-EA83-A57B93B4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GB" sz="3700" dirty="0"/>
              <a:t/>
            </a:r>
            <a:br>
              <a:rPr lang="en-GB" sz="3700" dirty="0"/>
            </a:br>
            <a:r>
              <a:rPr lang="en-GB" sz="3700" dirty="0"/>
              <a:t>Dance Vocabulary</a:t>
            </a:r>
            <a:r>
              <a:rPr lang="en-GB" sz="3700" b="1" dirty="0"/>
              <a:t/>
            </a:r>
            <a:br>
              <a:rPr lang="en-GB" sz="3700" b="1" dirty="0"/>
            </a:br>
            <a:endParaRPr lang="en-GB" sz="3700" dirty="0"/>
          </a:p>
        </p:txBody>
      </p:sp>
      <p:pic>
        <p:nvPicPr>
          <p:cNvPr id="6" name="Picture 5" descr="Colorful clothes">
            <a:extLst>
              <a:ext uri="{FF2B5EF4-FFF2-40B4-BE49-F238E27FC236}">
                <a16:creationId xmlns:a16="http://schemas.microsoft.com/office/drawing/2014/main" xmlns="" id="{174A4D0D-4983-1893-B1E7-4969C5B3D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12" r="35694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E32C0E00-6B71-9AE5-0B2D-9484F1312D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53734" y="2409830"/>
            <a:ext cx="6798539" cy="37052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2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</a:rPr>
              <a:t>Choreography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: The art of designing sequences of movements in which motion, form, or both are specified.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Example: The choreography for the dance routine was complex and beautiful.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</a:rPr>
              <a:t>Movement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: The physical motion performed by dancers.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Example: Her movements were graceful and fluid.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</a:rPr>
              <a:t>Style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: Distinctive techniques and forms in dance (e.g., ballet, hip-hop, salsa).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Example: He specializes in the hip-hop style of dance.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</a:rPr>
              <a:t>Routine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: A sequence of dance moves performed together.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Example: The dance routine was perfectly synchronized.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</a:rPr>
              <a:t>Performance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: The act of presenting a dance in front of an audience.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Example: The dance performance received a standing ovation.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</a:rPr>
              <a:t>Technique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: The specific methods and skills used in dance.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Example: Good technique is essential for a ballet dancer.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</a:rPr>
              <a:t>Rhythm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: The pattern of beats or a sequence of sounds and silences in music and dance.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Example: The dancers moved in perfect rhythm with the music.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</a:rPr>
              <a:t>Formation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: The arrangement of dancers in a particular pattern.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Example: The dancers changed formation several times during the performance.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</a:rPr>
              <a:t>Gesture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: A movement of part of the body, especially a hand or the head, to express an idea or meaning.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Example: Her gestures added emotional depth to the dance.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</a:rPr>
              <a:t>Plié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: A bending of the knees in ballet.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</a:rPr>
              <a:t>Example: The dancer performed a perfect plié during the warm-up.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7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57826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xmlns="" id="{2C61293E-6EBE-43EF-A52C-9BEBFD7679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179714-D87D-3919-0E2E-386F16694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 dirty="0"/>
              <a:t>Tango</a:t>
            </a:r>
          </a:p>
        </p:txBody>
      </p:sp>
      <p:pic>
        <p:nvPicPr>
          <p:cNvPr id="5122" name="Picture 2" descr="Tango Dancing - Steps, Style &amp; Music">
            <a:extLst>
              <a:ext uri="{FF2B5EF4-FFF2-40B4-BE49-F238E27FC236}">
                <a16:creationId xmlns:a16="http://schemas.microsoft.com/office/drawing/2014/main" xmlns="" id="{79E2B511-F865-FDFE-9CCC-23D534EF7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36" r="36733" b="-1"/>
          <a:stretch/>
        </p:blipFill>
        <p:spPr bwMode="auto"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9" name="sketchy line">
            <a:extLst>
              <a:ext uri="{FF2B5EF4-FFF2-40B4-BE49-F238E27FC236}">
                <a16:creationId xmlns:a16="http://schemas.microsoft.com/office/drawing/2014/main" xmlns="" id="{21540236-BFD5-4A9D-8840-4703E7F768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17C092-C103-5359-E5B8-BE11B0570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GB" sz="2200"/>
              <a:t>Tango originated in the late 19th century in Buenos Aires, Argentina. It began as a dance in the lower-class districts and was influenced by European and African cultures. Over time, it became popular worldwide for its dramatic and passionate movements.</a:t>
            </a:r>
          </a:p>
        </p:txBody>
      </p:sp>
    </p:spTree>
    <p:extLst>
      <p:ext uri="{BB962C8B-B14F-4D97-AF65-F5344CB8AC3E}">
        <p14:creationId xmlns:p14="http://schemas.microsoft.com/office/powerpoint/2010/main" val="2110744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xmlns="" id="{398F3DEE-0E56-499F-AFAE-C2DA7C2C81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Close-up of legs and feet of children in dance studio, wearing ballet shoes">
            <a:extLst>
              <a:ext uri="{FF2B5EF4-FFF2-40B4-BE49-F238E27FC236}">
                <a16:creationId xmlns:a16="http://schemas.microsoft.com/office/drawing/2014/main" xmlns="" id="{85C01BAF-8079-AB68-E3B1-35D1133CBD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7" r="10622"/>
          <a:stretch/>
        </p:blipFill>
        <p:spPr>
          <a:xfrm>
            <a:off x="-2" y="10"/>
            <a:ext cx="4056982" cy="4469306"/>
          </a:xfrm>
          <a:prstGeom prst="rect">
            <a:avLst/>
          </a:prstGeom>
        </p:spPr>
      </p:pic>
      <p:pic>
        <p:nvPicPr>
          <p:cNvPr id="9" name="Picture 8" descr="Vinyl record player">
            <a:extLst>
              <a:ext uri="{FF2B5EF4-FFF2-40B4-BE49-F238E27FC236}">
                <a16:creationId xmlns:a16="http://schemas.microsoft.com/office/drawing/2014/main" xmlns="" id="{37821FC9-2129-C43D-21F1-8F824951D7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67" r="2" b="2"/>
          <a:stretch/>
        </p:blipFill>
        <p:spPr>
          <a:xfrm>
            <a:off x="8115283" y="4462444"/>
            <a:ext cx="4076715" cy="2395556"/>
          </a:xfrm>
          <a:prstGeom prst="rect">
            <a:avLst/>
          </a:prstGeom>
        </p:spPr>
      </p:pic>
      <p:pic>
        <p:nvPicPr>
          <p:cNvPr id="5" name="Picture 4" descr="Person playing the guitar">
            <a:extLst>
              <a:ext uri="{FF2B5EF4-FFF2-40B4-BE49-F238E27FC236}">
                <a16:creationId xmlns:a16="http://schemas.microsoft.com/office/drawing/2014/main" xmlns="" id="{FE901976-5BC2-D14C-35B4-72394C1FD5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57" r="19056"/>
          <a:stretch/>
        </p:blipFill>
        <p:spPr>
          <a:xfrm>
            <a:off x="8115283" y="-1"/>
            <a:ext cx="4076717" cy="4469316"/>
          </a:xfrm>
          <a:prstGeom prst="rect">
            <a:avLst/>
          </a:prstGeom>
        </p:spPr>
      </p:pic>
      <p:pic>
        <p:nvPicPr>
          <p:cNvPr id="7" name="Picture 6" descr="Woman with dark hair up-do playing violin or viola with string players to left and right and cello player in background">
            <a:extLst>
              <a:ext uri="{FF2B5EF4-FFF2-40B4-BE49-F238E27FC236}">
                <a16:creationId xmlns:a16="http://schemas.microsoft.com/office/drawing/2014/main" xmlns="" id="{159693D8-43F6-9803-023F-6EC50F28BF1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2" r="9443" b="1"/>
          <a:stretch/>
        </p:blipFill>
        <p:spPr>
          <a:xfrm>
            <a:off x="4056980" y="-1"/>
            <a:ext cx="4063088" cy="446931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D4054751-1972-4218-A5AC-06366AB2382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4462444"/>
            <a:ext cx="8115290" cy="2395556"/>
          </a:xfrm>
          <a:prstGeom prst="rect">
            <a:avLst/>
          </a:prstGeom>
          <a:gradFill>
            <a:gsLst>
              <a:gs pos="10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53F16F31-4871-4294-AA34-E451DD4CD2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664" y="4462444"/>
            <a:ext cx="8115285" cy="2395556"/>
          </a:xfrm>
          <a:prstGeom prst="rect">
            <a:avLst/>
          </a:prstGeom>
          <a:gradFill>
            <a:gsLst>
              <a:gs pos="7000">
                <a:srgbClr val="000000">
                  <a:alpha val="44000"/>
                </a:srgbClr>
              </a:gs>
              <a:gs pos="67000">
                <a:schemeClr val="accent1">
                  <a:lumMod val="7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ABD3FB0A-8C48-462D-82B4-C52CDB3F07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0" y="5280991"/>
            <a:ext cx="8115283" cy="1575508"/>
          </a:xfrm>
          <a:prstGeom prst="rect">
            <a:avLst/>
          </a:prstGeom>
          <a:gradFill>
            <a:gsLst>
              <a:gs pos="40000">
                <a:srgbClr val="000000">
                  <a:alpha val="0"/>
                </a:srgbClr>
              </a:gs>
              <a:gs pos="100000">
                <a:schemeClr val="accent1">
                  <a:alpha val="23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146118-97A2-92ED-A37B-A627FE28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08" y="4777524"/>
            <a:ext cx="6863410" cy="111391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7832A0C-CEF6-317C-3D85-D8B2859C2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08" y="5891437"/>
            <a:ext cx="6863409" cy="534998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Take turns to describe a genre of dance or music that you know about. </a:t>
            </a:r>
          </a:p>
        </p:txBody>
      </p:sp>
    </p:spTree>
    <p:extLst>
      <p:ext uri="{BB962C8B-B14F-4D97-AF65-F5344CB8AC3E}">
        <p14:creationId xmlns:p14="http://schemas.microsoft.com/office/powerpoint/2010/main" val="1432405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C1DD1A8A-57D5-4A81-AD04-532B043C56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atue on top of building">
            <a:extLst>
              <a:ext uri="{FF2B5EF4-FFF2-40B4-BE49-F238E27FC236}">
                <a16:creationId xmlns:a16="http://schemas.microsoft.com/office/drawing/2014/main" xmlns="" id="{243588A3-16B6-F02B-D78E-3BE370B8B2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007891EC-4501-44ED-A8C8-B11B6DB767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5FDB17-0817-9C5C-54E8-FDD92218E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Architecture, Sculpture, and Painting</a:t>
            </a:r>
          </a:p>
        </p:txBody>
      </p:sp>
    </p:spTree>
    <p:extLst>
      <p:ext uri="{BB962C8B-B14F-4D97-AF65-F5344CB8AC3E}">
        <p14:creationId xmlns:p14="http://schemas.microsoft.com/office/powerpoint/2010/main" val="641297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F13C74B1-5B17-4795-BED0-7140497B44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C3E924-5778-E5EF-E2F5-518713D1C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 fontScale="90000"/>
          </a:bodyPr>
          <a:lstStyle/>
          <a:p>
            <a:r>
              <a:rPr lang="en-GB" sz="5400"/>
              <a:t>Architecture</a:t>
            </a:r>
            <a:br>
              <a:rPr lang="en-GB" sz="5400"/>
            </a:br>
            <a:endParaRPr lang="en-GB" sz="5400"/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xmlns="" id="{D4974D33-8DC5-464E-8C6D-BE58F0669C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F2FC805C-F488-95F7-0BF5-A1BA0D7844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872899"/>
            <a:ext cx="4243589" cy="33206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</a:rPr>
              <a:t>Structure: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The arrangement and organization of interrelated elements in a building or object.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</a:rPr>
              <a:t>Design: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The creation of a plan or convention for the construction of an object or system.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</a:rPr>
              <a:t>Function: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The specific purpose or activity for which a building or object is used.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</a:rPr>
              <a:t>Style: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The distinctive appearance and construction techniques associated with a particular period, culture, or architect (e.g., Gothic, modern). </a:t>
            </a:r>
          </a:p>
        </p:txBody>
      </p:sp>
      <p:pic>
        <p:nvPicPr>
          <p:cNvPr id="6" name="Picture 5" descr="Aerial view of city">
            <a:extLst>
              <a:ext uri="{FF2B5EF4-FFF2-40B4-BE49-F238E27FC236}">
                <a16:creationId xmlns:a16="http://schemas.microsoft.com/office/drawing/2014/main" xmlns="" id="{FE6706F8-8933-B400-0A1B-898A902AE7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" r="28730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17925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Simple bust in white room">
            <a:extLst>
              <a:ext uri="{FF2B5EF4-FFF2-40B4-BE49-F238E27FC236}">
                <a16:creationId xmlns:a16="http://schemas.microsoft.com/office/drawing/2014/main" xmlns="" id="{53D5AFAD-16AB-D539-284B-00F6240CB2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93" r="1896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2A8048-2E43-BC45-C038-A19D95D85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/>
              <a:t>Sculpture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A20EBE1D-8112-04E1-8893-8745696B5E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3161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Form: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The visible shape or configuration of something.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Medium: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The materials used to create a sculpture (e.g., stone, metal, wood).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Technique: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The methods used to create a sculpture (e.g., carving, casting, modeling). </a:t>
            </a:r>
          </a:p>
        </p:txBody>
      </p:sp>
    </p:spTree>
    <p:extLst>
      <p:ext uri="{BB962C8B-B14F-4D97-AF65-F5344CB8AC3E}">
        <p14:creationId xmlns:p14="http://schemas.microsoft.com/office/powerpoint/2010/main" val="459411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A12301-6399-5F8E-A79C-CEEF93FFE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GB" sz="3600"/>
              <a:t>Painting</a:t>
            </a:r>
          </a:p>
        </p:txBody>
      </p:sp>
      <p:pic>
        <p:nvPicPr>
          <p:cNvPr id="6" name="Picture 5" descr="Lanterns on tree at night">
            <a:extLst>
              <a:ext uri="{FF2B5EF4-FFF2-40B4-BE49-F238E27FC236}">
                <a16:creationId xmlns:a16="http://schemas.microsoft.com/office/drawing/2014/main" xmlns="" id="{E43A2881-376F-B169-4420-67B14DA4FF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5" b="28459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5E0A0A61-1699-47E6-FAFF-D5CE3B0583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23982" y="3752850"/>
            <a:ext cx="7485413" cy="2452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Composition: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The placement or arrangement of visual elements in a work of art.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Color: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The use of hues in artwork.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Brushwork: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The technique and style with which an artist uses a brush.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Genre: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A category of painting characterized by similarities in style, form, or content (e.g., portrait, landscape, abstract). </a:t>
            </a:r>
          </a:p>
        </p:txBody>
      </p:sp>
    </p:spTree>
    <p:extLst>
      <p:ext uri="{BB962C8B-B14F-4D97-AF65-F5344CB8AC3E}">
        <p14:creationId xmlns:p14="http://schemas.microsoft.com/office/powerpoint/2010/main" val="2357895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31" name="Rectangle 9230">
            <a:extLst>
              <a:ext uri="{FF2B5EF4-FFF2-40B4-BE49-F238E27FC236}">
                <a16:creationId xmlns:a16="http://schemas.microsoft.com/office/drawing/2014/main" xmlns="" id="{4513F69C-3D6D-4E72-9289-5BC3584D6D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103C04-34B2-0617-DE6E-56ECD18B8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7223" y="557189"/>
            <a:ext cx="3826577" cy="1671566"/>
          </a:xfrm>
        </p:spPr>
        <p:txBody>
          <a:bodyPr>
            <a:normAutofit/>
          </a:bodyPr>
          <a:lstStyle/>
          <a:p>
            <a:r>
              <a:rPr lang="en-GB" sz="4000"/>
              <a:t>Discussion</a:t>
            </a:r>
          </a:p>
        </p:txBody>
      </p:sp>
      <p:pic>
        <p:nvPicPr>
          <p:cNvPr id="9224" name="Picture 8" descr="Daily Dose of Europe: Michelangelo's David – Rick Steves' Travel Blog">
            <a:extLst>
              <a:ext uri="{FF2B5EF4-FFF2-40B4-BE49-F238E27FC236}">
                <a16:creationId xmlns:a16="http://schemas.microsoft.com/office/drawing/2014/main" xmlns="" id="{8D5830D0-EB85-5537-62D8-D336742FC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93" r="26026" b="1"/>
          <a:stretch/>
        </p:blipFill>
        <p:spPr bwMode="auto">
          <a:xfrm>
            <a:off x="20" y="-1"/>
            <a:ext cx="3997732" cy="446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The Starry Night - Wikipedia">
            <a:extLst>
              <a:ext uri="{FF2B5EF4-FFF2-40B4-BE49-F238E27FC236}">
                <a16:creationId xmlns:a16="http://schemas.microsoft.com/office/drawing/2014/main" xmlns="" id="{E4387AC0-3653-E226-15B3-6E7889D05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7204"/>
          <a:stretch/>
        </p:blipFill>
        <p:spPr bwMode="auto">
          <a:xfrm>
            <a:off x="4184069" y="-2"/>
            <a:ext cx="3027239" cy="222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About Us | The Guggenheim Museums and Foundation">
            <a:extLst>
              <a:ext uri="{FF2B5EF4-FFF2-40B4-BE49-F238E27FC236}">
                <a16:creationId xmlns:a16="http://schemas.microsoft.com/office/drawing/2014/main" xmlns="" id="{D47A294E-F04D-2956-AC23-211AE4722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46" r="6325" b="-4"/>
          <a:stretch/>
        </p:blipFill>
        <p:spPr bwMode="auto">
          <a:xfrm>
            <a:off x="4184069" y="2406570"/>
            <a:ext cx="3027239" cy="205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A qué suena un Kandinsky?">
            <a:extLst>
              <a:ext uri="{FF2B5EF4-FFF2-40B4-BE49-F238E27FC236}">
                <a16:creationId xmlns:a16="http://schemas.microsoft.com/office/drawing/2014/main" xmlns="" id="{078DEF7B-4F65-3FB5-9A58-257C076B7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60"/>
          <a:stretch/>
        </p:blipFill>
        <p:spPr bwMode="auto">
          <a:xfrm>
            <a:off x="-3717" y="4638290"/>
            <a:ext cx="3020892" cy="221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Notre-Dame de Paris - Wikipedia">
            <a:extLst>
              <a:ext uri="{FF2B5EF4-FFF2-40B4-BE49-F238E27FC236}">
                <a16:creationId xmlns:a16="http://schemas.microsoft.com/office/drawing/2014/main" xmlns="" id="{6780D82E-A684-69FC-B96B-82A70DFC4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6" r="3" b="3"/>
          <a:stretch/>
        </p:blipFill>
        <p:spPr bwMode="auto">
          <a:xfrm>
            <a:off x="3184628" y="4629236"/>
            <a:ext cx="4026679" cy="222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3FC064-502B-B794-6910-548332416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7223" y="2400475"/>
            <a:ext cx="3826578" cy="3776488"/>
          </a:xfrm>
        </p:spPr>
        <p:txBody>
          <a:bodyPr>
            <a:normAutofit/>
          </a:bodyPr>
          <a:lstStyle/>
          <a:p>
            <a:r>
              <a:rPr lang="en-GB" sz="2000" dirty="0"/>
              <a:t>What do you think motivated the creation of this work? </a:t>
            </a:r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What themes can you identify in these works?</a:t>
            </a:r>
          </a:p>
          <a:p>
            <a:endParaRPr lang="en-GB" sz="2000" dirty="0"/>
          </a:p>
          <a:p>
            <a:r>
              <a:rPr lang="en-GB" sz="2000" dirty="0"/>
              <a:t>Can you identify the artists?</a:t>
            </a:r>
          </a:p>
        </p:txBody>
      </p:sp>
    </p:spTree>
    <p:extLst>
      <p:ext uri="{BB962C8B-B14F-4D97-AF65-F5344CB8AC3E}">
        <p14:creationId xmlns:p14="http://schemas.microsoft.com/office/powerpoint/2010/main" val="2357213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E51BA4DF-2BD4-4EC2-B1DB-B27C8AC718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EE2909-36C9-021D-87A2-867CEC76F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GB" sz="4000" dirty="0"/>
              <a:t>Example answers</a:t>
            </a:r>
          </a:p>
        </p:txBody>
      </p:sp>
      <p:pic>
        <p:nvPicPr>
          <p:cNvPr id="6" name="Picture 5" descr="Duomo Santa Maria del Flore">
            <a:extLst>
              <a:ext uri="{FF2B5EF4-FFF2-40B4-BE49-F238E27FC236}">
                <a16:creationId xmlns:a16="http://schemas.microsoft.com/office/drawing/2014/main" xmlns="" id="{3DB39439-6964-51BA-D724-4D73AB5ABD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98" r="33656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04580490-0564-29AA-07C2-81025A57D0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53734" y="2409830"/>
            <a:ext cx="6798539" cy="37052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Religious Themes in Gothic Cathedrals: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"Gothic cathedrals like Notre-Dame were designed to inspire awe and reflect the glory of God. Their tall spires and stained-glass windows create a sense of reaching towards heaven."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The Human Form in Classical Sculptures: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"Classical sculptures often focus on the beauty and idealization of the human body, as seen in Michelangelo’s David."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Emotions in Abstract Paintings: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"Abstract paintings like those by Kandinsky often aim to evoke emotions through color and form rather than depicting realistic scenes." </a:t>
            </a:r>
          </a:p>
        </p:txBody>
      </p:sp>
    </p:spTree>
    <p:extLst>
      <p:ext uri="{BB962C8B-B14F-4D97-AF65-F5344CB8AC3E}">
        <p14:creationId xmlns:p14="http://schemas.microsoft.com/office/powerpoint/2010/main" val="3636804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99D1EA-DB20-6CB9-85F7-C5CFA11B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D09F7F-834E-B33C-0815-10828AA1A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593A1C4-3CC2-5629-E19D-497E6801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575" y="466725"/>
            <a:ext cx="1638300" cy="76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41E4A39-2301-C33C-FC73-F570A998F1CD}"/>
              </a:ext>
            </a:extLst>
          </p:cNvPr>
          <p:cNvSpPr txBox="1"/>
          <p:nvPr/>
        </p:nvSpPr>
        <p:spPr>
          <a:xfrm>
            <a:off x="238125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err="1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2305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</TotalTime>
  <Words>1039</Words>
  <Application>Microsoft Office PowerPoint</Application>
  <PresentationFormat>Panorámica</PresentationFormat>
  <Paragraphs>87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Art and culture</vt:lpstr>
      <vt:lpstr>How many forms of art can you think of?</vt:lpstr>
      <vt:lpstr>Music</vt:lpstr>
      <vt:lpstr>Dancing</vt:lpstr>
      <vt:lpstr>Music Vocabulary</vt:lpstr>
      <vt:lpstr> Dance Vocabulary </vt:lpstr>
      <vt:lpstr>Tango</vt:lpstr>
      <vt:lpstr>Activity</vt:lpstr>
      <vt:lpstr>Architecture, Sculpture, and Painting</vt:lpstr>
      <vt:lpstr>Architecture </vt:lpstr>
      <vt:lpstr>Sculpture</vt:lpstr>
      <vt:lpstr>Painting</vt:lpstr>
      <vt:lpstr>Discussion</vt:lpstr>
      <vt:lpstr>Example answers</vt:lpstr>
      <vt:lpstr>Delayed feedback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</dc:title>
  <dc:creator>Clarke, Theodore James Dalgliesh</dc:creator>
  <cp:lastModifiedBy>JaviRo</cp:lastModifiedBy>
  <cp:revision>35</cp:revision>
  <dcterms:created xsi:type="dcterms:W3CDTF">2024-05-27T11:38:08Z</dcterms:created>
  <dcterms:modified xsi:type="dcterms:W3CDTF">2025-01-02T10:54:08Z</dcterms:modified>
</cp:coreProperties>
</file>