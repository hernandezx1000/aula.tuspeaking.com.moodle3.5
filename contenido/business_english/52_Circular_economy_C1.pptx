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7" r:id="rId1"/>
    <p:sldMasterId id="2147483698" r:id="rId2"/>
    <p:sldMasterId id="2147483719" r:id="rId3"/>
    <p:sldMasterId id="2147483768" r:id="rId4"/>
  </p:sldMasterIdLst>
  <p:notesMasterIdLst>
    <p:notesMasterId r:id="rId18"/>
  </p:notesMasterIdLst>
  <p:sldIdLst>
    <p:sldId id="256" r:id="rId5"/>
    <p:sldId id="257" r:id="rId6"/>
    <p:sldId id="258" r:id="rId7"/>
    <p:sldId id="260" r:id="rId8"/>
    <p:sldId id="261" r:id="rId9"/>
    <p:sldId id="279" r:id="rId10"/>
    <p:sldId id="280" r:id="rId11"/>
    <p:sldId id="281" r:id="rId12"/>
    <p:sldId id="282" r:id="rId13"/>
    <p:sldId id="259" r:id="rId14"/>
    <p:sldId id="262" r:id="rId15"/>
    <p:sldId id="284" r:id="rId16"/>
    <p:sldId id="278" r:id="rId1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Avenir Next LT Pro" panose="020B060402020202020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Raleway" panose="020B0604020202020204" charset="0"/>
      <p:regular r:id="rId33"/>
      <p:bold r:id="rId34"/>
      <p:italic r:id="rId35"/>
      <p:boldItalic r:id="rId36"/>
    </p:embeddedFont>
    <p:embeddedFont>
      <p:font typeface="Lato" panose="020B0604020202020204" charset="0"/>
      <p:regular r:id="rId37"/>
      <p:bold r:id="rId38"/>
      <p:italic r:id="rId39"/>
      <p:boldItalic r:id="rId40"/>
    </p:embeddedFont>
    <p:embeddedFont>
      <p:font typeface="Raleway Light" panose="020B0604020202020204" charset="0"/>
      <p:regular r:id="rId41"/>
      <p:bold r:id="rId42"/>
      <p:italic r:id="rId43"/>
      <p:boldItalic r:id="rId44"/>
    </p:embeddedFont>
    <p:embeddedFont>
      <p:font typeface="Tw Cen MT" panose="020B060402020202020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font" Target="fonts/font30.fntdata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7A48AF-EB04-40D1-A831-A53724A977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325BC0-A9E5-4E6C-9341-2A170E004863}">
      <dgm:prSet/>
      <dgm:spPr/>
      <dgm:t>
        <a:bodyPr/>
        <a:lstStyle/>
        <a:p>
          <a:r>
            <a:rPr lang="en-US"/>
            <a:t>LESSON OVERVIEW</a:t>
          </a:r>
        </a:p>
      </dgm:t>
    </dgm:pt>
    <dgm:pt modelId="{5044CEDE-B1DB-4B37-AACB-420E7E95C823}" type="parTrans" cxnId="{7860362E-DD6E-4A2D-85CE-5F0AFBF5E0FC}">
      <dgm:prSet/>
      <dgm:spPr/>
      <dgm:t>
        <a:bodyPr/>
        <a:lstStyle/>
        <a:p>
          <a:endParaRPr lang="en-US"/>
        </a:p>
      </dgm:t>
    </dgm:pt>
    <dgm:pt modelId="{F18E7ED9-C26D-41B3-A8CF-5D4664C3F751}" type="sibTrans" cxnId="{7860362E-DD6E-4A2D-85CE-5F0AFBF5E0FC}">
      <dgm:prSet/>
      <dgm:spPr/>
      <dgm:t>
        <a:bodyPr/>
        <a:lstStyle/>
        <a:p>
          <a:endParaRPr lang="en-US"/>
        </a:p>
      </dgm:t>
    </dgm:pt>
    <dgm:pt modelId="{5CCCBC58-AC84-41DE-B4AC-F9697B29548B}">
      <dgm:prSet/>
      <dgm:spPr/>
      <dgm:t>
        <a:bodyPr/>
        <a:lstStyle/>
        <a:p>
          <a:r>
            <a:rPr lang="en-US"/>
            <a:t>In this lesson, students discover pros and cons of the linear and circular economy and learn some new vocabulary and collocations related to the topic. They also work on a case study and come up with strategies to transform a company following a linear model into a more circular one.</a:t>
          </a:r>
        </a:p>
      </dgm:t>
    </dgm:pt>
    <dgm:pt modelId="{1037E0B3-6634-4CF7-8E25-DAFFEA0363DF}" type="parTrans" cxnId="{5F82AACD-6B32-4E02-A8C3-4934AEA6C726}">
      <dgm:prSet/>
      <dgm:spPr/>
      <dgm:t>
        <a:bodyPr/>
        <a:lstStyle/>
        <a:p>
          <a:endParaRPr lang="en-US"/>
        </a:p>
      </dgm:t>
    </dgm:pt>
    <dgm:pt modelId="{F837A0D7-0FB2-4FB7-9E01-720E100ECEAE}" type="sibTrans" cxnId="{5F82AACD-6B32-4E02-A8C3-4934AEA6C726}">
      <dgm:prSet/>
      <dgm:spPr/>
      <dgm:t>
        <a:bodyPr/>
        <a:lstStyle/>
        <a:p>
          <a:endParaRPr lang="en-US"/>
        </a:p>
      </dgm:t>
    </dgm:pt>
    <dgm:pt modelId="{7D53DFBE-0DD1-4560-AC84-04C37F1BC3F5}">
      <dgm:prSet/>
      <dgm:spPr/>
      <dgm:t>
        <a:bodyPr/>
        <a:lstStyle/>
        <a:p>
          <a:r>
            <a:rPr lang="en-US"/>
            <a:t>Upper Intermediate</a:t>
          </a:r>
        </a:p>
      </dgm:t>
    </dgm:pt>
    <dgm:pt modelId="{B0F0FA99-6E07-47FF-9C8B-329016ADC9B2}" type="parTrans" cxnId="{2AEF0F6A-B3DC-40F8-97F9-E1C0FF623DC7}">
      <dgm:prSet/>
      <dgm:spPr/>
      <dgm:t>
        <a:bodyPr/>
        <a:lstStyle/>
        <a:p>
          <a:endParaRPr lang="en-US"/>
        </a:p>
      </dgm:t>
    </dgm:pt>
    <dgm:pt modelId="{1039CB3D-8E39-411B-8E67-F9E773824E25}" type="sibTrans" cxnId="{2AEF0F6A-B3DC-40F8-97F9-E1C0FF623DC7}">
      <dgm:prSet/>
      <dgm:spPr/>
      <dgm:t>
        <a:bodyPr/>
        <a:lstStyle/>
        <a:p>
          <a:endParaRPr lang="en-US"/>
        </a:p>
      </dgm:t>
    </dgm:pt>
    <dgm:pt modelId="{CAC94E88-956E-406C-B2DD-2C68A2F0ADCF}" type="pres">
      <dgm:prSet presAssocID="{0D7A48AF-EB04-40D1-A831-A53724A9771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EFE351-A7D9-49BB-B88C-400C259B5FD2}" type="pres">
      <dgm:prSet presAssocID="{26325BC0-A9E5-4E6C-9341-2A170E004863}" presName="compNode" presStyleCnt="0"/>
      <dgm:spPr/>
    </dgm:pt>
    <dgm:pt modelId="{DD222DEC-A41B-4C05-888E-3D4F4BAD43BC}" type="pres">
      <dgm:prSet presAssocID="{26325BC0-A9E5-4E6C-9341-2A170E004863}" presName="bgRect" presStyleLbl="bgShp" presStyleIdx="0" presStyleCnt="3"/>
      <dgm:spPr/>
    </dgm:pt>
    <dgm:pt modelId="{22217B4F-A80A-4ABD-90B8-53832E02E2CE}" type="pres">
      <dgm:prSet presAssocID="{26325BC0-A9E5-4E6C-9341-2A170E00486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3B83CAA9-613D-4B0A-9827-22916E358072}" type="pres">
      <dgm:prSet presAssocID="{26325BC0-A9E5-4E6C-9341-2A170E004863}" presName="spaceRect" presStyleCnt="0"/>
      <dgm:spPr/>
    </dgm:pt>
    <dgm:pt modelId="{5292E282-FCB7-4333-956F-049BA06BBF2C}" type="pres">
      <dgm:prSet presAssocID="{26325BC0-A9E5-4E6C-9341-2A170E004863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2AE200D-EFF5-4349-8A88-424655ABE8EB}" type="pres">
      <dgm:prSet presAssocID="{F18E7ED9-C26D-41B3-A8CF-5D4664C3F751}" presName="sibTrans" presStyleCnt="0"/>
      <dgm:spPr/>
    </dgm:pt>
    <dgm:pt modelId="{799ADB13-4424-4FF2-8B8C-14511AC3275D}" type="pres">
      <dgm:prSet presAssocID="{5CCCBC58-AC84-41DE-B4AC-F9697B29548B}" presName="compNode" presStyleCnt="0"/>
      <dgm:spPr/>
    </dgm:pt>
    <dgm:pt modelId="{58CB6875-6CD5-44D0-8C40-2B92EB788C83}" type="pres">
      <dgm:prSet presAssocID="{5CCCBC58-AC84-41DE-B4AC-F9697B29548B}" presName="bgRect" presStyleLbl="bgShp" presStyleIdx="1" presStyleCnt="3"/>
      <dgm:spPr/>
    </dgm:pt>
    <dgm:pt modelId="{A77F25E6-2669-4D36-87D5-58CB236A54A9}" type="pres">
      <dgm:prSet presAssocID="{5CCCBC58-AC84-41DE-B4AC-F9697B2954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EB6127F-9028-4EAC-A4EE-A62324666E8D}" type="pres">
      <dgm:prSet presAssocID="{5CCCBC58-AC84-41DE-B4AC-F9697B29548B}" presName="spaceRect" presStyleCnt="0"/>
      <dgm:spPr/>
    </dgm:pt>
    <dgm:pt modelId="{EBEE9368-974E-4B6E-9E26-A4CD93078172}" type="pres">
      <dgm:prSet presAssocID="{5CCCBC58-AC84-41DE-B4AC-F9697B29548B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F56DD56-5D20-48FC-9945-FCBA8BCAD0F7}" type="pres">
      <dgm:prSet presAssocID="{F837A0D7-0FB2-4FB7-9E01-720E100ECEAE}" presName="sibTrans" presStyleCnt="0"/>
      <dgm:spPr/>
    </dgm:pt>
    <dgm:pt modelId="{9A712296-641F-4C8C-AF20-98C865D7F8D9}" type="pres">
      <dgm:prSet presAssocID="{7D53DFBE-0DD1-4560-AC84-04C37F1BC3F5}" presName="compNode" presStyleCnt="0"/>
      <dgm:spPr/>
    </dgm:pt>
    <dgm:pt modelId="{103FB6DB-57A3-4A56-82FE-03821666323F}" type="pres">
      <dgm:prSet presAssocID="{7D53DFBE-0DD1-4560-AC84-04C37F1BC3F5}" presName="bgRect" presStyleLbl="bgShp" presStyleIdx="2" presStyleCnt="3"/>
      <dgm:spPr/>
    </dgm:pt>
    <dgm:pt modelId="{D4AA0F95-6A11-4916-BBD3-DC29324653A5}" type="pres">
      <dgm:prSet presAssocID="{7D53DFBE-0DD1-4560-AC84-04C37F1BC3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7D616E7-5153-409E-8D14-4EE16C84F454}" type="pres">
      <dgm:prSet presAssocID="{7D53DFBE-0DD1-4560-AC84-04C37F1BC3F5}" presName="spaceRect" presStyleCnt="0"/>
      <dgm:spPr/>
    </dgm:pt>
    <dgm:pt modelId="{36A55711-2BD8-4389-B223-E1B2E4D04FEC}" type="pres">
      <dgm:prSet presAssocID="{7D53DFBE-0DD1-4560-AC84-04C37F1BC3F5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7860362E-DD6E-4A2D-85CE-5F0AFBF5E0FC}" srcId="{0D7A48AF-EB04-40D1-A831-A53724A97714}" destId="{26325BC0-A9E5-4E6C-9341-2A170E004863}" srcOrd="0" destOrd="0" parTransId="{5044CEDE-B1DB-4B37-AACB-420E7E95C823}" sibTransId="{F18E7ED9-C26D-41B3-A8CF-5D4664C3F751}"/>
    <dgm:cxn modelId="{2AEF0F6A-B3DC-40F8-97F9-E1C0FF623DC7}" srcId="{0D7A48AF-EB04-40D1-A831-A53724A97714}" destId="{7D53DFBE-0DD1-4560-AC84-04C37F1BC3F5}" srcOrd="2" destOrd="0" parTransId="{B0F0FA99-6E07-47FF-9C8B-329016ADC9B2}" sibTransId="{1039CB3D-8E39-411B-8E67-F9E773824E25}"/>
    <dgm:cxn modelId="{D4602135-340B-49B8-9203-47BC72EFC091}" type="presOf" srcId="{5CCCBC58-AC84-41DE-B4AC-F9697B29548B}" destId="{EBEE9368-974E-4B6E-9E26-A4CD93078172}" srcOrd="0" destOrd="0" presId="urn:microsoft.com/office/officeart/2018/2/layout/IconVerticalSolidList"/>
    <dgm:cxn modelId="{5F82AACD-6B32-4E02-A8C3-4934AEA6C726}" srcId="{0D7A48AF-EB04-40D1-A831-A53724A97714}" destId="{5CCCBC58-AC84-41DE-B4AC-F9697B29548B}" srcOrd="1" destOrd="0" parTransId="{1037E0B3-6634-4CF7-8E25-DAFFEA0363DF}" sibTransId="{F837A0D7-0FB2-4FB7-9E01-720E100ECEAE}"/>
    <dgm:cxn modelId="{C9078B18-689A-431A-8E53-AC08A2EE9C57}" type="presOf" srcId="{0D7A48AF-EB04-40D1-A831-A53724A97714}" destId="{CAC94E88-956E-406C-B2DD-2C68A2F0ADCF}" srcOrd="0" destOrd="0" presId="urn:microsoft.com/office/officeart/2018/2/layout/IconVerticalSolidList"/>
    <dgm:cxn modelId="{923FF3B3-7498-43CD-9A4D-DB251DC3F0DF}" type="presOf" srcId="{26325BC0-A9E5-4E6C-9341-2A170E004863}" destId="{5292E282-FCB7-4333-956F-049BA06BBF2C}" srcOrd="0" destOrd="0" presId="urn:microsoft.com/office/officeart/2018/2/layout/IconVerticalSolidList"/>
    <dgm:cxn modelId="{E49814DB-EC91-4D48-90B0-73604564C200}" type="presOf" srcId="{7D53DFBE-0DD1-4560-AC84-04C37F1BC3F5}" destId="{36A55711-2BD8-4389-B223-E1B2E4D04FEC}" srcOrd="0" destOrd="0" presId="urn:microsoft.com/office/officeart/2018/2/layout/IconVerticalSolidList"/>
    <dgm:cxn modelId="{5F318533-6181-4D8F-8545-49FF6110C723}" type="presParOf" srcId="{CAC94E88-956E-406C-B2DD-2C68A2F0ADCF}" destId="{3CEFE351-A7D9-49BB-B88C-400C259B5FD2}" srcOrd="0" destOrd="0" presId="urn:microsoft.com/office/officeart/2018/2/layout/IconVerticalSolidList"/>
    <dgm:cxn modelId="{E6A4BB3D-351C-4EC8-8089-A53CDC22BDBD}" type="presParOf" srcId="{3CEFE351-A7D9-49BB-B88C-400C259B5FD2}" destId="{DD222DEC-A41B-4C05-888E-3D4F4BAD43BC}" srcOrd="0" destOrd="0" presId="urn:microsoft.com/office/officeart/2018/2/layout/IconVerticalSolidList"/>
    <dgm:cxn modelId="{2F207BFC-A151-4F59-B9D1-68BD36277AF7}" type="presParOf" srcId="{3CEFE351-A7D9-49BB-B88C-400C259B5FD2}" destId="{22217B4F-A80A-4ABD-90B8-53832E02E2CE}" srcOrd="1" destOrd="0" presId="urn:microsoft.com/office/officeart/2018/2/layout/IconVerticalSolidList"/>
    <dgm:cxn modelId="{E19E793D-7259-409C-86B5-234DDD6B71E6}" type="presParOf" srcId="{3CEFE351-A7D9-49BB-B88C-400C259B5FD2}" destId="{3B83CAA9-613D-4B0A-9827-22916E358072}" srcOrd="2" destOrd="0" presId="urn:microsoft.com/office/officeart/2018/2/layout/IconVerticalSolidList"/>
    <dgm:cxn modelId="{A600DF1B-F628-4532-84F0-2C0313781763}" type="presParOf" srcId="{3CEFE351-A7D9-49BB-B88C-400C259B5FD2}" destId="{5292E282-FCB7-4333-956F-049BA06BBF2C}" srcOrd="3" destOrd="0" presId="urn:microsoft.com/office/officeart/2018/2/layout/IconVerticalSolidList"/>
    <dgm:cxn modelId="{818B6B7C-0147-4652-AFD8-4E28E9850046}" type="presParOf" srcId="{CAC94E88-956E-406C-B2DD-2C68A2F0ADCF}" destId="{62AE200D-EFF5-4349-8A88-424655ABE8EB}" srcOrd="1" destOrd="0" presId="urn:microsoft.com/office/officeart/2018/2/layout/IconVerticalSolidList"/>
    <dgm:cxn modelId="{3CC2A9EA-9877-4498-861F-5DEA3A06AA12}" type="presParOf" srcId="{CAC94E88-956E-406C-B2DD-2C68A2F0ADCF}" destId="{799ADB13-4424-4FF2-8B8C-14511AC3275D}" srcOrd="2" destOrd="0" presId="urn:microsoft.com/office/officeart/2018/2/layout/IconVerticalSolidList"/>
    <dgm:cxn modelId="{5D912EBC-7F8A-4EA5-B010-3EECC80D8D72}" type="presParOf" srcId="{799ADB13-4424-4FF2-8B8C-14511AC3275D}" destId="{58CB6875-6CD5-44D0-8C40-2B92EB788C83}" srcOrd="0" destOrd="0" presId="urn:microsoft.com/office/officeart/2018/2/layout/IconVerticalSolidList"/>
    <dgm:cxn modelId="{4D3F5059-B847-4BBA-BD25-2A175DF6C23F}" type="presParOf" srcId="{799ADB13-4424-4FF2-8B8C-14511AC3275D}" destId="{A77F25E6-2669-4D36-87D5-58CB236A54A9}" srcOrd="1" destOrd="0" presId="urn:microsoft.com/office/officeart/2018/2/layout/IconVerticalSolidList"/>
    <dgm:cxn modelId="{00DC49B5-AFF3-44A3-8FB6-29CBE253B490}" type="presParOf" srcId="{799ADB13-4424-4FF2-8B8C-14511AC3275D}" destId="{8EB6127F-9028-4EAC-A4EE-A62324666E8D}" srcOrd="2" destOrd="0" presId="urn:microsoft.com/office/officeart/2018/2/layout/IconVerticalSolidList"/>
    <dgm:cxn modelId="{FA45F9C2-6E4E-42A2-AB3B-5F0ADCD4B9CF}" type="presParOf" srcId="{799ADB13-4424-4FF2-8B8C-14511AC3275D}" destId="{EBEE9368-974E-4B6E-9E26-A4CD93078172}" srcOrd="3" destOrd="0" presId="urn:microsoft.com/office/officeart/2018/2/layout/IconVerticalSolidList"/>
    <dgm:cxn modelId="{07BEEA5B-B4A4-4AF6-A331-450FAA12DB6C}" type="presParOf" srcId="{CAC94E88-956E-406C-B2DD-2C68A2F0ADCF}" destId="{7F56DD56-5D20-48FC-9945-FCBA8BCAD0F7}" srcOrd="3" destOrd="0" presId="urn:microsoft.com/office/officeart/2018/2/layout/IconVerticalSolidList"/>
    <dgm:cxn modelId="{52ABE447-3870-4D58-93B5-0C34652C8086}" type="presParOf" srcId="{CAC94E88-956E-406C-B2DD-2C68A2F0ADCF}" destId="{9A712296-641F-4C8C-AF20-98C865D7F8D9}" srcOrd="4" destOrd="0" presId="urn:microsoft.com/office/officeart/2018/2/layout/IconVerticalSolidList"/>
    <dgm:cxn modelId="{4E38506C-31CB-4E79-B9F0-B29952CB9FE6}" type="presParOf" srcId="{9A712296-641F-4C8C-AF20-98C865D7F8D9}" destId="{103FB6DB-57A3-4A56-82FE-03821666323F}" srcOrd="0" destOrd="0" presId="urn:microsoft.com/office/officeart/2018/2/layout/IconVerticalSolidList"/>
    <dgm:cxn modelId="{48C5088C-AD18-432F-8909-DCBADDFA9A95}" type="presParOf" srcId="{9A712296-641F-4C8C-AF20-98C865D7F8D9}" destId="{D4AA0F95-6A11-4916-BBD3-DC29324653A5}" srcOrd="1" destOrd="0" presId="urn:microsoft.com/office/officeart/2018/2/layout/IconVerticalSolidList"/>
    <dgm:cxn modelId="{20B69A76-0EBA-46CB-A3EC-E7E5CD37D78C}" type="presParOf" srcId="{9A712296-641F-4C8C-AF20-98C865D7F8D9}" destId="{F7D616E7-5153-409E-8D14-4EE16C84F454}" srcOrd="2" destOrd="0" presId="urn:microsoft.com/office/officeart/2018/2/layout/IconVerticalSolidList"/>
    <dgm:cxn modelId="{B8963DDD-010D-4F12-9544-0A87E351CBA4}" type="presParOf" srcId="{9A712296-641F-4C8C-AF20-98C865D7F8D9}" destId="{36A55711-2BD8-4389-B223-E1B2E4D04F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3C8A90-D803-4C87-A114-26298433CC0A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4CC849D-8A2E-4D6F-862C-4D831BE94AB7}">
      <dgm:prSet/>
      <dgm:spPr/>
      <dgm:t>
        <a:bodyPr/>
        <a:lstStyle/>
        <a:p>
          <a:r>
            <a:rPr lang="en-US"/>
            <a:t>What do you think the advantages and disadvantages of each economy are?</a:t>
          </a:r>
        </a:p>
      </dgm:t>
    </dgm:pt>
    <dgm:pt modelId="{94E50E93-7538-464D-8200-C01D24686B91}" type="parTrans" cxnId="{AE47E306-A3F8-4287-9358-AB18B5857302}">
      <dgm:prSet/>
      <dgm:spPr/>
      <dgm:t>
        <a:bodyPr/>
        <a:lstStyle/>
        <a:p>
          <a:endParaRPr lang="en-US"/>
        </a:p>
      </dgm:t>
    </dgm:pt>
    <dgm:pt modelId="{52A6E32F-CADB-47D2-9E53-EE9626DE8409}" type="sibTrans" cxnId="{AE47E306-A3F8-4287-9358-AB18B5857302}">
      <dgm:prSet/>
      <dgm:spPr/>
      <dgm:t>
        <a:bodyPr/>
        <a:lstStyle/>
        <a:p>
          <a:endParaRPr lang="en-US"/>
        </a:p>
      </dgm:t>
    </dgm:pt>
    <dgm:pt modelId="{29ABF9E0-6E7F-4D68-BF79-725B19644FBB}">
      <dgm:prSet/>
      <dgm:spPr/>
      <dgm:t>
        <a:bodyPr/>
        <a:lstStyle/>
        <a:p>
          <a:r>
            <a:rPr lang="en-US"/>
            <a:t>Do you mostly live in a linear or circular economy?</a:t>
          </a:r>
        </a:p>
      </dgm:t>
    </dgm:pt>
    <dgm:pt modelId="{275B0E0C-40EB-4826-B7CE-AE666D150FD8}" type="parTrans" cxnId="{490E7A03-F74E-4ABC-8FE4-E68D9695E070}">
      <dgm:prSet/>
      <dgm:spPr/>
      <dgm:t>
        <a:bodyPr/>
        <a:lstStyle/>
        <a:p>
          <a:endParaRPr lang="en-US"/>
        </a:p>
      </dgm:t>
    </dgm:pt>
    <dgm:pt modelId="{987B22A2-DD7E-400B-B94E-B83507734832}" type="sibTrans" cxnId="{490E7A03-F74E-4ABC-8FE4-E68D9695E070}">
      <dgm:prSet/>
      <dgm:spPr/>
      <dgm:t>
        <a:bodyPr/>
        <a:lstStyle/>
        <a:p>
          <a:endParaRPr lang="en-US"/>
        </a:p>
      </dgm:t>
    </dgm:pt>
    <dgm:pt modelId="{8B9DA2BC-98E5-4A04-9EEF-0374DEE117E7}" type="pres">
      <dgm:prSet presAssocID="{843C8A90-D803-4C87-A114-26298433CC0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CE08E335-BBBC-46C1-B2F6-938619C4C064}" type="pres">
      <dgm:prSet presAssocID="{C4CC849D-8A2E-4D6F-862C-4D831BE94AB7}" presName="thickLine" presStyleLbl="alignNode1" presStyleIdx="0" presStyleCnt="2"/>
      <dgm:spPr/>
    </dgm:pt>
    <dgm:pt modelId="{62A470D6-2DDC-482E-9545-7206FBE1736F}" type="pres">
      <dgm:prSet presAssocID="{C4CC849D-8A2E-4D6F-862C-4D831BE94AB7}" presName="horz1" presStyleCnt="0"/>
      <dgm:spPr/>
    </dgm:pt>
    <dgm:pt modelId="{719CA5EB-11C6-4953-8C48-63C2E6DF56DE}" type="pres">
      <dgm:prSet presAssocID="{C4CC849D-8A2E-4D6F-862C-4D831BE94AB7}" presName="tx1" presStyleLbl="revTx" presStyleIdx="0" presStyleCnt="2"/>
      <dgm:spPr/>
      <dgm:t>
        <a:bodyPr/>
        <a:lstStyle/>
        <a:p>
          <a:endParaRPr lang="en-US"/>
        </a:p>
      </dgm:t>
    </dgm:pt>
    <dgm:pt modelId="{415CAA92-33B3-406A-99FD-476F5C261D7B}" type="pres">
      <dgm:prSet presAssocID="{C4CC849D-8A2E-4D6F-862C-4D831BE94AB7}" presName="vert1" presStyleCnt="0"/>
      <dgm:spPr/>
    </dgm:pt>
    <dgm:pt modelId="{D5F41B9F-74D1-4219-90F5-2EAA0DB4C3E7}" type="pres">
      <dgm:prSet presAssocID="{29ABF9E0-6E7F-4D68-BF79-725B19644FBB}" presName="thickLine" presStyleLbl="alignNode1" presStyleIdx="1" presStyleCnt="2"/>
      <dgm:spPr/>
    </dgm:pt>
    <dgm:pt modelId="{6C6067A3-B56F-43F6-A3E6-7B3A311F9626}" type="pres">
      <dgm:prSet presAssocID="{29ABF9E0-6E7F-4D68-BF79-725B19644FBB}" presName="horz1" presStyleCnt="0"/>
      <dgm:spPr/>
    </dgm:pt>
    <dgm:pt modelId="{773DECBF-C940-4D5D-9DE8-E3B27E948ADE}" type="pres">
      <dgm:prSet presAssocID="{29ABF9E0-6E7F-4D68-BF79-725B19644FBB}" presName="tx1" presStyleLbl="revTx" presStyleIdx="1" presStyleCnt="2"/>
      <dgm:spPr/>
      <dgm:t>
        <a:bodyPr/>
        <a:lstStyle/>
        <a:p>
          <a:endParaRPr lang="en-US"/>
        </a:p>
      </dgm:t>
    </dgm:pt>
    <dgm:pt modelId="{9532CA9B-FF5E-44B2-B3B5-B347C48D953D}" type="pres">
      <dgm:prSet presAssocID="{29ABF9E0-6E7F-4D68-BF79-725B19644FBB}" presName="vert1" presStyleCnt="0"/>
      <dgm:spPr/>
    </dgm:pt>
  </dgm:ptLst>
  <dgm:cxnLst>
    <dgm:cxn modelId="{AE47E306-A3F8-4287-9358-AB18B5857302}" srcId="{843C8A90-D803-4C87-A114-26298433CC0A}" destId="{C4CC849D-8A2E-4D6F-862C-4D831BE94AB7}" srcOrd="0" destOrd="0" parTransId="{94E50E93-7538-464D-8200-C01D24686B91}" sibTransId="{52A6E32F-CADB-47D2-9E53-EE9626DE8409}"/>
    <dgm:cxn modelId="{490E7A03-F74E-4ABC-8FE4-E68D9695E070}" srcId="{843C8A90-D803-4C87-A114-26298433CC0A}" destId="{29ABF9E0-6E7F-4D68-BF79-725B19644FBB}" srcOrd="1" destOrd="0" parTransId="{275B0E0C-40EB-4826-B7CE-AE666D150FD8}" sibTransId="{987B22A2-DD7E-400B-B94E-B83507734832}"/>
    <dgm:cxn modelId="{5C73082D-3AE7-4E64-931F-412FC3F31EDB}" type="presOf" srcId="{843C8A90-D803-4C87-A114-26298433CC0A}" destId="{8B9DA2BC-98E5-4A04-9EEF-0374DEE117E7}" srcOrd="0" destOrd="0" presId="urn:microsoft.com/office/officeart/2008/layout/LinedList"/>
    <dgm:cxn modelId="{5E675367-7E89-44BB-9125-110C484DF682}" type="presOf" srcId="{C4CC849D-8A2E-4D6F-862C-4D831BE94AB7}" destId="{719CA5EB-11C6-4953-8C48-63C2E6DF56DE}" srcOrd="0" destOrd="0" presId="urn:microsoft.com/office/officeart/2008/layout/LinedList"/>
    <dgm:cxn modelId="{5EC0AE66-BF82-4D5F-83E3-D13477280091}" type="presOf" srcId="{29ABF9E0-6E7F-4D68-BF79-725B19644FBB}" destId="{773DECBF-C940-4D5D-9DE8-E3B27E948ADE}" srcOrd="0" destOrd="0" presId="urn:microsoft.com/office/officeart/2008/layout/LinedList"/>
    <dgm:cxn modelId="{0E1EB74F-2D78-4255-B73D-0F45357245E4}" type="presParOf" srcId="{8B9DA2BC-98E5-4A04-9EEF-0374DEE117E7}" destId="{CE08E335-BBBC-46C1-B2F6-938619C4C064}" srcOrd="0" destOrd="0" presId="urn:microsoft.com/office/officeart/2008/layout/LinedList"/>
    <dgm:cxn modelId="{25CD4E6A-D527-4C35-A5EB-40087B00E735}" type="presParOf" srcId="{8B9DA2BC-98E5-4A04-9EEF-0374DEE117E7}" destId="{62A470D6-2DDC-482E-9545-7206FBE1736F}" srcOrd="1" destOrd="0" presId="urn:microsoft.com/office/officeart/2008/layout/LinedList"/>
    <dgm:cxn modelId="{6D684D28-4CB2-4647-97CF-0462BC25ED8A}" type="presParOf" srcId="{62A470D6-2DDC-482E-9545-7206FBE1736F}" destId="{719CA5EB-11C6-4953-8C48-63C2E6DF56DE}" srcOrd="0" destOrd="0" presId="urn:microsoft.com/office/officeart/2008/layout/LinedList"/>
    <dgm:cxn modelId="{D8CE389D-4C77-4A7A-841B-838A48B9744B}" type="presParOf" srcId="{62A470D6-2DDC-482E-9545-7206FBE1736F}" destId="{415CAA92-33B3-406A-99FD-476F5C261D7B}" srcOrd="1" destOrd="0" presId="urn:microsoft.com/office/officeart/2008/layout/LinedList"/>
    <dgm:cxn modelId="{E01CFF88-7C63-4375-AD1E-509497E56A8C}" type="presParOf" srcId="{8B9DA2BC-98E5-4A04-9EEF-0374DEE117E7}" destId="{D5F41B9F-74D1-4219-90F5-2EAA0DB4C3E7}" srcOrd="2" destOrd="0" presId="urn:microsoft.com/office/officeart/2008/layout/LinedList"/>
    <dgm:cxn modelId="{9DB00519-A2B5-410D-BFB0-0ED5159B9079}" type="presParOf" srcId="{8B9DA2BC-98E5-4A04-9EEF-0374DEE117E7}" destId="{6C6067A3-B56F-43F6-A3E6-7B3A311F9626}" srcOrd="3" destOrd="0" presId="urn:microsoft.com/office/officeart/2008/layout/LinedList"/>
    <dgm:cxn modelId="{7B019E93-ADA9-429D-AAD9-2D8823F6FFAC}" type="presParOf" srcId="{6C6067A3-B56F-43F6-A3E6-7B3A311F9626}" destId="{773DECBF-C940-4D5D-9DE8-E3B27E948ADE}" srcOrd="0" destOrd="0" presId="urn:microsoft.com/office/officeart/2008/layout/LinedList"/>
    <dgm:cxn modelId="{71B7DDF4-C0FA-4788-9696-9DF7A92873B8}" type="presParOf" srcId="{6C6067A3-B56F-43F6-A3E6-7B3A311F9626}" destId="{9532CA9B-FF5E-44B2-B3B5-B347C48D953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22DEC-A41B-4C05-888E-3D4F4BAD43BC}">
      <dsp:nvSpPr>
        <dsp:cNvPr id="0" name=""/>
        <dsp:cNvSpPr/>
      </dsp:nvSpPr>
      <dsp:spPr>
        <a:xfrm>
          <a:off x="0" y="1501"/>
          <a:ext cx="7372350" cy="8416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17B4F-A80A-4ABD-90B8-53832E02E2CE}">
      <dsp:nvSpPr>
        <dsp:cNvPr id="0" name=""/>
        <dsp:cNvSpPr/>
      </dsp:nvSpPr>
      <dsp:spPr>
        <a:xfrm>
          <a:off x="254605" y="190877"/>
          <a:ext cx="463371" cy="4629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2E282-FCB7-4333-956F-049BA06BBF2C}">
      <dsp:nvSpPr>
        <dsp:cNvPr id="0" name=""/>
        <dsp:cNvSpPr/>
      </dsp:nvSpPr>
      <dsp:spPr>
        <a:xfrm>
          <a:off x="972582" y="1501"/>
          <a:ext cx="6309868" cy="84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" tIns="89164" rIns="89164" bIns="89164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LESSON OVERVIEW</a:t>
          </a:r>
        </a:p>
      </dsp:txBody>
      <dsp:txXfrm>
        <a:off x="972582" y="1501"/>
        <a:ext cx="6309868" cy="842493"/>
      </dsp:txXfrm>
    </dsp:sp>
    <dsp:sp modelId="{58CB6875-6CD5-44D0-8C40-2B92EB788C83}">
      <dsp:nvSpPr>
        <dsp:cNvPr id="0" name=""/>
        <dsp:cNvSpPr/>
      </dsp:nvSpPr>
      <dsp:spPr>
        <a:xfrm>
          <a:off x="0" y="1026156"/>
          <a:ext cx="7372350" cy="8416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F25E6-2669-4D36-87D5-58CB236A54A9}">
      <dsp:nvSpPr>
        <dsp:cNvPr id="0" name=""/>
        <dsp:cNvSpPr/>
      </dsp:nvSpPr>
      <dsp:spPr>
        <a:xfrm>
          <a:off x="254605" y="1215532"/>
          <a:ext cx="463371" cy="4629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E9368-974E-4B6E-9E26-A4CD93078172}">
      <dsp:nvSpPr>
        <dsp:cNvPr id="0" name=""/>
        <dsp:cNvSpPr/>
      </dsp:nvSpPr>
      <dsp:spPr>
        <a:xfrm>
          <a:off x="972582" y="1026156"/>
          <a:ext cx="6309868" cy="84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" tIns="89164" rIns="89164" bIns="89164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In this lesson, students discover pros and cons of the linear and circular economy and learn some new vocabulary and collocations related to the topic. They also work on a case study and come up with strategies to transform a company following a linear model into a more circular one.</a:t>
          </a:r>
        </a:p>
      </dsp:txBody>
      <dsp:txXfrm>
        <a:off x="972582" y="1026156"/>
        <a:ext cx="6309868" cy="842493"/>
      </dsp:txXfrm>
    </dsp:sp>
    <dsp:sp modelId="{103FB6DB-57A3-4A56-82FE-03821666323F}">
      <dsp:nvSpPr>
        <dsp:cNvPr id="0" name=""/>
        <dsp:cNvSpPr/>
      </dsp:nvSpPr>
      <dsp:spPr>
        <a:xfrm>
          <a:off x="0" y="2050811"/>
          <a:ext cx="7372350" cy="8416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A0F95-6A11-4916-BBD3-DC29324653A5}">
      <dsp:nvSpPr>
        <dsp:cNvPr id="0" name=""/>
        <dsp:cNvSpPr/>
      </dsp:nvSpPr>
      <dsp:spPr>
        <a:xfrm>
          <a:off x="254605" y="2240187"/>
          <a:ext cx="463371" cy="4629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55711-2BD8-4389-B223-E1B2E4D04FEC}">
      <dsp:nvSpPr>
        <dsp:cNvPr id="0" name=""/>
        <dsp:cNvSpPr/>
      </dsp:nvSpPr>
      <dsp:spPr>
        <a:xfrm>
          <a:off x="972582" y="2050811"/>
          <a:ext cx="6309868" cy="84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" tIns="89164" rIns="89164" bIns="89164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Upper Intermediate</a:t>
          </a:r>
        </a:p>
      </dsp:txBody>
      <dsp:txXfrm>
        <a:off x="972582" y="2050811"/>
        <a:ext cx="6309868" cy="8424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8E335-BBBC-46C1-B2F6-938619C4C064}">
      <dsp:nvSpPr>
        <dsp:cNvPr id="0" name=""/>
        <dsp:cNvSpPr/>
      </dsp:nvSpPr>
      <dsp:spPr>
        <a:xfrm>
          <a:off x="0" y="0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9CA5EB-11C6-4953-8C48-63C2E6DF56DE}">
      <dsp:nvSpPr>
        <dsp:cNvPr id="0" name=""/>
        <dsp:cNvSpPr/>
      </dsp:nvSpPr>
      <dsp:spPr>
        <a:xfrm>
          <a:off x="0" y="0"/>
          <a:ext cx="7886700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/>
            <a:t>What do you think the advantages and disadvantages of each economy are?</a:t>
          </a:r>
        </a:p>
      </dsp:txBody>
      <dsp:txXfrm>
        <a:off x="0" y="0"/>
        <a:ext cx="7886700" cy="1631751"/>
      </dsp:txXfrm>
    </dsp:sp>
    <dsp:sp modelId="{D5F41B9F-74D1-4219-90F5-2EAA0DB4C3E7}">
      <dsp:nvSpPr>
        <dsp:cNvPr id="0" name=""/>
        <dsp:cNvSpPr/>
      </dsp:nvSpPr>
      <dsp:spPr>
        <a:xfrm>
          <a:off x="0" y="1631751"/>
          <a:ext cx="78867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3DECBF-C940-4D5D-9DE8-E3B27E948ADE}">
      <dsp:nvSpPr>
        <dsp:cNvPr id="0" name=""/>
        <dsp:cNvSpPr/>
      </dsp:nvSpPr>
      <dsp:spPr>
        <a:xfrm>
          <a:off x="0" y="1631751"/>
          <a:ext cx="7886700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/>
            <a:t>Do you mostly live in a linear or circular economy?</a:t>
          </a:r>
        </a:p>
      </dsp:txBody>
      <dsp:txXfrm>
        <a:off x="0" y="1631751"/>
        <a:ext cx="7886700" cy="1631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43600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407491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26aa5cc9235907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26aa5cc9235907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171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2397a7ab8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2397a7ab8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283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1baf728a9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1baf728a9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0492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51f4a31b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51f4a31b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CD00"/>
                </a:highlight>
                <a:latin typeface="Raleway Light"/>
                <a:ea typeface="Raleway Light"/>
                <a:cs typeface="Raleway Light"/>
                <a:sym typeface="Raleway Light"/>
              </a:rPr>
              <a:t>The linear economy is based on a ‘take, make and dispose’ model. A company takes resources, manufactures a product, sells it to the customer, and the customer uses and disposes of the product. </a:t>
            </a:r>
            <a:endParaRPr sz="1400">
              <a:solidFill>
                <a:schemeClr val="dk1"/>
              </a:solidFill>
              <a:highlight>
                <a:srgbClr val="FFCD00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CD00"/>
                </a:highlight>
                <a:latin typeface="Raleway Light"/>
                <a:ea typeface="Raleway Light"/>
                <a:cs typeface="Raleway Light"/>
                <a:sym typeface="Raleway Light"/>
              </a:rPr>
              <a:t>The circular economy is based on a ‘make, use and return’ model. A company recycles and maintains ownership of its product.</a:t>
            </a:r>
            <a:endParaRPr sz="1400">
              <a:solidFill>
                <a:schemeClr val="dk1"/>
              </a:solidFill>
              <a:highlight>
                <a:srgbClr val="FFCD00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72195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32d5dd1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32d5dd1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249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51f4a31b3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051f4a31b3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299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01d6ece13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01d6ece13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04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xmlns="" id="{FCE00AC6-1AA1-42D9-83DD-4C308C3F9322}"/>
              </a:ext>
            </a:extLst>
          </p:cNvPr>
          <p:cNvSpPr/>
          <p:nvPr/>
        </p:nvSpPr>
        <p:spPr>
          <a:xfrm>
            <a:off x="3000375" y="815553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304681" y="137950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560F3E26-F530-48F5-983F-9DCFF41D4F39}"/>
              </a:ext>
            </a:extLst>
          </p:cNvPr>
          <p:cNvSpPr/>
          <p:nvPr/>
        </p:nvSpPr>
        <p:spPr>
          <a:xfrm>
            <a:off x="3969261" y="1"/>
            <a:ext cx="1709807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5C97701E-DAF9-4174-AA91-DA203CD27D6A}"/>
              </a:ext>
            </a:extLst>
          </p:cNvPr>
          <p:cNvSpPr/>
          <p:nvPr/>
        </p:nvSpPr>
        <p:spPr>
          <a:xfrm>
            <a:off x="7656521" y="1"/>
            <a:ext cx="851300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4F765374-1A4B-41DC-9E75-A95A6C655328}"/>
              </a:ext>
            </a:extLst>
          </p:cNvPr>
          <p:cNvSpPr/>
          <p:nvPr/>
        </p:nvSpPr>
        <p:spPr>
          <a:xfrm>
            <a:off x="1176783" y="386174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7618DB8E-B14E-42E2-B454-6F4F36A8A9D9}"/>
              </a:ext>
            </a:extLst>
          </p:cNvPr>
          <p:cNvSpPr/>
          <p:nvPr/>
        </p:nvSpPr>
        <p:spPr>
          <a:xfrm flipH="1">
            <a:off x="1" y="2212305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xmlns="" id="{97666F55-03F1-4D18-9653-0F360E127A7E}"/>
              </a:ext>
            </a:extLst>
          </p:cNvPr>
          <p:cNvSpPr/>
          <p:nvPr/>
        </p:nvSpPr>
        <p:spPr>
          <a:xfrm rot="16200000">
            <a:off x="1154763" y="3152571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9906" y="2057400"/>
            <a:ext cx="4944618" cy="1789938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9906" y="3915918"/>
            <a:ext cx="4944618" cy="74752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857492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AFA665D7-34D0-4262-B345-9B1A1BA8DA17}"/>
              </a:ext>
            </a:extLst>
          </p:cNvPr>
          <p:cNvSpPr/>
          <p:nvPr/>
        </p:nvSpPr>
        <p:spPr>
          <a:xfrm>
            <a:off x="366892" y="839273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39ECC553-79E5-4B14-89C9-4DAD2B1021B1}"/>
              </a:ext>
            </a:extLst>
          </p:cNvPr>
          <p:cNvSpPr/>
          <p:nvPr/>
        </p:nvSpPr>
        <p:spPr>
          <a:xfrm rot="19809111">
            <a:off x="6512791" y="705862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55797934-7E2B-4F94-89C4-0279413FF821}"/>
              </a:ext>
            </a:extLst>
          </p:cNvPr>
          <p:cNvSpPr/>
          <p:nvPr/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49274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114" y="1145286"/>
            <a:ext cx="3833622" cy="2948940"/>
          </a:xfrm>
        </p:spPr>
        <p:txBody>
          <a:bodyPr anchor="ctr"/>
          <a:lstStyle>
            <a:lvl1pPr marL="0" indent="0">
              <a:buNone/>
              <a:defRPr/>
            </a:lvl1pPr>
            <a:lvl2pPr marL="171450">
              <a:defRPr/>
            </a:lvl2pPr>
            <a:lvl3pPr marL="3429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505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359" y="862657"/>
            <a:ext cx="1655285" cy="165313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475" y="1934763"/>
            <a:ext cx="2322605" cy="2322605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E8E71C73-7BAD-4838-88C1-42E045A9D179}"/>
              </a:ext>
            </a:extLst>
          </p:cNvPr>
          <p:cNvSpPr/>
          <p:nvPr/>
        </p:nvSpPr>
        <p:spPr>
          <a:xfrm>
            <a:off x="7687216" y="1166301"/>
            <a:ext cx="614477" cy="5978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4560922-5803-412D-880B-065E75DCBC0A}"/>
              </a:ext>
            </a:extLst>
          </p:cNvPr>
          <p:cNvSpPr/>
          <p:nvPr/>
        </p:nvSpPr>
        <p:spPr>
          <a:xfrm>
            <a:off x="5692567" y="3025795"/>
            <a:ext cx="657528" cy="657528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867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69181" y="536171"/>
            <a:ext cx="4170911" cy="4052454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4991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xmlns="" id="{200EACD1-D216-4037-8AFF-80CF273586DF}"/>
              </a:ext>
            </a:extLst>
          </p:cNvPr>
          <p:cNvSpPr/>
          <p:nvPr/>
        </p:nvSpPr>
        <p:spPr>
          <a:xfrm>
            <a:off x="2111947" y="111697"/>
            <a:ext cx="4920107" cy="4920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xmlns="" id="{F941DE04-3FEA-4A57-B200-F9F6A765C792}"/>
              </a:ext>
            </a:extLst>
          </p:cNvPr>
          <p:cNvSpPr/>
          <p:nvPr/>
        </p:nvSpPr>
        <p:spPr>
          <a:xfrm rot="9222429" flipV="1">
            <a:off x="1870589" y="-21377"/>
            <a:ext cx="5112197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565C7B4-4152-4548-A771-EB148A028FDB}"/>
              </a:ext>
            </a:extLst>
          </p:cNvPr>
          <p:cNvSpPr/>
          <p:nvPr/>
        </p:nvSpPr>
        <p:spPr>
          <a:xfrm>
            <a:off x="6124063" y="3931491"/>
            <a:ext cx="569552" cy="5541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54" y="1035558"/>
            <a:ext cx="4169664" cy="188595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454" y="3058668"/>
            <a:ext cx="4169664" cy="115214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xmlns="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588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82" y="1433322"/>
            <a:ext cx="737235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23DA7759-3209-4FE2-96D1-4EEDD81E9EA0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1460DAD-8769-4C9F-9C8C-BB0443909D76}"/>
              </a:ext>
            </a:extLst>
          </p:cNvPr>
          <p:cNvSpPr/>
          <p:nvPr/>
        </p:nvSpPr>
        <p:spPr>
          <a:xfrm flipH="1">
            <a:off x="9265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7158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C13EF9C-0B5A-4364-91AA-E5DD5B536E54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F674475-6327-490A-BD7F-084F5C07F2E4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3322"/>
            <a:ext cx="788670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5320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5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277950"/>
            <a:ext cx="4442882" cy="444288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478" y="3284982"/>
            <a:ext cx="3778758" cy="53492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2711896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B4EC5136-99DA-40B5-8F79-5C3A56D38BA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4F8FB775-26C4-41BA-837C-4478D48D215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123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xmlns="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8327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984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984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xmlns="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875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xmlns="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4875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xmlns="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736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="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44" y="2045797"/>
            <a:ext cx="3218055" cy="3097703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6207" y="0"/>
            <a:ext cx="2639483" cy="2255932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B7BFFB5A-A05C-4B0C-905C-5884361304B2}"/>
              </a:ext>
            </a:extLst>
          </p:cNvPr>
          <p:cNvSpPr/>
          <p:nvPr/>
        </p:nvSpPr>
        <p:spPr>
          <a:xfrm>
            <a:off x="7815427" y="1023549"/>
            <a:ext cx="710616" cy="6913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9F33AC6C-4807-4785-AE9F-84BFEEDA9F7E}"/>
              </a:ext>
            </a:extLst>
          </p:cNvPr>
          <p:cNvSpPr/>
          <p:nvPr/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384048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371600"/>
            <a:ext cx="3819906" cy="3264408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/>
            </a:lvl2pPr>
            <a:lvl3pPr marL="342900">
              <a:defRPr/>
            </a:lvl3pPr>
            <a:lvl4pPr marL="5143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1241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642EAF0-DE94-4F90-82E3-6F316AA8353A}"/>
              </a:ext>
            </a:extLst>
          </p:cNvPr>
          <p:cNvSpPr/>
          <p:nvPr/>
        </p:nvSpPr>
        <p:spPr>
          <a:xfrm>
            <a:off x="530545" y="635700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D22D7888-22FA-4AA1-9BA4-CC61D6643D47}"/>
              </a:ext>
            </a:extLst>
          </p:cNvPr>
          <p:cNvSpPr/>
          <p:nvPr/>
        </p:nvSpPr>
        <p:spPr>
          <a:xfrm flipH="1">
            <a:off x="397897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BB6E464-8999-4773-A1F2-E6CAA990E572}"/>
              </a:ext>
            </a:extLst>
          </p:cNvPr>
          <p:cNvSpPr/>
          <p:nvPr/>
        </p:nvSpPr>
        <p:spPr>
          <a:xfrm flipH="1">
            <a:off x="2971134" y="-1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CE9CE183-B21E-41EB-A082-DF9C3AD659D5}"/>
              </a:ext>
            </a:extLst>
          </p:cNvPr>
          <p:cNvSpPr/>
          <p:nvPr/>
        </p:nvSpPr>
        <p:spPr>
          <a:xfrm flipH="1">
            <a:off x="0" y="2202623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EA14BE8-FDD0-4434-9C3E-BFF78C22D9E3}"/>
              </a:ext>
            </a:extLst>
          </p:cNvPr>
          <p:cNvSpPr/>
          <p:nvPr/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5C76330B-4C5E-463F-921A-D91F1F1F6049}"/>
              </a:ext>
            </a:extLst>
          </p:cNvPr>
          <p:cNvSpPr/>
          <p:nvPr/>
        </p:nvSpPr>
        <p:spPr>
          <a:xfrm flipH="1">
            <a:off x="255379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E494E364-7EA8-4D92-915D-75D1A3A67C07}"/>
              </a:ext>
            </a:extLst>
          </p:cNvPr>
          <p:cNvSpPr/>
          <p:nvPr/>
        </p:nvSpPr>
        <p:spPr>
          <a:xfrm flipH="1">
            <a:off x="3099729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925830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1872" y="4767263"/>
            <a:ext cx="1159002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4286" y="4767263"/>
            <a:ext cx="3086100" cy="273844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79842" y="4767263"/>
            <a:ext cx="637794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482" y="1913382"/>
            <a:ext cx="3531870" cy="1316736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 sz="1350"/>
            </a:lvl2pPr>
            <a:lvl3pPr marL="342900">
              <a:defRPr sz="13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0980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59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4201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2C155C63-9F58-4422-B669-F9748628067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385DBA62-0EDB-47AA-86C7-90463BC9B308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3012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6BA9707F-7BCE-464F-BF45-E216527084EE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BC589723-2CC8-49D1-B4E1-36FECED6A2D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99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1942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8442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918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xmlns="" id="{FCE00AC6-1AA1-42D9-83DD-4C308C3F9322}"/>
              </a:ext>
            </a:extLst>
          </p:cNvPr>
          <p:cNvSpPr/>
          <p:nvPr/>
        </p:nvSpPr>
        <p:spPr>
          <a:xfrm>
            <a:off x="3000375" y="815553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304681" y="137950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560F3E26-F530-48F5-983F-9DCFF41D4F39}"/>
              </a:ext>
            </a:extLst>
          </p:cNvPr>
          <p:cNvSpPr/>
          <p:nvPr/>
        </p:nvSpPr>
        <p:spPr>
          <a:xfrm>
            <a:off x="3969261" y="1"/>
            <a:ext cx="1709807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5C97701E-DAF9-4174-AA91-DA203CD27D6A}"/>
              </a:ext>
            </a:extLst>
          </p:cNvPr>
          <p:cNvSpPr/>
          <p:nvPr/>
        </p:nvSpPr>
        <p:spPr>
          <a:xfrm>
            <a:off x="7656521" y="1"/>
            <a:ext cx="851300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4F765374-1A4B-41DC-9E75-A95A6C655328}"/>
              </a:ext>
            </a:extLst>
          </p:cNvPr>
          <p:cNvSpPr/>
          <p:nvPr/>
        </p:nvSpPr>
        <p:spPr>
          <a:xfrm>
            <a:off x="1176783" y="386174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7618DB8E-B14E-42E2-B454-6F4F36A8A9D9}"/>
              </a:ext>
            </a:extLst>
          </p:cNvPr>
          <p:cNvSpPr/>
          <p:nvPr/>
        </p:nvSpPr>
        <p:spPr>
          <a:xfrm flipH="1">
            <a:off x="1" y="2212305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xmlns="" id="{97666F55-03F1-4D18-9653-0F360E127A7E}"/>
              </a:ext>
            </a:extLst>
          </p:cNvPr>
          <p:cNvSpPr/>
          <p:nvPr/>
        </p:nvSpPr>
        <p:spPr>
          <a:xfrm rot="16200000">
            <a:off x="1154763" y="3152571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9906" y="2057400"/>
            <a:ext cx="4944618" cy="1789938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9906" y="3915918"/>
            <a:ext cx="4944618" cy="74752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7488156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AFA665D7-34D0-4262-B345-9B1A1BA8DA17}"/>
              </a:ext>
            </a:extLst>
          </p:cNvPr>
          <p:cNvSpPr/>
          <p:nvPr/>
        </p:nvSpPr>
        <p:spPr>
          <a:xfrm>
            <a:off x="366892" y="839273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39ECC553-79E5-4B14-89C9-4DAD2B1021B1}"/>
              </a:ext>
            </a:extLst>
          </p:cNvPr>
          <p:cNvSpPr/>
          <p:nvPr/>
        </p:nvSpPr>
        <p:spPr>
          <a:xfrm rot="19809111">
            <a:off x="6512791" y="705862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55797934-7E2B-4F94-89C4-0279413FF821}"/>
              </a:ext>
            </a:extLst>
          </p:cNvPr>
          <p:cNvSpPr/>
          <p:nvPr/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49274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114" y="1145286"/>
            <a:ext cx="3833622" cy="2948940"/>
          </a:xfrm>
        </p:spPr>
        <p:txBody>
          <a:bodyPr anchor="ctr"/>
          <a:lstStyle>
            <a:lvl1pPr marL="0" indent="0">
              <a:buNone/>
              <a:defRPr/>
            </a:lvl1pPr>
            <a:lvl2pPr marL="171450">
              <a:defRPr/>
            </a:lvl2pPr>
            <a:lvl3pPr marL="3429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28836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359" y="862657"/>
            <a:ext cx="1655285" cy="165313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475" y="1934763"/>
            <a:ext cx="2322605" cy="2322605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E8E71C73-7BAD-4838-88C1-42E045A9D179}"/>
              </a:ext>
            </a:extLst>
          </p:cNvPr>
          <p:cNvSpPr/>
          <p:nvPr/>
        </p:nvSpPr>
        <p:spPr>
          <a:xfrm>
            <a:off x="7687216" y="1166301"/>
            <a:ext cx="614477" cy="5978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4560922-5803-412D-880B-065E75DCBC0A}"/>
              </a:ext>
            </a:extLst>
          </p:cNvPr>
          <p:cNvSpPr/>
          <p:nvPr/>
        </p:nvSpPr>
        <p:spPr>
          <a:xfrm>
            <a:off x="5692567" y="3025795"/>
            <a:ext cx="657528" cy="657528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98422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69181" y="536171"/>
            <a:ext cx="4170911" cy="4052454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65566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xmlns="" id="{200EACD1-D216-4037-8AFF-80CF273586DF}"/>
              </a:ext>
            </a:extLst>
          </p:cNvPr>
          <p:cNvSpPr/>
          <p:nvPr/>
        </p:nvSpPr>
        <p:spPr>
          <a:xfrm>
            <a:off x="2111947" y="111697"/>
            <a:ext cx="4920107" cy="4920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xmlns="" id="{F941DE04-3FEA-4A57-B200-F9F6A765C792}"/>
              </a:ext>
            </a:extLst>
          </p:cNvPr>
          <p:cNvSpPr/>
          <p:nvPr/>
        </p:nvSpPr>
        <p:spPr>
          <a:xfrm rot="9222429" flipV="1">
            <a:off x="1870589" y="-21377"/>
            <a:ext cx="5112197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565C7B4-4152-4548-A771-EB148A028FDB}"/>
              </a:ext>
            </a:extLst>
          </p:cNvPr>
          <p:cNvSpPr/>
          <p:nvPr/>
        </p:nvSpPr>
        <p:spPr>
          <a:xfrm>
            <a:off x="6124063" y="3931491"/>
            <a:ext cx="569552" cy="5541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54" y="1035558"/>
            <a:ext cx="4169664" cy="188595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454" y="3058668"/>
            <a:ext cx="4169664" cy="115214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xmlns="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3365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82" y="1433322"/>
            <a:ext cx="737235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23DA7759-3209-4FE2-96D1-4EEDD81E9EA0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1460DAD-8769-4C9F-9C8C-BB0443909D76}"/>
              </a:ext>
            </a:extLst>
          </p:cNvPr>
          <p:cNvSpPr/>
          <p:nvPr/>
        </p:nvSpPr>
        <p:spPr>
          <a:xfrm flipH="1">
            <a:off x="9265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8490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C13EF9C-0B5A-4364-91AA-E5DD5B536E54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F674475-6327-490A-BD7F-084F5C07F2E4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3322"/>
            <a:ext cx="788670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4230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5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277950"/>
            <a:ext cx="4442882" cy="444288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478" y="3284982"/>
            <a:ext cx="3778758" cy="53492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8214496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B4EC5136-99DA-40B5-8F79-5C3A56D38BA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4F8FB775-26C4-41BA-837C-4478D48D215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29255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xmlns="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9571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984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984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xmlns="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875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xmlns="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4875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xmlns="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11382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="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44" y="2045797"/>
            <a:ext cx="3218055" cy="3097703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6207" y="0"/>
            <a:ext cx="2639483" cy="2255932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B7BFFB5A-A05C-4B0C-905C-5884361304B2}"/>
              </a:ext>
            </a:extLst>
          </p:cNvPr>
          <p:cNvSpPr/>
          <p:nvPr/>
        </p:nvSpPr>
        <p:spPr>
          <a:xfrm>
            <a:off x="7815427" y="1023549"/>
            <a:ext cx="710616" cy="6913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9F33AC6C-4807-4785-AE9F-84BFEEDA9F7E}"/>
              </a:ext>
            </a:extLst>
          </p:cNvPr>
          <p:cNvSpPr/>
          <p:nvPr/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384048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371600"/>
            <a:ext cx="3819906" cy="3264408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/>
            </a:lvl2pPr>
            <a:lvl3pPr marL="342900">
              <a:defRPr/>
            </a:lvl3pPr>
            <a:lvl4pPr marL="5143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1714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642EAF0-DE94-4F90-82E3-6F316AA8353A}"/>
              </a:ext>
            </a:extLst>
          </p:cNvPr>
          <p:cNvSpPr/>
          <p:nvPr/>
        </p:nvSpPr>
        <p:spPr>
          <a:xfrm>
            <a:off x="530545" y="635700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D22D7888-22FA-4AA1-9BA4-CC61D6643D47}"/>
              </a:ext>
            </a:extLst>
          </p:cNvPr>
          <p:cNvSpPr/>
          <p:nvPr/>
        </p:nvSpPr>
        <p:spPr>
          <a:xfrm flipH="1">
            <a:off x="397897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BB6E464-8999-4773-A1F2-E6CAA990E572}"/>
              </a:ext>
            </a:extLst>
          </p:cNvPr>
          <p:cNvSpPr/>
          <p:nvPr/>
        </p:nvSpPr>
        <p:spPr>
          <a:xfrm flipH="1">
            <a:off x="2971134" y="-1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CE9CE183-B21E-41EB-A082-DF9C3AD659D5}"/>
              </a:ext>
            </a:extLst>
          </p:cNvPr>
          <p:cNvSpPr/>
          <p:nvPr/>
        </p:nvSpPr>
        <p:spPr>
          <a:xfrm flipH="1">
            <a:off x="0" y="2202623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EA14BE8-FDD0-4434-9C3E-BFF78C22D9E3}"/>
              </a:ext>
            </a:extLst>
          </p:cNvPr>
          <p:cNvSpPr/>
          <p:nvPr/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5C76330B-4C5E-463F-921A-D91F1F1F6049}"/>
              </a:ext>
            </a:extLst>
          </p:cNvPr>
          <p:cNvSpPr/>
          <p:nvPr/>
        </p:nvSpPr>
        <p:spPr>
          <a:xfrm flipH="1">
            <a:off x="255379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E494E364-7EA8-4D92-915D-75D1A3A67C07}"/>
              </a:ext>
            </a:extLst>
          </p:cNvPr>
          <p:cNvSpPr/>
          <p:nvPr/>
        </p:nvSpPr>
        <p:spPr>
          <a:xfrm flipH="1">
            <a:off x="3099729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925830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1872" y="4767263"/>
            <a:ext cx="1159002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4286" y="4767263"/>
            <a:ext cx="3086100" cy="273844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79842" y="4767263"/>
            <a:ext cx="637794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482" y="1913382"/>
            <a:ext cx="3531870" cy="1316736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 sz="1350"/>
            </a:lvl2pPr>
            <a:lvl3pPr marL="342900">
              <a:defRPr sz="13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98469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67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89347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2C155C63-9F58-4422-B669-F9748628067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385DBA62-0EDB-47AA-86C7-90463BC9B308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72462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6BA9707F-7BCE-464F-BF45-E216527084EE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BC589723-2CC8-49D1-B4E1-36FECED6A2D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49550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0402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6600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16666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xmlns="" id="{FCE00AC6-1AA1-42D9-83DD-4C308C3F9322}"/>
              </a:ext>
            </a:extLst>
          </p:cNvPr>
          <p:cNvSpPr/>
          <p:nvPr/>
        </p:nvSpPr>
        <p:spPr>
          <a:xfrm>
            <a:off x="3000375" y="815553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304681" y="137950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560F3E26-F530-48F5-983F-9DCFF41D4F39}"/>
              </a:ext>
            </a:extLst>
          </p:cNvPr>
          <p:cNvSpPr/>
          <p:nvPr/>
        </p:nvSpPr>
        <p:spPr>
          <a:xfrm>
            <a:off x="3969261" y="1"/>
            <a:ext cx="1709807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5C97701E-DAF9-4174-AA91-DA203CD27D6A}"/>
              </a:ext>
            </a:extLst>
          </p:cNvPr>
          <p:cNvSpPr/>
          <p:nvPr/>
        </p:nvSpPr>
        <p:spPr>
          <a:xfrm>
            <a:off x="7656521" y="1"/>
            <a:ext cx="851300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4F765374-1A4B-41DC-9E75-A95A6C655328}"/>
              </a:ext>
            </a:extLst>
          </p:cNvPr>
          <p:cNvSpPr/>
          <p:nvPr/>
        </p:nvSpPr>
        <p:spPr>
          <a:xfrm>
            <a:off x="1176783" y="386174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7618DB8E-B14E-42E2-B454-6F4F36A8A9D9}"/>
              </a:ext>
            </a:extLst>
          </p:cNvPr>
          <p:cNvSpPr/>
          <p:nvPr/>
        </p:nvSpPr>
        <p:spPr>
          <a:xfrm flipH="1">
            <a:off x="1" y="2212305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xmlns="" id="{97666F55-03F1-4D18-9653-0F360E127A7E}"/>
              </a:ext>
            </a:extLst>
          </p:cNvPr>
          <p:cNvSpPr/>
          <p:nvPr/>
        </p:nvSpPr>
        <p:spPr>
          <a:xfrm rot="16200000">
            <a:off x="1154763" y="3152571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9906" y="2057400"/>
            <a:ext cx="4944618" cy="1789938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9906" y="3915918"/>
            <a:ext cx="4944618" cy="74752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837640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AFA665D7-34D0-4262-B345-9B1A1BA8DA17}"/>
              </a:ext>
            </a:extLst>
          </p:cNvPr>
          <p:cNvSpPr/>
          <p:nvPr/>
        </p:nvSpPr>
        <p:spPr>
          <a:xfrm>
            <a:off x="366892" y="839273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39ECC553-79E5-4B14-89C9-4DAD2B1021B1}"/>
              </a:ext>
            </a:extLst>
          </p:cNvPr>
          <p:cNvSpPr/>
          <p:nvPr/>
        </p:nvSpPr>
        <p:spPr>
          <a:xfrm rot="19809111">
            <a:off x="6512791" y="705862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55797934-7E2B-4F94-89C4-0279413FF821}"/>
              </a:ext>
            </a:extLst>
          </p:cNvPr>
          <p:cNvSpPr/>
          <p:nvPr/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049274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114" y="1145286"/>
            <a:ext cx="3833622" cy="2948940"/>
          </a:xfrm>
        </p:spPr>
        <p:txBody>
          <a:bodyPr anchor="ctr"/>
          <a:lstStyle>
            <a:lvl1pPr marL="0" indent="0">
              <a:buNone/>
              <a:defRPr/>
            </a:lvl1pPr>
            <a:lvl2pPr marL="171450">
              <a:defRPr/>
            </a:lvl2pPr>
            <a:lvl3pPr marL="3429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86785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359" y="862657"/>
            <a:ext cx="1655285" cy="165313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475" y="1934763"/>
            <a:ext cx="2322605" cy="2322605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E8E71C73-7BAD-4838-88C1-42E045A9D179}"/>
              </a:ext>
            </a:extLst>
          </p:cNvPr>
          <p:cNvSpPr/>
          <p:nvPr/>
        </p:nvSpPr>
        <p:spPr>
          <a:xfrm>
            <a:off x="7687216" y="1166301"/>
            <a:ext cx="614477" cy="5978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4560922-5803-412D-880B-065E75DCBC0A}"/>
              </a:ext>
            </a:extLst>
          </p:cNvPr>
          <p:cNvSpPr/>
          <p:nvPr/>
        </p:nvSpPr>
        <p:spPr>
          <a:xfrm>
            <a:off x="5692567" y="3025795"/>
            <a:ext cx="657528" cy="657528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86039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69181" y="536171"/>
            <a:ext cx="4170911" cy="4052454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3"/>
            <a:ext cx="435483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369219"/>
            <a:ext cx="4354830" cy="326440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171450">
              <a:lnSpc>
                <a:spcPct val="110000"/>
              </a:lnSpc>
              <a:defRPr sz="1500"/>
            </a:lvl2pPr>
            <a:lvl3pPr marL="342900">
              <a:lnSpc>
                <a:spcPct val="110000"/>
              </a:lnSpc>
              <a:defRPr sz="1350"/>
            </a:lvl3pPr>
            <a:lvl4pPr marL="514350">
              <a:lnSpc>
                <a:spcPct val="110000"/>
              </a:lnSpc>
              <a:defRPr sz="12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81059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xmlns="" id="{200EACD1-D216-4037-8AFF-80CF273586DF}"/>
              </a:ext>
            </a:extLst>
          </p:cNvPr>
          <p:cNvSpPr/>
          <p:nvPr/>
        </p:nvSpPr>
        <p:spPr>
          <a:xfrm>
            <a:off x="2111947" y="111697"/>
            <a:ext cx="4920107" cy="4920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xmlns="" id="{F941DE04-3FEA-4A57-B200-F9F6A765C792}"/>
              </a:ext>
            </a:extLst>
          </p:cNvPr>
          <p:cNvSpPr/>
          <p:nvPr/>
        </p:nvSpPr>
        <p:spPr>
          <a:xfrm rot="9222429" flipV="1">
            <a:off x="1870589" y="-21377"/>
            <a:ext cx="5112197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565C7B4-4152-4548-A771-EB148A028FDB}"/>
              </a:ext>
            </a:extLst>
          </p:cNvPr>
          <p:cNvSpPr/>
          <p:nvPr/>
        </p:nvSpPr>
        <p:spPr>
          <a:xfrm>
            <a:off x="6124063" y="3931491"/>
            <a:ext cx="569552" cy="5541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54" y="1035558"/>
            <a:ext cx="4169664" cy="188595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454" y="3058668"/>
            <a:ext cx="4169664" cy="115214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xmlns="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9093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82" y="1433322"/>
            <a:ext cx="737235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23DA7759-3209-4FE2-96D1-4EEDD81E9EA0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1460DAD-8769-4C9F-9C8C-BB0443909D76}"/>
              </a:ext>
            </a:extLst>
          </p:cNvPr>
          <p:cNvSpPr/>
          <p:nvPr/>
        </p:nvSpPr>
        <p:spPr>
          <a:xfrm flipH="1">
            <a:off x="9265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9401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C13EF9C-0B5A-4364-91AA-E5DD5B536E54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F674475-6327-490A-BD7F-084F5C07F2E4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3322"/>
            <a:ext cx="7886700" cy="289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5109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5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277950"/>
            <a:ext cx="4442882" cy="444288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478" y="3284982"/>
            <a:ext cx="3778758" cy="534924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86388075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B4EC5136-99DA-40B5-8F79-5C3A56D38BA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4F8FB775-26C4-41BA-837C-4478D48D215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73124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xmlns="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97583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984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984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xmlns="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8756" y="1260872"/>
            <a:ext cx="246888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xmlns="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48756" y="1878806"/>
            <a:ext cx="2468880" cy="2763441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xmlns="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14977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="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44" y="2045797"/>
            <a:ext cx="3218055" cy="3097703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6207" y="0"/>
            <a:ext cx="2639483" cy="2255932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3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B7BFFB5A-A05C-4B0C-905C-5884361304B2}"/>
              </a:ext>
            </a:extLst>
          </p:cNvPr>
          <p:cNvSpPr/>
          <p:nvPr/>
        </p:nvSpPr>
        <p:spPr>
          <a:xfrm>
            <a:off x="7815427" y="1023549"/>
            <a:ext cx="710616" cy="6913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9F33AC6C-4807-4785-AE9F-84BFEEDA9F7E}"/>
              </a:ext>
            </a:extLst>
          </p:cNvPr>
          <p:cNvSpPr/>
          <p:nvPr/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3840480" cy="99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371600"/>
            <a:ext cx="3819906" cy="3264408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/>
            </a:lvl2pPr>
            <a:lvl3pPr marL="342900">
              <a:defRPr/>
            </a:lvl3pPr>
            <a:lvl4pPr marL="5143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75202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642EAF0-DE94-4F90-82E3-6F316AA8353A}"/>
              </a:ext>
            </a:extLst>
          </p:cNvPr>
          <p:cNvSpPr/>
          <p:nvPr/>
        </p:nvSpPr>
        <p:spPr>
          <a:xfrm>
            <a:off x="530545" y="635700"/>
            <a:ext cx="3464954" cy="34649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D22D7888-22FA-4AA1-9BA4-CC61D6643D47}"/>
              </a:ext>
            </a:extLst>
          </p:cNvPr>
          <p:cNvSpPr/>
          <p:nvPr/>
        </p:nvSpPr>
        <p:spPr>
          <a:xfrm flipH="1">
            <a:off x="397897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BB6E464-8999-4773-A1F2-E6CAA990E572}"/>
              </a:ext>
            </a:extLst>
          </p:cNvPr>
          <p:cNvSpPr/>
          <p:nvPr/>
        </p:nvSpPr>
        <p:spPr>
          <a:xfrm flipH="1">
            <a:off x="2971134" y="-1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CE9CE183-B21E-41EB-A082-DF9C3AD659D5}"/>
              </a:ext>
            </a:extLst>
          </p:cNvPr>
          <p:cNvSpPr/>
          <p:nvPr/>
        </p:nvSpPr>
        <p:spPr>
          <a:xfrm flipH="1">
            <a:off x="0" y="2202623"/>
            <a:ext cx="119806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EA14BE8-FDD0-4434-9C3E-BFF78C22D9E3}"/>
              </a:ext>
            </a:extLst>
          </p:cNvPr>
          <p:cNvSpPr/>
          <p:nvPr/>
        </p:nvSpPr>
        <p:spPr>
          <a:xfrm flipH="1">
            <a:off x="0" y="4376737"/>
            <a:ext cx="1161135" cy="766763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5C76330B-4C5E-463F-921A-D91F1F1F6049}"/>
              </a:ext>
            </a:extLst>
          </p:cNvPr>
          <p:cNvSpPr/>
          <p:nvPr/>
        </p:nvSpPr>
        <p:spPr>
          <a:xfrm flipH="1">
            <a:off x="2553792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E494E364-7EA8-4D92-915D-75D1A3A67C07}"/>
              </a:ext>
            </a:extLst>
          </p:cNvPr>
          <p:cNvSpPr/>
          <p:nvPr/>
        </p:nvSpPr>
        <p:spPr>
          <a:xfrm flipH="1">
            <a:off x="3099729" y="4694067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925830"/>
            <a:ext cx="2427732" cy="30518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1872" y="4767263"/>
            <a:ext cx="1159002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4286" y="4767263"/>
            <a:ext cx="3086100" cy="273844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79842" y="4767263"/>
            <a:ext cx="637794" cy="2738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482" y="1913382"/>
            <a:ext cx="3531870" cy="1316736"/>
          </a:xfrm>
        </p:spPr>
        <p:txBody>
          <a:bodyPr/>
          <a:lstStyle>
            <a:lvl1pPr marL="0" indent="0">
              <a:buNone/>
              <a:defRPr sz="1800"/>
            </a:lvl1pPr>
            <a:lvl2pPr marL="171450">
              <a:defRPr sz="1350"/>
            </a:lvl2pPr>
            <a:lvl3pPr marL="342900">
              <a:defRPr sz="13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58233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982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63829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2C155C63-9F58-4422-B669-F97486280671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385DBA62-0EDB-47AA-86C7-90463BC9B308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56358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6BA9707F-7BCE-464F-BF45-E216527084EE}"/>
              </a:ext>
            </a:extLst>
          </p:cNvPr>
          <p:cNvSpPr/>
          <p:nvPr/>
        </p:nvSpPr>
        <p:spPr>
          <a:xfrm rot="16200000">
            <a:off x="-291700" y="3630896"/>
            <a:ext cx="130305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BC589723-2CC8-49D1-B4E1-36FECED6A2D7}"/>
              </a:ext>
            </a:extLst>
          </p:cNvPr>
          <p:cNvSpPr/>
          <p:nvPr/>
        </p:nvSpPr>
        <p:spPr>
          <a:xfrm>
            <a:off x="7870825" y="2"/>
            <a:ext cx="636996" cy="268251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09" y="243870"/>
            <a:ext cx="1227584" cy="5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8342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811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02755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2473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AAB9-853B-4CA1-9C34-73278A4DFA0F}" type="slidenum">
              <a:rPr lang="en-ZA" smtClean="0"/>
              <a:t>‹Nº›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1311969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1507183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AAB9-853B-4CA1-9C34-73278A4DFA0F}" type="slidenum">
              <a:rPr lang="en-ZA" smtClean="0"/>
              <a:t>‹Nº›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982094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335639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57736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0966997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02246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2748078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2268101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9951595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8600695"/>
      </p:ext>
    </p:extLst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683488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915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246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840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152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8FCD6-9605-4357-9B50-B142DFFA6613}" type="datetimeFigureOut">
              <a:rPr lang="en-ZA" smtClean="0"/>
              <a:t>2025/01/02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‹Nº›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030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>
      <p:transition>
        <p:fade thruBlk="1"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ocw.tudelft.nl/course-lectures/1-1-2-circular-economy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__0Spwj8Dk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8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xmlns="" id="{362D44EE-C852-4460-B8B5-C4F2BC2051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 idx="4294967295"/>
          </p:nvPr>
        </p:nvSpPr>
        <p:spPr>
          <a:xfrm>
            <a:off x="4646037" y="554983"/>
            <a:ext cx="4001197" cy="225310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914400">
              <a:spcAft>
                <a:spcPts val="0"/>
              </a:spcAft>
            </a:pPr>
            <a:r>
              <a:rPr lang="en-US" sz="6000"/>
              <a:t>The circular </a:t>
            </a:r>
          </a:p>
          <a:p>
            <a:pPr marL="0" lvl="0" indent="0" algn="ctr" defTabSz="914400">
              <a:spcAft>
                <a:spcPts val="0"/>
              </a:spcAft>
            </a:pPr>
            <a:r>
              <a:rPr lang="en-US" sz="6000"/>
              <a:t>economy</a:t>
            </a: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xmlns="" id="{658970D8-8D1D-4B5C-894B-E871CC8654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397896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xmlns="" id="{F227E5B6-9132-43CA-B503-37A18562AD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3261789" y="0"/>
            <a:ext cx="1303050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xmlns="" id="{03C2051E-A88D-48E5-BACF-AAED178927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218718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xmlns="" id="{7821A508-2985-4905-874A-527429BAAB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xmlns="" id="{D2929CB1-0E3C-4B2D-ADC5-0154FB33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773320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rcRect l="41040" r="2" b="2"/>
          <a:stretch/>
        </p:blipFill>
        <p:spPr>
          <a:xfrm>
            <a:off x="473880" y="449040"/>
            <a:ext cx="3883686" cy="388368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</p:spPr>
      </p:pic>
      <p:sp>
        <p:nvSpPr>
          <p:cNvPr id="68" name="Google Shape;68;p15"/>
          <p:cNvSpPr txBox="1">
            <a:spLocks noGrp="1"/>
          </p:cNvSpPr>
          <p:nvPr>
            <p:ph type="sldNum" sz="quarter" idx="12"/>
          </p:nvPr>
        </p:nvSpPr>
        <p:spPr>
          <a:xfrm>
            <a:off x="397896" y="4767262"/>
            <a:ext cx="791242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fld id="{00000000-1234-1234-1234-123412341234}" type="slidenum">
              <a:rPr lang="en-US" sz="7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algn="l">
                <a:lnSpc>
                  <a:spcPct val="90000"/>
                </a:lnSpc>
                <a:spcAft>
                  <a:spcPts val="600"/>
                </a:spcAft>
                <a:defRPr/>
              </a:pPr>
              <a:t>1</a:t>
            </a:fld>
            <a:endParaRPr lang="en-US" sz="7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xmlns="" id="{5F2F0C84-BE8C-4DC2-A6D3-30349A801D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3390384" y="4694067"/>
            <a:ext cx="1174455" cy="449433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B94ABBF-2047-79FB-2024-E2B5E33A2925}"/>
              </a:ext>
            </a:extLst>
          </p:cNvPr>
          <p:cNvSpPr txBox="1"/>
          <p:nvPr/>
        </p:nvSpPr>
        <p:spPr>
          <a:xfrm>
            <a:off x="6703908" y="4943445"/>
            <a:ext cx="244009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ZA" sz="700">
                <a:solidFill>
                  <a:srgbClr val="FFFFFF"/>
                </a:solidFill>
                <a:hlinkClick r:id="rId4" tooltip="https://ocw.tudelft.nl/course-lectures/1-1-2-circular-economy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ZA" sz="700">
                <a:solidFill>
                  <a:srgbClr val="FFFFFF"/>
                </a:solidFill>
              </a:rPr>
              <a:t> by Unknown Author is licensed under </a:t>
            </a:r>
            <a:r>
              <a:rPr lang="en-ZA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BY-SA-NC</a:t>
            </a:r>
            <a:endParaRPr lang="en-ZA" sz="7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lIns="91425" tIns="91425" rIns="91425" bIns="91425" anchor="ctr" anchorCtr="0">
            <a:normAutofit fontScale="70000" lnSpcReduction="2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2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" sz="200"/>
          </a:p>
        </p:txBody>
      </p:sp>
      <p:graphicFrame>
        <p:nvGraphicFramePr>
          <p:cNvPr id="76" name="Google Shape;73;p16">
            <a:extLst>
              <a:ext uri="{FF2B5EF4-FFF2-40B4-BE49-F238E27FC236}">
                <a16:creationId xmlns:a16="http://schemas.microsoft.com/office/drawing/2014/main" xmlns="" id="{33573B81-9526-3ADC-0F4B-6DC4621E73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9379355"/>
              </p:ext>
            </p:extLst>
          </p:nvPr>
        </p:nvGraphicFramePr>
        <p:xfrm>
          <a:off x="884682" y="1433322"/>
          <a:ext cx="7372350" cy="2894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xmlns="" id="{362D44EE-C852-4460-B8B5-C4F2BC2051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Google Shape;79;p17"/>
          <p:cNvSpPr txBox="1">
            <a:spLocks noGrp="1"/>
          </p:cNvSpPr>
          <p:nvPr>
            <p:ph type="ctrTitle"/>
          </p:nvPr>
        </p:nvSpPr>
        <p:spPr>
          <a:xfrm>
            <a:off x="4646037" y="554983"/>
            <a:ext cx="4001197" cy="225310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914400">
              <a:spcBef>
                <a:spcPct val="0"/>
              </a:spcBef>
              <a:spcAft>
                <a:spcPts val="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Let’s get started </a:t>
            </a:r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4646036" y="2877147"/>
            <a:ext cx="4001198" cy="164191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0" algn="ctr" defTabSz="914400">
              <a:spcBef>
                <a:spcPts val="1000"/>
              </a:spcBef>
              <a:spcAft>
                <a:spcPts val="1200"/>
              </a:spcAft>
            </a:pPr>
            <a:r>
              <a:rPr lang="en-US" sz="2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 warm-up </a:t>
            </a:r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xmlns="" id="{658970D8-8D1D-4B5C-894B-E871CC8654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397896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xmlns="" id="{F227E5B6-9132-43CA-B503-37A18562AD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3261789" y="0"/>
            <a:ext cx="1303050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xmlns="" id="{03C2051E-A88D-48E5-BACF-AAED178927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218718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xmlns="" id="{7821A508-2985-4905-874A-527429BAAB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xmlns="" id="{D2929CB1-0E3C-4B2D-ADC5-0154FB33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773320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1" name="Google Shape;81;p17" descr="3D stairs design"/>
          <p:cNvPicPr preferRelativeResize="0"/>
          <p:nvPr/>
        </p:nvPicPr>
        <p:blipFill rotWithShape="1">
          <a:blip r:embed="rId3"/>
          <a:srcRect l="15477" r="9525" b="3"/>
          <a:stretch/>
        </p:blipFill>
        <p:spPr>
          <a:xfrm>
            <a:off x="473880" y="449040"/>
            <a:ext cx="3883686" cy="388368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</p:spPr>
      </p:pic>
      <p:sp>
        <p:nvSpPr>
          <p:cNvPr id="183" name="Freeform: Shape 182">
            <a:extLst>
              <a:ext uri="{FF2B5EF4-FFF2-40B4-BE49-F238E27FC236}">
                <a16:creationId xmlns:a16="http://schemas.microsoft.com/office/drawing/2014/main" xmlns="" id="{5F2F0C84-BE8C-4DC2-A6D3-30349A801D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3390384" y="4694067"/>
            <a:ext cx="1174455" cy="449433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xmlns="" id="{943CAA20-3569-4189-9E48-239A229A86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628650" y="338535"/>
            <a:ext cx="7884414" cy="30499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the circular economy?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628649" y="3737457"/>
            <a:ext cx="7884414" cy="84501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0" defTabSz="914400">
              <a:spcBef>
                <a:spcPts val="1000"/>
              </a:spcBef>
              <a:spcAft>
                <a:spcPts val="1200"/>
              </a:spcAft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moment, you’ll watch a video titled:</a:t>
            </a:r>
          </a:p>
        </p:txBody>
      </p:sp>
      <p:sp>
        <p:nvSpPr>
          <p:cNvPr id="118" name="sketch line">
            <a:extLst>
              <a:ext uri="{FF2B5EF4-FFF2-40B4-BE49-F238E27FC236}">
                <a16:creationId xmlns:a16="http://schemas.microsoft.com/office/drawing/2014/main" xmlns="" id="{DA542B6D-E775-4832-91DC-2D20F85781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28650" y="3538946"/>
            <a:ext cx="4057650" cy="13716"/>
          </a:xfrm>
          <a:custGeom>
            <a:avLst/>
            <a:gdLst>
              <a:gd name="connsiteX0" fmla="*/ 0 w 4057650"/>
              <a:gd name="connsiteY0" fmla="*/ 0 h 13716"/>
              <a:gd name="connsiteX1" fmla="*/ 757428 w 4057650"/>
              <a:gd name="connsiteY1" fmla="*/ 0 h 13716"/>
              <a:gd name="connsiteX2" fmla="*/ 1474279 w 4057650"/>
              <a:gd name="connsiteY2" fmla="*/ 0 h 13716"/>
              <a:gd name="connsiteX3" fmla="*/ 2191131 w 4057650"/>
              <a:gd name="connsiteY3" fmla="*/ 0 h 13716"/>
              <a:gd name="connsiteX4" fmla="*/ 2745676 w 4057650"/>
              <a:gd name="connsiteY4" fmla="*/ 0 h 13716"/>
              <a:gd name="connsiteX5" fmla="*/ 3340798 w 4057650"/>
              <a:gd name="connsiteY5" fmla="*/ 0 h 13716"/>
              <a:gd name="connsiteX6" fmla="*/ 4057650 w 4057650"/>
              <a:gd name="connsiteY6" fmla="*/ 0 h 13716"/>
              <a:gd name="connsiteX7" fmla="*/ 4057650 w 4057650"/>
              <a:gd name="connsiteY7" fmla="*/ 13716 h 13716"/>
              <a:gd name="connsiteX8" fmla="*/ 3381375 w 4057650"/>
              <a:gd name="connsiteY8" fmla="*/ 13716 h 13716"/>
              <a:gd name="connsiteX9" fmla="*/ 2826830 w 4057650"/>
              <a:gd name="connsiteY9" fmla="*/ 13716 h 13716"/>
              <a:gd name="connsiteX10" fmla="*/ 2272284 w 4057650"/>
              <a:gd name="connsiteY10" fmla="*/ 13716 h 13716"/>
              <a:gd name="connsiteX11" fmla="*/ 1555432 w 4057650"/>
              <a:gd name="connsiteY11" fmla="*/ 13716 h 13716"/>
              <a:gd name="connsiteX12" fmla="*/ 960310 w 4057650"/>
              <a:gd name="connsiteY12" fmla="*/ 13716 h 13716"/>
              <a:gd name="connsiteX13" fmla="*/ 0 w 4057650"/>
              <a:gd name="connsiteY13" fmla="*/ 13716 h 13716"/>
              <a:gd name="connsiteX14" fmla="*/ 0 w 4057650"/>
              <a:gd name="connsiteY14" fmla="*/ 0 h 13716"/>
              <a:gd name="connsiteX0" fmla="*/ 0 w 4057650"/>
              <a:gd name="connsiteY0" fmla="*/ 0 h 13716"/>
              <a:gd name="connsiteX1" fmla="*/ 635698 w 4057650"/>
              <a:gd name="connsiteY1" fmla="*/ 0 h 13716"/>
              <a:gd name="connsiteX2" fmla="*/ 1190244 w 4057650"/>
              <a:gd name="connsiteY2" fmla="*/ 0 h 13716"/>
              <a:gd name="connsiteX3" fmla="*/ 1947672 w 4057650"/>
              <a:gd name="connsiteY3" fmla="*/ 0 h 13716"/>
              <a:gd name="connsiteX4" fmla="*/ 2583370 w 4057650"/>
              <a:gd name="connsiteY4" fmla="*/ 0 h 13716"/>
              <a:gd name="connsiteX5" fmla="*/ 3219069 w 4057650"/>
              <a:gd name="connsiteY5" fmla="*/ 0 h 13716"/>
              <a:gd name="connsiteX6" fmla="*/ 4057650 w 4057650"/>
              <a:gd name="connsiteY6" fmla="*/ 0 h 13716"/>
              <a:gd name="connsiteX7" fmla="*/ 4057650 w 4057650"/>
              <a:gd name="connsiteY7" fmla="*/ 13716 h 13716"/>
              <a:gd name="connsiteX8" fmla="*/ 3381375 w 4057650"/>
              <a:gd name="connsiteY8" fmla="*/ 13716 h 13716"/>
              <a:gd name="connsiteX9" fmla="*/ 2826830 w 4057650"/>
              <a:gd name="connsiteY9" fmla="*/ 13716 h 13716"/>
              <a:gd name="connsiteX10" fmla="*/ 2150555 w 4057650"/>
              <a:gd name="connsiteY10" fmla="*/ 13716 h 13716"/>
              <a:gd name="connsiteX11" fmla="*/ 1474280 w 4057650"/>
              <a:gd name="connsiteY11" fmla="*/ 13716 h 13716"/>
              <a:gd name="connsiteX12" fmla="*/ 838581 w 4057650"/>
              <a:gd name="connsiteY12" fmla="*/ 13716 h 13716"/>
              <a:gd name="connsiteX13" fmla="*/ 0 w 4057650"/>
              <a:gd name="connsiteY13" fmla="*/ 13716 h 13716"/>
              <a:gd name="connsiteX14" fmla="*/ 0 w 4057650"/>
              <a:gd name="connsiteY14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67148" y="-8908"/>
                  <a:pt x="517612" y="4501"/>
                  <a:pt x="757428" y="0"/>
                </a:cubicBezTo>
                <a:cubicBezTo>
                  <a:pt x="1032602" y="-7253"/>
                  <a:pt x="1110097" y="-4084"/>
                  <a:pt x="1474279" y="0"/>
                </a:cubicBezTo>
                <a:cubicBezTo>
                  <a:pt x="1838373" y="-7421"/>
                  <a:pt x="1905070" y="-3632"/>
                  <a:pt x="2191131" y="0"/>
                </a:cubicBezTo>
                <a:cubicBezTo>
                  <a:pt x="2479083" y="8044"/>
                  <a:pt x="2590278" y="-15025"/>
                  <a:pt x="2745676" y="0"/>
                </a:cubicBezTo>
                <a:cubicBezTo>
                  <a:pt x="2939709" y="9877"/>
                  <a:pt x="3136017" y="-24028"/>
                  <a:pt x="3340798" y="0"/>
                </a:cubicBezTo>
                <a:cubicBezTo>
                  <a:pt x="3577524" y="19058"/>
                  <a:pt x="3755433" y="-7221"/>
                  <a:pt x="4057650" y="0"/>
                </a:cubicBezTo>
                <a:cubicBezTo>
                  <a:pt x="4057445" y="4501"/>
                  <a:pt x="4058270" y="7438"/>
                  <a:pt x="4057650" y="13716"/>
                </a:cubicBezTo>
                <a:cubicBezTo>
                  <a:pt x="3746991" y="46900"/>
                  <a:pt x="3642040" y="-13712"/>
                  <a:pt x="3381375" y="13716"/>
                </a:cubicBezTo>
                <a:cubicBezTo>
                  <a:pt x="3142532" y="64771"/>
                  <a:pt x="2955382" y="-7162"/>
                  <a:pt x="2826830" y="13716"/>
                </a:cubicBezTo>
                <a:cubicBezTo>
                  <a:pt x="2734164" y="26064"/>
                  <a:pt x="2422331" y="12987"/>
                  <a:pt x="2272284" y="13716"/>
                </a:cubicBezTo>
                <a:cubicBezTo>
                  <a:pt x="2111408" y="20158"/>
                  <a:pt x="1888168" y="21489"/>
                  <a:pt x="1555432" y="13716"/>
                </a:cubicBezTo>
                <a:cubicBezTo>
                  <a:pt x="1389125" y="3117"/>
                  <a:pt x="1177551" y="39730"/>
                  <a:pt x="960310" y="13716"/>
                </a:cubicBezTo>
                <a:cubicBezTo>
                  <a:pt x="875922" y="-39900"/>
                  <a:pt x="323458" y="10262"/>
                  <a:pt x="0" y="13716"/>
                </a:cubicBezTo>
                <a:cubicBezTo>
                  <a:pt x="-331" y="11187"/>
                  <a:pt x="993" y="6491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2151" y="36334"/>
                  <a:pt x="500401" y="29139"/>
                  <a:pt x="635698" y="0"/>
                </a:cubicBezTo>
                <a:cubicBezTo>
                  <a:pt x="783144" y="-32004"/>
                  <a:pt x="950843" y="-4485"/>
                  <a:pt x="1190244" y="0"/>
                </a:cubicBezTo>
                <a:cubicBezTo>
                  <a:pt x="1493739" y="37672"/>
                  <a:pt x="1683931" y="-5135"/>
                  <a:pt x="1947672" y="0"/>
                </a:cubicBezTo>
                <a:cubicBezTo>
                  <a:pt x="2231467" y="29157"/>
                  <a:pt x="2283780" y="-18583"/>
                  <a:pt x="2583370" y="0"/>
                </a:cubicBezTo>
                <a:cubicBezTo>
                  <a:pt x="2879743" y="13186"/>
                  <a:pt x="3001896" y="40538"/>
                  <a:pt x="3219069" y="0"/>
                </a:cubicBezTo>
                <a:cubicBezTo>
                  <a:pt x="3480307" y="-5034"/>
                  <a:pt x="3756341" y="17550"/>
                  <a:pt x="4057650" y="0"/>
                </a:cubicBezTo>
                <a:cubicBezTo>
                  <a:pt x="4056913" y="2900"/>
                  <a:pt x="4056504" y="10718"/>
                  <a:pt x="4057650" y="13716"/>
                </a:cubicBezTo>
                <a:cubicBezTo>
                  <a:pt x="3866391" y="10757"/>
                  <a:pt x="3683092" y="22641"/>
                  <a:pt x="3381375" y="13716"/>
                </a:cubicBezTo>
                <a:cubicBezTo>
                  <a:pt x="3077442" y="-36111"/>
                  <a:pt x="2959293" y="-9904"/>
                  <a:pt x="2826830" y="13716"/>
                </a:cubicBezTo>
                <a:cubicBezTo>
                  <a:pt x="2745586" y="48996"/>
                  <a:pt x="2366651" y="54820"/>
                  <a:pt x="2150555" y="13716"/>
                </a:cubicBezTo>
                <a:cubicBezTo>
                  <a:pt x="1889766" y="-21926"/>
                  <a:pt x="1744011" y="-27260"/>
                  <a:pt x="1474280" y="13716"/>
                </a:cubicBezTo>
                <a:cubicBezTo>
                  <a:pt x="1211536" y="18423"/>
                  <a:pt x="970196" y="30950"/>
                  <a:pt x="838581" y="13716"/>
                </a:cubicBezTo>
                <a:cubicBezTo>
                  <a:pt x="683899" y="-9022"/>
                  <a:pt x="224248" y="-47016"/>
                  <a:pt x="0" y="13716"/>
                </a:cubicBezTo>
                <a:cubicBezTo>
                  <a:pt x="324" y="6999"/>
                  <a:pt x="221" y="2972"/>
                  <a:pt x="0" y="0"/>
                </a:cubicBezTo>
                <a:close/>
              </a:path>
              <a:path w="4057650" h="13716" fill="none" stroke="0" extrusionOk="0">
                <a:moveTo>
                  <a:pt x="0" y="0"/>
                </a:moveTo>
                <a:cubicBezTo>
                  <a:pt x="358409" y="-4652"/>
                  <a:pt x="486702" y="12101"/>
                  <a:pt x="757428" y="0"/>
                </a:cubicBezTo>
                <a:cubicBezTo>
                  <a:pt x="1022678" y="-8760"/>
                  <a:pt x="1108573" y="-4098"/>
                  <a:pt x="1474279" y="0"/>
                </a:cubicBezTo>
                <a:cubicBezTo>
                  <a:pt x="1819257" y="16644"/>
                  <a:pt x="1919656" y="-4532"/>
                  <a:pt x="2191131" y="0"/>
                </a:cubicBezTo>
                <a:cubicBezTo>
                  <a:pt x="2458468" y="10266"/>
                  <a:pt x="2618941" y="-8527"/>
                  <a:pt x="2745676" y="0"/>
                </a:cubicBezTo>
                <a:cubicBezTo>
                  <a:pt x="2931643" y="26136"/>
                  <a:pt x="3158142" y="-56944"/>
                  <a:pt x="3340798" y="0"/>
                </a:cubicBezTo>
                <a:cubicBezTo>
                  <a:pt x="3532039" y="10299"/>
                  <a:pt x="3748090" y="-3814"/>
                  <a:pt x="4057650" y="0"/>
                </a:cubicBezTo>
                <a:cubicBezTo>
                  <a:pt x="4057333" y="4276"/>
                  <a:pt x="4057768" y="7437"/>
                  <a:pt x="4057650" y="13716"/>
                </a:cubicBezTo>
                <a:cubicBezTo>
                  <a:pt x="3759943" y="44812"/>
                  <a:pt x="3655385" y="-12313"/>
                  <a:pt x="3381375" y="13716"/>
                </a:cubicBezTo>
                <a:cubicBezTo>
                  <a:pt x="3117080" y="43667"/>
                  <a:pt x="2965830" y="11179"/>
                  <a:pt x="2826830" y="13716"/>
                </a:cubicBezTo>
                <a:cubicBezTo>
                  <a:pt x="2719180" y="50001"/>
                  <a:pt x="2405341" y="23637"/>
                  <a:pt x="2272284" y="13716"/>
                </a:cubicBezTo>
                <a:cubicBezTo>
                  <a:pt x="2146521" y="37825"/>
                  <a:pt x="1920511" y="43731"/>
                  <a:pt x="1555432" y="13716"/>
                </a:cubicBezTo>
                <a:cubicBezTo>
                  <a:pt x="1341297" y="-14932"/>
                  <a:pt x="1185337" y="6286"/>
                  <a:pt x="960310" y="13716"/>
                </a:cubicBezTo>
                <a:cubicBezTo>
                  <a:pt x="797841" y="-31644"/>
                  <a:pt x="348704" y="-84402"/>
                  <a:pt x="0" y="13716"/>
                </a:cubicBezTo>
                <a:cubicBezTo>
                  <a:pt x="-929" y="10136"/>
                  <a:pt x="7" y="67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4057650"/>
                      <a:gd name="connsiteY0" fmla="*/ 0 h 13716"/>
                      <a:gd name="connsiteX1" fmla="*/ 757428 w 4057650"/>
                      <a:gd name="connsiteY1" fmla="*/ 0 h 13716"/>
                      <a:gd name="connsiteX2" fmla="*/ 1474279 w 4057650"/>
                      <a:gd name="connsiteY2" fmla="*/ 0 h 13716"/>
                      <a:gd name="connsiteX3" fmla="*/ 2191131 w 4057650"/>
                      <a:gd name="connsiteY3" fmla="*/ 0 h 13716"/>
                      <a:gd name="connsiteX4" fmla="*/ 2745676 w 4057650"/>
                      <a:gd name="connsiteY4" fmla="*/ 0 h 13716"/>
                      <a:gd name="connsiteX5" fmla="*/ 3340798 w 4057650"/>
                      <a:gd name="connsiteY5" fmla="*/ 0 h 13716"/>
                      <a:gd name="connsiteX6" fmla="*/ 4057650 w 4057650"/>
                      <a:gd name="connsiteY6" fmla="*/ 0 h 13716"/>
                      <a:gd name="connsiteX7" fmla="*/ 4057650 w 4057650"/>
                      <a:gd name="connsiteY7" fmla="*/ 13716 h 13716"/>
                      <a:gd name="connsiteX8" fmla="*/ 3381375 w 4057650"/>
                      <a:gd name="connsiteY8" fmla="*/ 13716 h 13716"/>
                      <a:gd name="connsiteX9" fmla="*/ 2826830 w 4057650"/>
                      <a:gd name="connsiteY9" fmla="*/ 13716 h 13716"/>
                      <a:gd name="connsiteX10" fmla="*/ 2272284 w 4057650"/>
                      <a:gd name="connsiteY10" fmla="*/ 13716 h 13716"/>
                      <a:gd name="connsiteX11" fmla="*/ 1555432 w 4057650"/>
                      <a:gd name="connsiteY11" fmla="*/ 13716 h 13716"/>
                      <a:gd name="connsiteX12" fmla="*/ 960310 w 4057650"/>
                      <a:gd name="connsiteY12" fmla="*/ 13716 h 13716"/>
                      <a:gd name="connsiteX13" fmla="*/ 0 w 4057650"/>
                      <a:gd name="connsiteY13" fmla="*/ 13716 h 13716"/>
                      <a:gd name="connsiteX14" fmla="*/ 0 w 4057650"/>
                      <a:gd name="connsiteY14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4057650" h="13716" fill="none" extrusionOk="0">
                        <a:moveTo>
                          <a:pt x="0" y="0"/>
                        </a:moveTo>
                        <a:cubicBezTo>
                          <a:pt x="371182" y="3227"/>
                          <a:pt x="494372" y="9222"/>
                          <a:pt x="757428" y="0"/>
                        </a:cubicBezTo>
                        <a:cubicBezTo>
                          <a:pt x="1020484" y="-9222"/>
                          <a:pt x="1116719" y="-4357"/>
                          <a:pt x="1474279" y="0"/>
                        </a:cubicBezTo>
                        <a:cubicBezTo>
                          <a:pt x="1831839" y="4357"/>
                          <a:pt x="1920973" y="-11809"/>
                          <a:pt x="2191131" y="0"/>
                        </a:cubicBezTo>
                        <a:cubicBezTo>
                          <a:pt x="2461289" y="11809"/>
                          <a:pt x="2589480" y="-22604"/>
                          <a:pt x="2745676" y="0"/>
                        </a:cubicBezTo>
                        <a:cubicBezTo>
                          <a:pt x="2901872" y="22604"/>
                          <a:pt x="3136452" y="-12306"/>
                          <a:pt x="3340798" y="0"/>
                        </a:cubicBezTo>
                        <a:cubicBezTo>
                          <a:pt x="3545144" y="12306"/>
                          <a:pt x="3766934" y="-21556"/>
                          <a:pt x="4057650" y="0"/>
                        </a:cubicBezTo>
                        <a:cubicBezTo>
                          <a:pt x="4057378" y="4708"/>
                          <a:pt x="4057987" y="7132"/>
                          <a:pt x="4057650" y="13716"/>
                        </a:cubicBezTo>
                        <a:cubicBezTo>
                          <a:pt x="3743404" y="35553"/>
                          <a:pt x="3625516" y="-19495"/>
                          <a:pt x="3381375" y="13716"/>
                        </a:cubicBezTo>
                        <a:cubicBezTo>
                          <a:pt x="3137235" y="46927"/>
                          <a:pt x="2946571" y="-4571"/>
                          <a:pt x="2826830" y="13716"/>
                        </a:cubicBezTo>
                        <a:cubicBezTo>
                          <a:pt x="2707090" y="32003"/>
                          <a:pt x="2402756" y="-3140"/>
                          <a:pt x="2272284" y="13716"/>
                        </a:cubicBezTo>
                        <a:cubicBezTo>
                          <a:pt x="2141812" y="30572"/>
                          <a:pt x="1895935" y="13627"/>
                          <a:pt x="1555432" y="13716"/>
                        </a:cubicBezTo>
                        <a:cubicBezTo>
                          <a:pt x="1214929" y="13805"/>
                          <a:pt x="1103072" y="9931"/>
                          <a:pt x="960310" y="13716"/>
                        </a:cubicBezTo>
                        <a:cubicBezTo>
                          <a:pt x="817548" y="17501"/>
                          <a:pt x="402272" y="-33931"/>
                          <a:pt x="0" y="13716"/>
                        </a:cubicBezTo>
                        <a:cubicBezTo>
                          <a:pt x="-460" y="10837"/>
                          <a:pt x="38" y="6680"/>
                          <a:pt x="0" y="0"/>
                        </a:cubicBezTo>
                        <a:close/>
                      </a:path>
                      <a:path w="4057650" h="13716" stroke="0" extrusionOk="0">
                        <a:moveTo>
                          <a:pt x="0" y="0"/>
                        </a:moveTo>
                        <a:cubicBezTo>
                          <a:pt x="248348" y="13145"/>
                          <a:pt x="486117" y="25042"/>
                          <a:pt x="635698" y="0"/>
                        </a:cubicBezTo>
                        <a:cubicBezTo>
                          <a:pt x="785279" y="-25042"/>
                          <a:pt x="917762" y="-5537"/>
                          <a:pt x="1190244" y="0"/>
                        </a:cubicBezTo>
                        <a:cubicBezTo>
                          <a:pt x="1462726" y="5537"/>
                          <a:pt x="1667120" y="-21232"/>
                          <a:pt x="1947672" y="0"/>
                        </a:cubicBezTo>
                        <a:cubicBezTo>
                          <a:pt x="2228224" y="21232"/>
                          <a:pt x="2280631" y="-21698"/>
                          <a:pt x="2583370" y="0"/>
                        </a:cubicBezTo>
                        <a:cubicBezTo>
                          <a:pt x="2886109" y="21698"/>
                          <a:pt x="3022941" y="19647"/>
                          <a:pt x="3219069" y="0"/>
                        </a:cubicBezTo>
                        <a:cubicBezTo>
                          <a:pt x="3415197" y="-19647"/>
                          <a:pt x="3747500" y="26991"/>
                          <a:pt x="4057650" y="0"/>
                        </a:cubicBezTo>
                        <a:cubicBezTo>
                          <a:pt x="4056980" y="3019"/>
                          <a:pt x="4057134" y="10425"/>
                          <a:pt x="4057650" y="13716"/>
                        </a:cubicBezTo>
                        <a:cubicBezTo>
                          <a:pt x="3865148" y="-7885"/>
                          <a:pt x="3702543" y="44896"/>
                          <a:pt x="3381375" y="13716"/>
                        </a:cubicBezTo>
                        <a:cubicBezTo>
                          <a:pt x="3060208" y="-17464"/>
                          <a:pt x="2956571" y="-13250"/>
                          <a:pt x="2826830" y="13716"/>
                        </a:cubicBezTo>
                        <a:cubicBezTo>
                          <a:pt x="2697089" y="40682"/>
                          <a:pt x="2411031" y="38582"/>
                          <a:pt x="2150555" y="13716"/>
                        </a:cubicBezTo>
                        <a:cubicBezTo>
                          <a:pt x="1890080" y="-11150"/>
                          <a:pt x="1741827" y="-5187"/>
                          <a:pt x="1474280" y="13716"/>
                        </a:cubicBezTo>
                        <a:cubicBezTo>
                          <a:pt x="1206734" y="32619"/>
                          <a:pt x="998203" y="28763"/>
                          <a:pt x="838581" y="13716"/>
                        </a:cubicBezTo>
                        <a:cubicBezTo>
                          <a:pt x="678959" y="-1331"/>
                          <a:pt x="187101" y="-17784"/>
                          <a:pt x="0" y="13716"/>
                        </a:cubicBezTo>
                        <a:cubicBezTo>
                          <a:pt x="-114" y="7033"/>
                          <a:pt x="103" y="34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7175" y="137250"/>
            <a:ext cx="884150" cy="8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xmlns="" id="{A419ADC7-DE7C-464E-9F88-6CAB6F61BC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Google Shape;112;p20"/>
          <p:cNvSpPr txBox="1"/>
          <p:nvPr/>
        </p:nvSpPr>
        <p:spPr>
          <a:xfrm>
            <a:off x="5401992" y="393896"/>
            <a:ext cx="3111070" cy="210487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Raleway"/>
              </a:rPr>
              <a:t>Watch the video and check your answers to the questions.</a:t>
            </a:r>
          </a:p>
        </p:txBody>
      </p:sp>
      <p:pic>
        <p:nvPicPr>
          <p:cNvPr id="113" name="Google Shape;113;p20" descr="Imagine a world where you never throw anything away. CNBC's Elizabeth Schulze explains the circular economy.&#10;&#10;-----&#10;&#10;Subscribe to us on YouTube: http://cnb.cx/2wuoARM&#10;&#10;Subscribe to CNBC Life on YouTube: http://cnb.cx/2wAkfMv&#10;&#10;Like our Facebook page:&#10;https://www.facebook.com/cnbcinternational&#10;&#10;Follow us on Instagram:&#10;https://www.instagram.com/cnbcinternational/&#10;&#10;Follow us on Twitter:&#10;https://twitter.com/CNBCi" title="What is the circular economy? | CNBC Explains">
            <a:hlinkClick r:id="rId3"/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33255" y="559131"/>
            <a:ext cx="4985242" cy="3738931"/>
          </a:xfrm>
          <a:prstGeom prst="rect">
            <a:avLst/>
          </a:prstGeom>
          <a:noFill/>
        </p:spPr>
      </p:pic>
      <p:sp>
        <p:nvSpPr>
          <p:cNvPr id="114" name="Google Shape;114;p20"/>
          <p:cNvSpPr txBox="1"/>
          <p:nvPr/>
        </p:nvSpPr>
        <p:spPr>
          <a:xfrm>
            <a:off x="5401992" y="2644725"/>
            <a:ext cx="3111070" cy="194134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 panose="020B0604020202020204" pitchFamily="34" charset="0"/>
              <a:buChar char="•"/>
            </a:pPr>
            <a:r>
              <a:rPr lang="en-US" sz="1500" dirty="0">
                <a:sym typeface="Raleway Light"/>
              </a:rPr>
              <a:t>What do you think the linear economy is?</a:t>
            </a: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700"/>
              <a:buFont typeface="Arial" panose="020B0604020202020204" pitchFamily="34" charset="0"/>
              <a:buChar char="•"/>
            </a:pPr>
            <a:r>
              <a:rPr lang="en-US" sz="1500" dirty="0">
                <a:sym typeface="Raleway Light"/>
              </a:rPr>
              <a:t>What do you think the circular economy is?</a:t>
            </a:r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700"/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56B2C21-A230-48C0-8DF1-C46611373C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847E18C-932D-4C95-AABA-FEC7C9499A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150CB11-0C61-439E-910F-5787759E72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43F8A58B-5155-44CE-A5FF-7647B47D0A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443F2ACA-E6D6-4028-82DD-F03C262D5D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C37951E-BAA8-2CCC-F7CE-054C88A8B1C7}"/>
              </a:ext>
            </a:extLst>
          </p:cNvPr>
          <p:cNvSpPr txBox="1"/>
          <p:nvPr/>
        </p:nvSpPr>
        <p:spPr>
          <a:xfrm>
            <a:off x="439858" y="1262817"/>
            <a:ext cx="2336449" cy="17972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Grammar focus – The passive voice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D3F42F8-C162-2C2B-DC32-1B27AE689430}"/>
              </a:ext>
            </a:extLst>
          </p:cNvPr>
          <p:cNvSpPr>
            <a:spLocks/>
          </p:cNvSpPr>
          <p:nvPr/>
        </p:nvSpPr>
        <p:spPr>
          <a:xfrm>
            <a:off x="7307232" y="3995042"/>
            <a:ext cx="1299741" cy="172998"/>
          </a:xfrm>
          <a:prstGeom prst="rect">
            <a:avLst/>
          </a:prstGeom>
        </p:spPr>
        <p:txBody>
          <a:bodyPr/>
          <a:lstStyle/>
          <a:p>
            <a:pPr algn="r" defTabSz="576072">
              <a:spcAft>
                <a:spcPts val="600"/>
              </a:spcAft>
            </a:pPr>
            <a:fld id="{00000000-1234-1234-1234-123412341234}" type="slidenum">
              <a:rPr lang="en" sz="113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576072">
                <a:spcAft>
                  <a:spcPts val="600"/>
                </a:spcAft>
              </a:pPr>
              <a:t>6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E430E7-FB27-DAE5-D5E3-4704CFA8CE67}"/>
              </a:ext>
            </a:extLst>
          </p:cNvPr>
          <p:cNvSpPr txBox="1"/>
          <p:nvPr/>
        </p:nvSpPr>
        <p:spPr>
          <a:xfrm>
            <a:off x="3766641" y="2641783"/>
            <a:ext cx="4467258" cy="1898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GB" sz="1134" b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Formulation of Passive Sentences:</a:t>
            </a:r>
            <a:endParaRPr lang="en-GB" sz="1134" kern="1200">
              <a:solidFill>
                <a:srgbClr val="374151"/>
              </a:solidFill>
              <a:latin typeface="+mn-lt"/>
              <a:ea typeface="+mn-ea"/>
              <a:cs typeface="+mn-cs"/>
            </a:endParaRPr>
          </a:p>
          <a:p>
            <a:pPr marL="180023" indent="-180023" defTabSz="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34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In a passive sentence, the object of the active sentence becomes the subject.</a:t>
            </a:r>
          </a:p>
          <a:p>
            <a:pPr marL="468059" lvl="1" indent="-180023" defTabSz="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34" b="1" i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Active:</a:t>
            </a:r>
            <a:r>
              <a:rPr lang="en-GB" sz="1134" b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134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Companies produce goods. (Subject: Companies; Verb: produce; Object: goods)</a:t>
            </a:r>
          </a:p>
          <a:p>
            <a:pPr marL="468059" lvl="1" indent="-180023" defTabSz="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34" b="1" i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Passive:</a:t>
            </a:r>
            <a:r>
              <a:rPr lang="en-GB" sz="1134" b="1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134" kern="120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Goods are produced by companies. (Subject: Goods; Verb: are produced; Agent: by companies)</a:t>
            </a:r>
          </a:p>
          <a:p>
            <a:pPr>
              <a:spcAft>
                <a:spcPts val="600"/>
              </a:spcAft>
            </a:pPr>
            <a:endParaRPr lang="es-ES"/>
          </a:p>
        </p:txBody>
      </p:sp>
      <p:pic>
        <p:nvPicPr>
          <p:cNvPr id="7" name="Picture 6" descr="Threads on weaving machine">
            <a:extLst>
              <a:ext uri="{FF2B5EF4-FFF2-40B4-BE49-F238E27FC236}">
                <a16:creationId xmlns:a16="http://schemas.microsoft.com/office/drawing/2014/main" xmlns="" id="{A1B6F530-BCEE-2F15-06BD-72DFB96C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789" y="983374"/>
            <a:ext cx="4874028" cy="324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83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BDC98D8-C7A2-9380-971E-88480DC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7907345-988B-768D-8593-64CEA6D66627}"/>
              </a:ext>
            </a:extLst>
          </p:cNvPr>
          <p:cNvSpPr txBox="1"/>
          <p:nvPr/>
        </p:nvSpPr>
        <p:spPr>
          <a:xfrm>
            <a:off x="311572" y="663787"/>
            <a:ext cx="75725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i="0" dirty="0">
                <a:solidFill>
                  <a:srgbClr val="374151"/>
                </a:solidFill>
                <a:effectLst/>
              </a:rPr>
              <a:t>When to Use Passive Voice: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Emphasis on the Action or Result: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1" dirty="0">
                <a:solidFill>
                  <a:srgbClr val="374151"/>
                </a:solidFill>
                <a:effectLst/>
              </a:rPr>
              <a:t>Active: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The team conducted the experiment.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1" dirty="0">
                <a:solidFill>
                  <a:srgbClr val="374151"/>
                </a:solidFill>
                <a:effectLst/>
              </a:rPr>
              <a:t>Passive: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The experiment was conducted by the team.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374151"/>
                </a:solidFill>
                <a:effectLst/>
              </a:rPr>
              <a:t>Use the passive when the emphasis is on the action or result rather than the doer.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Unknown or Unimportant Doer: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1" dirty="0">
                <a:solidFill>
                  <a:srgbClr val="374151"/>
                </a:solidFill>
                <a:effectLst/>
              </a:rPr>
              <a:t>Active: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Someone stole my bike.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1" dirty="0">
                <a:solidFill>
                  <a:srgbClr val="374151"/>
                </a:solidFill>
                <a:effectLst/>
              </a:rPr>
              <a:t>Passive: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My bike was stolen.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374151"/>
                </a:solidFill>
                <a:effectLst/>
              </a:rPr>
              <a:t>Use the passive when the doer is unknown or unimportant.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Formality in Writing: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374151"/>
                </a:solidFill>
                <a:effectLst/>
              </a:rPr>
              <a:t>The passive voice is often preferred in formal writing, such as academic papers or presentations, to maintain a sense of objectivity.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66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BDC98D8-C7A2-9380-971E-88480DC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7907345-988B-768D-8593-64CEA6D66627}"/>
              </a:ext>
            </a:extLst>
          </p:cNvPr>
          <p:cNvSpPr txBox="1"/>
          <p:nvPr/>
        </p:nvSpPr>
        <p:spPr>
          <a:xfrm>
            <a:off x="447038" y="575734"/>
            <a:ext cx="75725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i="0" dirty="0">
                <a:solidFill>
                  <a:srgbClr val="374151"/>
                </a:solidFill>
                <a:effectLst/>
              </a:rPr>
              <a:t>Structure: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</a:rPr>
              <a:t>The structure of a passive sentence is typically: </a:t>
            </a:r>
            <a:r>
              <a:rPr lang="en-GB" b="0" i="1" dirty="0">
                <a:solidFill>
                  <a:srgbClr val="374151"/>
                </a:solidFill>
                <a:effectLst/>
              </a:rPr>
              <a:t>(Subject) + (Auxiliary Verb) + (Past Participle) + (Agent, introduced by "by" or omitted)</a:t>
            </a:r>
            <a:r>
              <a:rPr lang="en-GB" b="0" i="0" dirty="0">
                <a:solidFill>
                  <a:srgbClr val="374151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</a:rPr>
              <a:t>Example: The report was written by the team.</a:t>
            </a:r>
          </a:p>
          <a:p>
            <a:pPr lvl="1" algn="l"/>
            <a:endParaRPr lang="en-GB" b="0" i="0" dirty="0">
              <a:solidFill>
                <a:srgbClr val="374151"/>
              </a:solidFill>
              <a:effectLst/>
            </a:endParaRPr>
          </a:p>
          <a:p>
            <a:pPr lvl="1" algn="l"/>
            <a:r>
              <a:rPr lang="en-GB" b="0" i="0" dirty="0">
                <a:solidFill>
                  <a:srgbClr val="374151"/>
                </a:solidFill>
                <a:effectLst/>
              </a:rPr>
              <a:t>Try writing some passive sentences here: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9368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D2B783EE-0239-4717-BBEA-8C9EAC61C8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7907345-988B-768D-8593-64CEA6D66627}"/>
              </a:ext>
            </a:extLst>
          </p:cNvPr>
          <p:cNvSpPr txBox="1"/>
          <p:nvPr/>
        </p:nvSpPr>
        <p:spPr>
          <a:xfrm>
            <a:off x="357188" y="342900"/>
            <a:ext cx="4090608" cy="42898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</a:rPr>
              <a:t>Examples in the Context of Circular and Linear Economies:</a:t>
            </a:r>
            <a:endParaRPr lang="en-US" sz="1600" b="0" i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Linear Economy: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Active:</a:t>
            </a:r>
            <a:r>
              <a:rPr lang="en-US" sz="1600" b="0" i="0" dirty="0">
                <a:effectLst/>
              </a:rPr>
              <a:t> Companies extract raw materials to produce goods.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Passive:</a:t>
            </a:r>
            <a:r>
              <a:rPr lang="en-US" sz="1600" b="0" i="0" dirty="0">
                <a:effectLst/>
              </a:rPr>
              <a:t> Goods are produced by extracting raw materials.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Circular Economy: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i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Active:</a:t>
            </a:r>
            <a:r>
              <a:rPr lang="en-US" sz="1600" b="0" i="0" dirty="0">
                <a:effectLst/>
              </a:rPr>
              <a:t> Manufacturers reuse materials to create new products.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effectLst/>
              </a:rPr>
              <a:t>Passive:</a:t>
            </a:r>
            <a:r>
              <a:rPr lang="en-US" sz="1600" b="0" i="0" dirty="0">
                <a:effectLst/>
              </a:rPr>
              <a:t> New products are created by reusing materials.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7B99495-F43F-4D80-A44F-2CB4764EB9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815426" y="1023549"/>
            <a:ext cx="710616" cy="6913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Bird's eye view of the oil platform at sea">
            <a:extLst>
              <a:ext uri="{FF2B5EF4-FFF2-40B4-BE49-F238E27FC236}">
                <a16:creationId xmlns:a16="http://schemas.microsoft.com/office/drawing/2014/main" xmlns="" id="{E3B55684-AED9-4ECC-51EC-A42580738C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7" r="26570" b="1"/>
          <a:stretch/>
        </p:blipFill>
        <p:spPr>
          <a:xfrm>
            <a:off x="5925944" y="2045796"/>
            <a:ext cx="3218056" cy="3097704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xmlns="" id="{70BEB1E7-2F88-40BC-B73D-42E5B6F80B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4759070" flipV="1">
            <a:off x="4525604" y="-504855"/>
            <a:ext cx="3015895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Crushed plastic water bottle">
            <a:extLst>
              <a:ext uri="{FF2B5EF4-FFF2-40B4-BE49-F238E27FC236}">
                <a16:creationId xmlns:a16="http://schemas.microsoft.com/office/drawing/2014/main" xmlns="" id="{80F1CFCB-968F-72BB-2002-20820F70CA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735" b="1"/>
          <a:stretch/>
        </p:blipFill>
        <p:spPr>
          <a:xfrm>
            <a:off x="4696205" y="10"/>
            <a:ext cx="2639484" cy="2255922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BDC98D8-C7A2-9380-971E-88480DC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1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92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xmlns="" id="{955A2079-FA98-4876-80F0-72364A7D2E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p18"/>
          <p:cNvSpPr txBox="1"/>
          <p:nvPr/>
        </p:nvSpPr>
        <p:spPr>
          <a:xfrm>
            <a:off x="628650" y="417891"/>
            <a:ext cx="7886700" cy="85012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Raleway"/>
              </a:rPr>
              <a:t>Look at the graphics below and answer the questions.</a:t>
            </a:r>
          </a:p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1100"/>
            </a:pPr>
            <a:endParaRPr lang="en-US" sz="2700" b="1" kern="1200">
              <a:solidFill>
                <a:schemeClr val="tx1"/>
              </a:solidFill>
              <a:latin typeface="+mj-lt"/>
              <a:ea typeface="+mj-ea"/>
              <a:cs typeface="+mj-cs"/>
              <a:sym typeface="Raleway"/>
            </a:endParaRPr>
          </a:p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700" b="1" kern="1200">
              <a:solidFill>
                <a:schemeClr val="tx1"/>
              </a:solidFill>
              <a:latin typeface="+mj-lt"/>
              <a:ea typeface="+mj-ea"/>
              <a:cs typeface="+mj-cs"/>
              <a:sym typeface="Raleway"/>
            </a:endParaRPr>
          </a:p>
        </p:txBody>
      </p:sp>
      <p:sp>
        <p:nvSpPr>
          <p:cNvPr id="86" name="Google Shape;86;p18"/>
          <p:cNvSpPr/>
          <p:nvPr/>
        </p:nvSpPr>
        <p:spPr>
          <a:xfrm rot="10800000">
            <a:off x="1520321" y="3220993"/>
            <a:ext cx="1754233" cy="1144795"/>
          </a:xfrm>
          <a:prstGeom prst="curvedLeftArrow">
            <a:avLst>
              <a:gd name="adj1" fmla="val 25000"/>
              <a:gd name="adj2" fmla="val 36014"/>
              <a:gd name="adj3" fmla="val 25000"/>
            </a:avLst>
          </a:prstGeom>
          <a:solidFill>
            <a:srgbClr val="60AE92">
              <a:alpha val="50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4031500" y="3276442"/>
            <a:ext cx="1581898" cy="1143676"/>
          </a:xfrm>
          <a:prstGeom prst="curvedLeftArrow">
            <a:avLst>
              <a:gd name="adj1" fmla="val 25000"/>
              <a:gd name="adj2" fmla="val 36014"/>
              <a:gd name="adj3" fmla="val 25000"/>
            </a:avLst>
          </a:prstGeom>
          <a:solidFill>
            <a:srgbClr val="60AE92">
              <a:alpha val="50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sz="quarter" idx="12"/>
          </p:nvPr>
        </p:nvSpPr>
        <p:spPr>
          <a:xfrm>
            <a:off x="6166308" y="4431710"/>
            <a:ext cx="1534898" cy="204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defTabSz="675924">
              <a:lnSpc>
                <a:spcPct val="90000"/>
              </a:lnSpc>
              <a:spcAft>
                <a:spcPts val="576"/>
              </a:spcAft>
            </a:pPr>
            <a:fld id="{00000000-1234-1234-1234-123412341234}" type="slidenum">
              <a:rPr lang="en" sz="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675924">
                <a:lnSpc>
                  <a:spcPct val="90000"/>
                </a:lnSpc>
                <a:spcAft>
                  <a:spcPts val="576"/>
                </a:spcAft>
              </a:pPr>
              <a:t>10</a:t>
            </a:fld>
            <a:endParaRPr lang="en" sz="100"/>
          </a:p>
        </p:txBody>
      </p:sp>
      <p:sp>
        <p:nvSpPr>
          <p:cNvPr id="90" name="Google Shape;90;p18"/>
          <p:cNvSpPr txBox="1"/>
          <p:nvPr/>
        </p:nvSpPr>
        <p:spPr>
          <a:xfrm>
            <a:off x="1307537" y="1371600"/>
            <a:ext cx="1421874" cy="671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675924">
              <a:spcAft>
                <a:spcPts val="576"/>
              </a:spcAft>
            </a:pPr>
            <a:r>
              <a:rPr lang="en-ZA" sz="1331" kern="1200">
                <a:solidFill>
                  <a:schemeClr val="tx1"/>
                </a:solidFill>
                <a:latin typeface="Raleway Light"/>
                <a:ea typeface="+mn-ea"/>
                <a:cs typeface="+mn-cs"/>
                <a:sym typeface="Raleway Light"/>
              </a:rPr>
              <a:t>LINEAR ECONOMY</a:t>
            </a:r>
            <a:endParaRPr lang="en-ZA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2112880" y="1811318"/>
            <a:ext cx="5223756" cy="820940"/>
          </a:xfrm>
          <a:prstGeom prst="rightArrow">
            <a:avLst>
              <a:gd name="adj1" fmla="val 50000"/>
              <a:gd name="adj2" fmla="val 51000"/>
            </a:avLst>
          </a:prstGeom>
          <a:solidFill>
            <a:srgbClr val="60AE92">
              <a:alpha val="505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934" y="1811317"/>
            <a:ext cx="1231428" cy="820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183" y="1811329"/>
            <a:ext cx="1231390" cy="820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5">
            <a:alphaModFix/>
          </a:blip>
          <a:srcRect l="3920" r="-3920"/>
          <a:stretch/>
        </p:blipFill>
        <p:spPr>
          <a:xfrm>
            <a:off x="5208395" y="1809732"/>
            <a:ext cx="1231391" cy="82092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1429201" y="2697795"/>
            <a:ext cx="1924105" cy="46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675924">
              <a:spcAft>
                <a:spcPts val="576"/>
              </a:spcAft>
            </a:pPr>
            <a:r>
              <a:rPr lang="en-ZA" sz="1331" kern="1200">
                <a:solidFill>
                  <a:schemeClr val="tx1"/>
                </a:solidFill>
                <a:latin typeface="Raleway Light"/>
                <a:ea typeface="+mn-ea"/>
                <a:cs typeface="+mn-cs"/>
                <a:sym typeface="Raleway Light"/>
              </a:rPr>
              <a:t>CIRCULAR ECONOMY</a:t>
            </a:r>
            <a:endParaRPr lang="en-ZA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0064" y="3689988"/>
            <a:ext cx="1475371" cy="81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2188" y="2996595"/>
            <a:ext cx="1234740" cy="81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59572" y="3689981"/>
            <a:ext cx="1234740" cy="81861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6056937" y="2974577"/>
            <a:ext cx="1924105" cy="166143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37962" indent="-244084" defTabSz="675924">
              <a:spcAft>
                <a:spcPts val="576"/>
              </a:spcAft>
              <a:buClr>
                <a:schemeClr val="dk1"/>
              </a:buClr>
              <a:buSzPts val="1600"/>
              <a:buFont typeface="Raleway Light"/>
              <a:buChar char="●"/>
            </a:pPr>
            <a:r>
              <a:rPr lang="en-GB" sz="1183" kern="1200">
                <a:solidFill>
                  <a:schemeClr val="dk1"/>
                </a:solidFill>
                <a:latin typeface="Raleway Light"/>
                <a:ea typeface="+mn-ea"/>
                <a:cs typeface="+mn-cs"/>
                <a:sym typeface="Raleway Light"/>
              </a:rPr>
              <a:t>What do you think the linear economy is?</a:t>
            </a:r>
          </a:p>
          <a:p>
            <a:pPr marL="337962" indent="-244084" defTabSz="675924">
              <a:spcAft>
                <a:spcPts val="576"/>
              </a:spcAft>
              <a:buClr>
                <a:schemeClr val="dk1"/>
              </a:buClr>
              <a:buSzPts val="1600"/>
              <a:buFont typeface="Raleway Light"/>
              <a:buChar char="●"/>
            </a:pPr>
            <a:r>
              <a:rPr lang="en-GB" sz="1183" kern="1200">
                <a:solidFill>
                  <a:schemeClr val="dk1"/>
                </a:solidFill>
                <a:latin typeface="Raleway Light"/>
                <a:ea typeface="+mn-ea"/>
                <a:cs typeface="+mn-cs"/>
                <a:sym typeface="Raleway Light"/>
              </a:rPr>
              <a:t>What do you think the circular economy is?</a:t>
            </a:r>
            <a:endParaRPr lang="en-GB" sz="1331" kern="1200">
              <a:solidFill>
                <a:schemeClr val="tx1"/>
              </a:solidFill>
              <a:latin typeface="Raleway Light"/>
              <a:ea typeface="+mn-ea"/>
              <a:cs typeface="+mn-cs"/>
              <a:sym typeface="Raleway Light"/>
            </a:endParaRPr>
          </a:p>
          <a:p>
            <a:pPr defTabSz="675924">
              <a:spcAft>
                <a:spcPts val="576"/>
              </a:spcAft>
            </a:pPr>
            <a:endParaRPr lang="en-GB" sz="1183" kern="1200">
              <a:solidFill>
                <a:schemeClr val="tx1"/>
              </a:solidFill>
              <a:latin typeface="Raleway"/>
              <a:ea typeface="+mn-ea"/>
              <a:cs typeface="+mn-cs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n-GB" sz="1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 descr="Many question marks on black background">
            <a:extLst>
              <a:ext uri="{FF2B5EF4-FFF2-40B4-BE49-F238E27FC236}">
                <a16:creationId xmlns:a16="http://schemas.microsoft.com/office/drawing/2014/main" xmlns="" id="{4DF24D92-9047-3D25-F48E-EC17E048A7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1" t="16170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Google Shape;121;p21"/>
          <p:cNvSpPr txBox="1"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  <a:sym typeface="Raleway"/>
              </a:rPr>
              <a:t>Discuss the questions.</a:t>
            </a:r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00000000-1234-1234-1234-123412341234}" type="slidenum">
              <a:rPr lang="en-US" sz="70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graphicFrame>
        <p:nvGraphicFramePr>
          <p:cNvPr id="143" name="Google Shape;122;p21">
            <a:extLst>
              <a:ext uri="{FF2B5EF4-FFF2-40B4-BE49-F238E27FC236}">
                <a16:creationId xmlns:a16="http://schemas.microsoft.com/office/drawing/2014/main" xmlns="" id="{9D43D2EE-BD5B-0DEF-3BD7-942318DC17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9145594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8138C62-FCCD-8EE2-9A5C-EC4C559C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20BDA37-1CEF-FF9F-BCE2-E328B09C9357}"/>
              </a:ext>
            </a:extLst>
          </p:cNvPr>
          <p:cNvSpPr txBox="1"/>
          <p:nvPr/>
        </p:nvSpPr>
        <p:spPr>
          <a:xfrm>
            <a:off x="555171" y="398417"/>
            <a:ext cx="6394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Delayed Feedback</a:t>
            </a:r>
          </a:p>
        </p:txBody>
      </p:sp>
    </p:spTree>
    <p:extLst>
      <p:ext uri="{BB962C8B-B14F-4D97-AF65-F5344CB8AC3E}">
        <p14:creationId xmlns:p14="http://schemas.microsoft.com/office/powerpoint/2010/main" val="2802866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9" name="Rectangle 268">
            <a:extLst>
              <a:ext uri="{FF2B5EF4-FFF2-40B4-BE49-F238E27FC236}">
                <a16:creationId xmlns:a16="http://schemas.microsoft.com/office/drawing/2014/main" xmlns="" id="{665DBBEF-238B-476B-96AB-8AAC3224EC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Google Shape;262;p37"/>
          <p:cNvSpPr txBox="1">
            <a:spLocks noGrp="1"/>
          </p:cNvSpPr>
          <p:nvPr>
            <p:ph type="ctrTitle"/>
          </p:nvPr>
        </p:nvSpPr>
        <p:spPr>
          <a:xfrm>
            <a:off x="479161" y="479394"/>
            <a:ext cx="2678858" cy="26801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sp>
        <p:nvSpPr>
          <p:cNvPr id="271" name="sketch line">
            <a:extLst>
              <a:ext uri="{FF2B5EF4-FFF2-40B4-BE49-F238E27FC236}">
                <a16:creationId xmlns:a16="http://schemas.microsoft.com/office/drawing/2014/main" xmlns="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2458" y="3306950"/>
            <a:ext cx="2441321" cy="13716"/>
          </a:xfrm>
          <a:custGeom>
            <a:avLst/>
            <a:gdLst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96247 w 2441321"/>
              <a:gd name="connsiteY2" fmla="*/ 0 h 13716"/>
              <a:gd name="connsiteX3" fmla="*/ 1806578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30991 w 2441321"/>
              <a:gd name="connsiteY6" fmla="*/ 13716 h 13716"/>
              <a:gd name="connsiteX7" fmla="*/ 1269487 w 2441321"/>
              <a:gd name="connsiteY7" fmla="*/ 13716 h 13716"/>
              <a:gd name="connsiteX8" fmla="*/ 707983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23008 w 2441321"/>
              <a:gd name="connsiteY2" fmla="*/ 0 h 13716"/>
              <a:gd name="connsiteX3" fmla="*/ 1782164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79817 w 2441321"/>
              <a:gd name="connsiteY6" fmla="*/ 13716 h 13716"/>
              <a:gd name="connsiteX7" fmla="*/ 1318313 w 2441321"/>
              <a:gd name="connsiteY7" fmla="*/ 13716 h 13716"/>
              <a:gd name="connsiteX8" fmla="*/ 659157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80302" y="-6619"/>
                  <a:pt x="363201" y="4913"/>
                  <a:pt x="585917" y="0"/>
                </a:cubicBezTo>
                <a:cubicBezTo>
                  <a:pt x="832357" y="-10107"/>
                  <a:pt x="996738" y="-34312"/>
                  <a:pt x="1196247" y="0"/>
                </a:cubicBezTo>
                <a:cubicBezTo>
                  <a:pt x="1357180" y="16623"/>
                  <a:pt x="1575042" y="-11041"/>
                  <a:pt x="1806578" y="0"/>
                </a:cubicBezTo>
                <a:cubicBezTo>
                  <a:pt x="2016334" y="246"/>
                  <a:pt x="2239353" y="-8732"/>
                  <a:pt x="2441321" y="0"/>
                </a:cubicBezTo>
                <a:cubicBezTo>
                  <a:pt x="2440988" y="3698"/>
                  <a:pt x="2440649" y="9400"/>
                  <a:pt x="2441321" y="13716"/>
                </a:cubicBezTo>
                <a:cubicBezTo>
                  <a:pt x="2159375" y="44437"/>
                  <a:pt x="2054495" y="41094"/>
                  <a:pt x="1830991" y="13716"/>
                </a:cubicBezTo>
                <a:cubicBezTo>
                  <a:pt x="1615846" y="2937"/>
                  <a:pt x="1521674" y="-9994"/>
                  <a:pt x="1269487" y="13716"/>
                </a:cubicBezTo>
                <a:cubicBezTo>
                  <a:pt x="1019660" y="49388"/>
                  <a:pt x="886911" y="37779"/>
                  <a:pt x="707983" y="13716"/>
                </a:cubicBezTo>
                <a:cubicBezTo>
                  <a:pt x="523434" y="22749"/>
                  <a:pt x="307885" y="29744"/>
                  <a:pt x="0" y="13716"/>
                </a:cubicBezTo>
                <a:cubicBezTo>
                  <a:pt x="-361" y="7755"/>
                  <a:pt x="-276" y="2718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12126" y="-10265"/>
                  <a:pt x="442910" y="-11728"/>
                  <a:pt x="585917" y="0"/>
                </a:cubicBezTo>
                <a:cubicBezTo>
                  <a:pt x="724579" y="21751"/>
                  <a:pt x="879365" y="-33198"/>
                  <a:pt x="1123008" y="0"/>
                </a:cubicBezTo>
                <a:cubicBezTo>
                  <a:pt x="1377247" y="11220"/>
                  <a:pt x="1597861" y="-34280"/>
                  <a:pt x="1782164" y="0"/>
                </a:cubicBezTo>
                <a:cubicBezTo>
                  <a:pt x="1975975" y="-3055"/>
                  <a:pt x="2116392" y="-15531"/>
                  <a:pt x="2441321" y="0"/>
                </a:cubicBezTo>
                <a:cubicBezTo>
                  <a:pt x="2441197" y="4300"/>
                  <a:pt x="2441101" y="8760"/>
                  <a:pt x="2441321" y="13716"/>
                </a:cubicBezTo>
                <a:cubicBezTo>
                  <a:pt x="2180658" y="13750"/>
                  <a:pt x="2084222" y="1362"/>
                  <a:pt x="1879817" y="13716"/>
                </a:cubicBezTo>
                <a:cubicBezTo>
                  <a:pt x="1668182" y="11650"/>
                  <a:pt x="1551159" y="-11049"/>
                  <a:pt x="1318313" y="13716"/>
                </a:cubicBezTo>
                <a:cubicBezTo>
                  <a:pt x="1059871" y="51823"/>
                  <a:pt x="901959" y="19259"/>
                  <a:pt x="659157" y="13716"/>
                </a:cubicBezTo>
                <a:cubicBezTo>
                  <a:pt x="444692" y="23911"/>
                  <a:pt x="245032" y="35310"/>
                  <a:pt x="0" y="13716"/>
                </a:cubicBezTo>
                <a:cubicBezTo>
                  <a:pt x="124" y="7937"/>
                  <a:pt x="389" y="2990"/>
                  <a:pt x="0" y="0"/>
                </a:cubicBezTo>
                <a:close/>
              </a:path>
              <a:path w="2441321" h="13716" fill="none" stroke="0" extrusionOk="0">
                <a:moveTo>
                  <a:pt x="0" y="0"/>
                </a:moveTo>
                <a:cubicBezTo>
                  <a:pt x="265389" y="-22361"/>
                  <a:pt x="344845" y="-65"/>
                  <a:pt x="585917" y="0"/>
                </a:cubicBezTo>
                <a:cubicBezTo>
                  <a:pt x="858472" y="13102"/>
                  <a:pt x="949265" y="-8078"/>
                  <a:pt x="1196247" y="0"/>
                </a:cubicBezTo>
                <a:cubicBezTo>
                  <a:pt x="1379248" y="30707"/>
                  <a:pt x="1585336" y="24963"/>
                  <a:pt x="1806578" y="0"/>
                </a:cubicBezTo>
                <a:cubicBezTo>
                  <a:pt x="1986731" y="-19207"/>
                  <a:pt x="2264933" y="16601"/>
                  <a:pt x="2441321" y="0"/>
                </a:cubicBezTo>
                <a:cubicBezTo>
                  <a:pt x="2441661" y="4449"/>
                  <a:pt x="2442057" y="7876"/>
                  <a:pt x="2441321" y="13716"/>
                </a:cubicBezTo>
                <a:cubicBezTo>
                  <a:pt x="2149099" y="22776"/>
                  <a:pt x="2027305" y="51898"/>
                  <a:pt x="1830991" y="13716"/>
                </a:cubicBezTo>
                <a:cubicBezTo>
                  <a:pt x="1614571" y="-23336"/>
                  <a:pt x="1500998" y="6155"/>
                  <a:pt x="1269487" y="13716"/>
                </a:cubicBezTo>
                <a:cubicBezTo>
                  <a:pt x="1042399" y="33262"/>
                  <a:pt x="927922" y="41250"/>
                  <a:pt x="707983" y="13716"/>
                </a:cubicBezTo>
                <a:cubicBezTo>
                  <a:pt x="502575" y="-9952"/>
                  <a:pt x="350393" y="29927"/>
                  <a:pt x="0" y="13716"/>
                </a:cubicBezTo>
                <a:cubicBezTo>
                  <a:pt x="-248" y="8631"/>
                  <a:pt x="228" y="31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2441321"/>
                      <a:gd name="connsiteY0" fmla="*/ 0 h 13716"/>
                      <a:gd name="connsiteX1" fmla="*/ 585917 w 2441321"/>
                      <a:gd name="connsiteY1" fmla="*/ 0 h 13716"/>
                      <a:gd name="connsiteX2" fmla="*/ 1196247 w 2441321"/>
                      <a:gd name="connsiteY2" fmla="*/ 0 h 13716"/>
                      <a:gd name="connsiteX3" fmla="*/ 1806578 w 2441321"/>
                      <a:gd name="connsiteY3" fmla="*/ 0 h 13716"/>
                      <a:gd name="connsiteX4" fmla="*/ 2441321 w 2441321"/>
                      <a:gd name="connsiteY4" fmla="*/ 0 h 13716"/>
                      <a:gd name="connsiteX5" fmla="*/ 2441321 w 2441321"/>
                      <a:gd name="connsiteY5" fmla="*/ 13716 h 13716"/>
                      <a:gd name="connsiteX6" fmla="*/ 1830991 w 2441321"/>
                      <a:gd name="connsiteY6" fmla="*/ 13716 h 13716"/>
                      <a:gd name="connsiteX7" fmla="*/ 1269487 w 2441321"/>
                      <a:gd name="connsiteY7" fmla="*/ 13716 h 13716"/>
                      <a:gd name="connsiteX8" fmla="*/ 707983 w 2441321"/>
                      <a:gd name="connsiteY8" fmla="*/ 13716 h 13716"/>
                      <a:gd name="connsiteX9" fmla="*/ 0 w 2441321"/>
                      <a:gd name="connsiteY9" fmla="*/ 13716 h 13716"/>
                      <a:gd name="connsiteX10" fmla="*/ 0 w 2441321"/>
                      <a:gd name="connsiteY10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441321" h="13716" fill="none" extrusionOk="0">
                        <a:moveTo>
                          <a:pt x="0" y="0"/>
                        </a:moveTo>
                        <a:cubicBezTo>
                          <a:pt x="273217" y="-17533"/>
                          <a:pt x="355785" y="-4171"/>
                          <a:pt x="585917" y="0"/>
                        </a:cubicBezTo>
                        <a:cubicBezTo>
                          <a:pt x="816049" y="4171"/>
                          <a:pt x="991446" y="-9419"/>
                          <a:pt x="1196247" y="0"/>
                        </a:cubicBezTo>
                        <a:cubicBezTo>
                          <a:pt x="1401048" y="9419"/>
                          <a:pt x="1589984" y="-731"/>
                          <a:pt x="1806578" y="0"/>
                        </a:cubicBezTo>
                        <a:cubicBezTo>
                          <a:pt x="2023172" y="731"/>
                          <a:pt x="2247754" y="8393"/>
                          <a:pt x="2441321" y="0"/>
                        </a:cubicBezTo>
                        <a:cubicBezTo>
                          <a:pt x="2440939" y="4363"/>
                          <a:pt x="2441580" y="8857"/>
                          <a:pt x="2441321" y="13716"/>
                        </a:cubicBezTo>
                        <a:cubicBezTo>
                          <a:pt x="2169723" y="25934"/>
                          <a:pt x="2045712" y="34568"/>
                          <a:pt x="1830991" y="13716"/>
                        </a:cubicBezTo>
                        <a:cubicBezTo>
                          <a:pt x="1616270" y="-7136"/>
                          <a:pt x="1505876" y="-623"/>
                          <a:pt x="1269487" y="13716"/>
                        </a:cubicBezTo>
                        <a:cubicBezTo>
                          <a:pt x="1033098" y="28055"/>
                          <a:pt x="908661" y="36619"/>
                          <a:pt x="707983" y="13716"/>
                        </a:cubicBezTo>
                        <a:cubicBezTo>
                          <a:pt x="507305" y="-9187"/>
                          <a:pt x="333592" y="16187"/>
                          <a:pt x="0" y="13716"/>
                        </a:cubicBezTo>
                        <a:cubicBezTo>
                          <a:pt x="-459" y="8317"/>
                          <a:pt x="190" y="2744"/>
                          <a:pt x="0" y="0"/>
                        </a:cubicBezTo>
                        <a:close/>
                      </a:path>
                      <a:path w="2441321" h="13716" stroke="0" extrusionOk="0">
                        <a:moveTo>
                          <a:pt x="0" y="0"/>
                        </a:moveTo>
                        <a:cubicBezTo>
                          <a:pt x="207071" y="-14617"/>
                          <a:pt x="444194" y="-15606"/>
                          <a:pt x="585917" y="0"/>
                        </a:cubicBezTo>
                        <a:cubicBezTo>
                          <a:pt x="727640" y="15606"/>
                          <a:pt x="904326" y="-79"/>
                          <a:pt x="1123008" y="0"/>
                        </a:cubicBezTo>
                        <a:cubicBezTo>
                          <a:pt x="1341690" y="79"/>
                          <a:pt x="1600014" y="10401"/>
                          <a:pt x="1782164" y="0"/>
                        </a:cubicBezTo>
                        <a:cubicBezTo>
                          <a:pt x="1964314" y="-10401"/>
                          <a:pt x="2143537" y="-21488"/>
                          <a:pt x="2441321" y="0"/>
                        </a:cubicBezTo>
                        <a:cubicBezTo>
                          <a:pt x="2441507" y="3335"/>
                          <a:pt x="2441322" y="9457"/>
                          <a:pt x="2441321" y="13716"/>
                        </a:cubicBezTo>
                        <a:cubicBezTo>
                          <a:pt x="2166745" y="24201"/>
                          <a:pt x="2078726" y="10904"/>
                          <a:pt x="1879817" y="13716"/>
                        </a:cubicBezTo>
                        <a:cubicBezTo>
                          <a:pt x="1680908" y="16528"/>
                          <a:pt x="1548770" y="-8699"/>
                          <a:pt x="1318313" y="13716"/>
                        </a:cubicBezTo>
                        <a:cubicBezTo>
                          <a:pt x="1087856" y="36131"/>
                          <a:pt x="894613" y="-645"/>
                          <a:pt x="659157" y="13716"/>
                        </a:cubicBezTo>
                        <a:cubicBezTo>
                          <a:pt x="423701" y="28077"/>
                          <a:pt x="246611" y="29403"/>
                          <a:pt x="0" y="13716"/>
                        </a:cubicBezTo>
                        <a:cubicBezTo>
                          <a:pt x="-120" y="7867"/>
                          <a:pt x="674" y="39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6" name="Graphic 265" descr="Winking Face with No Fill">
            <a:extLst>
              <a:ext uri="{FF2B5EF4-FFF2-40B4-BE49-F238E27FC236}">
                <a16:creationId xmlns:a16="http://schemas.microsoft.com/office/drawing/2014/main" xmlns="" id="{7EECCB74-EF48-8724-A4DA-4B9C04906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114800" y="480060"/>
            <a:ext cx="4162806" cy="4162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2.xml><?xml version="1.0" encoding="utf-8"?>
<a:theme xmlns:a="http://schemas.openxmlformats.org/drawingml/2006/main" name="1_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3.xml><?xml version="1.0" encoding="utf-8"?>
<a:theme xmlns:a="http://schemas.openxmlformats.org/drawingml/2006/main" name="2_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Theme2. Tuspeaking</Template>
  <TotalTime>4</TotalTime>
  <Words>544</Words>
  <Application>Microsoft Office PowerPoint</Application>
  <PresentationFormat>Presentación en pantalla (16:9)</PresentationFormat>
  <Paragraphs>67</Paragraphs>
  <Slides>13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6" baseType="lpstr">
      <vt:lpstr>Calibri</vt:lpstr>
      <vt:lpstr>Century Gothic</vt:lpstr>
      <vt:lpstr>Avenir Next LT Pro</vt:lpstr>
      <vt:lpstr>Calibri Light</vt:lpstr>
      <vt:lpstr>Raleway</vt:lpstr>
      <vt:lpstr>Lato</vt:lpstr>
      <vt:lpstr>Arial</vt:lpstr>
      <vt:lpstr>Raleway Light</vt:lpstr>
      <vt:lpstr>Tw Cen MT</vt:lpstr>
      <vt:lpstr>Theme2. Tuspeaking</vt:lpstr>
      <vt:lpstr>1_Theme2. Tuspeaking</vt:lpstr>
      <vt:lpstr>2_Theme2. Tuspeaking</vt:lpstr>
      <vt:lpstr>Office Theme</vt:lpstr>
      <vt:lpstr>The circular  economy</vt:lpstr>
      <vt:lpstr>Presentación de PowerPoint</vt:lpstr>
      <vt:lpstr>Let’s get started </vt:lpstr>
      <vt:lpstr>What is the circular economy?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circular  economy</dc:title>
  <dc:creator>Theo Clarke</dc:creator>
  <cp:lastModifiedBy>JaviRo</cp:lastModifiedBy>
  <cp:revision>5</cp:revision>
  <dcterms:modified xsi:type="dcterms:W3CDTF">2025-01-02T10:49:08Z</dcterms:modified>
</cp:coreProperties>
</file>