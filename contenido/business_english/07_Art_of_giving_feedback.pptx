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5143500" cx="9144000"/>
  <p:notesSz cx="6858000" cy="9144000"/>
  <p:embeddedFontLst>
    <p:embeddedFont>
      <p:font typeface="Raleway"/>
      <p:regular r:id="rId39"/>
      <p:bold r:id="rId40"/>
      <p:italic r:id="rId41"/>
      <p:boldItalic r:id="rId42"/>
    </p:embeddedFont>
    <p:embeddedFont>
      <p:font typeface="Lato"/>
      <p:regular r:id="rId43"/>
      <p:bold r:id="rId44"/>
      <p:italic r:id="rId45"/>
      <p:boldItalic r:id="rId46"/>
    </p:embeddedFont>
    <p:embeddedFont>
      <p:font typeface="Raleway Light"/>
      <p:regular r:id="rId47"/>
      <p:bold r:id="rId48"/>
      <p:italic r:id="rId49"/>
      <p:boldItalic r:id="rId50"/>
    </p:embeddedFont>
    <p:embeddedFont>
      <p:font typeface="Shadows Into Light"/>
      <p:regular r:id="rId51"/>
    </p:embeddedFont>
    <p:embeddedFont>
      <p:font typeface="Century Gothic"/>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4853DA-5DAB-4055-B793-BA60791B650C}">
  <a:tblStyle styleId="{864853DA-5DAB-4055-B793-BA60791B650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old.fntdata"/><Relationship Id="rId42" Type="http://schemas.openxmlformats.org/officeDocument/2006/relationships/font" Target="fonts/Raleway-boldItalic.fntdata"/><Relationship Id="rId41" Type="http://schemas.openxmlformats.org/officeDocument/2006/relationships/font" Target="fonts/Raleway-italic.fntdata"/><Relationship Id="rId44" Type="http://schemas.openxmlformats.org/officeDocument/2006/relationships/font" Target="fonts/Lato-bold.fntdata"/><Relationship Id="rId43" Type="http://schemas.openxmlformats.org/officeDocument/2006/relationships/font" Target="fonts/Lato-regular.fntdata"/><Relationship Id="rId46" Type="http://schemas.openxmlformats.org/officeDocument/2006/relationships/font" Target="fonts/Lato-boldItalic.fntdata"/><Relationship Id="rId45"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alewayLight-bold.fntdata"/><Relationship Id="rId47" Type="http://schemas.openxmlformats.org/officeDocument/2006/relationships/font" Target="fonts/RalewayLight-regular.fntdata"/><Relationship Id="rId49" Type="http://schemas.openxmlformats.org/officeDocument/2006/relationships/font" Target="fonts/RalewayLigh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Raleway-regular.fntdata"/><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ShadowsIntoLight-regular.fntdata"/><Relationship Id="rId50" Type="http://schemas.openxmlformats.org/officeDocument/2006/relationships/font" Target="fonts/RalewayLight-boldItalic.fntdata"/><Relationship Id="rId53" Type="http://schemas.openxmlformats.org/officeDocument/2006/relationships/font" Target="fonts/CenturyGothic-bold.fntdata"/><Relationship Id="rId52" Type="http://schemas.openxmlformats.org/officeDocument/2006/relationships/font" Target="fonts/CenturyGothic-regular.fntdata"/><Relationship Id="rId11" Type="http://schemas.openxmlformats.org/officeDocument/2006/relationships/slide" Target="slides/slide5.xml"/><Relationship Id="rId55" Type="http://schemas.openxmlformats.org/officeDocument/2006/relationships/font" Target="fonts/CenturyGothic-boldItalic.fntdata"/><Relationship Id="rId10" Type="http://schemas.openxmlformats.org/officeDocument/2006/relationships/slide" Target="slides/slide4.xml"/><Relationship Id="rId54" Type="http://schemas.openxmlformats.org/officeDocument/2006/relationships/font" Target="fonts/CenturyGothic-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1432343c1a_0_8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1432343c1a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57d0b2b3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57d0b2b3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1432343c1a_0_1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1432343c1a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2310e2cc95_0_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2310e2cc9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1432343c1a_0_2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1432343c1a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1432343c1a_0_3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1432343c1a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1432343c1a_0_36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1432343c1a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1432343c1a_0_4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1432343c1a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1432343c1a_0_4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1432343c1a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1432343c1a_0_44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1432343c1a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1432343c1a_0_48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1432343c1a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1432343c1a_0_50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1432343c1a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1432343c1a_0_5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1432343c1a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432343c1a_0_57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432343c1a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1432343c1a_0_5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1432343c1a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1432343c1a_0_60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1432343c1a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1432343c1a_0_62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1432343c1a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1432343c1a_0_6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1432343c1a_0_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1432343c1a_0_66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1432343c1a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1432343c1a_0_70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1432343c1a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1432343c1a_0_7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1432343c1a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1432343c1a_0_7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1432343c1a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1432343c1a_0_7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1432343c1a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1432343c1a_0_75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1432343c1a_0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1432343c1a_0_76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1432343c1a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1432343c1a_0_77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1432343c1a_0_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1432343c1a_0_80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1432343c1a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1432343c1a_0_8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1432343c1a_0_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1432343c1a_0_8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1432343c1a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1432343c1a_0_87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1432343c1a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1432343c1a_0_88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1432343c1a_0_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1432343c1a_0_9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1432343c1a_0_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solidFill>
          <a:srgbClr val="FF5C5C"/>
        </a:solidFill>
      </p:bgPr>
    </p:bg>
    <p:spTree>
      <p:nvGrpSpPr>
        <p:cNvPr id="82" name="Shape 82"/>
        <p:cNvGrpSpPr/>
        <p:nvPr/>
      </p:nvGrpSpPr>
      <p:grpSpPr>
        <a:xfrm>
          <a:off x="0" y="0"/>
          <a:ext cx="0" cy="0"/>
          <a:chOff x="0" y="0"/>
          <a:chExt cx="0" cy="0"/>
        </a:xfrm>
      </p:grpSpPr>
      <p:sp>
        <p:nvSpPr>
          <p:cNvPr id="83" name="Google Shape;83;p13"/>
          <p:cNvSpPr txBox="1"/>
          <p:nvPr>
            <p:ph type="ctrTitle"/>
          </p:nvPr>
        </p:nvSpPr>
        <p:spPr>
          <a:xfrm>
            <a:off x="685800" y="2726342"/>
            <a:ext cx="7772400" cy="1159800"/>
          </a:xfrm>
          <a:prstGeom prst="rect">
            <a:avLst/>
          </a:prstGeom>
        </p:spPr>
        <p:txBody>
          <a:bodyPr anchorCtr="0" anchor="b" bIns="91425" lIns="91425" spcFirstLastPara="1" rIns="91425" wrap="square" tIns="91425">
            <a:normAutofit/>
          </a:bodyPr>
          <a:lstStyle>
            <a:lvl1pPr lvl="0" rtl="0">
              <a:spcBef>
                <a:spcPts val="0"/>
              </a:spcBef>
              <a:spcAft>
                <a:spcPts val="0"/>
              </a:spcAft>
              <a:buSzPts val="4800"/>
              <a:buFont typeface="Century Gothic"/>
              <a:buNone/>
              <a:defRPr b="1" sz="4800">
                <a:latin typeface="Century Gothic"/>
                <a:ea typeface="Century Gothic"/>
                <a:cs typeface="Century Gothic"/>
                <a:sym typeface="Century Gothic"/>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4" name="Google Shape;84;p13"/>
          <p:cNvSpPr txBox="1"/>
          <p:nvPr>
            <p:ph idx="1" type="subTitle"/>
          </p:nvPr>
        </p:nvSpPr>
        <p:spPr>
          <a:xfrm>
            <a:off x="685800" y="3830653"/>
            <a:ext cx="7772400" cy="7848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FFFFFF"/>
              </a:buClr>
              <a:buSzPts val="1300"/>
              <a:buFont typeface="Century Gothic"/>
              <a:buNone/>
              <a:defRPr>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p:txBody>
      </p:sp>
      <p:sp>
        <p:nvSpPr>
          <p:cNvPr id="85" name="Google Shape;85;p13"/>
          <p:cNvSpPr/>
          <p:nvPr/>
        </p:nvSpPr>
        <p:spPr>
          <a:xfrm>
            <a:off x="122175" y="254525"/>
            <a:ext cx="8582370" cy="4634439"/>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rgbClr val="FFFF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solidFill>
          <a:schemeClr val="lt1"/>
        </a:solidFill>
      </p:bgPr>
    </p:bg>
    <p:spTree>
      <p:nvGrpSpPr>
        <p:cNvPr id="86" name="Shape 86"/>
        <p:cNvGrpSpPr/>
        <p:nvPr/>
      </p:nvGrpSpPr>
      <p:grpSpPr>
        <a:xfrm>
          <a:off x="0" y="0"/>
          <a:ext cx="0" cy="0"/>
          <a:chOff x="0" y="0"/>
          <a:chExt cx="0" cy="0"/>
        </a:xfrm>
      </p:grpSpPr>
      <p:sp>
        <p:nvSpPr>
          <p:cNvPr id="87" name="Google Shape;87;p14"/>
          <p:cNvSpPr/>
          <p:nvPr/>
        </p:nvSpPr>
        <p:spPr>
          <a:xfrm flipH="1">
            <a:off x="145923" y="379875"/>
            <a:ext cx="8607352" cy="4634439"/>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88" name="Google Shape;88;p14"/>
          <p:cNvSpPr txBox="1"/>
          <p:nvPr>
            <p:ph idx="1" type="body"/>
          </p:nvPr>
        </p:nvSpPr>
        <p:spPr>
          <a:xfrm>
            <a:off x="1757200" y="2161800"/>
            <a:ext cx="5629800" cy="819900"/>
          </a:xfrm>
          <a:prstGeom prst="rect">
            <a:avLst/>
          </a:prstGeom>
        </p:spPr>
        <p:txBody>
          <a:bodyPr anchorCtr="0" anchor="ctr" bIns="91425" lIns="91425" spcFirstLastPara="1" rIns="91425" wrap="square" tIns="91425">
            <a:spAutoFit/>
          </a:bodyPr>
          <a:lstStyle>
            <a:lvl1pPr indent="-419100" lvl="0" marL="457200" rtl="0" algn="ctr">
              <a:spcBef>
                <a:spcPts val="0"/>
              </a:spcBef>
              <a:spcAft>
                <a:spcPts val="0"/>
              </a:spcAft>
              <a:buClr>
                <a:schemeClr val="accent5"/>
              </a:buClr>
              <a:buSzPts val="3000"/>
              <a:buChar char="●"/>
              <a:defRPr i="1" sz="3000">
                <a:solidFill>
                  <a:schemeClr val="accent5"/>
                </a:solidFill>
              </a:defRPr>
            </a:lvl1pPr>
            <a:lvl2pPr indent="-419100" lvl="1" marL="914400" rtl="0" algn="ctr">
              <a:spcBef>
                <a:spcPts val="0"/>
              </a:spcBef>
              <a:spcAft>
                <a:spcPts val="0"/>
              </a:spcAft>
              <a:buClr>
                <a:schemeClr val="accent5"/>
              </a:buClr>
              <a:buSzPts val="3000"/>
              <a:buChar char="○"/>
              <a:defRPr i="1" sz="3000">
                <a:solidFill>
                  <a:schemeClr val="accent5"/>
                </a:solidFill>
              </a:defRPr>
            </a:lvl2pPr>
            <a:lvl3pPr indent="-419100" lvl="2" marL="1371600" rtl="0" algn="ctr">
              <a:spcBef>
                <a:spcPts val="0"/>
              </a:spcBef>
              <a:spcAft>
                <a:spcPts val="0"/>
              </a:spcAft>
              <a:buClr>
                <a:schemeClr val="accent5"/>
              </a:buClr>
              <a:buSzPts val="3000"/>
              <a:buChar char="■"/>
              <a:defRPr i="1" sz="3000">
                <a:solidFill>
                  <a:schemeClr val="accent5"/>
                </a:solidFill>
              </a:defRPr>
            </a:lvl3pPr>
            <a:lvl4pPr indent="-419100" lvl="3" marL="1828800" rtl="0" algn="ctr">
              <a:spcBef>
                <a:spcPts val="0"/>
              </a:spcBef>
              <a:spcAft>
                <a:spcPts val="0"/>
              </a:spcAft>
              <a:buClr>
                <a:schemeClr val="accent5"/>
              </a:buClr>
              <a:buSzPts val="3000"/>
              <a:buChar char="●"/>
              <a:defRPr i="1" sz="3000">
                <a:solidFill>
                  <a:schemeClr val="accent5"/>
                </a:solidFill>
              </a:defRPr>
            </a:lvl4pPr>
            <a:lvl5pPr indent="-419100" lvl="4" marL="2286000" rtl="0" algn="ctr">
              <a:spcBef>
                <a:spcPts val="0"/>
              </a:spcBef>
              <a:spcAft>
                <a:spcPts val="0"/>
              </a:spcAft>
              <a:buClr>
                <a:schemeClr val="accent5"/>
              </a:buClr>
              <a:buSzPts val="3000"/>
              <a:buChar char="○"/>
              <a:defRPr i="1" sz="3000">
                <a:solidFill>
                  <a:schemeClr val="accent5"/>
                </a:solidFill>
              </a:defRPr>
            </a:lvl5pPr>
            <a:lvl6pPr indent="-419100" lvl="5" marL="2743200" rtl="0" algn="ctr">
              <a:spcBef>
                <a:spcPts val="0"/>
              </a:spcBef>
              <a:spcAft>
                <a:spcPts val="0"/>
              </a:spcAft>
              <a:buClr>
                <a:schemeClr val="accent5"/>
              </a:buClr>
              <a:buSzPts val="3000"/>
              <a:buChar char="■"/>
              <a:defRPr i="1" sz="3000">
                <a:solidFill>
                  <a:schemeClr val="accent5"/>
                </a:solidFill>
              </a:defRPr>
            </a:lvl6pPr>
            <a:lvl7pPr indent="-419100" lvl="6" marL="3200400" rtl="0" algn="ctr">
              <a:spcBef>
                <a:spcPts val="0"/>
              </a:spcBef>
              <a:spcAft>
                <a:spcPts val="0"/>
              </a:spcAft>
              <a:buClr>
                <a:schemeClr val="accent5"/>
              </a:buClr>
              <a:buSzPts val="3000"/>
              <a:buChar char="●"/>
              <a:defRPr i="1" sz="3000">
                <a:solidFill>
                  <a:schemeClr val="accent5"/>
                </a:solidFill>
              </a:defRPr>
            </a:lvl7pPr>
            <a:lvl8pPr indent="-419100" lvl="7" marL="3657600" rtl="0" algn="ctr">
              <a:spcBef>
                <a:spcPts val="0"/>
              </a:spcBef>
              <a:spcAft>
                <a:spcPts val="0"/>
              </a:spcAft>
              <a:buClr>
                <a:schemeClr val="accent5"/>
              </a:buClr>
              <a:buSzPts val="3000"/>
              <a:buChar char="○"/>
              <a:defRPr i="1" sz="3000">
                <a:solidFill>
                  <a:schemeClr val="accent5"/>
                </a:solidFill>
              </a:defRPr>
            </a:lvl8pPr>
            <a:lvl9pPr indent="-419100" lvl="8" marL="4114800" rtl="0" algn="ctr">
              <a:spcBef>
                <a:spcPts val="0"/>
              </a:spcBef>
              <a:spcAft>
                <a:spcPts val="0"/>
              </a:spcAft>
              <a:buClr>
                <a:schemeClr val="accent5"/>
              </a:buClr>
              <a:buSzPts val="3000"/>
              <a:buChar char="■"/>
              <a:defRPr i="1" sz="3000">
                <a:solidFill>
                  <a:schemeClr val="accent5"/>
                </a:solidFill>
              </a:defRPr>
            </a:lvl9pPr>
          </a:lstStyle>
          <a:p/>
        </p:txBody>
      </p:sp>
      <p:sp>
        <p:nvSpPr>
          <p:cNvPr id="89" name="Google Shape;89;p14"/>
          <p:cNvSpPr txBox="1"/>
          <p:nvPr/>
        </p:nvSpPr>
        <p:spPr>
          <a:xfrm>
            <a:off x="95575" y="0"/>
            <a:ext cx="7995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2000">
                <a:solidFill>
                  <a:schemeClr val="accent1"/>
                </a:solidFill>
                <a:latin typeface="Raleway"/>
                <a:ea typeface="Raleway"/>
                <a:cs typeface="Raleway"/>
                <a:sym typeface="Raleway"/>
              </a:rPr>
              <a:t>“</a:t>
            </a:r>
            <a:endParaRPr b="1" sz="12000">
              <a:solidFill>
                <a:schemeClr val="accent1"/>
              </a:solidFill>
              <a:latin typeface="Raleway"/>
              <a:ea typeface="Raleway"/>
              <a:cs typeface="Raleway"/>
              <a:sym typeface="Raleway"/>
            </a:endParaRPr>
          </a:p>
        </p:txBody>
      </p:sp>
      <p:sp>
        <p:nvSpPr>
          <p:cNvPr id="90" name="Google Shape;90;p14"/>
          <p:cNvSpPr txBox="1"/>
          <p:nvPr>
            <p:ph idx="12" type="sldNum"/>
          </p:nvPr>
        </p:nvSpPr>
        <p:spPr>
          <a:xfrm>
            <a:off x="8604400" y="4590300"/>
            <a:ext cx="539700" cy="5532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2">
    <p:bg>
      <p:bgPr>
        <a:solidFill>
          <a:srgbClr val="FF5C5C"/>
        </a:solidFill>
      </p:bgPr>
    </p:bg>
    <p:spTree>
      <p:nvGrpSpPr>
        <p:cNvPr id="91" name="Shape 91"/>
        <p:cNvGrpSpPr/>
        <p:nvPr/>
      </p:nvGrpSpPr>
      <p:grpSpPr>
        <a:xfrm>
          <a:off x="0" y="0"/>
          <a:ext cx="0" cy="0"/>
          <a:chOff x="0" y="0"/>
          <a:chExt cx="0" cy="0"/>
        </a:xfrm>
      </p:grpSpPr>
      <p:sp>
        <p:nvSpPr>
          <p:cNvPr id="92" name="Google Shape;92;p15"/>
          <p:cNvSpPr txBox="1"/>
          <p:nvPr>
            <p:ph type="ctrTitle"/>
          </p:nvPr>
        </p:nvSpPr>
        <p:spPr>
          <a:xfrm>
            <a:off x="685800" y="3287213"/>
            <a:ext cx="7772400" cy="1159800"/>
          </a:xfrm>
          <a:prstGeom prst="rect">
            <a:avLst/>
          </a:prstGeom>
        </p:spPr>
        <p:txBody>
          <a:bodyPr anchorCtr="0" anchor="b" bIns="91425" lIns="91425" spcFirstLastPara="1" rIns="91425" wrap="square" tIns="91425">
            <a:normAutofit/>
          </a:bodyPr>
          <a:lstStyle>
            <a:lvl1pPr lvl="0" rtl="0">
              <a:spcBef>
                <a:spcPts val="0"/>
              </a:spcBef>
              <a:spcAft>
                <a:spcPts val="0"/>
              </a:spcAft>
              <a:buClr>
                <a:srgbClr val="FFFFFF"/>
              </a:buClr>
              <a:buSzPts val="5600"/>
              <a:buFont typeface="Century Gothic"/>
              <a:buNone/>
              <a:defRPr b="1" sz="5600">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6000"/>
              <a:buNone/>
              <a:defRPr sz="6000">
                <a:solidFill>
                  <a:srgbClr val="FFFFFF"/>
                </a:solidFill>
              </a:defRPr>
            </a:lvl2pPr>
            <a:lvl3pPr lvl="2" rtl="0">
              <a:spcBef>
                <a:spcPts val="0"/>
              </a:spcBef>
              <a:spcAft>
                <a:spcPts val="0"/>
              </a:spcAft>
              <a:buClr>
                <a:srgbClr val="FFFFFF"/>
              </a:buClr>
              <a:buSzPts val="6000"/>
              <a:buNone/>
              <a:defRPr sz="6000">
                <a:solidFill>
                  <a:srgbClr val="FFFFFF"/>
                </a:solidFill>
              </a:defRPr>
            </a:lvl3pPr>
            <a:lvl4pPr lvl="3" rtl="0">
              <a:spcBef>
                <a:spcPts val="0"/>
              </a:spcBef>
              <a:spcAft>
                <a:spcPts val="0"/>
              </a:spcAft>
              <a:buClr>
                <a:srgbClr val="FFFFFF"/>
              </a:buClr>
              <a:buSzPts val="6000"/>
              <a:buNone/>
              <a:defRPr sz="6000">
                <a:solidFill>
                  <a:srgbClr val="FFFFFF"/>
                </a:solidFill>
              </a:defRPr>
            </a:lvl4pPr>
            <a:lvl5pPr lvl="4" rtl="0">
              <a:spcBef>
                <a:spcPts val="0"/>
              </a:spcBef>
              <a:spcAft>
                <a:spcPts val="0"/>
              </a:spcAft>
              <a:buClr>
                <a:srgbClr val="FFFFFF"/>
              </a:buClr>
              <a:buSzPts val="6000"/>
              <a:buNone/>
              <a:defRPr sz="6000">
                <a:solidFill>
                  <a:srgbClr val="FFFFFF"/>
                </a:solidFill>
              </a:defRPr>
            </a:lvl5pPr>
            <a:lvl6pPr lvl="5" rtl="0">
              <a:spcBef>
                <a:spcPts val="0"/>
              </a:spcBef>
              <a:spcAft>
                <a:spcPts val="0"/>
              </a:spcAft>
              <a:buClr>
                <a:srgbClr val="FFFFFF"/>
              </a:buClr>
              <a:buSzPts val="6000"/>
              <a:buNone/>
              <a:defRPr sz="6000">
                <a:solidFill>
                  <a:srgbClr val="FFFFFF"/>
                </a:solidFill>
              </a:defRPr>
            </a:lvl6pPr>
            <a:lvl7pPr lvl="6" rtl="0">
              <a:spcBef>
                <a:spcPts val="0"/>
              </a:spcBef>
              <a:spcAft>
                <a:spcPts val="0"/>
              </a:spcAft>
              <a:buClr>
                <a:srgbClr val="FFFFFF"/>
              </a:buClr>
              <a:buSzPts val="6000"/>
              <a:buNone/>
              <a:defRPr sz="6000">
                <a:solidFill>
                  <a:srgbClr val="FFFFFF"/>
                </a:solidFill>
              </a:defRPr>
            </a:lvl7pPr>
            <a:lvl8pPr lvl="7" rtl="0">
              <a:spcBef>
                <a:spcPts val="0"/>
              </a:spcBef>
              <a:spcAft>
                <a:spcPts val="0"/>
              </a:spcAft>
              <a:buClr>
                <a:srgbClr val="FFFFFF"/>
              </a:buClr>
              <a:buSzPts val="6000"/>
              <a:buNone/>
              <a:defRPr sz="6000">
                <a:solidFill>
                  <a:srgbClr val="FFFFFF"/>
                </a:solidFill>
              </a:defRPr>
            </a:lvl8pPr>
            <a:lvl9pPr lvl="8" rtl="0">
              <a:spcBef>
                <a:spcPts val="0"/>
              </a:spcBef>
              <a:spcAft>
                <a:spcPts val="0"/>
              </a:spcAft>
              <a:buClr>
                <a:srgbClr val="FFFFFF"/>
              </a:buClr>
              <a:buSzPts val="6000"/>
              <a:buNone/>
              <a:defRPr sz="6000">
                <a:solidFill>
                  <a:srgbClr val="FFFFFF"/>
                </a:solidFill>
              </a:defRPr>
            </a:lvl9pPr>
          </a:lstStyle>
          <a:p/>
        </p:txBody>
      </p:sp>
      <p:sp>
        <p:nvSpPr>
          <p:cNvPr id="93" name="Google Shape;93;p15"/>
          <p:cNvSpPr/>
          <p:nvPr/>
        </p:nvSpPr>
        <p:spPr>
          <a:xfrm>
            <a:off x="122175" y="254525"/>
            <a:ext cx="8582370" cy="4634439"/>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rgbClr val="FFFF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http://www.youtube.com/watch?v=wtl5UrrgU8c" TargetMode="Externa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hyperlink" Target="http://www.youtube.com/watch?v=wtl5UrrgU8c" TargetMode="External"/><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hyperlink" Target="https://docs.google.com/presentation/d/1-_VInGmbcsYRlZfYEJl2AR1cO80AP_Mn3Zy7o8zB_Ts/edit?usp=sharin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hyperlink" Target="https://docs.google.com/presentation/d/1-_VInGmbcsYRlZfYEJl2AR1cO80AP_Mn3Zy7o8zB_Ts/edit?usp=sharing"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hyperlink" Target="https://docs.google.com/presentation/d/1-_VInGmbcsYRlZfYEJl2AR1cO80AP_Mn3Zy7o8zB_Ts/edit?usp=sharin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hyperlink" Target="https://docs.google.com/presentation/d/1-_VInGmbcsYRlZfYEJl2AR1cO80AP_Mn3Zy7o8zB_Ts/edit?usp=sharin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txBox="1"/>
          <p:nvPr>
            <p:ph idx="4294967295" type="title"/>
          </p:nvPr>
        </p:nvSpPr>
        <p:spPr>
          <a:xfrm>
            <a:off x="3782550" y="1960425"/>
            <a:ext cx="4715400" cy="147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GB" sz="4200"/>
              <a:t>The art of giving feedback</a:t>
            </a:r>
            <a:endParaRPr sz="4200"/>
          </a:p>
        </p:txBody>
      </p:sp>
      <p:pic>
        <p:nvPicPr>
          <p:cNvPr id="99" name="Google Shape;99;p16"/>
          <p:cNvPicPr preferRelativeResize="0"/>
          <p:nvPr/>
        </p:nvPicPr>
        <p:blipFill rotWithShape="1">
          <a:blip r:embed="rId3">
            <a:alphaModFix/>
          </a:blip>
          <a:srcRect b="0" l="18290" r="18290" t="0"/>
          <a:stretch/>
        </p:blipFill>
        <p:spPr>
          <a:xfrm>
            <a:off x="296300" y="1019025"/>
            <a:ext cx="3360300" cy="3360300"/>
          </a:xfrm>
          <a:prstGeom prst="ellipse">
            <a:avLst/>
          </a:prstGeom>
          <a:noFill/>
          <a:ln>
            <a:noFill/>
          </a:ln>
        </p:spPr>
      </p:pic>
      <p:sp>
        <p:nvSpPr>
          <p:cNvPr id="100" name="Google Shape;100;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nvSpPr>
        <p:spPr>
          <a:xfrm>
            <a:off x="249900" y="1822075"/>
            <a:ext cx="7673700" cy="13785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1200"/>
              </a:spcBef>
              <a:spcAft>
                <a:spcPts val="0"/>
              </a:spcAft>
              <a:buNone/>
            </a:pPr>
            <a:r>
              <a:rPr lang="en-GB" sz="1200">
                <a:solidFill>
                  <a:schemeClr val="accent5"/>
                </a:solidFill>
                <a:highlight>
                  <a:srgbClr val="FFFFFF"/>
                </a:highlight>
              </a:rPr>
              <a:t>In this lesson, students discover a formula to help them give great feedback and learn some useful phrases for giving and receiving feedback in English. They also watch a video about giving feedback and learn vocabulary related to it. </a:t>
            </a:r>
            <a:endParaRPr sz="1200">
              <a:solidFill>
                <a:schemeClr val="accent5"/>
              </a:solidFill>
              <a:highlight>
                <a:srgbClr val="FFFFFF"/>
              </a:highlight>
            </a:endParaRPr>
          </a:p>
          <a:p>
            <a:pPr indent="0" lvl="0" marL="368300" marR="139700" rtl="0" algn="ctr">
              <a:lnSpc>
                <a:spcPct val="115000"/>
              </a:lnSpc>
              <a:spcBef>
                <a:spcPts val="1800"/>
              </a:spcBef>
              <a:spcAft>
                <a:spcPts val="0"/>
              </a:spcAft>
              <a:buNone/>
            </a:pPr>
            <a:r>
              <a:rPr lang="en-GB" sz="900">
                <a:solidFill>
                  <a:schemeClr val="accent5"/>
                </a:solidFill>
                <a:highlight>
                  <a:srgbClr val="FFD3D4"/>
                </a:highlight>
              </a:rPr>
              <a:t>C1 / Advanced</a:t>
            </a:r>
            <a:endParaRPr sz="900">
              <a:solidFill>
                <a:schemeClr val="accent5"/>
              </a:solidFill>
              <a:highlight>
                <a:srgbClr val="FFD3D4"/>
              </a:highlight>
            </a:endParaRPr>
          </a:p>
          <a:p>
            <a:pPr indent="0" lvl="0" marL="114300" marR="63500" rtl="0" algn="ctr">
              <a:lnSpc>
                <a:spcPct val="115000"/>
              </a:lnSpc>
              <a:spcBef>
                <a:spcPts val="0"/>
              </a:spcBef>
              <a:spcAft>
                <a:spcPts val="0"/>
              </a:spcAft>
              <a:buNone/>
            </a:pPr>
            <a:r>
              <a:rPr lang="en-GB" sz="900">
                <a:solidFill>
                  <a:schemeClr val="accent5"/>
                </a:solidFill>
                <a:highlight>
                  <a:srgbClr val="FFD3D4"/>
                </a:highlight>
              </a:rPr>
              <a:t>     C2 / Proficiency</a:t>
            </a:r>
            <a:endParaRPr sz="900">
              <a:solidFill>
                <a:schemeClr val="accent5"/>
              </a:solidFill>
              <a:highlight>
                <a:srgbClr val="FFD3D4"/>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AAAA"/>
        </a:solidFill>
      </p:bgPr>
    </p:bg>
    <p:spTree>
      <p:nvGrpSpPr>
        <p:cNvPr id="109" name="Shape 109"/>
        <p:cNvGrpSpPr/>
        <p:nvPr/>
      </p:nvGrpSpPr>
      <p:grpSpPr>
        <a:xfrm>
          <a:off x="0" y="0"/>
          <a:ext cx="0" cy="0"/>
          <a:chOff x="0" y="0"/>
          <a:chExt cx="0" cy="0"/>
        </a:xfrm>
      </p:grpSpPr>
      <p:sp>
        <p:nvSpPr>
          <p:cNvPr id="110" name="Google Shape;110;p18"/>
          <p:cNvSpPr txBox="1"/>
          <p:nvPr>
            <p:ph type="ctrTitle"/>
          </p:nvPr>
        </p:nvSpPr>
        <p:spPr>
          <a:xfrm>
            <a:off x="685800" y="2726342"/>
            <a:ext cx="7772400" cy="1159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solidFill>
                  <a:schemeClr val="lt1"/>
                </a:solidFill>
              </a:rPr>
              <a:t>Let’s get started</a:t>
            </a:r>
            <a:r>
              <a:rPr lang="en-GB"/>
              <a:t> </a:t>
            </a:r>
            <a:endParaRPr/>
          </a:p>
        </p:txBody>
      </p:sp>
      <p:sp>
        <p:nvSpPr>
          <p:cNvPr id="111" name="Google Shape;111;p18"/>
          <p:cNvSpPr txBox="1"/>
          <p:nvPr>
            <p:ph idx="1" type="subTitle"/>
          </p:nvPr>
        </p:nvSpPr>
        <p:spPr>
          <a:xfrm>
            <a:off x="685800" y="3830653"/>
            <a:ext cx="7772400" cy="78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with a warm-up </a:t>
            </a:r>
            <a:endParaRPr/>
          </a:p>
        </p:txBody>
      </p:sp>
      <p:pic>
        <p:nvPicPr>
          <p:cNvPr id="112" name="Google Shape;112;p18"/>
          <p:cNvPicPr preferRelativeResize="0"/>
          <p:nvPr/>
        </p:nvPicPr>
        <p:blipFill rotWithShape="1">
          <a:blip r:embed="rId3">
            <a:alphaModFix/>
          </a:blip>
          <a:srcRect b="0" l="0" r="0" t="0"/>
          <a:stretch/>
        </p:blipFill>
        <p:spPr>
          <a:xfrm>
            <a:off x="8034725" y="166113"/>
            <a:ext cx="886968" cy="88696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ph idx="12" type="sldNum"/>
          </p:nvPr>
        </p:nvSpPr>
        <p:spPr>
          <a:xfrm>
            <a:off x="8604400" y="4590300"/>
            <a:ext cx="539700" cy="5532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18" name="Google Shape;118;p19"/>
          <p:cNvSpPr txBox="1"/>
          <p:nvPr>
            <p:ph idx="1" type="body"/>
          </p:nvPr>
        </p:nvSpPr>
        <p:spPr>
          <a:xfrm>
            <a:off x="1314000" y="940500"/>
            <a:ext cx="6516000" cy="33801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GB" sz="3100"/>
              <a:t>“People ask you for criticism,</a:t>
            </a:r>
            <a:endParaRPr sz="3100"/>
          </a:p>
          <a:p>
            <a:pPr indent="0" lvl="0" marL="0" rtl="0" algn="ctr">
              <a:spcBef>
                <a:spcPts val="1200"/>
              </a:spcBef>
              <a:spcAft>
                <a:spcPts val="0"/>
              </a:spcAft>
              <a:buClr>
                <a:schemeClr val="dk1"/>
              </a:buClr>
              <a:buSzPts val="1100"/>
              <a:buFont typeface="Arial"/>
              <a:buNone/>
            </a:pPr>
            <a:r>
              <a:rPr lang="en-GB" sz="3100"/>
              <a:t>but they only want praise.”</a:t>
            </a:r>
            <a:endParaRPr sz="3100"/>
          </a:p>
          <a:p>
            <a:pPr indent="0" lvl="0" marL="0" rtl="0" algn="ctr">
              <a:spcBef>
                <a:spcPts val="1200"/>
              </a:spcBef>
              <a:spcAft>
                <a:spcPts val="0"/>
              </a:spcAft>
              <a:buClr>
                <a:schemeClr val="dk1"/>
              </a:buClr>
              <a:buSzPts val="1100"/>
              <a:buFont typeface="Arial"/>
              <a:buNone/>
            </a:pPr>
            <a:r>
              <a:t/>
            </a:r>
            <a:endParaRPr sz="3100"/>
          </a:p>
          <a:p>
            <a:pPr indent="0" lvl="0" marL="0" rtl="0" algn="l">
              <a:spcBef>
                <a:spcPts val="1200"/>
              </a:spcBef>
              <a:spcAft>
                <a:spcPts val="0"/>
              </a:spcAft>
              <a:buClr>
                <a:schemeClr val="dk1"/>
              </a:buClr>
              <a:buSzPts val="1100"/>
              <a:buFont typeface="Arial"/>
              <a:buNone/>
            </a:pPr>
            <a:r>
              <a:rPr lang="en-GB" sz="3100"/>
              <a:t>                     </a:t>
            </a:r>
            <a:r>
              <a:rPr i="0" lang="en-GB" sz="2500"/>
              <a:t>W. Somerset Maugham, </a:t>
            </a:r>
            <a:endParaRPr i="0" sz="2500"/>
          </a:p>
          <a:p>
            <a:pPr indent="0" lvl="0" marL="0" rtl="0" algn="ctr">
              <a:spcBef>
                <a:spcPts val="1200"/>
              </a:spcBef>
              <a:spcAft>
                <a:spcPts val="1200"/>
              </a:spcAft>
              <a:buClr>
                <a:schemeClr val="dk1"/>
              </a:buClr>
              <a:buSzPts val="1100"/>
              <a:buFont typeface="Arial"/>
              <a:buNone/>
            </a:pPr>
            <a:r>
              <a:rPr i="0" lang="en-GB" sz="2500"/>
              <a:t>English playwright</a:t>
            </a:r>
            <a:endParaRPr i="0" sz="2500"/>
          </a:p>
        </p:txBody>
      </p:sp>
      <p:sp>
        <p:nvSpPr>
          <p:cNvPr id="119" name="Google Shape;119;p19"/>
          <p:cNvSpPr txBox="1"/>
          <p:nvPr/>
        </p:nvSpPr>
        <p:spPr>
          <a:xfrm>
            <a:off x="1203150" y="4271175"/>
            <a:ext cx="6737700" cy="461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GB" sz="1800">
                <a:solidFill>
                  <a:schemeClr val="dk1"/>
                </a:solidFill>
                <a:latin typeface="Raleway Light"/>
                <a:ea typeface="Raleway Light"/>
                <a:cs typeface="Raleway Light"/>
                <a:sym typeface="Raleway Light"/>
              </a:rPr>
              <a:t>What does the quote mean to you? Do you agree with it?</a:t>
            </a:r>
            <a:endParaRPr>
              <a:solidFill>
                <a:schemeClr val="dk1"/>
              </a:solidFill>
              <a:latin typeface="Raleway Light"/>
              <a:ea typeface="Raleway Light"/>
              <a:cs typeface="Raleway Light"/>
              <a:sym typeface="Raleway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pic>
        <p:nvPicPr>
          <p:cNvPr id="125" name="Google Shape;125;p20"/>
          <p:cNvPicPr preferRelativeResize="0"/>
          <p:nvPr/>
        </p:nvPicPr>
        <p:blipFill rotWithShape="1">
          <a:blip r:embed="rId3">
            <a:alphaModFix/>
          </a:blip>
          <a:srcRect b="0" l="0" r="0" t="0"/>
          <a:stretch/>
        </p:blipFill>
        <p:spPr>
          <a:xfrm>
            <a:off x="434950" y="479200"/>
            <a:ext cx="899548" cy="899548"/>
          </a:xfrm>
          <a:prstGeom prst="rect">
            <a:avLst/>
          </a:prstGeom>
          <a:noFill/>
          <a:ln>
            <a:noFill/>
          </a:ln>
        </p:spPr>
      </p:pic>
      <p:sp>
        <p:nvSpPr>
          <p:cNvPr id="126" name="Google Shape;126;p20"/>
          <p:cNvSpPr txBox="1"/>
          <p:nvPr/>
        </p:nvSpPr>
        <p:spPr>
          <a:xfrm>
            <a:off x="1496250" y="658368"/>
            <a:ext cx="61515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Raleway"/>
                <a:ea typeface="Raleway"/>
                <a:cs typeface="Raleway"/>
                <a:sym typeface="Raleway"/>
              </a:rPr>
              <a:t>Discuss the </a:t>
            </a:r>
            <a:r>
              <a:rPr b="1" lang="en-GB" sz="1800">
                <a:latin typeface="Raleway"/>
                <a:ea typeface="Raleway"/>
                <a:cs typeface="Raleway"/>
                <a:sym typeface="Raleway"/>
              </a:rPr>
              <a:t>questio</a:t>
            </a:r>
            <a:r>
              <a:rPr b="1" lang="en-GB" sz="1800">
                <a:latin typeface="Raleway"/>
                <a:ea typeface="Raleway"/>
                <a:cs typeface="Raleway"/>
                <a:sym typeface="Raleway"/>
              </a:rPr>
              <a:t>ns</a:t>
            </a:r>
            <a:r>
              <a:rPr b="1" lang="en-GB" sz="1800">
                <a:latin typeface="Raleway"/>
                <a:ea typeface="Raleway"/>
                <a:cs typeface="Raleway"/>
                <a:sym typeface="Raleway"/>
              </a:rPr>
              <a:t>. Give reasons for your answers.</a:t>
            </a:r>
            <a:endParaRPr b="1" sz="1800">
              <a:latin typeface="Raleway"/>
              <a:ea typeface="Raleway"/>
              <a:cs typeface="Raleway"/>
              <a:sym typeface="Raleway"/>
            </a:endParaRPr>
          </a:p>
        </p:txBody>
      </p:sp>
      <p:sp>
        <p:nvSpPr>
          <p:cNvPr id="127" name="Google Shape;127;p20"/>
          <p:cNvSpPr txBox="1"/>
          <p:nvPr/>
        </p:nvSpPr>
        <p:spPr>
          <a:xfrm>
            <a:off x="1334500" y="1703775"/>
            <a:ext cx="6574200" cy="2837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Raleway Light"/>
              <a:buChar char="➔"/>
            </a:pPr>
            <a:r>
              <a:rPr lang="en-GB" sz="1800">
                <a:latin typeface="Raleway Light"/>
                <a:ea typeface="Raleway Light"/>
                <a:cs typeface="Raleway Light"/>
                <a:sym typeface="Raleway Light"/>
              </a:rPr>
              <a:t>What is feedback?</a:t>
            </a:r>
            <a:endParaRPr sz="1800">
              <a:latin typeface="Raleway Light"/>
              <a:ea typeface="Raleway Light"/>
              <a:cs typeface="Raleway Light"/>
              <a:sym typeface="Raleway Light"/>
            </a:endParaRPr>
          </a:p>
          <a:p>
            <a:pPr indent="-342900" lvl="0" marL="457200" rtl="0" algn="l">
              <a:lnSpc>
                <a:spcPct val="115000"/>
              </a:lnSpc>
              <a:spcBef>
                <a:spcPts val="1000"/>
              </a:spcBef>
              <a:spcAft>
                <a:spcPts val="0"/>
              </a:spcAft>
              <a:buSzPts val="1800"/>
              <a:buFont typeface="Raleway Light"/>
              <a:buChar char="➔"/>
            </a:pPr>
            <a:r>
              <a:rPr lang="en-GB" sz="1800">
                <a:latin typeface="Raleway Light"/>
                <a:ea typeface="Raleway Light"/>
                <a:cs typeface="Raleway Light"/>
                <a:sym typeface="Raleway Light"/>
              </a:rPr>
              <a:t>In which situations might you give and receive feedback?</a:t>
            </a:r>
            <a:endParaRPr sz="1800">
              <a:latin typeface="Raleway Light"/>
              <a:ea typeface="Raleway Light"/>
              <a:cs typeface="Raleway Light"/>
              <a:sym typeface="Raleway Light"/>
            </a:endParaRPr>
          </a:p>
          <a:p>
            <a:pPr indent="-342900" lvl="0" marL="457200" rtl="0" algn="l">
              <a:lnSpc>
                <a:spcPct val="115000"/>
              </a:lnSpc>
              <a:spcBef>
                <a:spcPts val="1000"/>
              </a:spcBef>
              <a:spcAft>
                <a:spcPts val="0"/>
              </a:spcAft>
              <a:buSzPts val="1800"/>
              <a:buFont typeface="Raleway Light"/>
              <a:buChar char="➔"/>
            </a:pPr>
            <a:r>
              <a:rPr lang="en-GB" sz="1800">
                <a:latin typeface="Raleway Light"/>
                <a:ea typeface="Raleway Light"/>
                <a:cs typeface="Raleway Light"/>
                <a:sym typeface="Raleway Light"/>
              </a:rPr>
              <a:t>When was the last time you gave or received feedback? What happened?</a:t>
            </a:r>
            <a:endParaRPr sz="1800">
              <a:latin typeface="Raleway Light"/>
              <a:ea typeface="Raleway Light"/>
              <a:cs typeface="Raleway Light"/>
              <a:sym typeface="Raleway Light"/>
            </a:endParaRPr>
          </a:p>
          <a:p>
            <a:pPr indent="-342900" lvl="0" marL="457200" rtl="0" algn="l">
              <a:lnSpc>
                <a:spcPct val="115000"/>
              </a:lnSpc>
              <a:spcBef>
                <a:spcPts val="1000"/>
              </a:spcBef>
              <a:spcAft>
                <a:spcPts val="1000"/>
              </a:spcAft>
              <a:buSzPts val="1800"/>
              <a:buFont typeface="Raleway Light"/>
              <a:buChar char="➔"/>
            </a:pPr>
            <a:r>
              <a:rPr lang="en-GB" sz="1800">
                <a:latin typeface="Raleway Light"/>
                <a:ea typeface="Raleway Light"/>
                <a:cs typeface="Raleway Light"/>
                <a:sym typeface="Raleway Light"/>
              </a:rPr>
              <a:t>Have you received any feedback recently?</a:t>
            </a:r>
            <a:endParaRPr>
              <a:latin typeface="Raleway Light"/>
              <a:ea typeface="Raleway Light"/>
              <a:cs typeface="Raleway Light"/>
              <a:sym typeface="Raleway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AAAA"/>
        </a:solidFill>
      </p:bgPr>
    </p:bg>
    <p:spTree>
      <p:nvGrpSpPr>
        <p:cNvPr id="131" name="Shape 131"/>
        <p:cNvGrpSpPr/>
        <p:nvPr/>
      </p:nvGrpSpPr>
      <p:grpSpPr>
        <a:xfrm>
          <a:off x="0" y="0"/>
          <a:ext cx="0" cy="0"/>
          <a:chOff x="0" y="0"/>
          <a:chExt cx="0" cy="0"/>
        </a:xfrm>
      </p:grpSpPr>
      <p:pic>
        <p:nvPicPr>
          <p:cNvPr id="132" name="Google Shape;132;p21"/>
          <p:cNvPicPr preferRelativeResize="0"/>
          <p:nvPr/>
        </p:nvPicPr>
        <p:blipFill rotWithShape="1">
          <a:blip r:embed="rId3">
            <a:alphaModFix/>
          </a:blip>
          <a:srcRect b="0" l="0" r="0" t="0"/>
          <a:stretch/>
        </p:blipFill>
        <p:spPr>
          <a:xfrm>
            <a:off x="8025763" y="135838"/>
            <a:ext cx="886968" cy="886968"/>
          </a:xfrm>
          <a:prstGeom prst="rect">
            <a:avLst/>
          </a:prstGeom>
          <a:noFill/>
          <a:ln>
            <a:noFill/>
          </a:ln>
        </p:spPr>
      </p:pic>
      <p:sp>
        <p:nvSpPr>
          <p:cNvPr id="133" name="Google Shape;133;p21"/>
          <p:cNvSpPr txBox="1"/>
          <p:nvPr>
            <p:ph type="ctrTitle"/>
          </p:nvPr>
        </p:nvSpPr>
        <p:spPr>
          <a:xfrm>
            <a:off x="685800" y="2726342"/>
            <a:ext cx="7772400" cy="8619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GB" sz="4400">
                <a:solidFill>
                  <a:schemeClr val="lt1"/>
                </a:solidFill>
              </a:rPr>
              <a:t>V</a:t>
            </a:r>
            <a:r>
              <a:rPr lang="en-GB" sz="4400">
                <a:solidFill>
                  <a:schemeClr val="lt1"/>
                </a:solidFill>
              </a:rPr>
              <a:t>ocabulary</a:t>
            </a:r>
            <a:endParaRPr sz="44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139" name="Google Shape;139;p22"/>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140" name="Google Shape;140;p22"/>
          <p:cNvSpPr txBox="1"/>
          <p:nvPr/>
        </p:nvSpPr>
        <p:spPr>
          <a:xfrm>
            <a:off x="393192" y="310896"/>
            <a:ext cx="705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Raleway"/>
                <a:ea typeface="Raleway"/>
                <a:cs typeface="Raleway"/>
                <a:sym typeface="Raleway"/>
              </a:rPr>
              <a:t>Match the definitions to the words in the box.</a:t>
            </a:r>
            <a:endParaRPr b="1" sz="1800">
              <a:latin typeface="Raleway"/>
              <a:ea typeface="Raleway"/>
              <a:cs typeface="Raleway"/>
              <a:sym typeface="Raleway"/>
            </a:endParaRPr>
          </a:p>
        </p:txBody>
      </p:sp>
      <p:sp>
        <p:nvSpPr>
          <p:cNvPr id="141" name="Google Shape;141;p22"/>
          <p:cNvSpPr txBox="1"/>
          <p:nvPr/>
        </p:nvSpPr>
        <p:spPr>
          <a:xfrm>
            <a:off x="393200" y="1496808"/>
            <a:ext cx="7482900" cy="3545400"/>
          </a:xfrm>
          <a:prstGeom prst="rect">
            <a:avLst/>
          </a:prstGeom>
          <a:noFill/>
          <a:ln>
            <a:noFill/>
          </a:ln>
        </p:spPr>
        <p:txBody>
          <a:bodyPr anchorCtr="0" anchor="t" bIns="91425" lIns="91425" spcFirstLastPara="1" rIns="91425" wrap="square" tIns="91425">
            <a:spAutoFit/>
          </a:bodyPr>
          <a:lstStyle/>
          <a:p>
            <a:pPr indent="-330200" lvl="0" marL="457200" rtl="0" algn="l">
              <a:lnSpc>
                <a:spcPct val="100000"/>
              </a:lnSpc>
              <a:spcBef>
                <a:spcPts val="0"/>
              </a:spcBef>
              <a:spcAft>
                <a:spcPts val="0"/>
              </a:spcAft>
              <a:buSzPts val="1600"/>
              <a:buFont typeface="Raleway Light"/>
              <a:buAutoNum type="alphaUcPeriod"/>
            </a:pPr>
            <a:r>
              <a:rPr lang="en-GB" sz="1600">
                <a:latin typeface="Raleway Light"/>
                <a:ea typeface="Raleway Light"/>
                <a:cs typeface="Raleway Light"/>
                <a:sym typeface="Raleway Light"/>
              </a:rPr>
              <a:t>the fact of </a:t>
            </a:r>
            <a:r>
              <a:rPr lang="en-GB" sz="1600">
                <a:latin typeface="Raleway Light"/>
                <a:ea typeface="Raleway Light"/>
                <a:cs typeface="Raleway Light"/>
                <a:sym typeface="Raleway Light"/>
              </a:rPr>
              <a:t>agreeing with, accepting or supporting something that another person suggests or does</a:t>
            </a:r>
            <a:endParaRPr sz="1600">
              <a:latin typeface="Raleway Light"/>
              <a:ea typeface="Raleway Light"/>
              <a:cs typeface="Raleway Light"/>
              <a:sym typeface="Raleway Light"/>
            </a:endParaRPr>
          </a:p>
          <a:p>
            <a:pPr indent="-330200" lvl="0" marL="457200" rtl="0" algn="l">
              <a:lnSpc>
                <a:spcPct val="100000"/>
              </a:lnSpc>
              <a:spcBef>
                <a:spcPts val="1000"/>
              </a:spcBef>
              <a:spcAft>
                <a:spcPts val="0"/>
              </a:spcAft>
              <a:buSzPts val="1600"/>
              <a:buFont typeface="Raleway Light"/>
              <a:buAutoNum type="alphaUcPeriod"/>
            </a:pPr>
            <a:r>
              <a:rPr lang="en-GB" sz="1600">
                <a:latin typeface="Raleway Light"/>
                <a:ea typeface="Raleway Light"/>
                <a:cs typeface="Raleway Light"/>
                <a:sym typeface="Raleway Light"/>
              </a:rPr>
              <a:t>having lost your confidence, enthusiasm and hope</a:t>
            </a:r>
            <a:endParaRPr sz="1600">
              <a:latin typeface="Raleway Light"/>
              <a:ea typeface="Raleway Light"/>
              <a:cs typeface="Raleway Light"/>
              <a:sym typeface="Raleway Light"/>
            </a:endParaRPr>
          </a:p>
          <a:p>
            <a:pPr indent="-330200" lvl="0" marL="457200" rtl="0" algn="l">
              <a:lnSpc>
                <a:spcPct val="100000"/>
              </a:lnSpc>
              <a:spcBef>
                <a:spcPts val="1000"/>
              </a:spcBef>
              <a:spcAft>
                <a:spcPts val="0"/>
              </a:spcAft>
              <a:buSzPts val="1600"/>
              <a:buFont typeface="Raleway Light"/>
              <a:buAutoNum type="alphaUcPeriod"/>
            </a:pPr>
            <a:r>
              <a:rPr lang="en-GB" sz="1600">
                <a:latin typeface="Raleway Light"/>
                <a:ea typeface="Raleway Light"/>
                <a:cs typeface="Raleway Light"/>
                <a:sym typeface="Raleway Light"/>
              </a:rPr>
              <a:t>have a very strong feeling of wanting something</a:t>
            </a:r>
            <a:endParaRPr sz="1600">
              <a:latin typeface="Raleway Light"/>
              <a:ea typeface="Raleway Light"/>
              <a:cs typeface="Raleway Light"/>
              <a:sym typeface="Raleway Light"/>
            </a:endParaRPr>
          </a:p>
          <a:p>
            <a:pPr indent="-330200" lvl="0" marL="457200" rtl="0" algn="l">
              <a:lnSpc>
                <a:spcPct val="100000"/>
              </a:lnSpc>
              <a:spcBef>
                <a:spcPts val="1000"/>
              </a:spcBef>
              <a:spcAft>
                <a:spcPts val="0"/>
              </a:spcAft>
              <a:buSzPts val="1600"/>
              <a:buFont typeface="Raleway Light"/>
              <a:buAutoNum type="alphaUcPeriod"/>
            </a:pPr>
            <a:r>
              <a:rPr lang="en-GB" sz="1600">
                <a:latin typeface="Raleway Light"/>
                <a:ea typeface="Raleway Light"/>
                <a:cs typeface="Raleway Light"/>
                <a:sym typeface="Raleway Light"/>
              </a:rPr>
              <a:t>able to be done or acted on, having practical value</a:t>
            </a:r>
            <a:endParaRPr sz="1600">
              <a:latin typeface="Raleway Light"/>
              <a:ea typeface="Raleway Light"/>
              <a:cs typeface="Raleway Light"/>
              <a:sym typeface="Raleway Light"/>
            </a:endParaRPr>
          </a:p>
          <a:p>
            <a:pPr indent="-330200" lvl="0" marL="457200" rtl="0" algn="l">
              <a:lnSpc>
                <a:spcPct val="100000"/>
              </a:lnSpc>
              <a:spcBef>
                <a:spcPts val="1000"/>
              </a:spcBef>
              <a:spcAft>
                <a:spcPts val="0"/>
              </a:spcAft>
              <a:buSzPts val="1600"/>
              <a:buFont typeface="Raleway Light"/>
              <a:buAutoNum type="alphaUcPeriod"/>
            </a:pPr>
            <a:r>
              <a:rPr lang="en-GB" sz="1600">
                <a:latin typeface="Raleway Light"/>
                <a:ea typeface="Raleway Light"/>
                <a:cs typeface="Raleway Light"/>
                <a:sym typeface="Raleway Light"/>
              </a:rPr>
              <a:t>form an incorrect understanding of something that is said or done</a:t>
            </a:r>
            <a:endParaRPr sz="1600">
              <a:latin typeface="Raleway Light"/>
              <a:ea typeface="Raleway Light"/>
              <a:cs typeface="Raleway Light"/>
              <a:sym typeface="Raleway Light"/>
            </a:endParaRPr>
          </a:p>
          <a:p>
            <a:pPr indent="-330200" lvl="0" marL="457200" rtl="0" algn="l">
              <a:lnSpc>
                <a:spcPct val="100000"/>
              </a:lnSpc>
              <a:spcBef>
                <a:spcPts val="1000"/>
              </a:spcBef>
              <a:spcAft>
                <a:spcPts val="0"/>
              </a:spcAft>
              <a:buSzPts val="1600"/>
              <a:buFont typeface="Raleway Light"/>
              <a:buAutoNum type="alphaUcPeriod"/>
            </a:pPr>
            <a:r>
              <a:rPr lang="en-GB" sz="1600">
                <a:latin typeface="Raleway Light"/>
                <a:ea typeface="Raleway Light"/>
                <a:cs typeface="Raleway Light"/>
                <a:sym typeface="Raleway Light"/>
              </a:rPr>
              <a:t>very anxious to challenge or avoid criticism</a:t>
            </a:r>
            <a:endParaRPr sz="1600">
              <a:latin typeface="Raleway Light"/>
              <a:ea typeface="Raleway Light"/>
              <a:cs typeface="Raleway Light"/>
              <a:sym typeface="Raleway Light"/>
            </a:endParaRPr>
          </a:p>
          <a:p>
            <a:pPr indent="-330200" lvl="0" marL="457200" rtl="0" algn="l">
              <a:lnSpc>
                <a:spcPct val="100000"/>
              </a:lnSpc>
              <a:spcBef>
                <a:spcPts val="1000"/>
              </a:spcBef>
              <a:spcAft>
                <a:spcPts val="0"/>
              </a:spcAft>
              <a:buSzPts val="1600"/>
              <a:buFont typeface="Raleway Light"/>
              <a:buAutoNum type="alphaUcPeriod"/>
            </a:pPr>
            <a:r>
              <a:rPr lang="en-GB" sz="1600">
                <a:latin typeface="Raleway Light"/>
                <a:ea typeface="Raleway Light"/>
                <a:cs typeface="Raleway Light"/>
                <a:sym typeface="Raleway Light"/>
              </a:rPr>
              <a:t>the ability to make your own decisions without being controlled by anyone else</a:t>
            </a:r>
            <a:endParaRPr sz="1600">
              <a:latin typeface="Raleway Light"/>
              <a:ea typeface="Raleway Light"/>
              <a:cs typeface="Raleway Light"/>
              <a:sym typeface="Raleway Light"/>
            </a:endParaRPr>
          </a:p>
          <a:p>
            <a:pPr indent="-330200" lvl="0" marL="457200" rtl="0" algn="l">
              <a:lnSpc>
                <a:spcPct val="100000"/>
              </a:lnSpc>
              <a:spcBef>
                <a:spcPts val="1000"/>
              </a:spcBef>
              <a:spcAft>
                <a:spcPts val="1000"/>
              </a:spcAft>
              <a:buSzPts val="1600"/>
              <a:buFont typeface="Raleway Light"/>
              <a:buAutoNum type="alphaUcPeriod"/>
            </a:pPr>
            <a:r>
              <a:rPr lang="en-GB" sz="1600">
                <a:latin typeface="Raleway Light"/>
                <a:ea typeface="Raleway Light"/>
                <a:cs typeface="Raleway Light"/>
                <a:sym typeface="Raleway Light"/>
              </a:rPr>
              <a:t>a good reason or explanation for something </a:t>
            </a:r>
            <a:endParaRPr sz="1600">
              <a:latin typeface="Raleway Light"/>
              <a:ea typeface="Raleway Light"/>
              <a:cs typeface="Raleway Light"/>
              <a:sym typeface="Raleway Light"/>
            </a:endParaRPr>
          </a:p>
        </p:txBody>
      </p:sp>
      <p:sp>
        <p:nvSpPr>
          <p:cNvPr id="142" name="Google Shape;142;p22"/>
          <p:cNvSpPr/>
          <p:nvPr/>
        </p:nvSpPr>
        <p:spPr>
          <a:xfrm>
            <a:off x="393200" y="772600"/>
            <a:ext cx="7392600" cy="724200"/>
          </a:xfrm>
          <a:prstGeom prst="roundRect">
            <a:avLst>
              <a:gd fmla="val 16667" name="adj"/>
            </a:avLst>
          </a:prstGeom>
          <a:noFill/>
          <a:ln cap="flat" cmpd="sng" w="9525">
            <a:solidFill>
              <a:srgbClr val="60AE92"/>
            </a:solidFill>
            <a:prstDash val="solid"/>
            <a:round/>
            <a:headEnd len="sm" w="sm" type="none"/>
            <a:tailEnd len="sm" w="sm" type="none"/>
          </a:ln>
        </p:spPr>
        <p:txBody>
          <a:bodyPr anchorCtr="0" anchor="t" bIns="91425" lIns="91425" spcFirstLastPara="1" rIns="91425" wrap="square" tIns="54000">
            <a:noAutofit/>
          </a:bodyPr>
          <a:lstStyle/>
          <a:p>
            <a:pPr indent="0" lvl="0" marL="0" rtl="0" algn="ctr">
              <a:lnSpc>
                <a:spcPct val="115000"/>
              </a:lnSpc>
              <a:spcBef>
                <a:spcPts val="0"/>
              </a:spcBef>
              <a:spcAft>
                <a:spcPts val="0"/>
              </a:spcAft>
              <a:buNone/>
            </a:pPr>
            <a:r>
              <a:rPr lang="en-GB" sz="1600">
                <a:solidFill>
                  <a:schemeClr val="dk1"/>
                </a:solidFill>
                <a:latin typeface="Raleway Light"/>
                <a:ea typeface="Raleway Light"/>
                <a:cs typeface="Raleway Light"/>
                <a:sym typeface="Raleway Light"/>
              </a:rPr>
              <a:t>actionable 	      	autonomy 	      	buy-in       	      	crave </a:t>
            </a:r>
            <a:endParaRPr sz="1600">
              <a:solidFill>
                <a:schemeClr val="dk1"/>
              </a:solidFill>
              <a:latin typeface="Raleway Light"/>
              <a:ea typeface="Raleway Light"/>
              <a:cs typeface="Raleway Light"/>
              <a:sym typeface="Raleway Light"/>
            </a:endParaRPr>
          </a:p>
          <a:p>
            <a:pPr indent="0" lvl="0" marL="0" rtl="0" algn="ctr">
              <a:lnSpc>
                <a:spcPct val="115000"/>
              </a:lnSpc>
              <a:spcBef>
                <a:spcPts val="0"/>
              </a:spcBef>
              <a:spcAft>
                <a:spcPts val="0"/>
              </a:spcAft>
              <a:buNone/>
            </a:pPr>
            <a:r>
              <a:rPr lang="en-GB" sz="1600">
                <a:solidFill>
                  <a:schemeClr val="dk1"/>
                </a:solidFill>
                <a:latin typeface="Raleway Light"/>
                <a:ea typeface="Raleway Light"/>
                <a:cs typeface="Raleway Light"/>
                <a:sym typeface="Raleway Light"/>
              </a:rPr>
              <a:t>defensive  	      	demoralized        	justification         	misinterpret</a:t>
            </a:r>
            <a:endParaRPr sz="1600" u="sng">
              <a:solidFill>
                <a:schemeClr val="dk1"/>
              </a:solidFill>
              <a:latin typeface="Raleway Light"/>
              <a:ea typeface="Raleway Light"/>
              <a:cs typeface="Raleway Light"/>
              <a:sym typeface="Raleway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6" name="Shape 146"/>
        <p:cNvGrpSpPr/>
        <p:nvPr/>
      </p:nvGrpSpPr>
      <p:grpSpPr>
        <a:xfrm>
          <a:off x="0" y="0"/>
          <a:ext cx="0" cy="0"/>
          <a:chOff x="0" y="0"/>
          <a:chExt cx="0" cy="0"/>
        </a:xfrm>
      </p:grpSpPr>
      <p:sp>
        <p:nvSpPr>
          <p:cNvPr id="147" name="Google Shape;147;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148" name="Google Shape;148;p23"/>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149" name="Google Shape;149;p23"/>
          <p:cNvSpPr txBox="1"/>
          <p:nvPr/>
        </p:nvSpPr>
        <p:spPr>
          <a:xfrm>
            <a:off x="393192" y="310896"/>
            <a:ext cx="705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Raleway"/>
                <a:ea typeface="Raleway"/>
                <a:cs typeface="Raleway"/>
                <a:sym typeface="Raleway"/>
              </a:rPr>
              <a:t>Let’s check your answers.</a:t>
            </a:r>
            <a:endParaRPr b="1" sz="1800">
              <a:latin typeface="Raleway"/>
              <a:ea typeface="Raleway"/>
              <a:cs typeface="Raleway"/>
              <a:sym typeface="Raleway"/>
            </a:endParaRPr>
          </a:p>
        </p:txBody>
      </p:sp>
      <p:sp>
        <p:nvSpPr>
          <p:cNvPr id="150" name="Google Shape;150;p23"/>
          <p:cNvSpPr/>
          <p:nvPr/>
        </p:nvSpPr>
        <p:spPr>
          <a:xfrm>
            <a:off x="393200" y="772600"/>
            <a:ext cx="7392600" cy="724200"/>
          </a:xfrm>
          <a:prstGeom prst="roundRect">
            <a:avLst>
              <a:gd fmla="val 16667" name="adj"/>
            </a:avLst>
          </a:prstGeom>
          <a:noFill/>
          <a:ln cap="flat" cmpd="sng" w="9525">
            <a:solidFill>
              <a:srgbClr val="60AE92"/>
            </a:solidFill>
            <a:prstDash val="solid"/>
            <a:round/>
            <a:headEnd len="sm" w="sm" type="none"/>
            <a:tailEnd len="sm" w="sm" type="none"/>
          </a:ln>
        </p:spPr>
        <p:txBody>
          <a:bodyPr anchorCtr="0" anchor="t" bIns="91425" lIns="91425" spcFirstLastPara="1" rIns="91425" wrap="square" tIns="54000">
            <a:noAutofit/>
          </a:bodyPr>
          <a:lstStyle/>
          <a:p>
            <a:pPr indent="0" lvl="0" marL="0" rtl="0" algn="ctr">
              <a:lnSpc>
                <a:spcPct val="115000"/>
              </a:lnSpc>
              <a:spcBef>
                <a:spcPts val="0"/>
              </a:spcBef>
              <a:spcAft>
                <a:spcPts val="0"/>
              </a:spcAft>
              <a:buNone/>
            </a:pPr>
            <a:r>
              <a:rPr lang="en-GB" sz="1600">
                <a:solidFill>
                  <a:schemeClr val="dk1"/>
                </a:solidFill>
                <a:latin typeface="Raleway Light"/>
                <a:ea typeface="Raleway Light"/>
                <a:cs typeface="Raleway Light"/>
                <a:sym typeface="Raleway Light"/>
              </a:rPr>
              <a:t>actionable 	      	autonomy 	      	buy-in       	      	crave </a:t>
            </a:r>
            <a:endParaRPr sz="1600">
              <a:solidFill>
                <a:schemeClr val="dk1"/>
              </a:solidFill>
              <a:latin typeface="Raleway Light"/>
              <a:ea typeface="Raleway Light"/>
              <a:cs typeface="Raleway Light"/>
              <a:sym typeface="Raleway Light"/>
            </a:endParaRPr>
          </a:p>
          <a:p>
            <a:pPr indent="0" lvl="0" marL="0" rtl="0" algn="ctr">
              <a:lnSpc>
                <a:spcPct val="115000"/>
              </a:lnSpc>
              <a:spcBef>
                <a:spcPts val="0"/>
              </a:spcBef>
              <a:spcAft>
                <a:spcPts val="0"/>
              </a:spcAft>
              <a:buNone/>
            </a:pPr>
            <a:r>
              <a:rPr lang="en-GB" sz="1600">
                <a:solidFill>
                  <a:schemeClr val="dk1"/>
                </a:solidFill>
                <a:latin typeface="Raleway Light"/>
                <a:ea typeface="Raleway Light"/>
                <a:cs typeface="Raleway Light"/>
                <a:sym typeface="Raleway Light"/>
              </a:rPr>
              <a:t>defensive  	      	demoralized        	justification         	misinterpret</a:t>
            </a:r>
            <a:endParaRPr sz="1600" u="sng">
              <a:solidFill>
                <a:schemeClr val="dk1"/>
              </a:solidFill>
              <a:latin typeface="Raleway Light"/>
              <a:ea typeface="Raleway Light"/>
              <a:cs typeface="Raleway Light"/>
              <a:sym typeface="Raleway Light"/>
            </a:endParaRPr>
          </a:p>
        </p:txBody>
      </p:sp>
      <p:sp>
        <p:nvSpPr>
          <p:cNvPr id="151" name="Google Shape;151;p23"/>
          <p:cNvSpPr txBox="1"/>
          <p:nvPr/>
        </p:nvSpPr>
        <p:spPr>
          <a:xfrm>
            <a:off x="393200" y="1496808"/>
            <a:ext cx="7482900" cy="3545400"/>
          </a:xfrm>
          <a:prstGeom prst="rect">
            <a:avLst/>
          </a:prstGeom>
          <a:noFill/>
          <a:ln>
            <a:noFill/>
          </a:ln>
        </p:spPr>
        <p:txBody>
          <a:bodyPr anchorCtr="0" anchor="t" bIns="91425" lIns="91425" spcFirstLastPara="1" rIns="91425" wrap="square" tIns="91425">
            <a:spAutoFit/>
          </a:bodyPr>
          <a:lstStyle/>
          <a:p>
            <a:pPr indent="-330200" lvl="0" marL="457200" rtl="0" algn="l">
              <a:lnSpc>
                <a:spcPct val="100000"/>
              </a:lnSpc>
              <a:spcBef>
                <a:spcPts val="0"/>
              </a:spcBef>
              <a:spcAft>
                <a:spcPts val="0"/>
              </a:spcAft>
              <a:buSzPts val="1600"/>
              <a:buFont typeface="Raleway Light"/>
              <a:buAutoNum type="alphaUcPeriod"/>
            </a:pPr>
            <a:r>
              <a:rPr lang="en-GB" sz="1600">
                <a:latin typeface="Raleway Light"/>
                <a:ea typeface="Raleway Light"/>
                <a:cs typeface="Raleway Light"/>
                <a:sym typeface="Raleway Light"/>
              </a:rPr>
              <a:t>the fact of </a:t>
            </a:r>
            <a:r>
              <a:rPr lang="en-GB" sz="1600">
                <a:latin typeface="Raleway Light"/>
                <a:ea typeface="Raleway Light"/>
                <a:cs typeface="Raleway Light"/>
                <a:sym typeface="Raleway Light"/>
              </a:rPr>
              <a:t>agreeing with, accepting or supporting something that another person suggests or does</a:t>
            </a:r>
            <a:endParaRPr sz="1600">
              <a:latin typeface="Raleway Light"/>
              <a:ea typeface="Raleway Light"/>
              <a:cs typeface="Raleway Light"/>
              <a:sym typeface="Raleway Light"/>
            </a:endParaRPr>
          </a:p>
          <a:p>
            <a:pPr indent="-330200" lvl="0" marL="457200" rtl="0" algn="l">
              <a:lnSpc>
                <a:spcPct val="100000"/>
              </a:lnSpc>
              <a:spcBef>
                <a:spcPts val="1000"/>
              </a:spcBef>
              <a:spcAft>
                <a:spcPts val="0"/>
              </a:spcAft>
              <a:buSzPts val="1600"/>
              <a:buFont typeface="Raleway Light"/>
              <a:buAutoNum type="alphaUcPeriod"/>
            </a:pPr>
            <a:r>
              <a:rPr lang="en-GB" sz="1600">
                <a:latin typeface="Raleway Light"/>
                <a:ea typeface="Raleway Light"/>
                <a:cs typeface="Raleway Light"/>
                <a:sym typeface="Raleway Light"/>
              </a:rPr>
              <a:t>having lost your confidence, enthusiasm and hope</a:t>
            </a:r>
            <a:endParaRPr sz="1600">
              <a:latin typeface="Raleway Light"/>
              <a:ea typeface="Raleway Light"/>
              <a:cs typeface="Raleway Light"/>
              <a:sym typeface="Raleway Light"/>
            </a:endParaRPr>
          </a:p>
          <a:p>
            <a:pPr indent="-330200" lvl="0" marL="457200" rtl="0" algn="l">
              <a:lnSpc>
                <a:spcPct val="100000"/>
              </a:lnSpc>
              <a:spcBef>
                <a:spcPts val="1000"/>
              </a:spcBef>
              <a:spcAft>
                <a:spcPts val="0"/>
              </a:spcAft>
              <a:buSzPts val="1600"/>
              <a:buFont typeface="Raleway Light"/>
              <a:buAutoNum type="alphaUcPeriod"/>
            </a:pPr>
            <a:r>
              <a:rPr lang="en-GB" sz="1600">
                <a:latin typeface="Raleway Light"/>
                <a:ea typeface="Raleway Light"/>
                <a:cs typeface="Raleway Light"/>
                <a:sym typeface="Raleway Light"/>
              </a:rPr>
              <a:t>have a very strong feeling of wanting something</a:t>
            </a:r>
            <a:endParaRPr sz="1600">
              <a:latin typeface="Raleway Light"/>
              <a:ea typeface="Raleway Light"/>
              <a:cs typeface="Raleway Light"/>
              <a:sym typeface="Raleway Light"/>
            </a:endParaRPr>
          </a:p>
          <a:p>
            <a:pPr indent="-330200" lvl="0" marL="457200" rtl="0" algn="l">
              <a:lnSpc>
                <a:spcPct val="100000"/>
              </a:lnSpc>
              <a:spcBef>
                <a:spcPts val="1000"/>
              </a:spcBef>
              <a:spcAft>
                <a:spcPts val="0"/>
              </a:spcAft>
              <a:buSzPts val="1600"/>
              <a:buFont typeface="Raleway Light"/>
              <a:buAutoNum type="alphaUcPeriod"/>
            </a:pPr>
            <a:r>
              <a:rPr lang="en-GB" sz="1600">
                <a:latin typeface="Raleway Light"/>
                <a:ea typeface="Raleway Light"/>
                <a:cs typeface="Raleway Light"/>
                <a:sym typeface="Raleway Light"/>
              </a:rPr>
              <a:t>able to be done or acted on, having practical value</a:t>
            </a:r>
            <a:endParaRPr sz="1600">
              <a:latin typeface="Raleway Light"/>
              <a:ea typeface="Raleway Light"/>
              <a:cs typeface="Raleway Light"/>
              <a:sym typeface="Raleway Light"/>
            </a:endParaRPr>
          </a:p>
          <a:p>
            <a:pPr indent="-330200" lvl="0" marL="457200" rtl="0" algn="l">
              <a:lnSpc>
                <a:spcPct val="100000"/>
              </a:lnSpc>
              <a:spcBef>
                <a:spcPts val="1000"/>
              </a:spcBef>
              <a:spcAft>
                <a:spcPts val="0"/>
              </a:spcAft>
              <a:buSzPts val="1600"/>
              <a:buFont typeface="Raleway Light"/>
              <a:buAutoNum type="alphaUcPeriod"/>
            </a:pPr>
            <a:r>
              <a:rPr lang="en-GB" sz="1600">
                <a:latin typeface="Raleway Light"/>
                <a:ea typeface="Raleway Light"/>
                <a:cs typeface="Raleway Light"/>
                <a:sym typeface="Raleway Light"/>
              </a:rPr>
              <a:t>form an incorrect understanding of something that is said or done</a:t>
            </a:r>
            <a:endParaRPr sz="1600">
              <a:latin typeface="Raleway Light"/>
              <a:ea typeface="Raleway Light"/>
              <a:cs typeface="Raleway Light"/>
              <a:sym typeface="Raleway Light"/>
            </a:endParaRPr>
          </a:p>
          <a:p>
            <a:pPr indent="-330200" lvl="0" marL="457200" rtl="0" algn="l">
              <a:lnSpc>
                <a:spcPct val="100000"/>
              </a:lnSpc>
              <a:spcBef>
                <a:spcPts val="1000"/>
              </a:spcBef>
              <a:spcAft>
                <a:spcPts val="0"/>
              </a:spcAft>
              <a:buSzPts val="1600"/>
              <a:buFont typeface="Raleway Light"/>
              <a:buAutoNum type="alphaUcPeriod"/>
            </a:pPr>
            <a:r>
              <a:rPr lang="en-GB" sz="1600">
                <a:latin typeface="Raleway Light"/>
                <a:ea typeface="Raleway Light"/>
                <a:cs typeface="Raleway Light"/>
                <a:sym typeface="Raleway Light"/>
              </a:rPr>
              <a:t>very anxious to challenge or avoid criticism</a:t>
            </a:r>
            <a:endParaRPr sz="1600">
              <a:latin typeface="Raleway Light"/>
              <a:ea typeface="Raleway Light"/>
              <a:cs typeface="Raleway Light"/>
              <a:sym typeface="Raleway Light"/>
            </a:endParaRPr>
          </a:p>
          <a:p>
            <a:pPr indent="-330200" lvl="0" marL="457200" rtl="0" algn="l">
              <a:lnSpc>
                <a:spcPct val="100000"/>
              </a:lnSpc>
              <a:spcBef>
                <a:spcPts val="1000"/>
              </a:spcBef>
              <a:spcAft>
                <a:spcPts val="0"/>
              </a:spcAft>
              <a:buSzPts val="1600"/>
              <a:buFont typeface="Raleway Light"/>
              <a:buAutoNum type="alphaUcPeriod"/>
            </a:pPr>
            <a:r>
              <a:rPr lang="en-GB" sz="1600">
                <a:latin typeface="Raleway Light"/>
                <a:ea typeface="Raleway Light"/>
                <a:cs typeface="Raleway Light"/>
                <a:sym typeface="Raleway Light"/>
              </a:rPr>
              <a:t>the ability to make your own decisions without being controlled by anyone else</a:t>
            </a:r>
            <a:endParaRPr sz="1600">
              <a:latin typeface="Raleway Light"/>
              <a:ea typeface="Raleway Light"/>
              <a:cs typeface="Raleway Light"/>
              <a:sym typeface="Raleway Light"/>
            </a:endParaRPr>
          </a:p>
          <a:p>
            <a:pPr indent="-330200" lvl="0" marL="457200" rtl="0" algn="l">
              <a:lnSpc>
                <a:spcPct val="100000"/>
              </a:lnSpc>
              <a:spcBef>
                <a:spcPts val="1000"/>
              </a:spcBef>
              <a:spcAft>
                <a:spcPts val="1000"/>
              </a:spcAft>
              <a:buSzPts val="1600"/>
              <a:buFont typeface="Raleway Light"/>
              <a:buAutoNum type="alphaUcPeriod"/>
            </a:pPr>
            <a:r>
              <a:rPr lang="en-GB" sz="1600">
                <a:latin typeface="Raleway Light"/>
                <a:ea typeface="Raleway Light"/>
                <a:cs typeface="Raleway Light"/>
                <a:sym typeface="Raleway Light"/>
              </a:rPr>
              <a:t>a good reason or explanation for something </a:t>
            </a:r>
            <a:endParaRPr sz="1600">
              <a:latin typeface="Raleway Light"/>
              <a:ea typeface="Raleway Light"/>
              <a:cs typeface="Raleway Light"/>
              <a:sym typeface="Raleway Light"/>
            </a:endParaRPr>
          </a:p>
        </p:txBody>
      </p:sp>
      <p:sp>
        <p:nvSpPr>
          <p:cNvPr id="152" name="Google Shape;152;p23"/>
          <p:cNvSpPr/>
          <p:nvPr/>
        </p:nvSpPr>
        <p:spPr>
          <a:xfrm>
            <a:off x="3344450" y="1852525"/>
            <a:ext cx="8724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solidFill>
                  <a:srgbClr val="FFFFFF"/>
                </a:solidFill>
                <a:latin typeface="Raleway Light"/>
                <a:ea typeface="Raleway Light"/>
                <a:cs typeface="Raleway Light"/>
                <a:sym typeface="Raleway Light"/>
              </a:rPr>
              <a:t>buy-in</a:t>
            </a:r>
            <a:endParaRPr sz="1600">
              <a:solidFill>
                <a:srgbClr val="FFFFFF"/>
              </a:solidFill>
              <a:latin typeface="Raleway Light"/>
              <a:ea typeface="Raleway Light"/>
              <a:cs typeface="Raleway Light"/>
              <a:sym typeface="Raleway Light"/>
            </a:endParaRPr>
          </a:p>
        </p:txBody>
      </p:sp>
      <p:sp>
        <p:nvSpPr>
          <p:cNvPr id="153" name="Google Shape;153;p23"/>
          <p:cNvSpPr/>
          <p:nvPr/>
        </p:nvSpPr>
        <p:spPr>
          <a:xfrm>
            <a:off x="5648075" y="2161550"/>
            <a:ext cx="14142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solidFill>
                  <a:srgbClr val="FFFFFF"/>
                </a:solidFill>
                <a:latin typeface="Raleway Light"/>
                <a:ea typeface="Raleway Light"/>
                <a:cs typeface="Raleway Light"/>
                <a:sym typeface="Raleway Light"/>
              </a:rPr>
              <a:t>demoralized</a:t>
            </a:r>
            <a:endParaRPr sz="1600">
              <a:solidFill>
                <a:srgbClr val="FFFFFF"/>
              </a:solidFill>
              <a:latin typeface="Raleway Light"/>
              <a:ea typeface="Raleway Light"/>
              <a:cs typeface="Raleway Light"/>
              <a:sym typeface="Raleway Light"/>
            </a:endParaRPr>
          </a:p>
        </p:txBody>
      </p:sp>
      <p:sp>
        <p:nvSpPr>
          <p:cNvPr id="154" name="Google Shape;154;p23"/>
          <p:cNvSpPr/>
          <p:nvPr/>
        </p:nvSpPr>
        <p:spPr>
          <a:xfrm>
            <a:off x="5438825" y="2534975"/>
            <a:ext cx="8307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solidFill>
                  <a:srgbClr val="FFFFFF"/>
                </a:solidFill>
                <a:latin typeface="Raleway Light"/>
                <a:ea typeface="Raleway Light"/>
                <a:cs typeface="Raleway Light"/>
                <a:sym typeface="Raleway Light"/>
              </a:rPr>
              <a:t>crave</a:t>
            </a:r>
            <a:endParaRPr sz="1600">
              <a:solidFill>
                <a:srgbClr val="FFFFFF"/>
              </a:solidFill>
              <a:latin typeface="Raleway Light"/>
              <a:ea typeface="Raleway Light"/>
              <a:cs typeface="Raleway Light"/>
              <a:sym typeface="Raleway Light"/>
            </a:endParaRPr>
          </a:p>
        </p:txBody>
      </p:sp>
      <p:sp>
        <p:nvSpPr>
          <p:cNvPr id="155" name="Google Shape;155;p23"/>
          <p:cNvSpPr/>
          <p:nvPr/>
        </p:nvSpPr>
        <p:spPr>
          <a:xfrm>
            <a:off x="5698304" y="2908400"/>
            <a:ext cx="11997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solidFill>
                  <a:srgbClr val="FFFFFF"/>
                </a:solidFill>
                <a:latin typeface="Raleway Light"/>
                <a:ea typeface="Raleway Light"/>
                <a:cs typeface="Raleway Light"/>
                <a:sym typeface="Raleway Light"/>
              </a:rPr>
              <a:t>actionable</a:t>
            </a:r>
            <a:endParaRPr sz="1600">
              <a:solidFill>
                <a:srgbClr val="FFFFFF"/>
              </a:solidFill>
              <a:latin typeface="Raleway Light"/>
              <a:ea typeface="Raleway Light"/>
              <a:cs typeface="Raleway Light"/>
              <a:sym typeface="Raleway Light"/>
            </a:endParaRPr>
          </a:p>
        </p:txBody>
      </p:sp>
      <p:sp>
        <p:nvSpPr>
          <p:cNvPr id="156" name="Google Shape;156;p23"/>
          <p:cNvSpPr/>
          <p:nvPr/>
        </p:nvSpPr>
        <p:spPr>
          <a:xfrm>
            <a:off x="7062275" y="3263450"/>
            <a:ext cx="13419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solidFill>
                  <a:srgbClr val="FFFFFF"/>
                </a:solidFill>
                <a:latin typeface="Raleway Light"/>
                <a:ea typeface="Raleway Light"/>
                <a:cs typeface="Raleway Light"/>
                <a:sym typeface="Raleway Light"/>
              </a:rPr>
              <a:t>misinterpret</a:t>
            </a:r>
            <a:endParaRPr sz="1600">
              <a:solidFill>
                <a:srgbClr val="FFFFFF"/>
              </a:solidFill>
              <a:latin typeface="Raleway Light"/>
              <a:ea typeface="Raleway Light"/>
              <a:cs typeface="Raleway Light"/>
              <a:sym typeface="Raleway Light"/>
            </a:endParaRPr>
          </a:p>
        </p:txBody>
      </p:sp>
      <p:sp>
        <p:nvSpPr>
          <p:cNvPr id="157" name="Google Shape;157;p23"/>
          <p:cNvSpPr/>
          <p:nvPr/>
        </p:nvSpPr>
        <p:spPr>
          <a:xfrm>
            <a:off x="5014625" y="3655250"/>
            <a:ext cx="11328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solidFill>
                  <a:srgbClr val="FFFFFF"/>
                </a:solidFill>
                <a:latin typeface="Raleway Light"/>
                <a:ea typeface="Raleway Light"/>
                <a:cs typeface="Raleway Light"/>
                <a:sym typeface="Raleway Light"/>
              </a:rPr>
              <a:t>defensive</a:t>
            </a:r>
            <a:endParaRPr sz="1600">
              <a:solidFill>
                <a:srgbClr val="FFFFFF"/>
              </a:solidFill>
              <a:latin typeface="Raleway Light"/>
              <a:ea typeface="Raleway Light"/>
              <a:cs typeface="Raleway Light"/>
              <a:sym typeface="Raleway Light"/>
            </a:endParaRPr>
          </a:p>
        </p:txBody>
      </p:sp>
      <p:sp>
        <p:nvSpPr>
          <p:cNvPr id="158" name="Google Shape;158;p23"/>
          <p:cNvSpPr/>
          <p:nvPr/>
        </p:nvSpPr>
        <p:spPr>
          <a:xfrm>
            <a:off x="2117850" y="4293900"/>
            <a:ext cx="12549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solidFill>
                  <a:srgbClr val="FFFFFF"/>
                </a:solidFill>
                <a:latin typeface="Raleway Light"/>
                <a:ea typeface="Raleway Light"/>
                <a:cs typeface="Raleway Light"/>
                <a:sym typeface="Raleway Light"/>
              </a:rPr>
              <a:t>autonomy</a:t>
            </a:r>
            <a:endParaRPr sz="1600">
              <a:solidFill>
                <a:srgbClr val="FFFFFF"/>
              </a:solidFill>
              <a:latin typeface="Raleway Light"/>
              <a:ea typeface="Raleway Light"/>
              <a:cs typeface="Raleway Light"/>
              <a:sym typeface="Raleway Light"/>
            </a:endParaRPr>
          </a:p>
        </p:txBody>
      </p:sp>
      <p:sp>
        <p:nvSpPr>
          <p:cNvPr id="159" name="Google Shape;159;p23"/>
          <p:cNvSpPr/>
          <p:nvPr/>
        </p:nvSpPr>
        <p:spPr>
          <a:xfrm>
            <a:off x="5014625" y="4663200"/>
            <a:ext cx="12549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solidFill>
                  <a:srgbClr val="FFFFFF"/>
                </a:solidFill>
                <a:latin typeface="Raleway Light"/>
                <a:ea typeface="Raleway Light"/>
                <a:cs typeface="Raleway Light"/>
                <a:sym typeface="Raleway Light"/>
              </a:rPr>
              <a:t>justification</a:t>
            </a:r>
            <a:endParaRPr sz="1600">
              <a:solidFill>
                <a:srgbClr val="FFFFFF"/>
              </a:solidFill>
              <a:latin typeface="Raleway Light"/>
              <a:ea typeface="Raleway Light"/>
              <a:cs typeface="Raleway Light"/>
              <a:sym typeface="Raleway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1"/>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
                                        <p:tgtEl>
                                          <p:spTgt spid="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pic>
        <p:nvPicPr>
          <p:cNvPr id="165" name="Google Shape;165;p24"/>
          <p:cNvPicPr preferRelativeResize="0"/>
          <p:nvPr/>
        </p:nvPicPr>
        <p:blipFill>
          <a:blip r:embed="rId3">
            <a:alphaModFix/>
          </a:blip>
          <a:stretch>
            <a:fillRect/>
          </a:stretch>
        </p:blipFill>
        <p:spPr>
          <a:xfrm>
            <a:off x="434950" y="479200"/>
            <a:ext cx="899550" cy="899550"/>
          </a:xfrm>
          <a:prstGeom prst="rect">
            <a:avLst/>
          </a:prstGeom>
          <a:noFill/>
          <a:ln>
            <a:noFill/>
          </a:ln>
        </p:spPr>
      </p:pic>
      <p:sp>
        <p:nvSpPr>
          <p:cNvPr id="166" name="Google Shape;166;p24"/>
          <p:cNvSpPr txBox="1"/>
          <p:nvPr/>
        </p:nvSpPr>
        <p:spPr>
          <a:xfrm>
            <a:off x="1496250" y="658368"/>
            <a:ext cx="61515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Raleway"/>
                <a:ea typeface="Raleway"/>
                <a:cs typeface="Raleway"/>
                <a:sym typeface="Raleway"/>
              </a:rPr>
              <a:t>Discuss the </a:t>
            </a:r>
            <a:r>
              <a:rPr b="1" lang="en-GB" sz="1800">
                <a:latin typeface="Raleway"/>
                <a:ea typeface="Raleway"/>
                <a:cs typeface="Raleway"/>
                <a:sym typeface="Raleway"/>
              </a:rPr>
              <a:t>questions</a:t>
            </a:r>
            <a:r>
              <a:rPr b="1" lang="en-GB" sz="1800">
                <a:latin typeface="Raleway"/>
                <a:ea typeface="Raleway"/>
                <a:cs typeface="Raleway"/>
                <a:sym typeface="Raleway"/>
              </a:rPr>
              <a:t>.</a:t>
            </a:r>
            <a:r>
              <a:rPr b="1" lang="en-GB" sz="1800">
                <a:latin typeface="Raleway"/>
                <a:ea typeface="Raleway"/>
                <a:cs typeface="Raleway"/>
                <a:sym typeface="Raleway"/>
              </a:rPr>
              <a:t> Give reasons for your answers.</a:t>
            </a:r>
            <a:endParaRPr b="1" sz="1800">
              <a:latin typeface="Raleway"/>
              <a:ea typeface="Raleway"/>
              <a:cs typeface="Raleway"/>
              <a:sym typeface="Raleway"/>
            </a:endParaRPr>
          </a:p>
        </p:txBody>
      </p:sp>
      <p:sp>
        <p:nvSpPr>
          <p:cNvPr id="167" name="Google Shape;167;p24"/>
          <p:cNvSpPr txBox="1"/>
          <p:nvPr/>
        </p:nvSpPr>
        <p:spPr>
          <a:xfrm>
            <a:off x="1073550" y="2293150"/>
            <a:ext cx="6574200" cy="15690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Font typeface="Raleway Light"/>
              <a:buChar char="➔"/>
            </a:pPr>
            <a:r>
              <a:rPr lang="en-GB" sz="1700">
                <a:latin typeface="Raleway Light"/>
                <a:ea typeface="Raleway Light"/>
                <a:cs typeface="Raleway Light"/>
                <a:sym typeface="Raleway Light"/>
              </a:rPr>
              <a:t>How do you think the words in the box might be connected to giving and receiving feedback?</a:t>
            </a:r>
            <a:endParaRPr sz="1700">
              <a:latin typeface="Raleway Light"/>
              <a:ea typeface="Raleway Light"/>
              <a:cs typeface="Raleway Light"/>
              <a:sym typeface="Raleway Light"/>
            </a:endParaRPr>
          </a:p>
          <a:p>
            <a:pPr indent="-336550" lvl="0" marL="457200" marR="0" rtl="0" algn="l">
              <a:lnSpc>
                <a:spcPct val="115000"/>
              </a:lnSpc>
              <a:spcBef>
                <a:spcPts val="1000"/>
              </a:spcBef>
              <a:spcAft>
                <a:spcPts val="1000"/>
              </a:spcAft>
              <a:buSzPts val="1700"/>
              <a:buFont typeface="Raleway Light"/>
              <a:buChar char="➔"/>
            </a:pPr>
            <a:r>
              <a:rPr lang="en-GB" sz="1700">
                <a:latin typeface="Raleway Light"/>
                <a:ea typeface="Raleway Light"/>
                <a:cs typeface="Raleway Light"/>
                <a:sym typeface="Raleway Light"/>
              </a:rPr>
              <a:t>What do you think makes someone good at giving feedback?</a:t>
            </a:r>
            <a:endParaRPr sz="1700">
              <a:latin typeface="Raleway Light"/>
              <a:ea typeface="Raleway Light"/>
              <a:cs typeface="Raleway Light"/>
              <a:sym typeface="Raleway Light"/>
            </a:endParaRPr>
          </a:p>
        </p:txBody>
      </p:sp>
      <p:sp>
        <p:nvSpPr>
          <p:cNvPr id="168" name="Google Shape;168;p24"/>
          <p:cNvSpPr/>
          <p:nvPr/>
        </p:nvSpPr>
        <p:spPr>
          <a:xfrm>
            <a:off x="1166725" y="1294563"/>
            <a:ext cx="7392600" cy="724200"/>
          </a:xfrm>
          <a:prstGeom prst="roundRect">
            <a:avLst>
              <a:gd fmla="val 16667" name="adj"/>
            </a:avLst>
          </a:prstGeom>
          <a:noFill/>
          <a:ln cap="flat" cmpd="sng" w="9525">
            <a:solidFill>
              <a:srgbClr val="60AE92"/>
            </a:solidFill>
            <a:prstDash val="solid"/>
            <a:round/>
            <a:headEnd len="sm" w="sm" type="none"/>
            <a:tailEnd len="sm" w="sm" type="none"/>
          </a:ln>
        </p:spPr>
        <p:txBody>
          <a:bodyPr anchorCtr="0" anchor="t" bIns="91425" lIns="91425" spcFirstLastPara="1" rIns="91425" wrap="square" tIns="54000">
            <a:noAutofit/>
          </a:bodyPr>
          <a:lstStyle/>
          <a:p>
            <a:pPr indent="0" lvl="0" marL="0" rtl="0" algn="ctr">
              <a:lnSpc>
                <a:spcPct val="115000"/>
              </a:lnSpc>
              <a:spcBef>
                <a:spcPts val="0"/>
              </a:spcBef>
              <a:spcAft>
                <a:spcPts val="0"/>
              </a:spcAft>
              <a:buNone/>
            </a:pPr>
            <a:r>
              <a:rPr lang="en-GB" sz="1700">
                <a:solidFill>
                  <a:schemeClr val="dk1"/>
                </a:solidFill>
                <a:latin typeface="Raleway Light"/>
                <a:ea typeface="Raleway Light"/>
                <a:cs typeface="Raleway Light"/>
                <a:sym typeface="Raleway Light"/>
              </a:rPr>
              <a:t>actionable 	      	autonomy 	      	buy-in       	      	crave </a:t>
            </a:r>
            <a:endParaRPr sz="1700">
              <a:solidFill>
                <a:schemeClr val="dk1"/>
              </a:solidFill>
              <a:latin typeface="Raleway Light"/>
              <a:ea typeface="Raleway Light"/>
              <a:cs typeface="Raleway Light"/>
              <a:sym typeface="Raleway Light"/>
            </a:endParaRPr>
          </a:p>
          <a:p>
            <a:pPr indent="0" lvl="0" marL="0" rtl="0" algn="ctr">
              <a:lnSpc>
                <a:spcPct val="115000"/>
              </a:lnSpc>
              <a:spcBef>
                <a:spcPts val="0"/>
              </a:spcBef>
              <a:spcAft>
                <a:spcPts val="0"/>
              </a:spcAft>
              <a:buNone/>
            </a:pPr>
            <a:r>
              <a:rPr lang="en-GB" sz="1700">
                <a:solidFill>
                  <a:schemeClr val="dk1"/>
                </a:solidFill>
                <a:latin typeface="Raleway Light"/>
                <a:ea typeface="Raleway Light"/>
                <a:cs typeface="Raleway Light"/>
                <a:sym typeface="Raleway Light"/>
              </a:rPr>
              <a:t>defensive  	      	demoralized        	justification         	misinterpret</a:t>
            </a:r>
            <a:endParaRPr sz="1700" u="sng">
              <a:solidFill>
                <a:schemeClr val="dk1"/>
              </a:solidFill>
              <a:latin typeface="Raleway Light"/>
              <a:ea typeface="Raleway Light"/>
              <a:cs typeface="Raleway Light"/>
              <a:sym typeface="Raleway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AAAA"/>
        </a:solidFill>
      </p:bgPr>
    </p:bg>
    <p:spTree>
      <p:nvGrpSpPr>
        <p:cNvPr id="172" name="Shape 172"/>
        <p:cNvGrpSpPr/>
        <p:nvPr/>
      </p:nvGrpSpPr>
      <p:grpSpPr>
        <a:xfrm>
          <a:off x="0" y="0"/>
          <a:ext cx="0" cy="0"/>
          <a:chOff x="0" y="0"/>
          <a:chExt cx="0" cy="0"/>
        </a:xfrm>
      </p:grpSpPr>
      <p:sp>
        <p:nvSpPr>
          <p:cNvPr id="173" name="Google Shape;173;p25"/>
          <p:cNvSpPr txBox="1"/>
          <p:nvPr>
            <p:ph type="ctrTitle"/>
          </p:nvPr>
        </p:nvSpPr>
        <p:spPr>
          <a:xfrm>
            <a:off x="649700" y="3650573"/>
            <a:ext cx="7772400" cy="845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sz="4400"/>
              <a:t>The secret to giving great feedback</a:t>
            </a:r>
            <a:endParaRPr sz="4400"/>
          </a:p>
        </p:txBody>
      </p:sp>
      <p:sp>
        <p:nvSpPr>
          <p:cNvPr id="174" name="Google Shape;174;p25"/>
          <p:cNvSpPr txBox="1"/>
          <p:nvPr>
            <p:ph idx="1" type="subTitle"/>
          </p:nvPr>
        </p:nvSpPr>
        <p:spPr>
          <a:xfrm>
            <a:off x="649700" y="2508775"/>
            <a:ext cx="7884600" cy="454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In a moment, you’ll watch a video titled:</a:t>
            </a:r>
            <a:endParaRPr/>
          </a:p>
        </p:txBody>
      </p:sp>
      <p:pic>
        <p:nvPicPr>
          <p:cNvPr id="175" name="Google Shape;175;p25"/>
          <p:cNvPicPr preferRelativeResize="0"/>
          <p:nvPr/>
        </p:nvPicPr>
        <p:blipFill rotWithShape="1">
          <a:blip r:embed="rId3">
            <a:alphaModFix/>
          </a:blip>
          <a:srcRect b="0" l="0" r="0" t="0"/>
          <a:stretch/>
        </p:blipFill>
        <p:spPr>
          <a:xfrm>
            <a:off x="8027175" y="137250"/>
            <a:ext cx="884152" cy="8841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181" name="Google Shape;181;p26"/>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182" name="Google Shape;182;p26"/>
          <p:cNvSpPr txBox="1"/>
          <p:nvPr/>
        </p:nvSpPr>
        <p:spPr>
          <a:xfrm>
            <a:off x="393192" y="310896"/>
            <a:ext cx="7058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Raleway"/>
                <a:ea typeface="Raleway"/>
                <a:cs typeface="Raleway"/>
                <a:sym typeface="Raleway"/>
              </a:rPr>
              <a:t>Watch the first part of the video (to 02:01) and answer the questions.</a:t>
            </a:r>
            <a:endParaRPr b="1" sz="1800">
              <a:latin typeface="Raleway"/>
              <a:ea typeface="Raleway"/>
              <a:cs typeface="Raleway"/>
              <a:sym typeface="Raleway"/>
            </a:endParaRPr>
          </a:p>
        </p:txBody>
      </p:sp>
      <p:sp>
        <p:nvSpPr>
          <p:cNvPr id="183" name="Google Shape;183;p26"/>
          <p:cNvSpPr txBox="1"/>
          <p:nvPr/>
        </p:nvSpPr>
        <p:spPr>
          <a:xfrm>
            <a:off x="393200" y="1645738"/>
            <a:ext cx="3000000" cy="25017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1200"/>
              </a:spcBef>
              <a:spcAft>
                <a:spcPts val="0"/>
              </a:spcAft>
              <a:buClr>
                <a:schemeClr val="dk1"/>
              </a:buClr>
              <a:buSzPts val="1800"/>
              <a:buFont typeface="Raleway Light"/>
              <a:buAutoNum type="alphaUcPeriod"/>
            </a:pPr>
            <a:r>
              <a:rPr lang="en-GB" sz="1800">
                <a:solidFill>
                  <a:schemeClr val="dk1"/>
                </a:solidFill>
                <a:latin typeface="Raleway Light"/>
                <a:ea typeface="Raleway Light"/>
                <a:cs typeface="Raleway Light"/>
                <a:sym typeface="Raleway Light"/>
              </a:rPr>
              <a:t>What is the speaker’s attitude towards the way we usually give feedb</a:t>
            </a:r>
            <a:r>
              <a:rPr lang="en-GB" sz="1800">
                <a:solidFill>
                  <a:schemeClr val="dk1"/>
                </a:solidFill>
                <a:latin typeface="Raleway Light"/>
                <a:ea typeface="Raleway Light"/>
                <a:cs typeface="Raleway Light"/>
                <a:sym typeface="Raleway Light"/>
              </a:rPr>
              <a:t>ack? </a:t>
            </a:r>
            <a:endParaRPr sz="1800">
              <a:solidFill>
                <a:schemeClr val="dk1"/>
              </a:solidFill>
              <a:latin typeface="Raleway Light"/>
              <a:ea typeface="Raleway Light"/>
              <a:cs typeface="Raleway Light"/>
              <a:sym typeface="Raleway Light"/>
            </a:endParaRPr>
          </a:p>
          <a:p>
            <a:pPr indent="-342900" lvl="0" marL="457200" marR="0" rtl="0" algn="l">
              <a:lnSpc>
                <a:spcPct val="115000"/>
              </a:lnSpc>
              <a:spcBef>
                <a:spcPts val="1000"/>
              </a:spcBef>
              <a:spcAft>
                <a:spcPts val="0"/>
              </a:spcAft>
              <a:buClr>
                <a:schemeClr val="dk1"/>
              </a:buClr>
              <a:buSzPts val="1800"/>
              <a:buFont typeface="Raleway Light"/>
              <a:buAutoNum type="alphaUcPeriod"/>
            </a:pPr>
            <a:r>
              <a:rPr lang="en-GB" sz="1800">
                <a:solidFill>
                  <a:schemeClr val="dk1"/>
                </a:solidFill>
                <a:latin typeface="Raleway Light"/>
                <a:ea typeface="Raleway Light"/>
                <a:cs typeface="Raleway Light"/>
                <a:sym typeface="Raleway Light"/>
              </a:rPr>
              <a:t>How did she discover the formula for giving good feedback?</a:t>
            </a:r>
            <a:endParaRPr sz="1800">
              <a:solidFill>
                <a:schemeClr val="dk1"/>
              </a:solidFill>
              <a:latin typeface="Raleway Light"/>
              <a:ea typeface="Raleway Light"/>
              <a:cs typeface="Raleway Light"/>
              <a:sym typeface="Raleway Light"/>
            </a:endParaRPr>
          </a:p>
        </p:txBody>
      </p:sp>
      <p:pic>
        <p:nvPicPr>
          <p:cNvPr descr="Humans have been coming up with ways to give constructive criticism for centuries, but somehow we're still pretty terrible at it. Cognitive psychologist LeeAnn Renniger shares a scientifically proven method for giving effective feedback.&#10;&#10;The Way We Work is a TED original video series where leaders and thinkers offer practical wisdom and insight into how we can adapt and thrive amid changing workplace conventions. (Made possible with the support of Dropbox)&#10;&#10;Visit https://go.ted.com/thewaywework for more!" id="184" name="Google Shape;184;p26" title="The secret to giving great feedback | The Way We Work, a TED series">
            <a:hlinkClick r:id="rId3"/>
          </p:cNvPr>
          <p:cNvPicPr preferRelativeResize="0"/>
          <p:nvPr/>
        </p:nvPicPr>
        <p:blipFill>
          <a:blip r:embed="rId4">
            <a:alphaModFix/>
          </a:blip>
          <a:stretch>
            <a:fillRect/>
          </a:stretch>
        </p:blipFill>
        <p:spPr>
          <a:xfrm>
            <a:off x="3563975" y="1140200"/>
            <a:ext cx="4683700" cy="3512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8" name="Shape 188"/>
        <p:cNvGrpSpPr/>
        <p:nvPr/>
      </p:nvGrpSpPr>
      <p:grpSpPr>
        <a:xfrm>
          <a:off x="0" y="0"/>
          <a:ext cx="0" cy="0"/>
          <a:chOff x="0" y="0"/>
          <a:chExt cx="0" cy="0"/>
        </a:xfrm>
      </p:grpSpPr>
      <p:sp>
        <p:nvSpPr>
          <p:cNvPr id="189" name="Google Shape;189;p2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190" name="Google Shape;190;p27"/>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191" name="Google Shape;191;p27"/>
          <p:cNvSpPr txBox="1"/>
          <p:nvPr/>
        </p:nvSpPr>
        <p:spPr>
          <a:xfrm>
            <a:off x="393192" y="310896"/>
            <a:ext cx="705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Raleway"/>
                <a:ea typeface="Raleway"/>
                <a:cs typeface="Raleway"/>
                <a:sym typeface="Raleway"/>
              </a:rPr>
              <a:t>Let’s check your answers.</a:t>
            </a:r>
            <a:endParaRPr b="1" sz="1800">
              <a:latin typeface="Raleway"/>
              <a:ea typeface="Raleway"/>
              <a:cs typeface="Raleway"/>
              <a:sym typeface="Raleway"/>
            </a:endParaRPr>
          </a:p>
        </p:txBody>
      </p:sp>
      <p:sp>
        <p:nvSpPr>
          <p:cNvPr id="192" name="Google Shape;192;p27"/>
          <p:cNvSpPr txBox="1"/>
          <p:nvPr/>
        </p:nvSpPr>
        <p:spPr>
          <a:xfrm>
            <a:off x="393200" y="1002300"/>
            <a:ext cx="7058100" cy="31389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1"/>
              </a:buClr>
              <a:buSzPts val="1800"/>
              <a:buFont typeface="Raleway Light"/>
              <a:buAutoNum type="alphaUcPeriod"/>
            </a:pPr>
            <a:r>
              <a:rPr lang="en-GB" sz="1800">
                <a:solidFill>
                  <a:schemeClr val="dk1"/>
                </a:solidFill>
                <a:latin typeface="Raleway Light"/>
                <a:ea typeface="Raleway Light"/>
                <a:cs typeface="Raleway Light"/>
                <a:sym typeface="Raleway Light"/>
              </a:rPr>
              <a:t>What is the speaker’s attitude towards the way we usually give feedback? </a:t>
            </a:r>
            <a:endParaRPr sz="1800">
              <a:solidFill>
                <a:schemeClr val="dk1"/>
              </a:solidFill>
              <a:latin typeface="Raleway Light"/>
              <a:ea typeface="Raleway Light"/>
              <a:cs typeface="Raleway Light"/>
              <a:sym typeface="Raleway Light"/>
            </a:endParaRPr>
          </a:p>
          <a:p>
            <a:pPr indent="0" lvl="0" marL="457200" marR="0" rtl="0" algn="l">
              <a:lnSpc>
                <a:spcPct val="115000"/>
              </a:lnSpc>
              <a:spcBef>
                <a:spcPts val="0"/>
              </a:spcBef>
              <a:spcAft>
                <a:spcPts val="0"/>
              </a:spcAft>
              <a:buNone/>
            </a:pPr>
            <a:r>
              <a:rPr lang="en-GB" sz="1800">
                <a:solidFill>
                  <a:schemeClr val="dk1"/>
                </a:solidFill>
                <a:highlight>
                  <a:srgbClr val="FFCD00"/>
                </a:highlight>
                <a:latin typeface="Raleway Light"/>
                <a:ea typeface="Raleway Light"/>
                <a:cs typeface="Raleway Light"/>
                <a:sym typeface="Raleway Light"/>
              </a:rPr>
              <a:t>She thinks we are still pretty bad at giving feedback and that the way we do it is not brain friendly. We are either too indirect or too direct.</a:t>
            </a:r>
            <a:endParaRPr sz="1800">
              <a:solidFill>
                <a:schemeClr val="dk1"/>
              </a:solidFill>
              <a:highlight>
                <a:srgbClr val="FFCD00"/>
              </a:highlight>
              <a:latin typeface="Raleway Light"/>
              <a:ea typeface="Raleway Light"/>
              <a:cs typeface="Raleway Light"/>
              <a:sym typeface="Raleway Light"/>
            </a:endParaRPr>
          </a:p>
          <a:p>
            <a:pPr indent="-342900" lvl="0" marL="457200" marR="0" rtl="0" algn="l">
              <a:lnSpc>
                <a:spcPct val="115000"/>
              </a:lnSpc>
              <a:spcBef>
                <a:spcPts val="1000"/>
              </a:spcBef>
              <a:spcAft>
                <a:spcPts val="0"/>
              </a:spcAft>
              <a:buClr>
                <a:schemeClr val="dk1"/>
              </a:buClr>
              <a:buSzPts val="1800"/>
              <a:buFont typeface="Raleway Light"/>
              <a:buAutoNum type="alphaUcPeriod"/>
            </a:pPr>
            <a:r>
              <a:rPr lang="en-GB" sz="1800">
                <a:solidFill>
                  <a:schemeClr val="dk1"/>
                </a:solidFill>
                <a:latin typeface="Raleway Light"/>
                <a:ea typeface="Raleway Light"/>
                <a:cs typeface="Raleway Light"/>
                <a:sym typeface="Raleway Light"/>
              </a:rPr>
              <a:t>How did she discover the formula for giving good feedback?</a:t>
            </a:r>
            <a:endParaRPr sz="1800">
              <a:solidFill>
                <a:schemeClr val="dk1"/>
              </a:solidFill>
              <a:latin typeface="Raleway Light"/>
              <a:ea typeface="Raleway Light"/>
              <a:cs typeface="Raleway Light"/>
              <a:sym typeface="Raleway Light"/>
            </a:endParaRPr>
          </a:p>
          <a:p>
            <a:pPr indent="0" lvl="0" marL="457200" marR="0" rtl="0" algn="l">
              <a:lnSpc>
                <a:spcPct val="115000"/>
              </a:lnSpc>
              <a:spcBef>
                <a:spcPts val="0"/>
              </a:spcBef>
              <a:spcAft>
                <a:spcPts val="0"/>
              </a:spcAft>
              <a:buNone/>
            </a:pPr>
            <a:r>
              <a:rPr lang="en-GB" sz="1800">
                <a:solidFill>
                  <a:schemeClr val="dk1"/>
                </a:solidFill>
                <a:highlight>
                  <a:srgbClr val="FFCD00"/>
                </a:highlight>
                <a:latin typeface="Raleway Light"/>
                <a:ea typeface="Raleway Light"/>
                <a:cs typeface="Raleway Light"/>
                <a:sym typeface="Raleway Light"/>
              </a:rPr>
              <a:t>She went into companies, found good feedback givers and brought them into her lab to find out what they are doing differently.</a:t>
            </a:r>
            <a:endParaRPr sz="1800">
              <a:solidFill>
                <a:schemeClr val="dk1"/>
              </a:solidFill>
              <a:highlight>
                <a:srgbClr val="FFCD00"/>
              </a:highlight>
              <a:latin typeface="Raleway Light"/>
              <a:ea typeface="Raleway Light"/>
              <a:cs typeface="Raleway Light"/>
              <a:sym typeface="Raleway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animEffect filter="fade" transition="in">
                                      <p:cBhvr>
                                        <p:cTn dur="1000"/>
                                        <p:tgtEl>
                                          <p:spTgt spid="1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1" st="1"/>
                                            </p:txEl>
                                          </p:spTgt>
                                        </p:tgtEl>
                                        <p:attrNameLst>
                                          <p:attrName>style.visibility</p:attrName>
                                        </p:attrNameLst>
                                      </p:cBhvr>
                                      <p:to>
                                        <p:strVal val="visible"/>
                                      </p:to>
                                    </p:set>
                                    <p:animEffect filter="fade" transition="in">
                                      <p:cBhvr>
                                        <p:cTn dur="1000"/>
                                        <p:tgtEl>
                                          <p:spTgt spid="1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2" st="2"/>
                                            </p:txEl>
                                          </p:spTgt>
                                        </p:tgtEl>
                                        <p:attrNameLst>
                                          <p:attrName>style.visibility</p:attrName>
                                        </p:attrNameLst>
                                      </p:cBhvr>
                                      <p:to>
                                        <p:strVal val="visible"/>
                                      </p:to>
                                    </p:set>
                                    <p:animEffect filter="fade" transition="in">
                                      <p:cBhvr>
                                        <p:cTn dur="1000"/>
                                        <p:tgtEl>
                                          <p:spTgt spid="1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3" st="3"/>
                                            </p:txEl>
                                          </p:spTgt>
                                        </p:tgtEl>
                                        <p:attrNameLst>
                                          <p:attrName>style.visibility</p:attrName>
                                        </p:attrNameLst>
                                      </p:cBhvr>
                                      <p:to>
                                        <p:strVal val="visible"/>
                                      </p:to>
                                    </p:set>
                                    <p:animEffect filter="fade" transition="in">
                                      <p:cBhvr>
                                        <p:cTn dur="1000"/>
                                        <p:tgtEl>
                                          <p:spTgt spid="19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198" name="Google Shape;198;p28"/>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199" name="Google Shape;199;p28"/>
          <p:cNvSpPr txBox="1"/>
          <p:nvPr/>
        </p:nvSpPr>
        <p:spPr>
          <a:xfrm>
            <a:off x="393192" y="310896"/>
            <a:ext cx="7058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Raleway"/>
                <a:ea typeface="Raleway"/>
                <a:cs typeface="Raleway"/>
                <a:sym typeface="Raleway"/>
              </a:rPr>
              <a:t>Watch the second part of the video (from 02:01). Work in pairs.</a:t>
            </a:r>
            <a:endParaRPr b="1" sz="1100">
              <a:solidFill>
                <a:schemeClr val="dk1"/>
              </a:solidFill>
            </a:endParaRPr>
          </a:p>
          <a:p>
            <a:pPr indent="0" lvl="0" marL="0" rtl="0" algn="l">
              <a:spcBef>
                <a:spcPts val="0"/>
              </a:spcBef>
              <a:spcAft>
                <a:spcPts val="0"/>
              </a:spcAft>
              <a:buNone/>
            </a:pPr>
            <a:r>
              <a:t/>
            </a:r>
            <a:endParaRPr b="1" sz="1800">
              <a:latin typeface="Raleway"/>
              <a:ea typeface="Raleway"/>
              <a:cs typeface="Raleway"/>
              <a:sym typeface="Raleway"/>
            </a:endParaRPr>
          </a:p>
        </p:txBody>
      </p:sp>
      <p:sp>
        <p:nvSpPr>
          <p:cNvPr id="200" name="Google Shape;200;p28"/>
          <p:cNvSpPr txBox="1"/>
          <p:nvPr/>
        </p:nvSpPr>
        <p:spPr>
          <a:xfrm>
            <a:off x="393200" y="1942188"/>
            <a:ext cx="3000000" cy="20793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0"/>
              </a:spcAft>
              <a:buClr>
                <a:schemeClr val="dk1"/>
              </a:buClr>
              <a:buSzPts val="1700"/>
              <a:buFont typeface="Raleway Light"/>
              <a:buChar char="●"/>
            </a:pPr>
            <a:r>
              <a:rPr lang="en-GB" sz="1700">
                <a:solidFill>
                  <a:schemeClr val="dk1"/>
                </a:solidFill>
                <a:latin typeface="Raleway Light"/>
                <a:ea typeface="Raleway Light"/>
                <a:cs typeface="Raleway Light"/>
                <a:sym typeface="Raleway Light"/>
              </a:rPr>
              <a:t>Student A makes notes on parts 1 and 3 of the formula.</a:t>
            </a:r>
            <a:endParaRPr sz="1700">
              <a:solidFill>
                <a:schemeClr val="dk1"/>
              </a:solidFill>
              <a:latin typeface="Raleway Light"/>
              <a:ea typeface="Raleway Light"/>
              <a:cs typeface="Raleway Light"/>
              <a:sym typeface="Raleway Light"/>
            </a:endParaRPr>
          </a:p>
          <a:p>
            <a:pPr indent="-336550" lvl="0" marL="457200" rtl="0" algn="l">
              <a:lnSpc>
                <a:spcPct val="115000"/>
              </a:lnSpc>
              <a:spcBef>
                <a:spcPts val="1000"/>
              </a:spcBef>
              <a:spcAft>
                <a:spcPts val="0"/>
              </a:spcAft>
              <a:buClr>
                <a:schemeClr val="dk1"/>
              </a:buClr>
              <a:buSzPts val="1700"/>
              <a:buFont typeface="Raleway Light"/>
              <a:buChar char="●"/>
            </a:pPr>
            <a:r>
              <a:rPr lang="en-GB" sz="1700">
                <a:solidFill>
                  <a:schemeClr val="dk1"/>
                </a:solidFill>
                <a:latin typeface="Raleway Light"/>
                <a:ea typeface="Raleway Light"/>
                <a:cs typeface="Raleway Light"/>
                <a:sym typeface="Raleway Light"/>
              </a:rPr>
              <a:t>Student B makes notes on parts 2 and 4 of the formula.</a:t>
            </a:r>
            <a:endParaRPr sz="1700">
              <a:solidFill>
                <a:schemeClr val="dk1"/>
              </a:solidFill>
              <a:latin typeface="Raleway Light"/>
              <a:ea typeface="Raleway Light"/>
              <a:cs typeface="Raleway Light"/>
              <a:sym typeface="Raleway Light"/>
            </a:endParaRPr>
          </a:p>
        </p:txBody>
      </p:sp>
      <p:pic>
        <p:nvPicPr>
          <p:cNvPr descr="Humans have been coming up with ways to give constructive criticism for centuries, but somehow we're still pretty terrible at it. Cognitive psychologist LeeAnn Renniger shares a scientifically proven method for giving effective feedback.&#10;&#10;The Way We Work is a TED original video series where leaders and thinkers offer practical wisdom and insight into how we can adapt and thrive amid changing workplace conventions. (Made possible with the support of Dropbox)&#10;&#10;Visit https://go.ted.com/thewaywework for more!" id="201" name="Google Shape;201;p28" title="The secret to giving great feedback | The Way We Work, a TED series">
            <a:hlinkClick r:id="rId3"/>
          </p:cNvPr>
          <p:cNvPicPr preferRelativeResize="0"/>
          <p:nvPr/>
        </p:nvPicPr>
        <p:blipFill>
          <a:blip r:embed="rId4">
            <a:alphaModFix/>
          </a:blip>
          <a:stretch>
            <a:fillRect/>
          </a:stretch>
        </p:blipFill>
        <p:spPr>
          <a:xfrm>
            <a:off x="3565675" y="1222325"/>
            <a:ext cx="4692025" cy="3519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5" name="Shape 205"/>
        <p:cNvGrpSpPr/>
        <p:nvPr/>
      </p:nvGrpSpPr>
      <p:grpSpPr>
        <a:xfrm>
          <a:off x="0" y="0"/>
          <a:ext cx="0" cy="0"/>
          <a:chOff x="0" y="0"/>
          <a:chExt cx="0" cy="0"/>
        </a:xfrm>
      </p:grpSpPr>
      <p:sp>
        <p:nvSpPr>
          <p:cNvPr id="206" name="Google Shape;206;p2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207" name="Google Shape;207;p29"/>
          <p:cNvSpPr txBox="1"/>
          <p:nvPr/>
        </p:nvSpPr>
        <p:spPr>
          <a:xfrm>
            <a:off x="392400" y="309600"/>
            <a:ext cx="646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Raleway"/>
                <a:ea typeface="Raleway"/>
                <a:cs typeface="Raleway"/>
                <a:sym typeface="Raleway"/>
              </a:rPr>
              <a:t>Let’s check the answers.</a:t>
            </a:r>
            <a:endParaRPr b="1" sz="1800">
              <a:latin typeface="Raleway"/>
              <a:ea typeface="Raleway"/>
              <a:cs typeface="Raleway"/>
              <a:sym typeface="Raleway"/>
            </a:endParaRPr>
          </a:p>
        </p:txBody>
      </p:sp>
      <p:sp>
        <p:nvSpPr>
          <p:cNvPr id="208" name="Google Shape;208;p29"/>
          <p:cNvSpPr txBox="1"/>
          <p:nvPr/>
        </p:nvSpPr>
        <p:spPr>
          <a:xfrm>
            <a:off x="392400" y="999900"/>
            <a:ext cx="7638600" cy="35394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SzPts val="1700"/>
              <a:buFont typeface="Raleway Light"/>
              <a:buChar char="●"/>
            </a:pPr>
            <a:r>
              <a:rPr lang="en-GB" sz="1700">
                <a:latin typeface="Raleway Light"/>
                <a:ea typeface="Raleway Light"/>
                <a:cs typeface="Raleway Light"/>
                <a:sym typeface="Raleway Light"/>
              </a:rPr>
              <a:t>Part 1: </a:t>
            </a:r>
            <a:r>
              <a:rPr lang="en-GB" sz="1700">
                <a:solidFill>
                  <a:schemeClr val="dk1"/>
                </a:solidFill>
                <a:highlight>
                  <a:srgbClr val="FFCD00"/>
                </a:highlight>
                <a:latin typeface="Raleway Light"/>
                <a:ea typeface="Raleway Light"/>
                <a:cs typeface="Raleway Light"/>
                <a:sym typeface="Raleway Light"/>
              </a:rPr>
              <a:t>First part - ‘micro yes’. Ask a short, important question to show feedback is coming. E.g. ‘Do you have 5 mins?’ etc. This acts as pacing tool and offers buy-in.</a:t>
            </a:r>
            <a:endParaRPr sz="1700">
              <a:solidFill>
                <a:schemeClr val="dk1"/>
              </a:solidFill>
              <a:highlight>
                <a:srgbClr val="FFCD00"/>
              </a:highlight>
              <a:latin typeface="Raleway Light"/>
              <a:ea typeface="Raleway Light"/>
              <a:cs typeface="Raleway Light"/>
              <a:sym typeface="Raleway Light"/>
            </a:endParaRPr>
          </a:p>
          <a:p>
            <a:pPr indent="-336550" lvl="0" marL="457200" rtl="0" algn="l">
              <a:lnSpc>
                <a:spcPct val="115000"/>
              </a:lnSpc>
              <a:spcBef>
                <a:spcPts val="1000"/>
              </a:spcBef>
              <a:spcAft>
                <a:spcPts val="0"/>
              </a:spcAft>
              <a:buSzPts val="1700"/>
              <a:buFont typeface="Raleway Light"/>
              <a:buChar char="●"/>
            </a:pPr>
            <a:r>
              <a:rPr lang="en-GB" sz="1700">
                <a:solidFill>
                  <a:schemeClr val="dk1"/>
                </a:solidFill>
                <a:latin typeface="Raleway Light"/>
                <a:ea typeface="Raleway Light"/>
                <a:cs typeface="Raleway Light"/>
                <a:sym typeface="Raleway Light"/>
              </a:rPr>
              <a:t>Part 2: </a:t>
            </a:r>
            <a:r>
              <a:rPr lang="en-GB" sz="1700">
                <a:solidFill>
                  <a:schemeClr val="dk1"/>
                </a:solidFill>
                <a:highlight>
                  <a:srgbClr val="FFCD00"/>
                </a:highlight>
                <a:latin typeface="Raleway Light"/>
                <a:ea typeface="Raleway Light"/>
                <a:cs typeface="Raleway Light"/>
                <a:sym typeface="Raleway Light"/>
              </a:rPr>
              <a:t>Data point – cut out ‘blur words’ and give specific explanations. Important to specify the behaviour we want the person to increase or diminish.</a:t>
            </a:r>
            <a:endParaRPr sz="1700">
              <a:solidFill>
                <a:schemeClr val="dk1"/>
              </a:solidFill>
              <a:highlight>
                <a:srgbClr val="FFCD00"/>
              </a:highlight>
              <a:latin typeface="Raleway Light"/>
              <a:ea typeface="Raleway Light"/>
              <a:cs typeface="Raleway Light"/>
              <a:sym typeface="Raleway Light"/>
            </a:endParaRPr>
          </a:p>
          <a:p>
            <a:pPr indent="-336550" lvl="0" marL="457200" rtl="0" algn="l">
              <a:lnSpc>
                <a:spcPct val="115000"/>
              </a:lnSpc>
              <a:spcBef>
                <a:spcPts val="1000"/>
              </a:spcBef>
              <a:spcAft>
                <a:spcPts val="0"/>
              </a:spcAft>
              <a:buSzPts val="1700"/>
              <a:buFont typeface="Raleway Light"/>
              <a:buChar char="●"/>
            </a:pPr>
            <a:r>
              <a:rPr lang="en-GB" sz="1700">
                <a:solidFill>
                  <a:schemeClr val="dk1"/>
                </a:solidFill>
                <a:latin typeface="Raleway Light"/>
                <a:ea typeface="Raleway Light"/>
                <a:cs typeface="Raleway Light"/>
                <a:sym typeface="Raleway Light"/>
              </a:rPr>
              <a:t>Part 3: </a:t>
            </a:r>
            <a:r>
              <a:rPr lang="en-GB" sz="1700">
                <a:solidFill>
                  <a:schemeClr val="dk1"/>
                </a:solidFill>
                <a:highlight>
                  <a:srgbClr val="FFCD00"/>
                </a:highlight>
                <a:latin typeface="Raleway Light"/>
                <a:ea typeface="Raleway Light"/>
                <a:cs typeface="Raleway Light"/>
                <a:sym typeface="Raleway Light"/>
              </a:rPr>
              <a:t>Impact statement – explain exactly how the data point impacted you. This gives purpose, meaning and logic. The brain craves this.</a:t>
            </a:r>
            <a:endParaRPr sz="1700">
              <a:solidFill>
                <a:schemeClr val="dk1"/>
              </a:solidFill>
              <a:highlight>
                <a:srgbClr val="FFCD00"/>
              </a:highlight>
              <a:latin typeface="Raleway Light"/>
              <a:ea typeface="Raleway Light"/>
              <a:cs typeface="Raleway Light"/>
              <a:sym typeface="Raleway Light"/>
            </a:endParaRPr>
          </a:p>
          <a:p>
            <a:pPr indent="-336550" lvl="0" marL="457200" rtl="0" algn="l">
              <a:lnSpc>
                <a:spcPct val="115000"/>
              </a:lnSpc>
              <a:spcBef>
                <a:spcPts val="1000"/>
              </a:spcBef>
              <a:spcAft>
                <a:spcPts val="1000"/>
              </a:spcAft>
              <a:buSzPts val="1700"/>
              <a:buFont typeface="Raleway Light"/>
              <a:buChar char="●"/>
            </a:pPr>
            <a:r>
              <a:rPr lang="en-GB" sz="1700">
                <a:solidFill>
                  <a:schemeClr val="dk1"/>
                </a:solidFill>
                <a:latin typeface="Raleway Light"/>
                <a:ea typeface="Raleway Light"/>
                <a:cs typeface="Raleway Light"/>
                <a:sym typeface="Raleway Light"/>
              </a:rPr>
              <a:t>Part 4: </a:t>
            </a:r>
            <a:r>
              <a:rPr lang="en-GB" sz="1700">
                <a:solidFill>
                  <a:schemeClr val="dk1"/>
                </a:solidFill>
                <a:highlight>
                  <a:srgbClr val="FFCD00"/>
                </a:highlight>
                <a:latin typeface="Raleway Light"/>
                <a:ea typeface="Raleway Light"/>
                <a:cs typeface="Raleway Light"/>
                <a:sym typeface="Raleway Light"/>
              </a:rPr>
              <a:t>End with a question. It creates commitment rather than just compliance. It turns conversation into a problem-solving situation.</a:t>
            </a:r>
            <a:endParaRPr sz="1700">
              <a:highlight>
                <a:srgbClr val="FFCD00"/>
              </a:highlight>
              <a:latin typeface="Raleway Light"/>
              <a:ea typeface="Raleway Light"/>
              <a:cs typeface="Raleway Light"/>
              <a:sym typeface="Raleway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animEffect filter="fade" transition="in">
                                      <p:cBhvr>
                                        <p:cTn dur="1000"/>
                                        <p:tgtEl>
                                          <p:spTgt spid="2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animEffect filter="fade" transition="in">
                                      <p:cBhvr>
                                        <p:cTn dur="1000"/>
                                        <p:tgtEl>
                                          <p:spTgt spid="2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animEffect filter="fade" transition="in">
                                      <p:cBhvr>
                                        <p:cTn dur="1000"/>
                                        <p:tgtEl>
                                          <p:spTgt spid="2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3" st="3"/>
                                            </p:txEl>
                                          </p:spTgt>
                                        </p:tgtEl>
                                        <p:attrNameLst>
                                          <p:attrName>style.visibility</p:attrName>
                                        </p:attrNameLst>
                                      </p:cBhvr>
                                      <p:to>
                                        <p:strVal val="visible"/>
                                      </p:to>
                                    </p:set>
                                    <p:animEffect filter="fade" transition="in">
                                      <p:cBhvr>
                                        <p:cTn dur="1000"/>
                                        <p:tgtEl>
                                          <p:spTgt spid="20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214" name="Google Shape;214;p30"/>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215" name="Google Shape;215;p30"/>
          <p:cNvSpPr txBox="1"/>
          <p:nvPr/>
        </p:nvSpPr>
        <p:spPr>
          <a:xfrm>
            <a:off x="393192" y="310896"/>
            <a:ext cx="705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Complete the sentences summarising the formula.</a:t>
            </a:r>
            <a:endParaRPr b="1" sz="1800">
              <a:latin typeface="Raleway"/>
              <a:ea typeface="Raleway"/>
              <a:cs typeface="Raleway"/>
              <a:sym typeface="Raleway"/>
            </a:endParaRPr>
          </a:p>
        </p:txBody>
      </p:sp>
      <p:sp>
        <p:nvSpPr>
          <p:cNvPr id="216" name="Google Shape;216;p30"/>
          <p:cNvSpPr txBox="1"/>
          <p:nvPr/>
        </p:nvSpPr>
        <p:spPr>
          <a:xfrm>
            <a:off x="393200" y="829700"/>
            <a:ext cx="7794000" cy="40875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35000"/>
              </a:lnSpc>
              <a:spcBef>
                <a:spcPts val="1200"/>
              </a:spcBef>
              <a:spcAft>
                <a:spcPts val="0"/>
              </a:spcAft>
              <a:buClr>
                <a:schemeClr val="dk1"/>
              </a:buClr>
              <a:buSzPts val="1700"/>
              <a:buFont typeface="Raleway Light"/>
              <a:buAutoNum type="alphaUcPeriod"/>
            </a:pPr>
            <a:r>
              <a:rPr b="1" lang="en-GB" sz="1700">
                <a:solidFill>
                  <a:schemeClr val="dk1"/>
                </a:solidFill>
                <a:latin typeface="Raleway"/>
                <a:ea typeface="Raleway"/>
                <a:cs typeface="Raleway"/>
                <a:sym typeface="Raleway"/>
              </a:rPr>
              <a:t>Part 1</a:t>
            </a:r>
            <a:r>
              <a:rPr lang="en-GB" sz="1700">
                <a:solidFill>
                  <a:schemeClr val="dk1"/>
                </a:solidFill>
                <a:latin typeface="Raleway Light"/>
                <a:ea typeface="Raleway Light"/>
                <a:cs typeface="Raleway Light"/>
                <a:sym typeface="Raleway Light"/>
              </a:rPr>
              <a:t>: You should begin by asking a …………………………………………………...….. and …………………………………………………...….. question. This gives the listener …………………………………………………...….. by giving them the option to say yes or no.</a:t>
            </a:r>
            <a:endParaRPr sz="1700">
              <a:solidFill>
                <a:schemeClr val="dk1"/>
              </a:solidFill>
              <a:latin typeface="Raleway Light"/>
              <a:ea typeface="Raleway Light"/>
              <a:cs typeface="Raleway Light"/>
              <a:sym typeface="Raleway Light"/>
            </a:endParaRPr>
          </a:p>
          <a:p>
            <a:pPr indent="-336550" lvl="0" marL="457200" marR="0" rtl="0" algn="l">
              <a:lnSpc>
                <a:spcPct val="135000"/>
              </a:lnSpc>
              <a:spcBef>
                <a:spcPts val="1200"/>
              </a:spcBef>
              <a:spcAft>
                <a:spcPts val="0"/>
              </a:spcAft>
              <a:buClr>
                <a:schemeClr val="dk1"/>
              </a:buClr>
              <a:buSzPts val="1700"/>
              <a:buFont typeface="Raleway Light"/>
              <a:buAutoNum type="alphaUcPeriod"/>
            </a:pPr>
            <a:r>
              <a:rPr b="1" lang="en-GB" sz="1700">
                <a:solidFill>
                  <a:schemeClr val="dk1"/>
                </a:solidFill>
                <a:latin typeface="Raleway"/>
                <a:ea typeface="Raleway"/>
                <a:cs typeface="Raleway"/>
                <a:sym typeface="Raleway"/>
              </a:rPr>
              <a:t>Part 2</a:t>
            </a:r>
            <a:r>
              <a:rPr lang="en-GB" sz="1700">
                <a:solidFill>
                  <a:schemeClr val="dk1"/>
                </a:solidFill>
                <a:latin typeface="Raleway Light"/>
                <a:ea typeface="Raleway Light"/>
                <a:cs typeface="Raleway Light"/>
                <a:sym typeface="Raleway Light"/>
              </a:rPr>
              <a:t>: In the second part of the formula, you should say ……………………………………………………....….. what you saw or heard instead of using ‘blur words’.</a:t>
            </a:r>
            <a:endParaRPr sz="1700">
              <a:solidFill>
                <a:schemeClr val="dk1"/>
              </a:solidFill>
              <a:latin typeface="Raleway Light"/>
              <a:ea typeface="Raleway Light"/>
              <a:cs typeface="Raleway Light"/>
              <a:sym typeface="Raleway Light"/>
            </a:endParaRPr>
          </a:p>
          <a:p>
            <a:pPr indent="-336550" lvl="0" marL="457200" marR="0" rtl="0" algn="l">
              <a:lnSpc>
                <a:spcPct val="135000"/>
              </a:lnSpc>
              <a:spcBef>
                <a:spcPts val="1200"/>
              </a:spcBef>
              <a:spcAft>
                <a:spcPts val="0"/>
              </a:spcAft>
              <a:buClr>
                <a:schemeClr val="dk1"/>
              </a:buClr>
              <a:buSzPts val="1700"/>
              <a:buFont typeface="Raleway Light"/>
              <a:buAutoNum type="alphaUcPeriod"/>
            </a:pPr>
            <a:r>
              <a:rPr b="1" lang="en-GB" sz="1700">
                <a:solidFill>
                  <a:schemeClr val="dk1"/>
                </a:solidFill>
                <a:latin typeface="Raleway"/>
                <a:ea typeface="Raleway"/>
                <a:cs typeface="Raleway"/>
                <a:sym typeface="Raleway"/>
              </a:rPr>
              <a:t>Part 3</a:t>
            </a:r>
            <a:r>
              <a:rPr lang="en-GB" sz="1700">
                <a:solidFill>
                  <a:schemeClr val="dk1"/>
                </a:solidFill>
                <a:latin typeface="Raleway Light"/>
                <a:ea typeface="Raleway Light"/>
                <a:cs typeface="Raleway Light"/>
                <a:sym typeface="Raleway Light"/>
              </a:rPr>
              <a:t>: Thirdly, you should point out exactly how the behaviour ……………………………………………………....….. you. This offers a sense of …………………………………………………...….. .</a:t>
            </a:r>
            <a:endParaRPr sz="1700">
              <a:solidFill>
                <a:schemeClr val="dk1"/>
              </a:solidFill>
              <a:latin typeface="Raleway Light"/>
              <a:ea typeface="Raleway Light"/>
              <a:cs typeface="Raleway Light"/>
              <a:sym typeface="Raleway Light"/>
            </a:endParaRPr>
          </a:p>
          <a:p>
            <a:pPr indent="-336550" lvl="0" marL="457200" marR="0" rtl="0" algn="l">
              <a:lnSpc>
                <a:spcPct val="135000"/>
              </a:lnSpc>
              <a:spcBef>
                <a:spcPts val="1200"/>
              </a:spcBef>
              <a:spcAft>
                <a:spcPts val="1000"/>
              </a:spcAft>
              <a:buClr>
                <a:schemeClr val="dk1"/>
              </a:buClr>
              <a:buSzPts val="1700"/>
              <a:buFont typeface="Raleway Light"/>
              <a:buAutoNum type="alphaUcPeriod"/>
            </a:pPr>
            <a:r>
              <a:rPr b="1" lang="en-GB" sz="1700">
                <a:solidFill>
                  <a:schemeClr val="dk1"/>
                </a:solidFill>
                <a:latin typeface="Raleway"/>
                <a:ea typeface="Raleway"/>
                <a:cs typeface="Raleway"/>
                <a:sym typeface="Raleway"/>
              </a:rPr>
              <a:t>Part 4</a:t>
            </a:r>
            <a:r>
              <a:rPr lang="en-GB" sz="1700">
                <a:solidFill>
                  <a:schemeClr val="dk1"/>
                </a:solidFill>
                <a:latin typeface="Raleway Light"/>
                <a:ea typeface="Raleway Light"/>
                <a:cs typeface="Raleway Light"/>
                <a:sym typeface="Raleway Light"/>
              </a:rPr>
              <a:t>: Finally, to turn the conversation into a joint …………………………………………………...….. situation, you should end with a …………………………………………………...……</a:t>
            </a:r>
            <a:r>
              <a:rPr lang="en-GB" sz="1700">
                <a:solidFill>
                  <a:schemeClr val="dk1"/>
                </a:solidFill>
                <a:latin typeface="Raleway Light"/>
                <a:ea typeface="Raleway Light"/>
                <a:cs typeface="Raleway Light"/>
                <a:sym typeface="Raleway Light"/>
              </a:rPr>
              <a:t> .</a:t>
            </a:r>
            <a:endParaRPr sz="1700">
              <a:solidFill>
                <a:schemeClr val="dk1"/>
              </a:solidFill>
              <a:latin typeface="Raleway Light"/>
              <a:ea typeface="Raleway Light"/>
              <a:cs typeface="Raleway Light"/>
              <a:sym typeface="Raleway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0" name="Shape 220"/>
        <p:cNvGrpSpPr/>
        <p:nvPr/>
      </p:nvGrpSpPr>
      <p:grpSpPr>
        <a:xfrm>
          <a:off x="0" y="0"/>
          <a:ext cx="0" cy="0"/>
          <a:chOff x="0" y="0"/>
          <a:chExt cx="0" cy="0"/>
        </a:xfrm>
      </p:grpSpPr>
      <p:sp>
        <p:nvSpPr>
          <p:cNvPr id="221" name="Google Shape;221;p31"/>
          <p:cNvSpPr txBox="1"/>
          <p:nvPr/>
        </p:nvSpPr>
        <p:spPr>
          <a:xfrm>
            <a:off x="393200" y="829700"/>
            <a:ext cx="7794000" cy="40875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35000"/>
              </a:lnSpc>
              <a:spcBef>
                <a:spcPts val="1200"/>
              </a:spcBef>
              <a:spcAft>
                <a:spcPts val="0"/>
              </a:spcAft>
              <a:buClr>
                <a:schemeClr val="dk1"/>
              </a:buClr>
              <a:buSzPts val="1700"/>
              <a:buFont typeface="Raleway Light"/>
              <a:buAutoNum type="alphaUcPeriod"/>
            </a:pPr>
            <a:r>
              <a:rPr b="1" lang="en-GB" sz="1700">
                <a:solidFill>
                  <a:schemeClr val="dk1"/>
                </a:solidFill>
                <a:latin typeface="Raleway"/>
                <a:ea typeface="Raleway"/>
                <a:cs typeface="Raleway"/>
                <a:sym typeface="Raleway"/>
              </a:rPr>
              <a:t>Part 1</a:t>
            </a:r>
            <a:r>
              <a:rPr lang="en-GB" sz="1700">
                <a:solidFill>
                  <a:schemeClr val="dk1"/>
                </a:solidFill>
                <a:latin typeface="Raleway Light"/>
                <a:ea typeface="Raleway Light"/>
                <a:cs typeface="Raleway Light"/>
                <a:sym typeface="Raleway Light"/>
              </a:rPr>
              <a:t>: You should begin by asking a …………………………………………………...….. and …………………………………………………...….. question. This gives the listener …………………………………………………...….. by giving them the option to say yes or no.</a:t>
            </a:r>
            <a:endParaRPr sz="1700">
              <a:solidFill>
                <a:schemeClr val="dk1"/>
              </a:solidFill>
              <a:latin typeface="Raleway Light"/>
              <a:ea typeface="Raleway Light"/>
              <a:cs typeface="Raleway Light"/>
              <a:sym typeface="Raleway Light"/>
            </a:endParaRPr>
          </a:p>
          <a:p>
            <a:pPr indent="-336550" lvl="0" marL="457200" marR="0" rtl="0" algn="l">
              <a:lnSpc>
                <a:spcPct val="135000"/>
              </a:lnSpc>
              <a:spcBef>
                <a:spcPts val="1200"/>
              </a:spcBef>
              <a:spcAft>
                <a:spcPts val="0"/>
              </a:spcAft>
              <a:buClr>
                <a:schemeClr val="dk1"/>
              </a:buClr>
              <a:buSzPts val="1700"/>
              <a:buFont typeface="Raleway Light"/>
              <a:buAutoNum type="alphaUcPeriod"/>
            </a:pPr>
            <a:r>
              <a:rPr b="1" lang="en-GB" sz="1700">
                <a:solidFill>
                  <a:schemeClr val="dk1"/>
                </a:solidFill>
                <a:latin typeface="Raleway"/>
                <a:ea typeface="Raleway"/>
                <a:cs typeface="Raleway"/>
                <a:sym typeface="Raleway"/>
              </a:rPr>
              <a:t>Part 2</a:t>
            </a:r>
            <a:r>
              <a:rPr lang="en-GB" sz="1700">
                <a:solidFill>
                  <a:schemeClr val="dk1"/>
                </a:solidFill>
                <a:latin typeface="Raleway Light"/>
                <a:ea typeface="Raleway Light"/>
                <a:cs typeface="Raleway Light"/>
                <a:sym typeface="Raleway Light"/>
              </a:rPr>
              <a:t>: In the second part of the formula, you should say ……………………………………………………....….. what you saw or heard instead of using ‘blur words’.</a:t>
            </a:r>
            <a:endParaRPr sz="1700">
              <a:solidFill>
                <a:schemeClr val="dk1"/>
              </a:solidFill>
              <a:latin typeface="Raleway Light"/>
              <a:ea typeface="Raleway Light"/>
              <a:cs typeface="Raleway Light"/>
              <a:sym typeface="Raleway Light"/>
            </a:endParaRPr>
          </a:p>
          <a:p>
            <a:pPr indent="-336550" lvl="0" marL="457200" marR="0" rtl="0" algn="l">
              <a:lnSpc>
                <a:spcPct val="135000"/>
              </a:lnSpc>
              <a:spcBef>
                <a:spcPts val="1200"/>
              </a:spcBef>
              <a:spcAft>
                <a:spcPts val="0"/>
              </a:spcAft>
              <a:buClr>
                <a:schemeClr val="dk1"/>
              </a:buClr>
              <a:buSzPts val="1700"/>
              <a:buFont typeface="Raleway Light"/>
              <a:buAutoNum type="alphaUcPeriod"/>
            </a:pPr>
            <a:r>
              <a:rPr b="1" lang="en-GB" sz="1700">
                <a:solidFill>
                  <a:schemeClr val="dk1"/>
                </a:solidFill>
                <a:latin typeface="Raleway"/>
                <a:ea typeface="Raleway"/>
                <a:cs typeface="Raleway"/>
                <a:sym typeface="Raleway"/>
              </a:rPr>
              <a:t>Part 3</a:t>
            </a:r>
            <a:r>
              <a:rPr lang="en-GB" sz="1700">
                <a:solidFill>
                  <a:schemeClr val="dk1"/>
                </a:solidFill>
                <a:latin typeface="Raleway Light"/>
                <a:ea typeface="Raleway Light"/>
                <a:cs typeface="Raleway Light"/>
                <a:sym typeface="Raleway Light"/>
              </a:rPr>
              <a:t>: Thirdly, you should point out exactly how the behaviour ……………………………………………………....….. you. This offers a sense of …………………………………………………...…..</a:t>
            </a:r>
            <a:endParaRPr sz="1700">
              <a:solidFill>
                <a:schemeClr val="dk1"/>
              </a:solidFill>
              <a:latin typeface="Raleway Light"/>
              <a:ea typeface="Raleway Light"/>
              <a:cs typeface="Raleway Light"/>
              <a:sym typeface="Raleway Light"/>
            </a:endParaRPr>
          </a:p>
          <a:p>
            <a:pPr indent="-336550" lvl="0" marL="457200" marR="0" rtl="0" algn="l">
              <a:lnSpc>
                <a:spcPct val="135000"/>
              </a:lnSpc>
              <a:spcBef>
                <a:spcPts val="1200"/>
              </a:spcBef>
              <a:spcAft>
                <a:spcPts val="1000"/>
              </a:spcAft>
              <a:buClr>
                <a:schemeClr val="dk1"/>
              </a:buClr>
              <a:buSzPts val="1700"/>
              <a:buFont typeface="Raleway Light"/>
              <a:buAutoNum type="alphaUcPeriod"/>
            </a:pPr>
            <a:r>
              <a:rPr b="1" lang="en-GB" sz="1700">
                <a:solidFill>
                  <a:schemeClr val="dk1"/>
                </a:solidFill>
                <a:latin typeface="Raleway"/>
                <a:ea typeface="Raleway"/>
                <a:cs typeface="Raleway"/>
                <a:sym typeface="Raleway"/>
              </a:rPr>
              <a:t>Part 4</a:t>
            </a:r>
            <a:r>
              <a:rPr lang="en-GB" sz="1700">
                <a:solidFill>
                  <a:schemeClr val="dk1"/>
                </a:solidFill>
                <a:latin typeface="Raleway Light"/>
                <a:ea typeface="Raleway Light"/>
                <a:cs typeface="Raleway Light"/>
                <a:sym typeface="Raleway Light"/>
              </a:rPr>
              <a:t>: Finally, to turn the conversation into a joint …………………………………………………...….. situation, you should end with a …………………………………………………...…...</a:t>
            </a:r>
            <a:endParaRPr sz="1700">
              <a:solidFill>
                <a:schemeClr val="dk1"/>
              </a:solidFill>
              <a:latin typeface="Raleway Light"/>
              <a:ea typeface="Raleway Light"/>
              <a:cs typeface="Raleway Light"/>
              <a:sym typeface="Raleway Light"/>
            </a:endParaRPr>
          </a:p>
        </p:txBody>
      </p:sp>
      <p:sp>
        <p:nvSpPr>
          <p:cNvPr id="222" name="Google Shape;222;p3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223" name="Google Shape;223;p31"/>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224" name="Google Shape;224;p31"/>
          <p:cNvSpPr txBox="1"/>
          <p:nvPr/>
        </p:nvSpPr>
        <p:spPr>
          <a:xfrm>
            <a:off x="393192" y="310896"/>
            <a:ext cx="705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Let’s check your answers.</a:t>
            </a:r>
            <a:endParaRPr b="1" sz="1800">
              <a:latin typeface="Raleway"/>
              <a:ea typeface="Raleway"/>
              <a:cs typeface="Raleway"/>
              <a:sym typeface="Raleway"/>
            </a:endParaRPr>
          </a:p>
        </p:txBody>
      </p:sp>
      <p:sp>
        <p:nvSpPr>
          <p:cNvPr id="225" name="Google Shape;225;p31"/>
          <p:cNvSpPr/>
          <p:nvPr/>
        </p:nvSpPr>
        <p:spPr>
          <a:xfrm>
            <a:off x="5674499" y="3669895"/>
            <a:ext cx="30015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700">
                <a:solidFill>
                  <a:srgbClr val="FFFFFF"/>
                </a:solidFill>
                <a:latin typeface="Raleway Light"/>
                <a:ea typeface="Raleway Light"/>
                <a:cs typeface="Raleway Light"/>
                <a:sym typeface="Raleway Light"/>
              </a:rPr>
              <a:t>purpose, meaning and logic.</a:t>
            </a:r>
            <a:endParaRPr sz="1700">
              <a:solidFill>
                <a:srgbClr val="FFFFFF"/>
              </a:solidFill>
              <a:latin typeface="Raleway Light"/>
              <a:ea typeface="Raleway Light"/>
              <a:cs typeface="Raleway Light"/>
              <a:sym typeface="Raleway Light"/>
            </a:endParaRPr>
          </a:p>
        </p:txBody>
      </p:sp>
      <p:sp>
        <p:nvSpPr>
          <p:cNvPr id="226" name="Google Shape;226;p31"/>
          <p:cNvSpPr/>
          <p:nvPr/>
        </p:nvSpPr>
        <p:spPr>
          <a:xfrm>
            <a:off x="4528271" y="906950"/>
            <a:ext cx="20304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700">
                <a:solidFill>
                  <a:srgbClr val="FFFFFF"/>
                </a:solidFill>
                <a:latin typeface="Raleway Light"/>
                <a:ea typeface="Raleway Light"/>
                <a:cs typeface="Raleway Light"/>
                <a:sym typeface="Raleway Light"/>
              </a:rPr>
              <a:t>short</a:t>
            </a:r>
            <a:endParaRPr sz="1700">
              <a:solidFill>
                <a:srgbClr val="FFFFFF"/>
              </a:solidFill>
              <a:latin typeface="Raleway Light"/>
              <a:ea typeface="Raleway Light"/>
              <a:cs typeface="Raleway Light"/>
              <a:sym typeface="Raleway Light"/>
            </a:endParaRPr>
          </a:p>
        </p:txBody>
      </p:sp>
      <p:sp>
        <p:nvSpPr>
          <p:cNvPr id="227" name="Google Shape;227;p31"/>
          <p:cNvSpPr/>
          <p:nvPr/>
        </p:nvSpPr>
        <p:spPr>
          <a:xfrm>
            <a:off x="904526" y="1257462"/>
            <a:ext cx="20304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700">
                <a:solidFill>
                  <a:srgbClr val="FFFFFF"/>
                </a:solidFill>
                <a:latin typeface="Raleway Light"/>
                <a:ea typeface="Raleway Light"/>
                <a:cs typeface="Raleway Light"/>
                <a:sym typeface="Raleway Light"/>
              </a:rPr>
              <a:t>important</a:t>
            </a:r>
            <a:endParaRPr sz="1700">
              <a:solidFill>
                <a:srgbClr val="FFFFFF"/>
              </a:solidFill>
              <a:latin typeface="Raleway Light"/>
              <a:ea typeface="Raleway Light"/>
              <a:cs typeface="Raleway Light"/>
              <a:sym typeface="Raleway Light"/>
            </a:endParaRPr>
          </a:p>
        </p:txBody>
      </p:sp>
      <p:sp>
        <p:nvSpPr>
          <p:cNvPr id="228" name="Google Shape;228;p31"/>
          <p:cNvSpPr/>
          <p:nvPr/>
        </p:nvSpPr>
        <p:spPr>
          <a:xfrm>
            <a:off x="904536" y="1609080"/>
            <a:ext cx="20304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700">
                <a:solidFill>
                  <a:srgbClr val="FFFFFF"/>
                </a:solidFill>
                <a:latin typeface="Raleway Light"/>
                <a:ea typeface="Raleway Light"/>
                <a:cs typeface="Raleway Light"/>
                <a:sym typeface="Raleway Light"/>
              </a:rPr>
              <a:t>autonomy</a:t>
            </a:r>
            <a:endParaRPr sz="1700">
              <a:solidFill>
                <a:srgbClr val="FFFFFF"/>
              </a:solidFill>
              <a:latin typeface="Raleway Light"/>
              <a:ea typeface="Raleway Light"/>
              <a:cs typeface="Raleway Light"/>
              <a:sym typeface="Raleway Light"/>
            </a:endParaRPr>
          </a:p>
        </p:txBody>
      </p:sp>
      <p:sp>
        <p:nvSpPr>
          <p:cNvPr id="229" name="Google Shape;229;p31"/>
          <p:cNvSpPr/>
          <p:nvPr/>
        </p:nvSpPr>
        <p:spPr>
          <a:xfrm>
            <a:off x="939612" y="2448588"/>
            <a:ext cx="21126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700">
                <a:solidFill>
                  <a:srgbClr val="FFFFFF"/>
                </a:solidFill>
                <a:latin typeface="Raleway Light"/>
                <a:ea typeface="Raleway Light"/>
                <a:cs typeface="Raleway Light"/>
                <a:sym typeface="Raleway Light"/>
              </a:rPr>
              <a:t>exactly/specifically</a:t>
            </a:r>
            <a:endParaRPr sz="1700">
              <a:solidFill>
                <a:srgbClr val="FFFFFF"/>
              </a:solidFill>
              <a:latin typeface="Raleway Light"/>
              <a:ea typeface="Raleway Light"/>
              <a:cs typeface="Raleway Light"/>
              <a:sym typeface="Raleway Light"/>
            </a:endParaRPr>
          </a:p>
        </p:txBody>
      </p:sp>
      <p:sp>
        <p:nvSpPr>
          <p:cNvPr id="230" name="Google Shape;230;p31"/>
          <p:cNvSpPr/>
          <p:nvPr/>
        </p:nvSpPr>
        <p:spPr>
          <a:xfrm>
            <a:off x="904525" y="3669888"/>
            <a:ext cx="21627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700">
                <a:solidFill>
                  <a:srgbClr val="FFFFFF"/>
                </a:solidFill>
                <a:latin typeface="Raleway Light"/>
                <a:ea typeface="Raleway Light"/>
                <a:cs typeface="Raleway Light"/>
                <a:sym typeface="Raleway Light"/>
              </a:rPr>
              <a:t>i</a:t>
            </a:r>
            <a:r>
              <a:rPr lang="en-GB" sz="1700">
                <a:solidFill>
                  <a:srgbClr val="FFFFFF"/>
                </a:solidFill>
                <a:latin typeface="Raleway Light"/>
                <a:ea typeface="Raleway Light"/>
                <a:cs typeface="Raleway Light"/>
                <a:sym typeface="Raleway Light"/>
              </a:rPr>
              <a:t>mpacted /affected</a:t>
            </a:r>
            <a:endParaRPr sz="1700">
              <a:solidFill>
                <a:srgbClr val="FFFFFF"/>
              </a:solidFill>
              <a:latin typeface="Raleway Light"/>
              <a:ea typeface="Raleway Light"/>
              <a:cs typeface="Raleway Light"/>
              <a:sym typeface="Raleway Light"/>
            </a:endParaRPr>
          </a:p>
        </p:txBody>
      </p:sp>
      <p:sp>
        <p:nvSpPr>
          <p:cNvPr id="231" name="Google Shape;231;p31"/>
          <p:cNvSpPr/>
          <p:nvPr/>
        </p:nvSpPr>
        <p:spPr>
          <a:xfrm>
            <a:off x="5791146" y="4169450"/>
            <a:ext cx="20304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700">
                <a:solidFill>
                  <a:srgbClr val="FFFFFF"/>
                </a:solidFill>
                <a:latin typeface="Raleway Light"/>
                <a:ea typeface="Raleway Light"/>
                <a:cs typeface="Raleway Light"/>
                <a:sym typeface="Raleway Light"/>
              </a:rPr>
              <a:t>problem-solving</a:t>
            </a:r>
            <a:endParaRPr sz="1700">
              <a:solidFill>
                <a:srgbClr val="FFFFFF"/>
              </a:solidFill>
              <a:latin typeface="Raleway Light"/>
              <a:ea typeface="Raleway Light"/>
              <a:cs typeface="Raleway Light"/>
              <a:sym typeface="Raleway Light"/>
            </a:endParaRPr>
          </a:p>
        </p:txBody>
      </p:sp>
      <p:sp>
        <p:nvSpPr>
          <p:cNvPr id="232" name="Google Shape;232;p31"/>
          <p:cNvSpPr/>
          <p:nvPr/>
        </p:nvSpPr>
        <p:spPr>
          <a:xfrm>
            <a:off x="4094221" y="4520900"/>
            <a:ext cx="2030400" cy="246300"/>
          </a:xfrm>
          <a:prstGeom prst="roundRect">
            <a:avLst>
              <a:gd fmla="val 16667" name="adj"/>
            </a:avLst>
          </a:prstGeom>
          <a:solidFill>
            <a:srgbClr val="60A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700">
                <a:solidFill>
                  <a:srgbClr val="FFFFFF"/>
                </a:solidFill>
                <a:latin typeface="Raleway Light"/>
                <a:ea typeface="Raleway Light"/>
                <a:cs typeface="Raleway Light"/>
                <a:sym typeface="Raleway Light"/>
              </a:rPr>
              <a:t>question.</a:t>
            </a:r>
            <a:endParaRPr sz="1700">
              <a:solidFill>
                <a:srgbClr val="FFFFFF"/>
              </a:solidFill>
              <a:latin typeface="Raleway Light"/>
              <a:ea typeface="Raleway Light"/>
              <a:cs typeface="Raleway Light"/>
              <a:sym typeface="Raleway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
                                        <p:tgtEl>
                                          <p:spTgt spid="2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1"/>
                                        <p:tgtEl>
                                          <p:spTgt spid="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1"/>
                                        <p:tgtEl>
                                          <p:spTgt spid="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
                                        <p:tgtEl>
                                          <p:spTgt spid="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AAAA"/>
        </a:solidFill>
      </p:bgPr>
    </p:bg>
    <p:spTree>
      <p:nvGrpSpPr>
        <p:cNvPr id="236" name="Shape 236"/>
        <p:cNvGrpSpPr/>
        <p:nvPr/>
      </p:nvGrpSpPr>
      <p:grpSpPr>
        <a:xfrm>
          <a:off x="0" y="0"/>
          <a:ext cx="0" cy="0"/>
          <a:chOff x="0" y="0"/>
          <a:chExt cx="0" cy="0"/>
        </a:xfrm>
      </p:grpSpPr>
      <p:sp>
        <p:nvSpPr>
          <p:cNvPr id="237" name="Google Shape;237;p32"/>
          <p:cNvSpPr txBox="1"/>
          <p:nvPr>
            <p:ph type="ctrTitle"/>
          </p:nvPr>
        </p:nvSpPr>
        <p:spPr>
          <a:xfrm>
            <a:off x="685800" y="2726342"/>
            <a:ext cx="7772400" cy="1159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sz="4400">
                <a:solidFill>
                  <a:schemeClr val="lt1"/>
                </a:solidFill>
              </a:rPr>
              <a:t>Let’s discuss!</a:t>
            </a:r>
            <a:endParaRPr sz="4400">
              <a:solidFill>
                <a:schemeClr val="lt1"/>
              </a:solidFill>
            </a:endParaRPr>
          </a:p>
        </p:txBody>
      </p:sp>
      <p:pic>
        <p:nvPicPr>
          <p:cNvPr id="238" name="Google Shape;238;p32"/>
          <p:cNvPicPr preferRelativeResize="0"/>
          <p:nvPr/>
        </p:nvPicPr>
        <p:blipFill rotWithShape="1">
          <a:blip r:embed="rId3">
            <a:alphaModFix/>
          </a:blip>
          <a:srcRect b="0" l="0" r="0" t="0"/>
          <a:stretch/>
        </p:blipFill>
        <p:spPr>
          <a:xfrm>
            <a:off x="8062750" y="135850"/>
            <a:ext cx="886968" cy="88696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pic>
        <p:nvPicPr>
          <p:cNvPr id="244" name="Google Shape;244;p33"/>
          <p:cNvPicPr preferRelativeResize="0"/>
          <p:nvPr/>
        </p:nvPicPr>
        <p:blipFill>
          <a:blip r:embed="rId3">
            <a:alphaModFix/>
          </a:blip>
          <a:stretch>
            <a:fillRect/>
          </a:stretch>
        </p:blipFill>
        <p:spPr>
          <a:xfrm>
            <a:off x="434950" y="479200"/>
            <a:ext cx="899550" cy="899550"/>
          </a:xfrm>
          <a:prstGeom prst="rect">
            <a:avLst/>
          </a:prstGeom>
          <a:noFill/>
          <a:ln>
            <a:noFill/>
          </a:ln>
        </p:spPr>
      </p:pic>
      <p:sp>
        <p:nvSpPr>
          <p:cNvPr id="245" name="Google Shape;245;p33"/>
          <p:cNvSpPr txBox="1"/>
          <p:nvPr/>
        </p:nvSpPr>
        <p:spPr>
          <a:xfrm>
            <a:off x="1496250" y="658368"/>
            <a:ext cx="61515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Raleway"/>
                <a:ea typeface="Raleway"/>
                <a:cs typeface="Raleway"/>
                <a:sym typeface="Raleway"/>
              </a:rPr>
              <a:t>Discuss th</a:t>
            </a:r>
            <a:r>
              <a:rPr b="1" lang="en-GB" sz="1800">
                <a:latin typeface="Raleway"/>
                <a:ea typeface="Raleway"/>
                <a:cs typeface="Raleway"/>
                <a:sym typeface="Raleway"/>
              </a:rPr>
              <a:t>e questions. Give reasons for your answers.</a:t>
            </a:r>
            <a:endParaRPr b="1" sz="1800">
              <a:latin typeface="Raleway"/>
              <a:ea typeface="Raleway"/>
              <a:cs typeface="Raleway"/>
              <a:sym typeface="Raleway"/>
            </a:endParaRPr>
          </a:p>
        </p:txBody>
      </p:sp>
      <p:sp>
        <p:nvSpPr>
          <p:cNvPr id="246" name="Google Shape;246;p33"/>
          <p:cNvSpPr txBox="1"/>
          <p:nvPr/>
        </p:nvSpPr>
        <p:spPr>
          <a:xfrm>
            <a:off x="1073550" y="1589325"/>
            <a:ext cx="6574200" cy="2351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Font typeface="Raleway Light"/>
              <a:buChar char="➔"/>
            </a:pPr>
            <a:r>
              <a:rPr lang="en-GB" sz="1800">
                <a:latin typeface="Raleway Light"/>
                <a:ea typeface="Raleway Light"/>
                <a:cs typeface="Raleway Light"/>
                <a:sym typeface="Raleway Light"/>
              </a:rPr>
              <a:t>Do you think all cultures feel the same about feedback?</a:t>
            </a:r>
            <a:endParaRPr sz="1800">
              <a:latin typeface="Raleway Light"/>
              <a:ea typeface="Raleway Light"/>
              <a:cs typeface="Raleway Light"/>
              <a:sym typeface="Raleway Light"/>
            </a:endParaRPr>
          </a:p>
          <a:p>
            <a:pPr indent="-342900" lvl="0" marL="457200" marR="0" rtl="0" algn="l">
              <a:lnSpc>
                <a:spcPct val="115000"/>
              </a:lnSpc>
              <a:spcBef>
                <a:spcPts val="1000"/>
              </a:spcBef>
              <a:spcAft>
                <a:spcPts val="0"/>
              </a:spcAft>
              <a:buSzPts val="1800"/>
              <a:buFont typeface="Raleway Light"/>
              <a:buChar char="➔"/>
            </a:pPr>
            <a:r>
              <a:rPr lang="en-GB" sz="1800">
                <a:latin typeface="Raleway Light"/>
                <a:ea typeface="Raleway Light"/>
                <a:cs typeface="Raleway Light"/>
                <a:sym typeface="Raleway Light"/>
              </a:rPr>
              <a:t>Would the above formula work well in different cultures including your own?</a:t>
            </a:r>
            <a:endParaRPr sz="1800">
              <a:latin typeface="Raleway Light"/>
              <a:ea typeface="Raleway Light"/>
              <a:cs typeface="Raleway Light"/>
              <a:sym typeface="Raleway Light"/>
            </a:endParaRPr>
          </a:p>
          <a:p>
            <a:pPr indent="-342900" lvl="0" marL="457200" marR="0" rtl="0" algn="l">
              <a:lnSpc>
                <a:spcPct val="115000"/>
              </a:lnSpc>
              <a:spcBef>
                <a:spcPts val="1000"/>
              </a:spcBef>
              <a:spcAft>
                <a:spcPts val="0"/>
              </a:spcAft>
              <a:buSzPts val="1800"/>
              <a:buFont typeface="Raleway Light"/>
              <a:buChar char="➔"/>
            </a:pPr>
            <a:r>
              <a:rPr lang="en-GB" sz="1800">
                <a:latin typeface="Raleway Light"/>
                <a:ea typeface="Raleway Light"/>
                <a:cs typeface="Raleway Light"/>
                <a:sym typeface="Raleway Light"/>
              </a:rPr>
              <a:t>What do you think about the formula? Would you use it?</a:t>
            </a:r>
            <a:endParaRPr sz="1800">
              <a:latin typeface="Raleway Light"/>
              <a:ea typeface="Raleway Light"/>
              <a:cs typeface="Raleway Light"/>
              <a:sym typeface="Raleway Light"/>
            </a:endParaRPr>
          </a:p>
          <a:p>
            <a:pPr indent="-342900" lvl="0" marL="457200" marR="0" rtl="0" algn="l">
              <a:lnSpc>
                <a:spcPct val="115000"/>
              </a:lnSpc>
              <a:spcBef>
                <a:spcPts val="1000"/>
              </a:spcBef>
              <a:spcAft>
                <a:spcPts val="1000"/>
              </a:spcAft>
              <a:buSzPts val="1800"/>
              <a:buFont typeface="Raleway Light"/>
              <a:buChar char="➔"/>
            </a:pPr>
            <a:r>
              <a:rPr lang="en-GB" sz="1800">
                <a:latin typeface="Raleway Light"/>
                <a:ea typeface="Raleway Light"/>
                <a:cs typeface="Raleway Light"/>
                <a:sym typeface="Raleway Light"/>
              </a:rPr>
              <a:t>Would you like someone to use this method of feedback-giving on you?</a:t>
            </a:r>
            <a:endParaRPr sz="1800">
              <a:latin typeface="Raleway Light"/>
              <a:ea typeface="Raleway Light"/>
              <a:cs typeface="Raleway Light"/>
              <a:sym typeface="Raleway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AAAA"/>
        </a:solidFill>
      </p:bgPr>
    </p:bg>
    <p:spTree>
      <p:nvGrpSpPr>
        <p:cNvPr id="250" name="Shape 250"/>
        <p:cNvGrpSpPr/>
        <p:nvPr/>
      </p:nvGrpSpPr>
      <p:grpSpPr>
        <a:xfrm>
          <a:off x="0" y="0"/>
          <a:ext cx="0" cy="0"/>
          <a:chOff x="0" y="0"/>
          <a:chExt cx="0" cy="0"/>
        </a:xfrm>
      </p:grpSpPr>
      <p:sp>
        <p:nvSpPr>
          <p:cNvPr id="251" name="Google Shape;251;p34"/>
          <p:cNvSpPr txBox="1"/>
          <p:nvPr>
            <p:ph type="ctrTitle"/>
          </p:nvPr>
        </p:nvSpPr>
        <p:spPr>
          <a:xfrm>
            <a:off x="685800" y="2916936"/>
            <a:ext cx="7772400" cy="8619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GB" sz="4400">
                <a:solidFill>
                  <a:schemeClr val="lt1"/>
                </a:solidFill>
              </a:rPr>
              <a:t>Let’s put it into practice!</a:t>
            </a:r>
            <a:endParaRPr sz="4400">
              <a:solidFill>
                <a:schemeClr val="lt1"/>
              </a:solidFill>
            </a:endParaRPr>
          </a:p>
        </p:txBody>
      </p:sp>
      <p:pic>
        <p:nvPicPr>
          <p:cNvPr id="252" name="Google Shape;252;p34"/>
          <p:cNvPicPr preferRelativeResize="0"/>
          <p:nvPr/>
        </p:nvPicPr>
        <p:blipFill>
          <a:blip r:embed="rId3">
            <a:alphaModFix/>
          </a:blip>
          <a:stretch>
            <a:fillRect/>
          </a:stretch>
        </p:blipFill>
        <p:spPr>
          <a:xfrm>
            <a:off x="8067350" y="91875"/>
            <a:ext cx="850392" cy="85039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258" name="Google Shape;258;p35"/>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259" name="Google Shape;259;p35"/>
          <p:cNvSpPr txBox="1"/>
          <p:nvPr/>
        </p:nvSpPr>
        <p:spPr>
          <a:xfrm>
            <a:off x="393192" y="310896"/>
            <a:ext cx="70581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Look at the following examples of feedback and rewrite them according to the four parts of the formula outlined in the video.</a:t>
            </a:r>
            <a:endParaRPr b="1" sz="1800">
              <a:latin typeface="Raleway"/>
              <a:ea typeface="Raleway"/>
              <a:cs typeface="Raleway"/>
              <a:sym typeface="Raleway"/>
            </a:endParaRPr>
          </a:p>
          <a:p>
            <a:pPr indent="0" lvl="0" marL="0" marR="0" rtl="0" algn="l">
              <a:lnSpc>
                <a:spcPct val="100000"/>
              </a:lnSpc>
              <a:spcBef>
                <a:spcPts val="0"/>
              </a:spcBef>
              <a:spcAft>
                <a:spcPts val="0"/>
              </a:spcAft>
              <a:buNone/>
            </a:pPr>
            <a:r>
              <a:t/>
            </a:r>
            <a:endParaRPr b="1" sz="1800">
              <a:latin typeface="Raleway"/>
              <a:ea typeface="Raleway"/>
              <a:cs typeface="Raleway"/>
              <a:sym typeface="Raleway"/>
            </a:endParaRPr>
          </a:p>
        </p:txBody>
      </p:sp>
      <p:sp>
        <p:nvSpPr>
          <p:cNvPr id="260" name="Google Shape;260;p35"/>
          <p:cNvSpPr txBox="1"/>
          <p:nvPr/>
        </p:nvSpPr>
        <p:spPr>
          <a:xfrm>
            <a:off x="393200" y="1371100"/>
            <a:ext cx="7794000" cy="32385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15000"/>
              </a:lnSpc>
              <a:spcBef>
                <a:spcPts val="0"/>
              </a:spcBef>
              <a:spcAft>
                <a:spcPts val="0"/>
              </a:spcAft>
              <a:buClr>
                <a:schemeClr val="dk1"/>
              </a:buClr>
              <a:buSzPts val="1700"/>
              <a:buFont typeface="Raleway Light"/>
              <a:buAutoNum type="alphaUcPeriod"/>
            </a:pPr>
            <a:r>
              <a:rPr lang="en-GB" sz="1700">
                <a:solidFill>
                  <a:schemeClr val="dk1"/>
                </a:solidFill>
                <a:latin typeface="Raleway Light"/>
                <a:ea typeface="Raleway Light"/>
                <a:cs typeface="Raleway Light"/>
                <a:sym typeface="Raleway Light"/>
              </a:rPr>
              <a:t>I need to talk to you about your time keeping. You’re always coming in late and to be honest, it’s just annoying and unprofessional. Just make sure you get here on time in the future, OK?</a:t>
            </a:r>
            <a:endParaRPr sz="1700">
              <a:solidFill>
                <a:schemeClr val="dk1"/>
              </a:solidFill>
              <a:latin typeface="Raleway Light"/>
              <a:ea typeface="Raleway Light"/>
              <a:cs typeface="Raleway Light"/>
              <a:sym typeface="Raleway Light"/>
            </a:endParaRPr>
          </a:p>
          <a:p>
            <a:pPr indent="-336550" lvl="0" marL="457200" marR="0" rtl="0" algn="l">
              <a:lnSpc>
                <a:spcPct val="115000"/>
              </a:lnSpc>
              <a:spcBef>
                <a:spcPts val="1000"/>
              </a:spcBef>
              <a:spcAft>
                <a:spcPts val="0"/>
              </a:spcAft>
              <a:buClr>
                <a:schemeClr val="dk1"/>
              </a:buClr>
              <a:buSzPts val="1700"/>
              <a:buFont typeface="Raleway Light"/>
              <a:buAutoNum type="alphaUcPeriod"/>
            </a:pPr>
            <a:r>
              <a:rPr lang="en-GB" sz="1700">
                <a:solidFill>
                  <a:schemeClr val="dk1"/>
                </a:solidFill>
                <a:latin typeface="Raleway Light"/>
                <a:ea typeface="Raleway Light"/>
                <a:cs typeface="Raleway Light"/>
                <a:sym typeface="Raleway Light"/>
              </a:rPr>
              <a:t>I just wanted to have a word with you about the conference last week. You really were a great help! You took a lot of pressure off me. Thanks, I really appreciated it. </a:t>
            </a:r>
            <a:endParaRPr sz="1700">
              <a:solidFill>
                <a:schemeClr val="dk1"/>
              </a:solidFill>
              <a:latin typeface="Raleway Light"/>
              <a:ea typeface="Raleway Light"/>
              <a:cs typeface="Raleway Light"/>
              <a:sym typeface="Raleway Light"/>
            </a:endParaRPr>
          </a:p>
          <a:p>
            <a:pPr indent="-336550" lvl="0" marL="457200" marR="0" rtl="0" algn="l">
              <a:lnSpc>
                <a:spcPct val="115000"/>
              </a:lnSpc>
              <a:spcBef>
                <a:spcPts val="1000"/>
              </a:spcBef>
              <a:spcAft>
                <a:spcPts val="0"/>
              </a:spcAft>
              <a:buClr>
                <a:schemeClr val="dk1"/>
              </a:buClr>
              <a:buSzPts val="1700"/>
              <a:buFont typeface="Raleway Light"/>
              <a:buAutoNum type="alphaUcPeriod"/>
            </a:pPr>
            <a:r>
              <a:rPr lang="en-GB" sz="1700">
                <a:solidFill>
                  <a:schemeClr val="dk1"/>
                </a:solidFill>
                <a:latin typeface="Raleway Light"/>
                <a:ea typeface="Raleway Light"/>
                <a:cs typeface="Raleway Light"/>
                <a:sym typeface="Raleway Light"/>
              </a:rPr>
              <a:t>Listen, I can hardly understand a word you say! Why don’t you make more effort to improve your pronunciation?</a:t>
            </a:r>
            <a:endParaRPr sz="1700">
              <a:solidFill>
                <a:schemeClr val="dk1"/>
              </a:solidFill>
              <a:latin typeface="Raleway Light"/>
              <a:ea typeface="Raleway Light"/>
              <a:cs typeface="Raleway Light"/>
              <a:sym typeface="Raleway Light"/>
            </a:endParaRPr>
          </a:p>
          <a:p>
            <a:pPr indent="-336550" lvl="0" marL="457200" marR="0" rtl="0" algn="l">
              <a:lnSpc>
                <a:spcPct val="115000"/>
              </a:lnSpc>
              <a:spcBef>
                <a:spcPts val="1000"/>
              </a:spcBef>
              <a:spcAft>
                <a:spcPts val="1000"/>
              </a:spcAft>
              <a:buClr>
                <a:schemeClr val="dk1"/>
              </a:buClr>
              <a:buSzPts val="1700"/>
              <a:buFont typeface="Raleway Light"/>
              <a:buAutoNum type="alphaUcPeriod"/>
            </a:pPr>
            <a:r>
              <a:rPr lang="en-GB" sz="1700">
                <a:solidFill>
                  <a:schemeClr val="dk1"/>
                </a:solidFill>
                <a:latin typeface="Raleway Light"/>
                <a:ea typeface="Raleway Light"/>
                <a:cs typeface="Raleway Light"/>
                <a:sym typeface="Raleway Light"/>
              </a:rPr>
              <a:t>That report you gave me wasn’t good enough. You’ll have to redo it.</a:t>
            </a:r>
            <a:endParaRPr sz="1700">
              <a:solidFill>
                <a:schemeClr val="dk1"/>
              </a:solidFill>
              <a:latin typeface="Raleway Light"/>
              <a:ea typeface="Raleway Light"/>
              <a:cs typeface="Raleway Light"/>
              <a:sym typeface="Raleway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266" name="Google Shape;266;p36"/>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267" name="Google Shape;267;p36"/>
          <p:cNvSpPr txBox="1"/>
          <p:nvPr/>
        </p:nvSpPr>
        <p:spPr>
          <a:xfrm>
            <a:off x="393192" y="310896"/>
            <a:ext cx="705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Let’s check some possible answers. [part 1/2] </a:t>
            </a:r>
            <a:endParaRPr b="1" sz="1800">
              <a:latin typeface="Raleway"/>
              <a:ea typeface="Raleway"/>
              <a:cs typeface="Raleway"/>
              <a:sym typeface="Raleway"/>
            </a:endParaRPr>
          </a:p>
        </p:txBody>
      </p:sp>
      <p:sp>
        <p:nvSpPr>
          <p:cNvPr id="268" name="Google Shape;268;p36"/>
          <p:cNvSpPr txBox="1"/>
          <p:nvPr/>
        </p:nvSpPr>
        <p:spPr>
          <a:xfrm>
            <a:off x="393200" y="797725"/>
            <a:ext cx="7978800" cy="41769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chemeClr val="dk1"/>
              </a:buClr>
              <a:buSzPts val="1600"/>
              <a:buFont typeface="Raleway Light"/>
              <a:buAutoNum type="alphaUcPeriod"/>
            </a:pPr>
            <a:r>
              <a:rPr lang="en-GB" sz="1600">
                <a:solidFill>
                  <a:schemeClr val="dk1"/>
                </a:solidFill>
                <a:latin typeface="Raleway Light"/>
                <a:ea typeface="Raleway Light"/>
                <a:cs typeface="Raleway Light"/>
                <a:sym typeface="Raleway Light"/>
              </a:rPr>
              <a:t>I need to talk to you about your time keeping. You’re always coming in late and to be honest, it’s just annoying and unprofessional. Just make sure you get here on time in the future, OK?</a:t>
            </a:r>
            <a:endParaRPr sz="1600">
              <a:solidFill>
                <a:schemeClr val="dk1"/>
              </a:solidFill>
              <a:latin typeface="Raleway Light"/>
              <a:ea typeface="Raleway Light"/>
              <a:cs typeface="Raleway Light"/>
              <a:sym typeface="Raleway Light"/>
            </a:endParaRPr>
          </a:p>
          <a:p>
            <a:pPr indent="0" lvl="0" marL="457200" marR="0" rtl="0" algn="l">
              <a:lnSpc>
                <a:spcPct val="115000"/>
              </a:lnSpc>
              <a:spcBef>
                <a:spcPts val="0"/>
              </a:spcBef>
              <a:spcAft>
                <a:spcPts val="0"/>
              </a:spcAft>
              <a:buNone/>
            </a:pPr>
            <a:r>
              <a:rPr lang="en-GB" sz="1600">
                <a:solidFill>
                  <a:schemeClr val="dk1"/>
                </a:solidFill>
                <a:highlight>
                  <a:srgbClr val="FFCD00"/>
                </a:highlight>
                <a:latin typeface="Raleway Light"/>
                <a:ea typeface="Raleway Light"/>
                <a:cs typeface="Raleway Light"/>
                <a:sym typeface="Raleway Light"/>
              </a:rPr>
              <a:t>Can we have a chat about your timekeeping? I noticed that you were around twenty minutes late three days this week. It meant we couldn’t start the morning meeting until you got here. Is there anything we can do to help you get here on time?</a:t>
            </a:r>
            <a:endParaRPr sz="1600">
              <a:solidFill>
                <a:schemeClr val="dk1"/>
              </a:solidFill>
              <a:highlight>
                <a:srgbClr val="FFCD00"/>
              </a:highlight>
              <a:latin typeface="Raleway Light"/>
              <a:ea typeface="Raleway Light"/>
              <a:cs typeface="Raleway Light"/>
              <a:sym typeface="Raleway Light"/>
            </a:endParaRPr>
          </a:p>
          <a:p>
            <a:pPr indent="-330200" lvl="0" marL="457200" marR="0" rtl="0" algn="l">
              <a:lnSpc>
                <a:spcPct val="115000"/>
              </a:lnSpc>
              <a:spcBef>
                <a:spcPts val="500"/>
              </a:spcBef>
              <a:spcAft>
                <a:spcPts val="0"/>
              </a:spcAft>
              <a:buClr>
                <a:schemeClr val="dk1"/>
              </a:buClr>
              <a:buSzPts val="1600"/>
              <a:buFont typeface="Raleway Light"/>
              <a:buAutoNum type="alphaUcPeriod"/>
            </a:pPr>
            <a:r>
              <a:rPr lang="en-GB" sz="1600">
                <a:solidFill>
                  <a:schemeClr val="dk1"/>
                </a:solidFill>
                <a:latin typeface="Raleway Light"/>
                <a:ea typeface="Raleway Light"/>
                <a:cs typeface="Raleway Light"/>
                <a:sym typeface="Raleway Light"/>
              </a:rPr>
              <a:t>I just wanted to have a word with you about the conference last week. You really were a great help! You took a lot of pressure off me. Thanks, I really appreciated it. </a:t>
            </a:r>
            <a:endParaRPr sz="1600">
              <a:solidFill>
                <a:schemeClr val="dk1"/>
              </a:solidFill>
              <a:latin typeface="Raleway Light"/>
              <a:ea typeface="Raleway Light"/>
              <a:cs typeface="Raleway Light"/>
              <a:sym typeface="Raleway Light"/>
            </a:endParaRPr>
          </a:p>
          <a:p>
            <a:pPr indent="0" lvl="0" marL="457200" rtl="0" algn="l">
              <a:lnSpc>
                <a:spcPct val="115000"/>
              </a:lnSpc>
              <a:spcBef>
                <a:spcPts val="0"/>
              </a:spcBef>
              <a:spcAft>
                <a:spcPts val="1200"/>
              </a:spcAft>
              <a:buNone/>
            </a:pPr>
            <a:r>
              <a:rPr lang="en-GB" sz="1600">
                <a:solidFill>
                  <a:schemeClr val="dk1"/>
                </a:solidFill>
                <a:highlight>
                  <a:srgbClr val="FFCD00"/>
                </a:highlight>
                <a:latin typeface="Raleway Light"/>
                <a:ea typeface="Raleway Light"/>
                <a:cs typeface="Raleway Light"/>
                <a:sym typeface="Raleway Light"/>
              </a:rPr>
              <a:t>Have you got time to talk about the conference? I wanted to thank you for setting up the screen and microphone for my presentation. Thanks for putting the handouts on all the seats too! You took a lot of pressure off me. I felt less stressed and had more time. Do let me know if there’s anything I can do for you.</a:t>
            </a:r>
            <a:endParaRPr sz="1600">
              <a:solidFill>
                <a:schemeClr val="dk1"/>
              </a:solidFill>
              <a:highlight>
                <a:srgbClr val="FFCD00"/>
              </a:highlight>
              <a:latin typeface="Raleway Light"/>
              <a:ea typeface="Raleway Light"/>
              <a:cs typeface="Raleway Light"/>
              <a:sym typeface="Raleway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xEl>
                                              <p:pRg end="0" st="0"/>
                                            </p:txEl>
                                          </p:spTgt>
                                        </p:tgtEl>
                                        <p:attrNameLst>
                                          <p:attrName>style.visibility</p:attrName>
                                        </p:attrNameLst>
                                      </p:cBhvr>
                                      <p:to>
                                        <p:strVal val="visible"/>
                                      </p:to>
                                    </p:set>
                                    <p:animEffect filter="fade" transition="in">
                                      <p:cBhvr>
                                        <p:cTn dur="1000"/>
                                        <p:tgtEl>
                                          <p:spTgt spid="2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xEl>
                                              <p:pRg end="1" st="1"/>
                                            </p:txEl>
                                          </p:spTgt>
                                        </p:tgtEl>
                                        <p:attrNameLst>
                                          <p:attrName>style.visibility</p:attrName>
                                        </p:attrNameLst>
                                      </p:cBhvr>
                                      <p:to>
                                        <p:strVal val="visible"/>
                                      </p:to>
                                    </p:set>
                                    <p:animEffect filter="fade" transition="in">
                                      <p:cBhvr>
                                        <p:cTn dur="1000"/>
                                        <p:tgtEl>
                                          <p:spTgt spid="2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xEl>
                                              <p:pRg end="2" st="2"/>
                                            </p:txEl>
                                          </p:spTgt>
                                        </p:tgtEl>
                                        <p:attrNameLst>
                                          <p:attrName>style.visibility</p:attrName>
                                        </p:attrNameLst>
                                      </p:cBhvr>
                                      <p:to>
                                        <p:strVal val="visible"/>
                                      </p:to>
                                    </p:set>
                                    <p:animEffect filter="fade" transition="in">
                                      <p:cBhvr>
                                        <p:cTn dur="1000"/>
                                        <p:tgtEl>
                                          <p:spTgt spid="2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xEl>
                                              <p:pRg end="3" st="3"/>
                                            </p:txEl>
                                          </p:spTgt>
                                        </p:tgtEl>
                                        <p:attrNameLst>
                                          <p:attrName>style.visibility</p:attrName>
                                        </p:attrNameLst>
                                      </p:cBhvr>
                                      <p:to>
                                        <p:strVal val="visible"/>
                                      </p:to>
                                    </p:set>
                                    <p:animEffect filter="fade" transition="in">
                                      <p:cBhvr>
                                        <p:cTn dur="1000"/>
                                        <p:tgtEl>
                                          <p:spTgt spid="26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274" name="Google Shape;274;p37"/>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275" name="Google Shape;275;p37"/>
          <p:cNvSpPr txBox="1"/>
          <p:nvPr/>
        </p:nvSpPr>
        <p:spPr>
          <a:xfrm>
            <a:off x="393192" y="310896"/>
            <a:ext cx="705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Let’s check some possible answers. [part 2</a:t>
            </a:r>
            <a:r>
              <a:rPr b="1" lang="en-GB" sz="1800">
                <a:latin typeface="Raleway"/>
                <a:ea typeface="Raleway"/>
                <a:cs typeface="Raleway"/>
                <a:sym typeface="Raleway"/>
              </a:rPr>
              <a:t>/2</a:t>
            </a:r>
            <a:r>
              <a:rPr b="1" lang="en-GB" sz="1800">
                <a:latin typeface="Raleway"/>
                <a:ea typeface="Raleway"/>
                <a:cs typeface="Raleway"/>
                <a:sym typeface="Raleway"/>
              </a:rPr>
              <a:t>] </a:t>
            </a:r>
            <a:endParaRPr b="1" sz="1800">
              <a:latin typeface="Raleway"/>
              <a:ea typeface="Raleway"/>
              <a:cs typeface="Raleway"/>
              <a:sym typeface="Raleway"/>
            </a:endParaRPr>
          </a:p>
        </p:txBody>
      </p:sp>
      <p:sp>
        <p:nvSpPr>
          <p:cNvPr id="276" name="Google Shape;276;p37"/>
          <p:cNvSpPr txBox="1"/>
          <p:nvPr/>
        </p:nvSpPr>
        <p:spPr>
          <a:xfrm>
            <a:off x="393200" y="767650"/>
            <a:ext cx="7978800" cy="37002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chemeClr val="dk1"/>
              </a:buClr>
              <a:buSzPts val="1600"/>
              <a:buFont typeface="Raleway Light"/>
              <a:buAutoNum type="alphaUcPeriod" startAt="3"/>
            </a:pPr>
            <a:r>
              <a:rPr lang="en-GB" sz="1600">
                <a:solidFill>
                  <a:schemeClr val="dk1"/>
                </a:solidFill>
                <a:latin typeface="Raleway Light"/>
                <a:ea typeface="Raleway Light"/>
                <a:cs typeface="Raleway Light"/>
                <a:sym typeface="Raleway Light"/>
              </a:rPr>
              <a:t>L</a:t>
            </a:r>
            <a:r>
              <a:rPr lang="en-GB" sz="1600">
                <a:solidFill>
                  <a:schemeClr val="dk1"/>
                </a:solidFill>
                <a:latin typeface="Raleway Light"/>
                <a:ea typeface="Raleway Light"/>
                <a:cs typeface="Raleway Light"/>
                <a:sym typeface="Raleway Light"/>
              </a:rPr>
              <a:t>isten, I can hardly understand a word you say! Why don’t you make more effort to improve your pronunciation?</a:t>
            </a:r>
            <a:endParaRPr sz="1600">
              <a:solidFill>
                <a:schemeClr val="dk1"/>
              </a:solidFill>
              <a:latin typeface="Raleway Light"/>
              <a:ea typeface="Raleway Light"/>
              <a:cs typeface="Raleway Light"/>
              <a:sym typeface="Raleway Light"/>
            </a:endParaRPr>
          </a:p>
          <a:p>
            <a:pPr indent="0" lvl="0" marL="457200" marR="0" rtl="0" algn="l">
              <a:lnSpc>
                <a:spcPct val="115000"/>
              </a:lnSpc>
              <a:spcBef>
                <a:spcPts val="0"/>
              </a:spcBef>
              <a:spcAft>
                <a:spcPts val="0"/>
              </a:spcAft>
              <a:buNone/>
            </a:pPr>
            <a:r>
              <a:rPr lang="en-GB" sz="1600">
                <a:solidFill>
                  <a:schemeClr val="dk1"/>
                </a:solidFill>
                <a:highlight>
                  <a:srgbClr val="FFCD00"/>
                </a:highlight>
                <a:latin typeface="Raleway Light"/>
                <a:ea typeface="Raleway Light"/>
                <a:cs typeface="Raleway Light"/>
                <a:sym typeface="Raleway Light"/>
              </a:rPr>
              <a:t>Can we have a chat about your progress? I’ve noticed that you’re struggling with pronunciation. Particularly ‘r’ and ‘i’ sounds and consonant clusters. It means that the other students find it difficult to understand you. Would you like to borrow this book? I can also give you some useful websites to look at for practice.</a:t>
            </a:r>
            <a:endParaRPr sz="1600">
              <a:solidFill>
                <a:schemeClr val="dk1"/>
              </a:solidFill>
              <a:highlight>
                <a:srgbClr val="FFCD00"/>
              </a:highlight>
              <a:latin typeface="Raleway Light"/>
              <a:ea typeface="Raleway Light"/>
              <a:cs typeface="Raleway Light"/>
              <a:sym typeface="Raleway Light"/>
            </a:endParaRPr>
          </a:p>
          <a:p>
            <a:pPr indent="-330200" lvl="0" marL="457200" marR="0" rtl="0" algn="l">
              <a:lnSpc>
                <a:spcPct val="115000"/>
              </a:lnSpc>
              <a:spcBef>
                <a:spcPts val="1200"/>
              </a:spcBef>
              <a:spcAft>
                <a:spcPts val="0"/>
              </a:spcAft>
              <a:buClr>
                <a:schemeClr val="dk1"/>
              </a:buClr>
              <a:buSzPts val="1600"/>
              <a:buFont typeface="Raleway Light"/>
              <a:buAutoNum type="alphaUcPeriod" startAt="3"/>
            </a:pPr>
            <a:r>
              <a:rPr lang="en-GB" sz="1600">
                <a:solidFill>
                  <a:schemeClr val="dk1"/>
                </a:solidFill>
                <a:latin typeface="Raleway Light"/>
                <a:ea typeface="Raleway Light"/>
                <a:cs typeface="Raleway Light"/>
                <a:sym typeface="Raleway Light"/>
              </a:rPr>
              <a:t>That report you gave me wasn’t good enough. You’ll have to redo it.</a:t>
            </a:r>
            <a:endParaRPr sz="1600">
              <a:solidFill>
                <a:schemeClr val="dk1"/>
              </a:solidFill>
              <a:latin typeface="Raleway Light"/>
              <a:ea typeface="Raleway Light"/>
              <a:cs typeface="Raleway Light"/>
              <a:sym typeface="Raleway Light"/>
            </a:endParaRPr>
          </a:p>
          <a:p>
            <a:pPr indent="0" lvl="0" marL="457200" marR="0" rtl="0" algn="l">
              <a:lnSpc>
                <a:spcPct val="115000"/>
              </a:lnSpc>
              <a:spcBef>
                <a:spcPts val="0"/>
              </a:spcBef>
              <a:spcAft>
                <a:spcPts val="1200"/>
              </a:spcAft>
              <a:buNone/>
            </a:pPr>
            <a:r>
              <a:rPr lang="en-GB" sz="1600">
                <a:solidFill>
                  <a:schemeClr val="dk1"/>
                </a:solidFill>
                <a:highlight>
                  <a:srgbClr val="FFCD00"/>
                </a:highlight>
                <a:latin typeface="Raleway Light"/>
                <a:ea typeface="Raleway Light"/>
                <a:cs typeface="Raleway Light"/>
                <a:sym typeface="Raleway Light"/>
              </a:rPr>
              <a:t>Would you like to talk about the report you wrote last week? It wasn’t organized or concise which made it pretty difficult to follow. Because of that, I couldn’t present the figures to the board very well. Would you like some help with how to organize and format it next time?</a:t>
            </a:r>
            <a:endParaRPr sz="1600">
              <a:solidFill>
                <a:schemeClr val="dk1"/>
              </a:solidFill>
              <a:highlight>
                <a:srgbClr val="FFCD00"/>
              </a:highlight>
              <a:latin typeface="Raleway Light"/>
              <a:ea typeface="Raleway Light"/>
              <a:cs typeface="Raleway Light"/>
              <a:sym typeface="Raleway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animEffect filter="fade" transition="in">
                                      <p:cBhvr>
                                        <p:cTn dur="1000"/>
                                        <p:tgtEl>
                                          <p:spTgt spid="2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animEffect filter="fade" transition="in">
                                      <p:cBhvr>
                                        <p:cTn dur="1000"/>
                                        <p:tgtEl>
                                          <p:spTgt spid="2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animEffect filter="fade" transition="in">
                                      <p:cBhvr>
                                        <p:cTn dur="1000"/>
                                        <p:tgtEl>
                                          <p:spTgt spid="2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3" st="3"/>
                                            </p:txEl>
                                          </p:spTgt>
                                        </p:tgtEl>
                                        <p:attrNameLst>
                                          <p:attrName>style.visibility</p:attrName>
                                        </p:attrNameLst>
                                      </p:cBhvr>
                                      <p:to>
                                        <p:strVal val="visible"/>
                                      </p:to>
                                    </p:set>
                                    <p:animEffect filter="fade" transition="in">
                                      <p:cBhvr>
                                        <p:cTn dur="1000"/>
                                        <p:tgtEl>
                                          <p:spTgt spid="27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282" name="Google Shape;282;p38"/>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283" name="Google Shape;283;p38"/>
          <p:cNvSpPr txBox="1"/>
          <p:nvPr/>
        </p:nvSpPr>
        <p:spPr>
          <a:xfrm>
            <a:off x="393192" y="310896"/>
            <a:ext cx="7058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Put the useful phrases for giving feedback under the correct headings. [part 1/3]</a:t>
            </a:r>
            <a:endParaRPr b="1" sz="1800">
              <a:latin typeface="Raleway"/>
              <a:ea typeface="Raleway"/>
              <a:cs typeface="Raleway"/>
              <a:sym typeface="Raleway"/>
            </a:endParaRPr>
          </a:p>
        </p:txBody>
      </p:sp>
      <p:graphicFrame>
        <p:nvGraphicFramePr>
          <p:cNvPr id="284" name="Google Shape;284;p38"/>
          <p:cNvGraphicFramePr/>
          <p:nvPr/>
        </p:nvGraphicFramePr>
        <p:xfrm>
          <a:off x="493463" y="3004150"/>
          <a:ext cx="3000000" cy="3000000"/>
        </p:xfrm>
        <a:graphic>
          <a:graphicData uri="http://schemas.openxmlformats.org/drawingml/2006/table">
            <a:tbl>
              <a:tblPr>
                <a:noFill/>
                <a:tableStyleId>{864853DA-5DAB-4055-B793-BA60791B650C}</a:tableStyleId>
              </a:tblPr>
              <a:tblGrid>
                <a:gridCol w="1484200"/>
                <a:gridCol w="1524325"/>
                <a:gridCol w="1464175"/>
                <a:gridCol w="1664700"/>
                <a:gridCol w="1534350"/>
              </a:tblGrid>
              <a:tr h="396200">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OPENING DISCUSSION</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GIVING PRAISE</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OFFERING SUGGESTIONS</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CHECKING UNDERSTANDING</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POINTING OUT PROBLEMS AND ISSUES</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r>
              <a:tr h="893200">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r>
            </a:tbl>
          </a:graphicData>
        </a:graphic>
      </p:graphicFrame>
      <p:sp>
        <p:nvSpPr>
          <p:cNvPr id="285" name="Google Shape;285;p38"/>
          <p:cNvSpPr txBox="1"/>
          <p:nvPr/>
        </p:nvSpPr>
        <p:spPr>
          <a:xfrm>
            <a:off x="393200" y="1009675"/>
            <a:ext cx="7671900" cy="19086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1200"/>
              </a:spcBef>
              <a:spcAft>
                <a:spcPts val="0"/>
              </a:spcAft>
              <a:buSzPts val="1600"/>
              <a:buFont typeface="Raleway Light"/>
              <a:buChar char="●"/>
            </a:pPr>
            <a:r>
              <a:rPr lang="en-GB" sz="1600">
                <a:latin typeface="Raleway Light"/>
                <a:ea typeface="Raleway Light"/>
                <a:cs typeface="Raleway Light"/>
                <a:sym typeface="Raleway Light"/>
              </a:rPr>
              <a:t>I’d like to commend you for…</a:t>
            </a:r>
            <a:endParaRPr sz="1600">
              <a:latin typeface="Raleway Light"/>
              <a:ea typeface="Raleway Light"/>
              <a:cs typeface="Raleway Light"/>
              <a:sym typeface="Raleway Light"/>
            </a:endParaRPr>
          </a:p>
          <a:p>
            <a:pPr indent="-330200" lvl="0" marL="457200" rtl="0" algn="l">
              <a:lnSpc>
                <a:spcPct val="150000"/>
              </a:lnSpc>
              <a:spcBef>
                <a:spcPts val="0"/>
              </a:spcBef>
              <a:spcAft>
                <a:spcPts val="0"/>
              </a:spcAft>
              <a:buSzPts val="1600"/>
              <a:buFont typeface="Raleway Light"/>
              <a:buChar char="●"/>
            </a:pPr>
            <a:r>
              <a:rPr lang="en-GB" sz="1600">
                <a:latin typeface="Raleway Light"/>
                <a:ea typeface="Raleway Light"/>
                <a:cs typeface="Raleway Light"/>
                <a:sym typeface="Raleway Light"/>
              </a:rPr>
              <a:t>Have I understood correctly….?</a:t>
            </a:r>
            <a:endParaRPr sz="1600">
              <a:latin typeface="Raleway Light"/>
              <a:ea typeface="Raleway Light"/>
              <a:cs typeface="Raleway Light"/>
              <a:sym typeface="Raleway Light"/>
            </a:endParaRPr>
          </a:p>
          <a:p>
            <a:pPr indent="-330200" lvl="0" marL="457200" rtl="0" algn="l">
              <a:lnSpc>
                <a:spcPct val="150000"/>
              </a:lnSpc>
              <a:spcBef>
                <a:spcPts val="0"/>
              </a:spcBef>
              <a:spcAft>
                <a:spcPts val="0"/>
              </a:spcAft>
              <a:buSzPts val="1600"/>
              <a:buFont typeface="Raleway Light"/>
              <a:buChar char="●"/>
            </a:pPr>
            <a:r>
              <a:rPr lang="en-GB" sz="1600">
                <a:latin typeface="Raleway Light"/>
                <a:ea typeface="Raleway Light"/>
                <a:cs typeface="Raleway Light"/>
                <a:sym typeface="Raleway Light"/>
              </a:rPr>
              <a:t>Would now be a good time to talk about…?</a:t>
            </a:r>
            <a:endParaRPr sz="1600">
              <a:latin typeface="Raleway Light"/>
              <a:ea typeface="Raleway Light"/>
              <a:cs typeface="Raleway Light"/>
              <a:sym typeface="Raleway Light"/>
            </a:endParaRPr>
          </a:p>
          <a:p>
            <a:pPr indent="-330200" lvl="0" marL="457200" rtl="0" algn="l">
              <a:lnSpc>
                <a:spcPct val="150000"/>
              </a:lnSpc>
              <a:spcBef>
                <a:spcPts val="0"/>
              </a:spcBef>
              <a:spcAft>
                <a:spcPts val="0"/>
              </a:spcAft>
              <a:buSzPts val="1600"/>
              <a:buFont typeface="Raleway Light"/>
              <a:buChar char="●"/>
            </a:pPr>
            <a:r>
              <a:rPr lang="en-GB" sz="1600">
                <a:latin typeface="Raleway Light"/>
                <a:ea typeface="Raleway Light"/>
                <a:cs typeface="Raleway Light"/>
                <a:sym typeface="Raleway Light"/>
              </a:rPr>
              <a:t>Here’s where you need to…</a:t>
            </a:r>
            <a:endParaRPr sz="1600">
              <a:latin typeface="Raleway Light"/>
              <a:ea typeface="Raleway Light"/>
              <a:cs typeface="Raleway Light"/>
              <a:sym typeface="Raleway Light"/>
            </a:endParaRPr>
          </a:p>
          <a:p>
            <a:pPr indent="-330200" lvl="0" marL="457200" rtl="0" algn="l">
              <a:lnSpc>
                <a:spcPct val="150000"/>
              </a:lnSpc>
              <a:spcBef>
                <a:spcPts val="0"/>
              </a:spcBef>
              <a:spcAft>
                <a:spcPts val="0"/>
              </a:spcAft>
              <a:buSzPts val="1600"/>
              <a:buFont typeface="Raleway Light"/>
              <a:buChar char="●"/>
            </a:pPr>
            <a:r>
              <a:rPr lang="en-GB" sz="1600">
                <a:latin typeface="Raleway Light"/>
                <a:ea typeface="Raleway Light"/>
                <a:cs typeface="Raleway Light"/>
                <a:sym typeface="Raleway Light"/>
              </a:rPr>
              <a:t>In my opinion, your… is top notch/stellar/outstanding.</a:t>
            </a:r>
            <a:endParaRPr sz="1600">
              <a:latin typeface="Raleway Light"/>
              <a:ea typeface="Raleway Light"/>
              <a:cs typeface="Raleway Light"/>
              <a:sym typeface="Raleway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291" name="Google Shape;291;p39"/>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292" name="Google Shape;292;p39"/>
          <p:cNvSpPr txBox="1"/>
          <p:nvPr/>
        </p:nvSpPr>
        <p:spPr>
          <a:xfrm>
            <a:off x="393192" y="310896"/>
            <a:ext cx="7058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Put the useful phrases for giving feedback under the correct headings. [part 2/3]</a:t>
            </a:r>
            <a:endParaRPr b="1" sz="1800">
              <a:latin typeface="Raleway"/>
              <a:ea typeface="Raleway"/>
              <a:cs typeface="Raleway"/>
              <a:sym typeface="Raleway"/>
            </a:endParaRPr>
          </a:p>
        </p:txBody>
      </p:sp>
      <p:graphicFrame>
        <p:nvGraphicFramePr>
          <p:cNvPr id="293" name="Google Shape;293;p39"/>
          <p:cNvGraphicFramePr/>
          <p:nvPr/>
        </p:nvGraphicFramePr>
        <p:xfrm>
          <a:off x="493463" y="3004150"/>
          <a:ext cx="3000000" cy="3000000"/>
        </p:xfrm>
        <a:graphic>
          <a:graphicData uri="http://schemas.openxmlformats.org/drawingml/2006/table">
            <a:tbl>
              <a:tblPr>
                <a:noFill/>
                <a:tableStyleId>{864853DA-5DAB-4055-B793-BA60791B650C}</a:tableStyleId>
              </a:tblPr>
              <a:tblGrid>
                <a:gridCol w="1484200"/>
                <a:gridCol w="1524325"/>
                <a:gridCol w="1464175"/>
                <a:gridCol w="1664700"/>
                <a:gridCol w="1534350"/>
              </a:tblGrid>
              <a:tr h="396200">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OPENING DISCUSSION</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GIVING PRAISE</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OFFERING SUGGESTIONS</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CHECKING UNDERSTANDING</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POINTING OUT PROBLEMS AND ISSUES</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r>
              <a:tr h="893200">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r>
            </a:tbl>
          </a:graphicData>
        </a:graphic>
      </p:graphicFrame>
      <p:sp>
        <p:nvSpPr>
          <p:cNvPr id="294" name="Google Shape;294;p39"/>
          <p:cNvSpPr txBox="1"/>
          <p:nvPr/>
        </p:nvSpPr>
        <p:spPr>
          <a:xfrm>
            <a:off x="393200" y="1009675"/>
            <a:ext cx="7671900" cy="19086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1200"/>
              </a:spcBef>
              <a:spcAft>
                <a:spcPts val="0"/>
              </a:spcAft>
              <a:buSzPts val="1600"/>
              <a:buFont typeface="Raleway Light"/>
              <a:buChar char="●"/>
            </a:pPr>
            <a:r>
              <a:rPr lang="en-GB" sz="1600">
                <a:latin typeface="Raleway Light"/>
                <a:ea typeface="Raleway Light"/>
                <a:cs typeface="Raleway Light"/>
                <a:sym typeface="Raleway Light"/>
              </a:rPr>
              <a:t>You’re really mastering…</a:t>
            </a:r>
            <a:endParaRPr sz="1600">
              <a:latin typeface="Raleway Light"/>
              <a:ea typeface="Raleway Light"/>
              <a:cs typeface="Raleway Light"/>
              <a:sym typeface="Raleway Light"/>
            </a:endParaRPr>
          </a:p>
          <a:p>
            <a:pPr indent="-330200" lvl="0" marL="457200" marR="0" rtl="0" algn="l">
              <a:lnSpc>
                <a:spcPct val="150000"/>
              </a:lnSpc>
              <a:spcBef>
                <a:spcPts val="0"/>
              </a:spcBef>
              <a:spcAft>
                <a:spcPts val="0"/>
              </a:spcAft>
              <a:buSzPts val="1600"/>
              <a:buFont typeface="Raleway Light"/>
              <a:buChar char="●"/>
            </a:pPr>
            <a:r>
              <a:rPr lang="en-GB" sz="1600">
                <a:latin typeface="Raleway Light"/>
                <a:ea typeface="Raleway Light"/>
                <a:cs typeface="Raleway Light"/>
                <a:sym typeface="Raleway Light"/>
              </a:rPr>
              <a:t>Would you be open to…?</a:t>
            </a:r>
            <a:endParaRPr sz="1600">
              <a:latin typeface="Raleway Light"/>
              <a:ea typeface="Raleway Light"/>
              <a:cs typeface="Raleway Light"/>
              <a:sym typeface="Raleway Light"/>
            </a:endParaRPr>
          </a:p>
          <a:p>
            <a:pPr indent="-330200" lvl="0" marL="457200" marR="0" rtl="0" algn="l">
              <a:lnSpc>
                <a:spcPct val="150000"/>
              </a:lnSpc>
              <a:spcBef>
                <a:spcPts val="0"/>
              </a:spcBef>
              <a:spcAft>
                <a:spcPts val="0"/>
              </a:spcAft>
              <a:buSzPts val="1600"/>
              <a:buFont typeface="Raleway Light"/>
              <a:buChar char="●"/>
            </a:pPr>
            <a:r>
              <a:rPr lang="en-GB" sz="1600">
                <a:latin typeface="Raleway Light"/>
                <a:ea typeface="Raleway Light"/>
                <a:cs typeface="Raleway Light"/>
                <a:sym typeface="Raleway Light"/>
              </a:rPr>
              <a:t>Here’s what I observed/noticed…</a:t>
            </a:r>
            <a:endParaRPr sz="1600">
              <a:latin typeface="Raleway Light"/>
              <a:ea typeface="Raleway Light"/>
              <a:cs typeface="Raleway Light"/>
              <a:sym typeface="Raleway Light"/>
            </a:endParaRPr>
          </a:p>
          <a:p>
            <a:pPr indent="-330200" lvl="0" marL="457200" marR="0" rtl="0" algn="l">
              <a:lnSpc>
                <a:spcPct val="150000"/>
              </a:lnSpc>
              <a:spcBef>
                <a:spcPts val="0"/>
              </a:spcBef>
              <a:spcAft>
                <a:spcPts val="0"/>
              </a:spcAft>
              <a:buSzPts val="1600"/>
              <a:buFont typeface="Raleway Light"/>
              <a:buChar char="●"/>
            </a:pPr>
            <a:r>
              <a:rPr lang="en-GB" sz="1600">
                <a:latin typeface="Raleway Light"/>
                <a:ea typeface="Raleway Light"/>
                <a:cs typeface="Raleway Light"/>
                <a:sym typeface="Raleway Light"/>
              </a:rPr>
              <a:t>Would you like a few pointers on your…?  </a:t>
            </a:r>
            <a:endParaRPr sz="1600">
              <a:latin typeface="Raleway Light"/>
              <a:ea typeface="Raleway Light"/>
              <a:cs typeface="Raleway Light"/>
              <a:sym typeface="Raleway Light"/>
            </a:endParaRPr>
          </a:p>
          <a:p>
            <a:pPr indent="-330200" lvl="0" marL="457200" marR="0" rtl="0" algn="l">
              <a:lnSpc>
                <a:spcPct val="150000"/>
              </a:lnSpc>
              <a:spcBef>
                <a:spcPts val="0"/>
              </a:spcBef>
              <a:spcAft>
                <a:spcPts val="0"/>
              </a:spcAft>
              <a:buSzPts val="1600"/>
              <a:buFont typeface="Raleway Light"/>
              <a:buChar char="●"/>
            </a:pPr>
            <a:r>
              <a:rPr lang="en-GB" sz="1600">
                <a:latin typeface="Raleway Light"/>
                <a:ea typeface="Raleway Light"/>
                <a:cs typeface="Raleway Light"/>
                <a:sym typeface="Raleway Light"/>
              </a:rPr>
              <a:t>I’ll cut to the chase.</a:t>
            </a:r>
            <a:endParaRPr sz="1600">
              <a:latin typeface="Raleway Light"/>
              <a:ea typeface="Raleway Light"/>
              <a:cs typeface="Raleway Light"/>
              <a:sym typeface="Raleway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300" name="Google Shape;300;p40"/>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301" name="Google Shape;301;p40"/>
          <p:cNvSpPr txBox="1"/>
          <p:nvPr/>
        </p:nvSpPr>
        <p:spPr>
          <a:xfrm>
            <a:off x="393192" y="310896"/>
            <a:ext cx="7058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Put the useful phrases for giving feedback under the correct headings. [part 3/3]</a:t>
            </a:r>
            <a:endParaRPr b="1" sz="1800">
              <a:latin typeface="Raleway"/>
              <a:ea typeface="Raleway"/>
              <a:cs typeface="Raleway"/>
              <a:sym typeface="Raleway"/>
            </a:endParaRPr>
          </a:p>
        </p:txBody>
      </p:sp>
      <p:graphicFrame>
        <p:nvGraphicFramePr>
          <p:cNvPr id="302" name="Google Shape;302;p40"/>
          <p:cNvGraphicFramePr/>
          <p:nvPr/>
        </p:nvGraphicFramePr>
        <p:xfrm>
          <a:off x="493463" y="3004150"/>
          <a:ext cx="3000000" cy="3000000"/>
        </p:xfrm>
        <a:graphic>
          <a:graphicData uri="http://schemas.openxmlformats.org/drawingml/2006/table">
            <a:tbl>
              <a:tblPr>
                <a:noFill/>
                <a:tableStyleId>{864853DA-5DAB-4055-B793-BA60791B650C}</a:tableStyleId>
              </a:tblPr>
              <a:tblGrid>
                <a:gridCol w="1484200"/>
                <a:gridCol w="1524325"/>
                <a:gridCol w="1464175"/>
                <a:gridCol w="1664700"/>
                <a:gridCol w="1534350"/>
              </a:tblGrid>
              <a:tr h="396200">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OPENING DISCUSSION</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GIVING PRAISE</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OFFERING SUGGESTIONS</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CHECKING UNDERSTANDING</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POINTING OUT PROBLEMS AND ISSUES</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r>
              <a:tr h="893200">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0"/>
                        </a:spcAft>
                        <a:buNone/>
                      </a:pPr>
                      <a:r>
                        <a:t/>
                      </a:r>
                      <a:endParaRPr>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r>
            </a:tbl>
          </a:graphicData>
        </a:graphic>
      </p:graphicFrame>
      <p:sp>
        <p:nvSpPr>
          <p:cNvPr id="303" name="Google Shape;303;p40"/>
          <p:cNvSpPr txBox="1"/>
          <p:nvPr/>
        </p:nvSpPr>
        <p:spPr>
          <a:xfrm>
            <a:off x="393200" y="1009675"/>
            <a:ext cx="7671900" cy="1539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1200"/>
              </a:spcBef>
              <a:spcAft>
                <a:spcPts val="0"/>
              </a:spcAft>
              <a:buSzPts val="1600"/>
              <a:buFont typeface="Raleway Light"/>
              <a:buChar char="●"/>
            </a:pPr>
            <a:r>
              <a:rPr lang="en-GB" sz="1600">
                <a:latin typeface="Raleway Light"/>
                <a:ea typeface="Raleway Light"/>
                <a:cs typeface="Raleway Light"/>
                <a:sym typeface="Raleway Light"/>
              </a:rPr>
              <a:t>Is there anything I’m misinterpreting?</a:t>
            </a:r>
            <a:endParaRPr sz="1600">
              <a:latin typeface="Raleway Light"/>
              <a:ea typeface="Raleway Light"/>
              <a:cs typeface="Raleway Light"/>
              <a:sym typeface="Raleway Light"/>
            </a:endParaRPr>
          </a:p>
          <a:p>
            <a:pPr indent="-330200" lvl="0" marL="457200" marR="0" rtl="0" algn="l">
              <a:lnSpc>
                <a:spcPct val="150000"/>
              </a:lnSpc>
              <a:spcBef>
                <a:spcPts val="0"/>
              </a:spcBef>
              <a:spcAft>
                <a:spcPts val="0"/>
              </a:spcAft>
              <a:buSzPts val="1600"/>
              <a:buFont typeface="Raleway Light"/>
              <a:buChar char="●"/>
            </a:pPr>
            <a:r>
              <a:rPr lang="en-GB" sz="1600">
                <a:latin typeface="Raleway Light"/>
                <a:ea typeface="Raleway Light"/>
                <a:cs typeface="Raleway Light"/>
                <a:sym typeface="Raleway Light"/>
              </a:rPr>
              <a:t>Would it be fair to say that…?</a:t>
            </a:r>
            <a:endParaRPr sz="1600">
              <a:latin typeface="Raleway Light"/>
              <a:ea typeface="Raleway Light"/>
              <a:cs typeface="Raleway Light"/>
              <a:sym typeface="Raleway Light"/>
            </a:endParaRPr>
          </a:p>
          <a:p>
            <a:pPr indent="-330200" lvl="0" marL="457200" marR="0" rtl="0" algn="l">
              <a:lnSpc>
                <a:spcPct val="150000"/>
              </a:lnSpc>
              <a:spcBef>
                <a:spcPts val="0"/>
              </a:spcBef>
              <a:spcAft>
                <a:spcPts val="0"/>
              </a:spcAft>
              <a:buSzPts val="1600"/>
              <a:buFont typeface="Raleway Light"/>
              <a:buChar char="●"/>
            </a:pPr>
            <a:r>
              <a:rPr lang="en-GB" sz="1600">
                <a:latin typeface="Raleway Light"/>
                <a:ea typeface="Raleway Light"/>
                <a:cs typeface="Raleway Light"/>
                <a:sym typeface="Raleway Light"/>
              </a:rPr>
              <a:t>Keep up the good work.</a:t>
            </a:r>
            <a:endParaRPr sz="1600">
              <a:latin typeface="Raleway Light"/>
              <a:ea typeface="Raleway Light"/>
              <a:cs typeface="Raleway Light"/>
              <a:sym typeface="Raleway Light"/>
            </a:endParaRPr>
          </a:p>
          <a:p>
            <a:pPr indent="-330200" lvl="0" marL="457200" marR="0" rtl="0" algn="l">
              <a:lnSpc>
                <a:spcPct val="150000"/>
              </a:lnSpc>
              <a:spcBef>
                <a:spcPts val="0"/>
              </a:spcBef>
              <a:spcAft>
                <a:spcPts val="0"/>
              </a:spcAft>
              <a:buSzPts val="1600"/>
              <a:buFont typeface="Raleway Light"/>
              <a:buChar char="●"/>
            </a:pPr>
            <a:r>
              <a:rPr lang="en-GB" sz="1600">
                <a:latin typeface="Raleway Light"/>
                <a:ea typeface="Raleway Light"/>
                <a:cs typeface="Raleway Light"/>
                <a:sym typeface="Raleway Light"/>
              </a:rPr>
              <a:t>Let’s go back to the drawing board.</a:t>
            </a:r>
            <a:endParaRPr sz="1600">
              <a:latin typeface="Raleway Light"/>
              <a:ea typeface="Raleway Light"/>
              <a:cs typeface="Raleway Light"/>
              <a:sym typeface="Raleway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309" name="Google Shape;309;p41"/>
          <p:cNvSpPr txBox="1"/>
          <p:nvPr/>
        </p:nvSpPr>
        <p:spPr>
          <a:xfrm>
            <a:off x="572075" y="355725"/>
            <a:ext cx="66384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Raleway"/>
              <a:ea typeface="Raleway"/>
              <a:cs typeface="Raleway"/>
              <a:sym typeface="Raleway"/>
            </a:endParaRPr>
          </a:p>
        </p:txBody>
      </p:sp>
      <p:sp>
        <p:nvSpPr>
          <p:cNvPr id="310" name="Google Shape;310;p41"/>
          <p:cNvSpPr txBox="1"/>
          <p:nvPr/>
        </p:nvSpPr>
        <p:spPr>
          <a:xfrm>
            <a:off x="393192" y="310896"/>
            <a:ext cx="705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Let’s check your answers.</a:t>
            </a:r>
            <a:endParaRPr b="1" sz="1800">
              <a:latin typeface="Raleway"/>
              <a:ea typeface="Raleway"/>
              <a:cs typeface="Raleway"/>
              <a:sym typeface="Raleway"/>
            </a:endParaRPr>
          </a:p>
        </p:txBody>
      </p:sp>
      <p:graphicFrame>
        <p:nvGraphicFramePr>
          <p:cNvPr id="311" name="Google Shape;311;p41"/>
          <p:cNvGraphicFramePr/>
          <p:nvPr/>
        </p:nvGraphicFramePr>
        <p:xfrm>
          <a:off x="393188" y="846825"/>
          <a:ext cx="3000000" cy="3000000"/>
        </p:xfrm>
        <a:graphic>
          <a:graphicData uri="http://schemas.openxmlformats.org/drawingml/2006/table">
            <a:tbl>
              <a:tblPr>
                <a:noFill/>
                <a:tableStyleId>{864853DA-5DAB-4055-B793-BA60791B650C}</a:tableStyleId>
              </a:tblPr>
              <a:tblGrid>
                <a:gridCol w="1484200"/>
                <a:gridCol w="1524325"/>
                <a:gridCol w="1464175"/>
                <a:gridCol w="1664700"/>
                <a:gridCol w="1534350"/>
              </a:tblGrid>
              <a:tr h="804850">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OPENING DISCUSSION</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GIVING PRAISE</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OFFERING SUGGESTIONS</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CHECKING UNDERSTANDING</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c>
                  <a:txBody>
                    <a:bodyPr/>
                    <a:lstStyle/>
                    <a:p>
                      <a:pPr indent="0" lvl="0" marL="0" rtl="0" algn="ctr">
                        <a:lnSpc>
                          <a:spcPct val="115000"/>
                        </a:lnSpc>
                        <a:spcBef>
                          <a:spcPts val="1200"/>
                        </a:spcBef>
                        <a:spcAft>
                          <a:spcPts val="0"/>
                        </a:spcAft>
                        <a:buNone/>
                      </a:pPr>
                      <a:r>
                        <a:rPr lang="en-GB">
                          <a:solidFill>
                            <a:srgbClr val="FFFFFF"/>
                          </a:solidFill>
                          <a:latin typeface="Raleway Light"/>
                          <a:ea typeface="Raleway Light"/>
                          <a:cs typeface="Raleway Light"/>
                          <a:sym typeface="Raleway Light"/>
                        </a:rPr>
                        <a:t>POINTING OUT PROBLEMS AND ISSUES</a:t>
                      </a:r>
                      <a:endParaRPr>
                        <a:solidFill>
                          <a:srgbClr val="FFFFFF"/>
                        </a:solidFill>
                        <a:latin typeface="Raleway Light"/>
                        <a:ea typeface="Raleway Light"/>
                        <a:cs typeface="Raleway Light"/>
                        <a:sym typeface="Raleway Light"/>
                      </a:endParaRPr>
                    </a:p>
                  </a:txBody>
                  <a:tcPr marT="36200" marB="91425" marR="68575" marL="68575">
                    <a:lnL cap="flat" cmpd="sng" w="12625">
                      <a:solidFill>
                        <a:srgbClr val="AAAAAA"/>
                      </a:solidFill>
                      <a:prstDash val="solid"/>
                      <a:round/>
                      <a:headEnd len="sm" w="sm" type="none"/>
                      <a:tailEnd len="sm" w="sm" type="none"/>
                    </a:lnL>
                    <a:lnR cap="flat" cmpd="sng" w="12625">
                      <a:solidFill>
                        <a:srgbClr val="AAAAAA"/>
                      </a:solidFill>
                      <a:prstDash val="solid"/>
                      <a:round/>
                      <a:headEnd len="sm" w="sm" type="none"/>
                      <a:tailEnd len="sm" w="sm" type="none"/>
                    </a:lnR>
                    <a:lnT cap="flat" cmpd="sng" w="12625">
                      <a:solidFill>
                        <a:srgbClr val="AAAAAA"/>
                      </a:solidFill>
                      <a:prstDash val="solid"/>
                      <a:round/>
                      <a:headEnd len="sm" w="sm" type="none"/>
                      <a:tailEnd len="sm" w="sm" type="none"/>
                    </a:lnT>
                    <a:lnB cap="flat" cmpd="sng" w="12625">
                      <a:solidFill>
                        <a:srgbClr val="AAAAAA"/>
                      </a:solidFill>
                      <a:prstDash val="solid"/>
                      <a:round/>
                      <a:headEnd len="sm" w="sm" type="none"/>
                      <a:tailEnd len="sm" w="sm" type="none"/>
                    </a:lnB>
                    <a:solidFill>
                      <a:srgbClr val="60AE92"/>
                    </a:solidFill>
                  </a:tcPr>
                </a:tc>
              </a:tr>
              <a:tr h="3249375">
                <a:tc>
                  <a:txBody>
                    <a:bodyPr/>
                    <a:lstStyle/>
                    <a:p>
                      <a:pPr indent="0" lvl="0" marL="0" rtl="0" algn="l">
                        <a:spcBef>
                          <a:spcPts val="0"/>
                        </a:spcBef>
                        <a:spcAft>
                          <a:spcPts val="1000"/>
                        </a:spcAft>
                        <a:buNone/>
                      </a:pPr>
                      <a:r>
                        <a:t/>
                      </a:r>
                      <a:endParaRPr>
                        <a:solidFill>
                          <a:schemeClr val="dk1"/>
                        </a:solidFill>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1000"/>
                        </a:spcAft>
                        <a:buNone/>
                      </a:pPr>
                      <a:r>
                        <a:t/>
                      </a:r>
                      <a:endParaRPr>
                        <a:solidFill>
                          <a:schemeClr val="dk1"/>
                        </a:solidFill>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1000"/>
                        </a:spcAft>
                        <a:buNone/>
                      </a:pPr>
                      <a:r>
                        <a:t/>
                      </a:r>
                      <a:endParaRPr>
                        <a:solidFill>
                          <a:schemeClr val="dk1"/>
                        </a:solidFill>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1000"/>
                        </a:spcAft>
                        <a:buNone/>
                      </a:pPr>
                      <a:r>
                        <a:t/>
                      </a:r>
                      <a:endParaRPr>
                        <a:solidFill>
                          <a:schemeClr val="dk1"/>
                        </a:solidFill>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c>
                  <a:txBody>
                    <a:bodyPr/>
                    <a:lstStyle/>
                    <a:p>
                      <a:pPr indent="0" lvl="0" marL="0" rtl="0" algn="l">
                        <a:spcBef>
                          <a:spcPts val="0"/>
                        </a:spcBef>
                        <a:spcAft>
                          <a:spcPts val="1000"/>
                        </a:spcAft>
                        <a:buNone/>
                      </a:pPr>
                      <a:r>
                        <a:t/>
                      </a:r>
                      <a:endParaRPr>
                        <a:solidFill>
                          <a:schemeClr val="dk1"/>
                        </a:solidFill>
                        <a:latin typeface="Raleway Light"/>
                        <a:ea typeface="Raleway Light"/>
                        <a:cs typeface="Raleway Light"/>
                        <a:sym typeface="Raleway Light"/>
                      </a:endParaRPr>
                    </a:p>
                  </a:txBody>
                  <a:tcPr marT="91425" marB="91425" marR="91425" marL="91425">
                    <a:lnT cap="flat" cmpd="sng" w="12625">
                      <a:solidFill>
                        <a:srgbClr val="AAAAAA"/>
                      </a:solidFill>
                      <a:prstDash val="solid"/>
                      <a:round/>
                      <a:headEnd len="sm" w="sm" type="none"/>
                      <a:tailEnd len="sm" w="sm" type="none"/>
                    </a:lnT>
                  </a:tcPr>
                </a:tc>
              </a:tr>
            </a:tbl>
          </a:graphicData>
        </a:graphic>
      </p:graphicFrame>
      <p:sp>
        <p:nvSpPr>
          <p:cNvPr id="312" name="Google Shape;312;p41"/>
          <p:cNvSpPr txBox="1"/>
          <p:nvPr/>
        </p:nvSpPr>
        <p:spPr>
          <a:xfrm>
            <a:off x="443175" y="1720350"/>
            <a:ext cx="1391700" cy="170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Raleway Light"/>
                <a:ea typeface="Raleway Light"/>
                <a:cs typeface="Raleway Light"/>
                <a:sym typeface="Raleway Light"/>
              </a:rPr>
              <a:t>Would you like a few pointers on your…?</a:t>
            </a:r>
            <a:endParaRPr>
              <a:solidFill>
                <a:schemeClr val="dk1"/>
              </a:solidFill>
              <a:latin typeface="Raleway Light"/>
              <a:ea typeface="Raleway Light"/>
              <a:cs typeface="Raleway Light"/>
              <a:sym typeface="Raleway Light"/>
            </a:endParaRPr>
          </a:p>
          <a:p>
            <a:pPr indent="0" lvl="0" marL="0" rtl="0" algn="l">
              <a:spcBef>
                <a:spcPts val="1000"/>
              </a:spcBef>
              <a:spcAft>
                <a:spcPts val="1000"/>
              </a:spcAft>
              <a:buNone/>
            </a:pPr>
            <a:r>
              <a:rPr lang="en-GB">
                <a:solidFill>
                  <a:schemeClr val="dk1"/>
                </a:solidFill>
                <a:latin typeface="Raleway Light"/>
                <a:ea typeface="Raleway Light"/>
                <a:cs typeface="Raleway Light"/>
                <a:sym typeface="Raleway Light"/>
              </a:rPr>
              <a:t>Would now be a good time to talk about…?</a:t>
            </a:r>
            <a:endParaRPr/>
          </a:p>
        </p:txBody>
      </p:sp>
      <p:sp>
        <p:nvSpPr>
          <p:cNvPr id="313" name="Google Shape;313;p41"/>
          <p:cNvSpPr txBox="1"/>
          <p:nvPr/>
        </p:nvSpPr>
        <p:spPr>
          <a:xfrm>
            <a:off x="1946100" y="1720350"/>
            <a:ext cx="1391700" cy="323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Raleway Light"/>
                <a:ea typeface="Raleway Light"/>
                <a:cs typeface="Raleway Light"/>
                <a:sym typeface="Raleway Light"/>
              </a:rPr>
              <a:t>In my opinion, your…. is top notch/stellar/outstanding.</a:t>
            </a:r>
            <a:endParaRPr>
              <a:solidFill>
                <a:schemeClr val="dk1"/>
              </a:solidFill>
              <a:latin typeface="Raleway Light"/>
              <a:ea typeface="Raleway Light"/>
              <a:cs typeface="Raleway Light"/>
              <a:sym typeface="Raleway Light"/>
            </a:endParaRPr>
          </a:p>
          <a:p>
            <a:pPr indent="0" lvl="0" marL="0" rtl="0" algn="l">
              <a:lnSpc>
                <a:spcPct val="115000"/>
              </a:lnSpc>
              <a:spcBef>
                <a:spcPts val="1000"/>
              </a:spcBef>
              <a:spcAft>
                <a:spcPts val="0"/>
              </a:spcAft>
              <a:buNone/>
            </a:pPr>
            <a:r>
              <a:rPr lang="en-GB">
                <a:solidFill>
                  <a:schemeClr val="dk1"/>
                </a:solidFill>
                <a:latin typeface="Raleway Light"/>
                <a:ea typeface="Raleway Light"/>
                <a:cs typeface="Raleway Light"/>
                <a:sym typeface="Raleway Light"/>
              </a:rPr>
              <a:t>You’re really mastering…</a:t>
            </a:r>
            <a:endParaRPr>
              <a:solidFill>
                <a:schemeClr val="dk1"/>
              </a:solidFill>
              <a:latin typeface="Raleway Light"/>
              <a:ea typeface="Raleway Light"/>
              <a:cs typeface="Raleway Light"/>
              <a:sym typeface="Raleway Light"/>
            </a:endParaRPr>
          </a:p>
          <a:p>
            <a:pPr indent="0" lvl="0" marL="0" rtl="0" algn="l">
              <a:lnSpc>
                <a:spcPct val="115000"/>
              </a:lnSpc>
              <a:spcBef>
                <a:spcPts val="1000"/>
              </a:spcBef>
              <a:spcAft>
                <a:spcPts val="0"/>
              </a:spcAft>
              <a:buNone/>
            </a:pPr>
            <a:r>
              <a:rPr lang="en-GB">
                <a:solidFill>
                  <a:schemeClr val="dk1"/>
                </a:solidFill>
                <a:latin typeface="Raleway Light"/>
                <a:ea typeface="Raleway Light"/>
                <a:cs typeface="Raleway Light"/>
                <a:sym typeface="Raleway Light"/>
              </a:rPr>
              <a:t>I’d like to commend you for…</a:t>
            </a:r>
            <a:endParaRPr>
              <a:solidFill>
                <a:schemeClr val="dk1"/>
              </a:solidFill>
              <a:latin typeface="Raleway Light"/>
              <a:ea typeface="Raleway Light"/>
              <a:cs typeface="Raleway Light"/>
              <a:sym typeface="Raleway Light"/>
            </a:endParaRPr>
          </a:p>
          <a:p>
            <a:pPr indent="0" lvl="0" marL="0" rtl="0" algn="l">
              <a:spcBef>
                <a:spcPts val="1000"/>
              </a:spcBef>
              <a:spcAft>
                <a:spcPts val="1000"/>
              </a:spcAft>
              <a:buNone/>
            </a:pPr>
            <a:r>
              <a:rPr lang="en-GB">
                <a:solidFill>
                  <a:schemeClr val="dk1"/>
                </a:solidFill>
                <a:latin typeface="Raleway Light"/>
                <a:ea typeface="Raleway Light"/>
                <a:cs typeface="Raleway Light"/>
                <a:sym typeface="Raleway Light"/>
              </a:rPr>
              <a:t>Keep up the good work.</a:t>
            </a:r>
            <a:endParaRPr>
              <a:solidFill>
                <a:schemeClr val="dk1"/>
              </a:solidFill>
              <a:latin typeface="Raleway Light"/>
              <a:ea typeface="Raleway Light"/>
              <a:cs typeface="Raleway Light"/>
              <a:sym typeface="Raleway Light"/>
            </a:endParaRPr>
          </a:p>
        </p:txBody>
      </p:sp>
      <p:sp>
        <p:nvSpPr>
          <p:cNvPr id="314" name="Google Shape;314;p41"/>
          <p:cNvSpPr txBox="1"/>
          <p:nvPr/>
        </p:nvSpPr>
        <p:spPr>
          <a:xfrm>
            <a:off x="3429500" y="1720350"/>
            <a:ext cx="1391700" cy="301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Raleway Light"/>
                <a:ea typeface="Raleway Light"/>
                <a:cs typeface="Raleway Light"/>
                <a:sym typeface="Raleway Light"/>
              </a:rPr>
              <a:t>Would you like a few pointers on your…?</a:t>
            </a:r>
            <a:endParaRPr>
              <a:solidFill>
                <a:schemeClr val="dk1"/>
              </a:solidFill>
              <a:latin typeface="Raleway Light"/>
              <a:ea typeface="Raleway Light"/>
              <a:cs typeface="Raleway Light"/>
              <a:sym typeface="Raleway Light"/>
            </a:endParaRPr>
          </a:p>
          <a:p>
            <a:pPr indent="0" lvl="0" marL="0" rtl="0" algn="l">
              <a:lnSpc>
                <a:spcPct val="115000"/>
              </a:lnSpc>
              <a:spcBef>
                <a:spcPts val="1000"/>
              </a:spcBef>
              <a:spcAft>
                <a:spcPts val="0"/>
              </a:spcAft>
              <a:buNone/>
            </a:pPr>
            <a:r>
              <a:rPr lang="en-GB">
                <a:solidFill>
                  <a:schemeClr val="dk1"/>
                </a:solidFill>
                <a:latin typeface="Raleway Light"/>
                <a:ea typeface="Raleway Light"/>
                <a:cs typeface="Raleway Light"/>
                <a:sym typeface="Raleway Light"/>
              </a:rPr>
              <a:t>Would you be open to…?</a:t>
            </a:r>
            <a:endParaRPr>
              <a:solidFill>
                <a:schemeClr val="dk1"/>
              </a:solidFill>
              <a:latin typeface="Raleway Light"/>
              <a:ea typeface="Raleway Light"/>
              <a:cs typeface="Raleway Light"/>
              <a:sym typeface="Raleway Light"/>
            </a:endParaRPr>
          </a:p>
          <a:p>
            <a:pPr indent="0" lvl="0" marL="0" rtl="0" algn="l">
              <a:lnSpc>
                <a:spcPct val="115000"/>
              </a:lnSpc>
              <a:spcBef>
                <a:spcPts val="1000"/>
              </a:spcBef>
              <a:spcAft>
                <a:spcPts val="0"/>
              </a:spcAft>
              <a:buNone/>
            </a:pPr>
            <a:r>
              <a:rPr lang="en-GB">
                <a:solidFill>
                  <a:schemeClr val="dk1"/>
                </a:solidFill>
                <a:latin typeface="Raleway Light"/>
                <a:ea typeface="Raleway Light"/>
                <a:cs typeface="Raleway Light"/>
                <a:sym typeface="Raleway Light"/>
              </a:rPr>
              <a:t>Here’s where you need to…</a:t>
            </a:r>
            <a:endParaRPr>
              <a:solidFill>
                <a:schemeClr val="dk1"/>
              </a:solidFill>
              <a:latin typeface="Raleway Light"/>
              <a:ea typeface="Raleway Light"/>
              <a:cs typeface="Raleway Light"/>
              <a:sym typeface="Raleway Light"/>
            </a:endParaRPr>
          </a:p>
          <a:p>
            <a:pPr indent="0" lvl="0" marL="0" rtl="0" algn="l">
              <a:lnSpc>
                <a:spcPct val="115000"/>
              </a:lnSpc>
              <a:spcBef>
                <a:spcPts val="1000"/>
              </a:spcBef>
              <a:spcAft>
                <a:spcPts val="1000"/>
              </a:spcAft>
              <a:buNone/>
            </a:pPr>
            <a:r>
              <a:rPr lang="en-GB">
                <a:solidFill>
                  <a:schemeClr val="dk1"/>
                </a:solidFill>
                <a:latin typeface="Raleway Light"/>
                <a:ea typeface="Raleway Light"/>
                <a:cs typeface="Raleway Light"/>
                <a:sym typeface="Raleway Light"/>
              </a:rPr>
              <a:t>Let’s go back to the drawing board.</a:t>
            </a:r>
            <a:endParaRPr>
              <a:solidFill>
                <a:schemeClr val="dk1"/>
              </a:solidFill>
              <a:latin typeface="Raleway Light"/>
              <a:ea typeface="Raleway Light"/>
              <a:cs typeface="Raleway Light"/>
              <a:sym typeface="Raleway Light"/>
            </a:endParaRPr>
          </a:p>
        </p:txBody>
      </p:sp>
      <p:sp>
        <p:nvSpPr>
          <p:cNvPr id="315" name="Google Shape;315;p41"/>
          <p:cNvSpPr txBox="1"/>
          <p:nvPr/>
        </p:nvSpPr>
        <p:spPr>
          <a:xfrm>
            <a:off x="4914000" y="1720350"/>
            <a:ext cx="1544100" cy="170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Raleway Light"/>
                <a:ea typeface="Raleway Light"/>
                <a:cs typeface="Raleway Light"/>
                <a:sym typeface="Raleway Light"/>
              </a:rPr>
              <a:t>Have I understood correctly…?</a:t>
            </a:r>
            <a:endParaRPr>
              <a:solidFill>
                <a:schemeClr val="dk1"/>
              </a:solidFill>
              <a:latin typeface="Raleway Light"/>
              <a:ea typeface="Raleway Light"/>
              <a:cs typeface="Raleway Light"/>
              <a:sym typeface="Raleway Light"/>
            </a:endParaRPr>
          </a:p>
          <a:p>
            <a:pPr indent="0" lvl="0" marL="0" rtl="0" algn="l">
              <a:spcBef>
                <a:spcPts val="1000"/>
              </a:spcBef>
              <a:spcAft>
                <a:spcPts val="1000"/>
              </a:spcAft>
              <a:buNone/>
            </a:pPr>
            <a:r>
              <a:rPr lang="en-GB">
                <a:solidFill>
                  <a:schemeClr val="dk1"/>
                </a:solidFill>
                <a:latin typeface="Raleway Light"/>
                <a:ea typeface="Raleway Light"/>
                <a:cs typeface="Raleway Light"/>
                <a:sym typeface="Raleway Light"/>
              </a:rPr>
              <a:t>Is there anything I’m misinterpreting?</a:t>
            </a:r>
            <a:endParaRPr>
              <a:solidFill>
                <a:schemeClr val="dk1"/>
              </a:solidFill>
              <a:latin typeface="Raleway Light"/>
              <a:ea typeface="Raleway Light"/>
              <a:cs typeface="Raleway Light"/>
              <a:sym typeface="Raleway Light"/>
            </a:endParaRPr>
          </a:p>
        </p:txBody>
      </p:sp>
      <p:sp>
        <p:nvSpPr>
          <p:cNvPr id="316" name="Google Shape;316;p41"/>
          <p:cNvSpPr txBox="1"/>
          <p:nvPr/>
        </p:nvSpPr>
        <p:spPr>
          <a:xfrm>
            <a:off x="6550900" y="1720350"/>
            <a:ext cx="1446000" cy="211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Raleway Light"/>
                <a:ea typeface="Raleway Light"/>
                <a:cs typeface="Raleway Light"/>
                <a:sym typeface="Raleway Light"/>
              </a:rPr>
              <a:t>Here’s what I observed/ noticed…</a:t>
            </a:r>
            <a:endParaRPr>
              <a:solidFill>
                <a:schemeClr val="dk1"/>
              </a:solidFill>
              <a:latin typeface="Raleway Light"/>
              <a:ea typeface="Raleway Light"/>
              <a:cs typeface="Raleway Light"/>
              <a:sym typeface="Raleway Light"/>
            </a:endParaRPr>
          </a:p>
          <a:p>
            <a:pPr indent="0" lvl="0" marL="0" rtl="0" algn="l">
              <a:lnSpc>
                <a:spcPct val="115000"/>
              </a:lnSpc>
              <a:spcBef>
                <a:spcPts val="1000"/>
              </a:spcBef>
              <a:spcAft>
                <a:spcPts val="0"/>
              </a:spcAft>
              <a:buNone/>
            </a:pPr>
            <a:r>
              <a:rPr lang="en-GB">
                <a:solidFill>
                  <a:schemeClr val="dk1"/>
                </a:solidFill>
                <a:latin typeface="Raleway Light"/>
                <a:ea typeface="Raleway Light"/>
                <a:cs typeface="Raleway Light"/>
                <a:sym typeface="Raleway Light"/>
              </a:rPr>
              <a:t>Would it be fair to say that…?</a:t>
            </a:r>
            <a:endParaRPr>
              <a:solidFill>
                <a:schemeClr val="dk1"/>
              </a:solidFill>
              <a:latin typeface="Raleway Light"/>
              <a:ea typeface="Raleway Light"/>
              <a:cs typeface="Raleway Light"/>
              <a:sym typeface="Raleway Light"/>
            </a:endParaRPr>
          </a:p>
          <a:p>
            <a:pPr indent="0" lvl="0" marL="0" rtl="0" algn="l">
              <a:spcBef>
                <a:spcPts val="1000"/>
              </a:spcBef>
              <a:spcAft>
                <a:spcPts val="1000"/>
              </a:spcAft>
              <a:buNone/>
            </a:pPr>
            <a:r>
              <a:rPr lang="en-GB">
                <a:solidFill>
                  <a:schemeClr val="dk1"/>
                </a:solidFill>
                <a:latin typeface="Raleway Light"/>
                <a:ea typeface="Raleway Light"/>
                <a:cs typeface="Raleway Light"/>
                <a:sym typeface="Raleway Light"/>
              </a:rPr>
              <a:t>I’ll cut to the chase.</a:t>
            </a:r>
            <a:endParaRPr>
              <a:solidFill>
                <a:schemeClr val="dk1"/>
              </a:solidFill>
              <a:latin typeface="Raleway Light"/>
              <a:ea typeface="Raleway Light"/>
              <a:cs typeface="Raleway Light"/>
              <a:sym typeface="Raleway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animEffect filter="fade" transition="in">
                                      <p:cBhvr>
                                        <p:cTn dur="1000"/>
                                        <p:tgtEl>
                                          <p:spTgt spid="3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1" st="1"/>
                                            </p:txEl>
                                          </p:spTgt>
                                        </p:tgtEl>
                                        <p:attrNameLst>
                                          <p:attrName>style.visibility</p:attrName>
                                        </p:attrNameLst>
                                      </p:cBhvr>
                                      <p:to>
                                        <p:strVal val="visible"/>
                                      </p:to>
                                    </p:set>
                                    <p:animEffect filter="fade" transition="in">
                                      <p:cBhvr>
                                        <p:cTn dur="1000"/>
                                        <p:tgtEl>
                                          <p:spTgt spid="3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animEffect filter="fade" transition="in">
                                      <p:cBhvr>
                                        <p:cTn dur="1000"/>
                                        <p:tgtEl>
                                          <p:spTgt spid="3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animEffect filter="fade" transition="in">
                                      <p:cBhvr>
                                        <p:cTn dur="1000"/>
                                        <p:tgtEl>
                                          <p:spTgt spid="3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2" st="2"/>
                                            </p:txEl>
                                          </p:spTgt>
                                        </p:tgtEl>
                                        <p:attrNameLst>
                                          <p:attrName>style.visibility</p:attrName>
                                        </p:attrNameLst>
                                      </p:cBhvr>
                                      <p:to>
                                        <p:strVal val="visible"/>
                                      </p:to>
                                    </p:set>
                                    <p:animEffect filter="fade" transition="in">
                                      <p:cBhvr>
                                        <p:cTn dur="1000"/>
                                        <p:tgtEl>
                                          <p:spTgt spid="3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3" st="3"/>
                                            </p:txEl>
                                          </p:spTgt>
                                        </p:tgtEl>
                                        <p:attrNameLst>
                                          <p:attrName>style.visibility</p:attrName>
                                        </p:attrNameLst>
                                      </p:cBhvr>
                                      <p:to>
                                        <p:strVal val="visible"/>
                                      </p:to>
                                    </p:set>
                                    <p:animEffect filter="fade" transition="in">
                                      <p:cBhvr>
                                        <p:cTn dur="1000"/>
                                        <p:tgtEl>
                                          <p:spTgt spid="3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0" st="0"/>
                                            </p:txEl>
                                          </p:spTgt>
                                        </p:tgtEl>
                                        <p:attrNameLst>
                                          <p:attrName>style.visibility</p:attrName>
                                        </p:attrNameLst>
                                      </p:cBhvr>
                                      <p:to>
                                        <p:strVal val="visible"/>
                                      </p:to>
                                    </p:set>
                                    <p:animEffect filter="fade" transition="in">
                                      <p:cBhvr>
                                        <p:cTn dur="1000"/>
                                        <p:tgtEl>
                                          <p:spTgt spid="3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1" st="1"/>
                                            </p:txEl>
                                          </p:spTgt>
                                        </p:tgtEl>
                                        <p:attrNameLst>
                                          <p:attrName>style.visibility</p:attrName>
                                        </p:attrNameLst>
                                      </p:cBhvr>
                                      <p:to>
                                        <p:strVal val="visible"/>
                                      </p:to>
                                    </p:set>
                                    <p:animEffect filter="fade" transition="in">
                                      <p:cBhvr>
                                        <p:cTn dur="1000"/>
                                        <p:tgtEl>
                                          <p:spTgt spid="3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2" st="2"/>
                                            </p:txEl>
                                          </p:spTgt>
                                        </p:tgtEl>
                                        <p:attrNameLst>
                                          <p:attrName>style.visibility</p:attrName>
                                        </p:attrNameLst>
                                      </p:cBhvr>
                                      <p:to>
                                        <p:strVal val="visible"/>
                                      </p:to>
                                    </p:set>
                                    <p:animEffect filter="fade" transition="in">
                                      <p:cBhvr>
                                        <p:cTn dur="1000"/>
                                        <p:tgtEl>
                                          <p:spTgt spid="3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3" st="3"/>
                                            </p:txEl>
                                          </p:spTgt>
                                        </p:tgtEl>
                                        <p:attrNameLst>
                                          <p:attrName>style.visibility</p:attrName>
                                        </p:attrNameLst>
                                      </p:cBhvr>
                                      <p:to>
                                        <p:strVal val="visible"/>
                                      </p:to>
                                    </p:set>
                                    <p:animEffect filter="fade" transition="in">
                                      <p:cBhvr>
                                        <p:cTn dur="1000"/>
                                        <p:tgtEl>
                                          <p:spTgt spid="3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xEl>
                                              <p:pRg end="0" st="0"/>
                                            </p:txEl>
                                          </p:spTgt>
                                        </p:tgtEl>
                                        <p:attrNameLst>
                                          <p:attrName>style.visibility</p:attrName>
                                        </p:attrNameLst>
                                      </p:cBhvr>
                                      <p:to>
                                        <p:strVal val="visible"/>
                                      </p:to>
                                    </p:set>
                                    <p:animEffect filter="fade" transition="in">
                                      <p:cBhvr>
                                        <p:cTn dur="1000"/>
                                        <p:tgtEl>
                                          <p:spTgt spid="3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xEl>
                                              <p:pRg end="1" st="1"/>
                                            </p:txEl>
                                          </p:spTgt>
                                        </p:tgtEl>
                                        <p:attrNameLst>
                                          <p:attrName>style.visibility</p:attrName>
                                        </p:attrNameLst>
                                      </p:cBhvr>
                                      <p:to>
                                        <p:strVal val="visible"/>
                                      </p:to>
                                    </p:set>
                                    <p:animEffect filter="fade" transition="in">
                                      <p:cBhvr>
                                        <p:cTn dur="1000"/>
                                        <p:tgtEl>
                                          <p:spTgt spid="3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animEffect filter="fade" transition="in">
                                      <p:cBhvr>
                                        <p:cTn dur="1000"/>
                                        <p:tgtEl>
                                          <p:spTgt spid="3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animEffect filter="fade" transition="in">
                                      <p:cBhvr>
                                        <p:cTn dur="1000"/>
                                        <p:tgtEl>
                                          <p:spTgt spid="3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2" st="2"/>
                                            </p:txEl>
                                          </p:spTgt>
                                        </p:tgtEl>
                                        <p:attrNameLst>
                                          <p:attrName>style.visibility</p:attrName>
                                        </p:attrNameLst>
                                      </p:cBhvr>
                                      <p:to>
                                        <p:strVal val="visible"/>
                                      </p:to>
                                    </p:set>
                                    <p:animEffect filter="fade" transition="in">
                                      <p:cBhvr>
                                        <p:cTn dur="1000"/>
                                        <p:tgtEl>
                                          <p:spTgt spid="31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322" name="Google Shape;322;p42"/>
          <p:cNvSpPr/>
          <p:nvPr/>
        </p:nvSpPr>
        <p:spPr>
          <a:xfrm>
            <a:off x="2168550" y="1769025"/>
            <a:ext cx="4806900" cy="2753100"/>
          </a:xfrm>
          <a:prstGeom prst="roundRect">
            <a:avLst>
              <a:gd fmla="val 16667" name="adj"/>
            </a:avLst>
          </a:prstGeom>
          <a:solidFill>
            <a:schemeClr val="lt1"/>
          </a:solidFill>
          <a:ln cap="flat" cmpd="sng" w="9525">
            <a:solidFill>
              <a:srgbClr val="FF5C5C"/>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GB" sz="1700">
                <a:latin typeface="Raleway Light"/>
                <a:ea typeface="Raleway Light"/>
                <a:cs typeface="Raleway Light"/>
                <a:sym typeface="Raleway Light"/>
              </a:rPr>
              <a:t>Y</a:t>
            </a:r>
            <a:r>
              <a:rPr lang="en-GB" sz="1700">
                <a:latin typeface="Raleway Light"/>
                <a:ea typeface="Raleway Light"/>
                <a:cs typeface="Raleway Light"/>
                <a:sym typeface="Raleway Light"/>
              </a:rPr>
              <a:t>our teacher often talks too quickly and sometimes moves onto the next exercise without explaining things thoroughly. You feel that some of the class, including yourself, are struggling to keep up. </a:t>
            </a:r>
            <a:endParaRPr sz="1700">
              <a:latin typeface="Raleway Light"/>
              <a:ea typeface="Raleway Light"/>
              <a:cs typeface="Raleway Light"/>
              <a:sym typeface="Raleway Light"/>
            </a:endParaRPr>
          </a:p>
          <a:p>
            <a:pPr indent="0" lvl="0" marL="0" marR="0" rtl="0" algn="ctr">
              <a:lnSpc>
                <a:spcPct val="115000"/>
              </a:lnSpc>
              <a:spcBef>
                <a:spcPts val="0"/>
              </a:spcBef>
              <a:spcAft>
                <a:spcPts val="0"/>
              </a:spcAft>
              <a:buNone/>
            </a:pPr>
            <a:r>
              <a:t/>
            </a:r>
            <a:endParaRPr sz="1700">
              <a:latin typeface="Raleway Light"/>
              <a:ea typeface="Raleway Light"/>
              <a:cs typeface="Raleway Light"/>
              <a:sym typeface="Raleway Light"/>
            </a:endParaRPr>
          </a:p>
          <a:p>
            <a:pPr indent="-336550" lvl="0" marL="457200" marR="0" rtl="0" algn="l">
              <a:lnSpc>
                <a:spcPct val="115000"/>
              </a:lnSpc>
              <a:spcBef>
                <a:spcPts val="0"/>
              </a:spcBef>
              <a:spcAft>
                <a:spcPts val="0"/>
              </a:spcAft>
              <a:buSzPts val="1700"/>
              <a:buFont typeface="Raleway Light"/>
              <a:buChar char="●"/>
            </a:pPr>
            <a:r>
              <a:rPr lang="en-GB" sz="1700">
                <a:latin typeface="Raleway Light"/>
                <a:ea typeface="Raleway Light"/>
                <a:cs typeface="Raleway Light"/>
                <a:sym typeface="Raleway Light"/>
              </a:rPr>
              <a:t>Student A: Student (give feedback)</a:t>
            </a:r>
            <a:endParaRPr sz="1700">
              <a:latin typeface="Raleway Light"/>
              <a:ea typeface="Raleway Light"/>
              <a:cs typeface="Raleway Light"/>
              <a:sym typeface="Raleway Light"/>
            </a:endParaRPr>
          </a:p>
          <a:p>
            <a:pPr indent="-336550" lvl="0" marL="457200" marR="0" rtl="0" algn="l">
              <a:lnSpc>
                <a:spcPct val="115000"/>
              </a:lnSpc>
              <a:spcBef>
                <a:spcPts val="0"/>
              </a:spcBef>
              <a:spcAft>
                <a:spcPts val="0"/>
              </a:spcAft>
              <a:buSzPts val="1700"/>
              <a:buFont typeface="Raleway Light"/>
              <a:buChar char="●"/>
            </a:pPr>
            <a:r>
              <a:rPr lang="en-GB" sz="1700">
                <a:latin typeface="Raleway Light"/>
                <a:ea typeface="Raleway Light"/>
                <a:cs typeface="Raleway Light"/>
                <a:sym typeface="Raleway Light"/>
              </a:rPr>
              <a:t>Student B: Teacher (receive feedback)</a:t>
            </a:r>
            <a:endParaRPr sz="1700">
              <a:latin typeface="Raleway Light"/>
              <a:ea typeface="Raleway Light"/>
              <a:cs typeface="Raleway Light"/>
              <a:sym typeface="Raleway Light"/>
            </a:endParaRPr>
          </a:p>
        </p:txBody>
      </p:sp>
      <p:sp>
        <p:nvSpPr>
          <p:cNvPr id="323" name="Google Shape;323;p42"/>
          <p:cNvSpPr txBox="1"/>
          <p:nvPr/>
        </p:nvSpPr>
        <p:spPr>
          <a:xfrm>
            <a:off x="1499616" y="512064"/>
            <a:ext cx="6729600" cy="89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Read the following role play scenarios and practise them using the formula and </a:t>
            </a:r>
            <a:r>
              <a:rPr b="1" lang="en-GB" sz="1800" u="sng">
                <a:solidFill>
                  <a:schemeClr val="accent3"/>
                </a:solidFill>
                <a:latin typeface="Raleway"/>
                <a:ea typeface="Raleway"/>
                <a:cs typeface="Raleway"/>
                <a:sym typeface="Raleway"/>
                <a:hlinkClick r:id="rId3">
                  <a:extLst>
                    <a:ext uri="{A12FA001-AC4F-418D-AE19-62706E023703}">
                      <ahyp:hlinkClr val="tx"/>
                    </a:ext>
                  </a:extLst>
                </a:hlinkClick>
              </a:rPr>
              <a:t>useful language</a:t>
            </a:r>
            <a:r>
              <a:rPr b="1" lang="en-GB" sz="1800">
                <a:latin typeface="Raleway"/>
                <a:ea typeface="Raleway"/>
                <a:cs typeface="Raleway"/>
                <a:sym typeface="Raleway"/>
              </a:rPr>
              <a:t> from the lesson. [part 1/4]</a:t>
            </a:r>
            <a:endParaRPr b="1" sz="1800">
              <a:latin typeface="Raleway"/>
              <a:ea typeface="Raleway"/>
              <a:cs typeface="Raleway"/>
              <a:sym typeface="Raleway"/>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329" name="Google Shape;329;p43"/>
          <p:cNvSpPr/>
          <p:nvPr/>
        </p:nvSpPr>
        <p:spPr>
          <a:xfrm>
            <a:off x="2167200" y="1767600"/>
            <a:ext cx="5153700" cy="2803500"/>
          </a:xfrm>
          <a:prstGeom prst="roundRect">
            <a:avLst>
              <a:gd fmla="val 16667" name="adj"/>
            </a:avLst>
          </a:prstGeom>
          <a:solidFill>
            <a:schemeClr val="lt1"/>
          </a:solidFill>
          <a:ln cap="flat" cmpd="sng" w="9525">
            <a:solidFill>
              <a:srgbClr val="FF5C5C"/>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GB" sz="1700">
                <a:latin typeface="Raleway Light"/>
                <a:ea typeface="Raleway Light"/>
                <a:cs typeface="Raleway Light"/>
                <a:sym typeface="Raleway Light"/>
              </a:rPr>
              <a:t>You have received complaints from some members of your team about one of their colleagues. This person regularly goes out for smoking breaks, is often a little late in the morning and sometimes leaves work early, too.</a:t>
            </a:r>
            <a:endParaRPr sz="1700">
              <a:latin typeface="Raleway Light"/>
              <a:ea typeface="Raleway Light"/>
              <a:cs typeface="Raleway Light"/>
              <a:sym typeface="Raleway Light"/>
            </a:endParaRPr>
          </a:p>
          <a:p>
            <a:pPr indent="0" lvl="0" marL="0" marR="0" rtl="0" algn="ctr">
              <a:lnSpc>
                <a:spcPct val="115000"/>
              </a:lnSpc>
              <a:spcBef>
                <a:spcPts val="0"/>
              </a:spcBef>
              <a:spcAft>
                <a:spcPts val="0"/>
              </a:spcAft>
              <a:buNone/>
            </a:pPr>
            <a:r>
              <a:t/>
            </a:r>
            <a:endParaRPr sz="1700">
              <a:latin typeface="Raleway Light"/>
              <a:ea typeface="Raleway Light"/>
              <a:cs typeface="Raleway Light"/>
              <a:sym typeface="Raleway Light"/>
            </a:endParaRPr>
          </a:p>
          <a:p>
            <a:pPr indent="-336550" lvl="0" marL="457200" marR="0" rtl="0" algn="l">
              <a:lnSpc>
                <a:spcPct val="115000"/>
              </a:lnSpc>
              <a:spcBef>
                <a:spcPts val="0"/>
              </a:spcBef>
              <a:spcAft>
                <a:spcPts val="0"/>
              </a:spcAft>
              <a:buSzPts val="1700"/>
              <a:buFont typeface="Raleway Light"/>
              <a:buChar char="●"/>
            </a:pPr>
            <a:r>
              <a:rPr lang="en-GB" sz="1700">
                <a:latin typeface="Raleway Light"/>
                <a:ea typeface="Raleway Light"/>
                <a:cs typeface="Raleway Light"/>
                <a:sym typeface="Raleway Light"/>
              </a:rPr>
              <a:t>Student A: </a:t>
            </a:r>
            <a:r>
              <a:rPr lang="en-GB" sz="1700">
                <a:latin typeface="Raleway Light"/>
                <a:ea typeface="Raleway Light"/>
                <a:cs typeface="Raleway Light"/>
                <a:sym typeface="Raleway Light"/>
              </a:rPr>
              <a:t>Employee</a:t>
            </a:r>
            <a:r>
              <a:rPr lang="en-GB" sz="1700">
                <a:latin typeface="Raleway Light"/>
                <a:ea typeface="Raleway Light"/>
                <a:cs typeface="Raleway Light"/>
                <a:sym typeface="Raleway Light"/>
              </a:rPr>
              <a:t> (receive feedback)</a:t>
            </a:r>
            <a:endParaRPr sz="1700">
              <a:latin typeface="Raleway Light"/>
              <a:ea typeface="Raleway Light"/>
              <a:cs typeface="Raleway Light"/>
              <a:sym typeface="Raleway Light"/>
            </a:endParaRPr>
          </a:p>
          <a:p>
            <a:pPr indent="-336550" lvl="0" marL="457200" marR="0" rtl="0" algn="l">
              <a:lnSpc>
                <a:spcPct val="115000"/>
              </a:lnSpc>
              <a:spcBef>
                <a:spcPts val="0"/>
              </a:spcBef>
              <a:spcAft>
                <a:spcPts val="0"/>
              </a:spcAft>
              <a:buSzPts val="1700"/>
              <a:buFont typeface="Raleway Light"/>
              <a:buChar char="●"/>
            </a:pPr>
            <a:r>
              <a:rPr lang="en-GB" sz="1700">
                <a:latin typeface="Raleway Light"/>
                <a:ea typeface="Raleway Light"/>
                <a:cs typeface="Raleway Light"/>
                <a:sym typeface="Raleway Light"/>
              </a:rPr>
              <a:t>Student B: Boss (give feedback)</a:t>
            </a:r>
            <a:endParaRPr sz="1700">
              <a:latin typeface="Raleway Light"/>
              <a:ea typeface="Raleway Light"/>
              <a:cs typeface="Raleway Light"/>
              <a:sym typeface="Raleway Light"/>
            </a:endParaRPr>
          </a:p>
        </p:txBody>
      </p:sp>
      <p:sp>
        <p:nvSpPr>
          <p:cNvPr id="330" name="Google Shape;330;p43"/>
          <p:cNvSpPr txBox="1"/>
          <p:nvPr/>
        </p:nvSpPr>
        <p:spPr>
          <a:xfrm>
            <a:off x="1499616" y="512064"/>
            <a:ext cx="6729600" cy="89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 Read the following role play scenarios and practise them using the formula and </a:t>
            </a:r>
            <a:r>
              <a:rPr b="1" lang="en-GB" sz="1800" u="sng">
                <a:solidFill>
                  <a:schemeClr val="accent3"/>
                </a:solidFill>
                <a:latin typeface="Raleway"/>
                <a:ea typeface="Raleway"/>
                <a:cs typeface="Raleway"/>
                <a:sym typeface="Raleway"/>
                <a:hlinkClick r:id="rId3">
                  <a:extLst>
                    <a:ext uri="{A12FA001-AC4F-418D-AE19-62706E023703}">
                      <ahyp:hlinkClr val="tx"/>
                    </a:ext>
                  </a:extLst>
                </a:hlinkClick>
              </a:rPr>
              <a:t>useful language</a:t>
            </a:r>
            <a:r>
              <a:rPr b="1" lang="en-GB" sz="1800">
                <a:latin typeface="Raleway"/>
                <a:ea typeface="Raleway"/>
                <a:cs typeface="Raleway"/>
                <a:sym typeface="Raleway"/>
              </a:rPr>
              <a:t> from the lesson. [part 2/4]</a:t>
            </a:r>
            <a:endParaRPr b="1" sz="1800">
              <a:latin typeface="Raleway"/>
              <a:ea typeface="Raleway"/>
              <a:cs typeface="Raleway"/>
              <a:sym typeface="Raleway"/>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336" name="Google Shape;336;p44"/>
          <p:cNvSpPr/>
          <p:nvPr/>
        </p:nvSpPr>
        <p:spPr>
          <a:xfrm>
            <a:off x="2167200" y="1767600"/>
            <a:ext cx="4880100" cy="2723100"/>
          </a:xfrm>
          <a:prstGeom prst="roundRect">
            <a:avLst>
              <a:gd fmla="val 16667" name="adj"/>
            </a:avLst>
          </a:prstGeom>
          <a:solidFill>
            <a:schemeClr val="lt1"/>
          </a:solidFill>
          <a:ln cap="flat" cmpd="sng" w="9525">
            <a:solidFill>
              <a:srgbClr val="FF5C5C"/>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GB" sz="1700">
                <a:latin typeface="Raleway Light"/>
                <a:ea typeface="Raleway Light"/>
                <a:cs typeface="Raleway Light"/>
                <a:sym typeface="Raleway Light"/>
              </a:rPr>
              <a:t>One of your employees has been helping the new intern with their training. They have been answering all of their questions patiently and made them feel welcome and comfortable.</a:t>
            </a:r>
            <a:endParaRPr sz="1700">
              <a:latin typeface="Raleway Light"/>
              <a:ea typeface="Raleway Light"/>
              <a:cs typeface="Raleway Light"/>
              <a:sym typeface="Raleway Light"/>
            </a:endParaRPr>
          </a:p>
          <a:p>
            <a:pPr indent="0" lvl="0" marL="0" marR="0" rtl="0" algn="ctr">
              <a:lnSpc>
                <a:spcPct val="115000"/>
              </a:lnSpc>
              <a:spcBef>
                <a:spcPts val="0"/>
              </a:spcBef>
              <a:spcAft>
                <a:spcPts val="0"/>
              </a:spcAft>
              <a:buNone/>
            </a:pPr>
            <a:r>
              <a:t/>
            </a:r>
            <a:endParaRPr sz="1700">
              <a:latin typeface="Raleway Light"/>
              <a:ea typeface="Raleway Light"/>
              <a:cs typeface="Raleway Light"/>
              <a:sym typeface="Raleway Light"/>
            </a:endParaRPr>
          </a:p>
          <a:p>
            <a:pPr indent="-336550" lvl="0" marL="457200" marR="0" rtl="0" algn="l">
              <a:lnSpc>
                <a:spcPct val="115000"/>
              </a:lnSpc>
              <a:spcBef>
                <a:spcPts val="0"/>
              </a:spcBef>
              <a:spcAft>
                <a:spcPts val="0"/>
              </a:spcAft>
              <a:buSzPts val="1700"/>
              <a:buFont typeface="Raleway Light"/>
              <a:buChar char="●"/>
            </a:pPr>
            <a:r>
              <a:rPr lang="en-GB" sz="1700">
                <a:latin typeface="Raleway Light"/>
                <a:ea typeface="Raleway Light"/>
                <a:cs typeface="Raleway Light"/>
                <a:sym typeface="Raleway Light"/>
              </a:rPr>
              <a:t>Student A: Boss (give fe</a:t>
            </a:r>
            <a:r>
              <a:rPr lang="en-GB" sz="1700">
                <a:latin typeface="Raleway Light"/>
                <a:ea typeface="Raleway Light"/>
                <a:cs typeface="Raleway Light"/>
                <a:sym typeface="Raleway Light"/>
              </a:rPr>
              <a:t>edback)</a:t>
            </a:r>
            <a:endParaRPr sz="1700">
              <a:latin typeface="Raleway Light"/>
              <a:ea typeface="Raleway Light"/>
              <a:cs typeface="Raleway Light"/>
              <a:sym typeface="Raleway Light"/>
            </a:endParaRPr>
          </a:p>
          <a:p>
            <a:pPr indent="-336550" lvl="0" marL="457200" marR="0" rtl="0" algn="l">
              <a:lnSpc>
                <a:spcPct val="115000"/>
              </a:lnSpc>
              <a:spcBef>
                <a:spcPts val="0"/>
              </a:spcBef>
              <a:spcAft>
                <a:spcPts val="0"/>
              </a:spcAft>
              <a:buSzPts val="1700"/>
              <a:buFont typeface="Raleway Light"/>
              <a:buChar char="●"/>
            </a:pPr>
            <a:r>
              <a:rPr lang="en-GB" sz="1700">
                <a:latin typeface="Raleway Light"/>
                <a:ea typeface="Raleway Light"/>
                <a:cs typeface="Raleway Light"/>
                <a:sym typeface="Raleway Light"/>
              </a:rPr>
              <a:t>Student B: Employee (receive feedback)</a:t>
            </a:r>
            <a:endParaRPr sz="1700">
              <a:latin typeface="Raleway Light"/>
              <a:ea typeface="Raleway Light"/>
              <a:cs typeface="Raleway Light"/>
              <a:sym typeface="Raleway Light"/>
            </a:endParaRPr>
          </a:p>
        </p:txBody>
      </p:sp>
      <p:sp>
        <p:nvSpPr>
          <p:cNvPr id="337" name="Google Shape;337;p44"/>
          <p:cNvSpPr txBox="1"/>
          <p:nvPr/>
        </p:nvSpPr>
        <p:spPr>
          <a:xfrm>
            <a:off x="1499616" y="512064"/>
            <a:ext cx="6729600" cy="89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Read the following role play scenarios and practise them using the formula and </a:t>
            </a:r>
            <a:r>
              <a:rPr b="1" lang="en-GB" sz="1800" u="sng">
                <a:solidFill>
                  <a:schemeClr val="accent3"/>
                </a:solidFill>
                <a:latin typeface="Raleway"/>
                <a:ea typeface="Raleway"/>
                <a:cs typeface="Raleway"/>
                <a:sym typeface="Raleway"/>
                <a:hlinkClick r:id="rId3">
                  <a:extLst>
                    <a:ext uri="{A12FA001-AC4F-418D-AE19-62706E023703}">
                      <ahyp:hlinkClr val="tx"/>
                    </a:ext>
                  </a:extLst>
                </a:hlinkClick>
              </a:rPr>
              <a:t>useful language</a:t>
            </a:r>
            <a:r>
              <a:rPr b="1" lang="en-GB" sz="1800">
                <a:latin typeface="Raleway"/>
                <a:ea typeface="Raleway"/>
                <a:cs typeface="Raleway"/>
                <a:sym typeface="Raleway"/>
              </a:rPr>
              <a:t> from the lesson. [part 3/4]</a:t>
            </a:r>
            <a:endParaRPr b="1" sz="1800">
              <a:latin typeface="Raleway"/>
              <a:ea typeface="Raleway"/>
              <a:cs typeface="Raleway"/>
              <a:sym typeface="Ralewa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343" name="Google Shape;343;p45"/>
          <p:cNvSpPr/>
          <p:nvPr/>
        </p:nvSpPr>
        <p:spPr>
          <a:xfrm>
            <a:off x="2167200" y="1767600"/>
            <a:ext cx="4960200" cy="2757300"/>
          </a:xfrm>
          <a:prstGeom prst="roundRect">
            <a:avLst>
              <a:gd fmla="val 16667" name="adj"/>
            </a:avLst>
          </a:prstGeom>
          <a:solidFill>
            <a:schemeClr val="lt1"/>
          </a:solidFill>
          <a:ln cap="flat" cmpd="sng" w="9525">
            <a:solidFill>
              <a:srgbClr val="FF5C5C"/>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GB" sz="1700">
                <a:latin typeface="Raleway Light"/>
                <a:ea typeface="Raleway Light"/>
                <a:cs typeface="Raleway Light"/>
                <a:sym typeface="Raleway Light"/>
              </a:rPr>
              <a:t>You have heard reports that one of your best performing employees is using vulgar and inappropriate language and references in the workplace. This is making some of your staff members uncomfortable.</a:t>
            </a:r>
            <a:endParaRPr sz="1700">
              <a:latin typeface="Raleway Light"/>
              <a:ea typeface="Raleway Light"/>
              <a:cs typeface="Raleway Light"/>
              <a:sym typeface="Raleway Light"/>
            </a:endParaRPr>
          </a:p>
          <a:p>
            <a:pPr indent="0" lvl="0" marL="0" marR="0" rtl="0" algn="ctr">
              <a:lnSpc>
                <a:spcPct val="115000"/>
              </a:lnSpc>
              <a:spcBef>
                <a:spcPts val="0"/>
              </a:spcBef>
              <a:spcAft>
                <a:spcPts val="0"/>
              </a:spcAft>
              <a:buNone/>
            </a:pPr>
            <a:r>
              <a:t/>
            </a:r>
            <a:endParaRPr sz="1700">
              <a:latin typeface="Raleway Light"/>
              <a:ea typeface="Raleway Light"/>
              <a:cs typeface="Raleway Light"/>
              <a:sym typeface="Raleway Light"/>
            </a:endParaRPr>
          </a:p>
          <a:p>
            <a:pPr indent="-336550" lvl="0" marL="457200" marR="0" rtl="0" algn="l">
              <a:lnSpc>
                <a:spcPct val="115000"/>
              </a:lnSpc>
              <a:spcBef>
                <a:spcPts val="0"/>
              </a:spcBef>
              <a:spcAft>
                <a:spcPts val="0"/>
              </a:spcAft>
              <a:buSzPts val="1700"/>
              <a:buFont typeface="Raleway Light"/>
              <a:buChar char="●"/>
            </a:pPr>
            <a:r>
              <a:rPr lang="en-GB" sz="1700">
                <a:latin typeface="Raleway Light"/>
                <a:ea typeface="Raleway Light"/>
                <a:cs typeface="Raleway Light"/>
                <a:sym typeface="Raleway Light"/>
              </a:rPr>
              <a:t>Student A: Employee (receive feedback)</a:t>
            </a:r>
            <a:endParaRPr sz="1700">
              <a:latin typeface="Raleway Light"/>
              <a:ea typeface="Raleway Light"/>
              <a:cs typeface="Raleway Light"/>
              <a:sym typeface="Raleway Light"/>
            </a:endParaRPr>
          </a:p>
          <a:p>
            <a:pPr indent="-336550" lvl="0" marL="457200" marR="0" rtl="0" algn="l">
              <a:lnSpc>
                <a:spcPct val="115000"/>
              </a:lnSpc>
              <a:spcBef>
                <a:spcPts val="0"/>
              </a:spcBef>
              <a:spcAft>
                <a:spcPts val="0"/>
              </a:spcAft>
              <a:buSzPts val="1700"/>
              <a:buFont typeface="Raleway Light"/>
              <a:buChar char="●"/>
            </a:pPr>
            <a:r>
              <a:rPr lang="en-GB" sz="1700">
                <a:latin typeface="Raleway Light"/>
                <a:ea typeface="Raleway Light"/>
                <a:cs typeface="Raleway Light"/>
                <a:sym typeface="Raleway Light"/>
              </a:rPr>
              <a:t>Student B: Boss (give feedback)</a:t>
            </a:r>
            <a:endParaRPr sz="1700">
              <a:latin typeface="Raleway Light"/>
              <a:ea typeface="Raleway Light"/>
              <a:cs typeface="Raleway Light"/>
              <a:sym typeface="Raleway Light"/>
            </a:endParaRPr>
          </a:p>
        </p:txBody>
      </p:sp>
      <p:sp>
        <p:nvSpPr>
          <p:cNvPr id="344" name="Google Shape;344;p45"/>
          <p:cNvSpPr txBox="1"/>
          <p:nvPr/>
        </p:nvSpPr>
        <p:spPr>
          <a:xfrm>
            <a:off x="1499616" y="512064"/>
            <a:ext cx="6729600" cy="89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GB" sz="1800">
                <a:latin typeface="Raleway"/>
                <a:ea typeface="Raleway"/>
                <a:cs typeface="Raleway"/>
                <a:sym typeface="Raleway"/>
              </a:rPr>
              <a:t>Read the following role play scenarios and practise them using the formula and </a:t>
            </a:r>
            <a:r>
              <a:rPr b="1" lang="en-GB" sz="1800" u="sng">
                <a:solidFill>
                  <a:schemeClr val="accent3"/>
                </a:solidFill>
                <a:latin typeface="Raleway"/>
                <a:ea typeface="Raleway"/>
                <a:cs typeface="Raleway"/>
                <a:sym typeface="Raleway"/>
                <a:hlinkClick r:id="rId3">
                  <a:extLst>
                    <a:ext uri="{A12FA001-AC4F-418D-AE19-62706E023703}">
                      <ahyp:hlinkClr val="tx"/>
                    </a:ext>
                  </a:extLst>
                </a:hlinkClick>
              </a:rPr>
              <a:t>useful language</a:t>
            </a:r>
            <a:r>
              <a:rPr b="1" lang="en-GB" sz="1800">
                <a:latin typeface="Raleway"/>
                <a:ea typeface="Raleway"/>
                <a:cs typeface="Raleway"/>
                <a:sym typeface="Raleway"/>
              </a:rPr>
              <a:t> from the lesson. [part 4/4]</a:t>
            </a:r>
            <a:endParaRPr b="1" sz="1800">
              <a:latin typeface="Raleway"/>
              <a:ea typeface="Raleway"/>
              <a:cs typeface="Raleway"/>
              <a:sym typeface="Raleway"/>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sz="1000">
                <a:solidFill>
                  <a:schemeClr val="accent1"/>
                </a:solidFill>
                <a:latin typeface="Lato"/>
                <a:ea typeface="Lato"/>
                <a:cs typeface="Lato"/>
                <a:sym typeface="Lato"/>
              </a:rPr>
              <a:t>‹#›</a:t>
            </a:fld>
            <a:endParaRPr sz="1000">
              <a:solidFill>
                <a:schemeClr val="accent1"/>
              </a:solidFill>
              <a:latin typeface="Lato"/>
              <a:ea typeface="Lato"/>
              <a:cs typeface="Lato"/>
              <a:sym typeface="Lato"/>
            </a:endParaRPr>
          </a:p>
        </p:txBody>
      </p:sp>
      <p:sp>
        <p:nvSpPr>
          <p:cNvPr id="350" name="Google Shape;350;p46"/>
          <p:cNvSpPr txBox="1"/>
          <p:nvPr/>
        </p:nvSpPr>
        <p:spPr>
          <a:xfrm>
            <a:off x="1496250" y="658368"/>
            <a:ext cx="61515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Raleway"/>
                <a:ea typeface="Raleway"/>
                <a:cs typeface="Raleway"/>
                <a:sym typeface="Raleway"/>
              </a:rPr>
              <a:t>Discuss the questions. </a:t>
            </a:r>
            <a:r>
              <a:rPr b="1" lang="en-GB" sz="1800">
                <a:solidFill>
                  <a:schemeClr val="dk1"/>
                </a:solidFill>
                <a:latin typeface="Raleway"/>
                <a:ea typeface="Raleway"/>
                <a:cs typeface="Raleway"/>
                <a:sym typeface="Raleway"/>
              </a:rPr>
              <a:t>Give reasons for your answers.</a:t>
            </a:r>
            <a:endParaRPr b="1" sz="1800">
              <a:latin typeface="Raleway"/>
              <a:ea typeface="Raleway"/>
              <a:cs typeface="Raleway"/>
              <a:sym typeface="Raleway"/>
            </a:endParaRPr>
          </a:p>
        </p:txBody>
      </p:sp>
      <p:sp>
        <p:nvSpPr>
          <p:cNvPr id="351" name="Google Shape;351;p46"/>
          <p:cNvSpPr txBox="1"/>
          <p:nvPr/>
        </p:nvSpPr>
        <p:spPr>
          <a:xfrm>
            <a:off x="1073550" y="1440000"/>
            <a:ext cx="6574200" cy="13884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Font typeface="Raleway Light"/>
              <a:buChar char="➔"/>
            </a:pPr>
            <a:r>
              <a:rPr lang="en-GB" sz="1800">
                <a:latin typeface="Raleway Light"/>
                <a:ea typeface="Raleway Light"/>
                <a:cs typeface="Raleway Light"/>
                <a:sym typeface="Raleway Light"/>
              </a:rPr>
              <a:t>How well do you think your partner used the formula?</a:t>
            </a:r>
            <a:endParaRPr sz="1800">
              <a:latin typeface="Raleway Light"/>
              <a:ea typeface="Raleway Light"/>
              <a:cs typeface="Raleway Light"/>
              <a:sym typeface="Raleway Light"/>
            </a:endParaRPr>
          </a:p>
          <a:p>
            <a:pPr indent="-342900" lvl="0" marL="457200" marR="0" rtl="0" algn="l">
              <a:lnSpc>
                <a:spcPct val="115000"/>
              </a:lnSpc>
              <a:spcBef>
                <a:spcPts val="1000"/>
              </a:spcBef>
              <a:spcAft>
                <a:spcPts val="1000"/>
              </a:spcAft>
              <a:buSzPts val="1800"/>
              <a:buFont typeface="Raleway Light"/>
              <a:buChar char="➔"/>
            </a:pPr>
            <a:r>
              <a:rPr lang="en-GB" sz="1800">
                <a:latin typeface="Raleway Light"/>
                <a:ea typeface="Raleway Light"/>
                <a:cs typeface="Raleway Light"/>
                <a:sym typeface="Raleway Light"/>
              </a:rPr>
              <a:t>How did you feel about using the formula? Do you think it is useful for managing feedback conversations?</a:t>
            </a:r>
            <a:endParaRPr>
              <a:latin typeface="Raleway Light"/>
              <a:ea typeface="Raleway Light"/>
              <a:cs typeface="Raleway Light"/>
              <a:sym typeface="Raleway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AAAA"/>
        </a:solidFill>
      </p:bgPr>
    </p:bg>
    <p:spTree>
      <p:nvGrpSpPr>
        <p:cNvPr id="355" name="Shape 355"/>
        <p:cNvGrpSpPr/>
        <p:nvPr/>
      </p:nvGrpSpPr>
      <p:grpSpPr>
        <a:xfrm>
          <a:off x="0" y="0"/>
          <a:ext cx="0" cy="0"/>
          <a:chOff x="0" y="0"/>
          <a:chExt cx="0" cy="0"/>
        </a:xfrm>
      </p:grpSpPr>
      <p:sp>
        <p:nvSpPr>
          <p:cNvPr id="356" name="Google Shape;356;p47"/>
          <p:cNvSpPr txBox="1"/>
          <p:nvPr>
            <p:ph type="ctrTitle"/>
          </p:nvPr>
        </p:nvSpPr>
        <p:spPr>
          <a:xfrm>
            <a:off x="685800" y="3287213"/>
            <a:ext cx="7772400" cy="1159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latin typeface="Shadows Into Light"/>
                <a:ea typeface="Shadows Into Light"/>
                <a:cs typeface="Shadows Into Light"/>
                <a:sym typeface="Shadows Into Light"/>
              </a:rPr>
              <a:t>Thank you!</a:t>
            </a:r>
            <a:endParaRPr>
              <a:latin typeface="Shadows Into Light"/>
              <a:ea typeface="Shadows Into Light"/>
              <a:cs typeface="Shadows Into Light"/>
              <a:sym typeface="Shadows Into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