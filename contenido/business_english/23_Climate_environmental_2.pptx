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7DD37-D658-9AED-AD10-B33CD1837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95EE0-AE6B-D40C-9276-6705D688E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68830-4EBA-300B-20A8-E2ECC72AB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19/06/2024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30D13-24A5-0787-F325-A56EB0711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D0737-604C-2433-950C-B24C9A82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099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3177-8F66-B60D-EADA-1DD21E684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EC1BB-7AA0-6729-C712-4BA9C8EE1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B058A-BC96-688D-0457-4F46CA31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19/06/2024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488FA-1D96-01EB-E5B9-9BA9348E2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09AD4-3BC7-B19B-A3E9-C51DCB7B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0540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DE020-6FF0-39FE-6F6C-F3A99DBC7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3FF36-74A9-B95B-632C-80318D1DD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87356-09D5-BE01-D10A-0E4D23C0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19/06/2024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0E4E7-4FC6-4EA8-773B-94739DD98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40DE2-BABD-08A8-B839-0212E5077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8172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CD969-429F-F2B7-CF42-69CA43A9C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358EE-A9E4-9E1F-44D7-AB7C3C16D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E27AB-4B6F-0766-4270-CC9ECA729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7388F-AC94-A975-0D56-623CAB8B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19/06/2024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C2E32-DE9F-257C-29D3-FA309DC7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39110-9137-5936-F74A-73A59E4A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581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91927-245F-330D-18EC-B24149027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0E279-9189-B715-2202-B568A7958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E531A-BAA5-9A08-F2DD-7BFE55B8B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F8DEB2-D4CF-812F-82A4-81ADDB8CC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8F2D72-707B-80CA-43B4-BEC361617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F65D42-9C67-99DE-65D6-60D890E85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19/06/2024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AE8439-6F41-C9F4-92EA-53DFEFA4B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4E7B33-9850-548B-6D94-69447D26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0531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49C42-0B13-D4E2-F25C-0037689A6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A922A5-0B85-0267-CC0C-53CC30AEE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19/06/2024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617DB-77FB-2C9A-B218-F928D3C24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4F443E-DA6B-BA3C-797A-C918E302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1744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8BF082-5D7C-F747-D0C9-B88545A4F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19/06/2024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0F0429-F7D0-EB93-F588-762E222C9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469BE-63F0-F6DC-C941-CA1BA3706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308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6E206-9E94-ED56-B06C-1AF2FD6C0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CCB25-E331-F3C2-F569-92D4F21CE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EF3D0-B9C7-BC6F-4D57-A30D2467B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40C33-F851-116F-ADF1-B841BF34A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19/06/2024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3BD38-FE43-0E35-0701-49ABC0B1B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31BD6-DCF3-5978-E67F-18C841DB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9452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1B05F-44F0-49E9-400A-72C7285A2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8C3A85-1C96-4CDE-9FDA-2FB487BB38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73FC8-0D07-1D8D-A888-6AC5C56B3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41BEA-A23B-D314-89CC-B4B4B23BE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19/06/2024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60A10-1ACD-DED4-6548-4332398AE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41396-3250-59E4-C1DC-4C7A6580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1628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6E316-E484-6F2E-2F9C-437899F3F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FADA6-5D43-72FF-C5C1-1FAAA7937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E93AB-A99C-F9E7-DF72-143AD8315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19/06/2024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F8D5F-7649-4312-9A04-BA3F8DA5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A3B27-86D2-F256-43F8-A84EDCBAA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204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EBC73-3D62-9FF3-50B1-2D15C713BC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B7351-1213-3777-82C5-82A628A71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FF9DF-59C0-A01F-66F4-15203780E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19/06/2024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58C8F-5BD5-1439-C275-74E43AA7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A941-5E68-3824-0DD2-97615602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9070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652316-9F94-E619-917C-ABF9FF2C5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FF267-67D6-C335-05DD-A3ECB046D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ADFFE-194A-026F-6F37-D0FB0382B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41829-3D20-49A7-A921-3C0486746E51}" type="datetimeFigureOut">
              <a:rPr lang="en-GB" smtClean="0"/>
              <a:t>19/06/2024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02D5E-D9DC-CC35-8A44-8122FBE5EC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7D7BD-F65C-4F22-7ADC-02F4044E61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8657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D1C10-EF0E-D430-A224-9892BE1E61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Services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1BCCB-D479-5D19-A7A0-0F9706CCF2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English B2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0C80E8-D186-E5E8-47CD-E2A3536D3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711" y="127519"/>
            <a:ext cx="1638300" cy="76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91748F-A243-B9EF-7160-4C36E6E53D64}"/>
              </a:ext>
            </a:extLst>
          </p:cNvPr>
          <p:cNvSpPr txBox="1"/>
          <p:nvPr/>
        </p:nvSpPr>
        <p:spPr>
          <a:xfrm>
            <a:off x="167555" y="628083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dirty="0" err="1">
                <a:solidFill>
                  <a:srgbClr val="898989"/>
                </a:solidFill>
                <a:latin typeface="Calibri" panose="020F0502020204030204" pitchFamily="34" charset="0"/>
              </a:rPr>
              <a:t>t</a:t>
            </a:r>
            <a:r>
              <a:rPr lang="en-GB" sz="1800" b="0" i="0" kern="1200" spc="0" baseline="0" dirty="0" err="1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uSpeaking</a:t>
            </a:r>
            <a:r>
              <a:rPr lang="en-GB" sz="1800" b="0" i="0" kern="1200" spc="0" baseline="0" dirty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2024,  All rights reserved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5860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038">
            <a:extLst>
              <a:ext uri="{FF2B5EF4-FFF2-40B4-BE49-F238E27FC236}">
                <a16:creationId xmlns:a16="http://schemas.microsoft.com/office/drawing/2014/main" id="{928F64C6-FE22-4FC1-A763-DFCC5148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261224" y="4577975"/>
            <a:ext cx="7539349" cy="1899827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2B0851-1A9D-2182-5500-3711572F9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3468" y="4741948"/>
            <a:ext cx="6829520" cy="8620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do you know about these initiatives?</a:t>
            </a:r>
          </a:p>
        </p:txBody>
      </p:sp>
      <p:pic>
        <p:nvPicPr>
          <p:cNvPr id="1034" name="Picture 10" descr="Yale Experts Explain The Paris Climate Agreement | Yale Sustainability">
            <a:extLst>
              <a:ext uri="{FF2B5EF4-FFF2-40B4-BE49-F238E27FC236}">
                <a16:creationId xmlns:a16="http://schemas.microsoft.com/office/drawing/2014/main" id="{0DA4A67E-B3D7-F0D3-3A0C-FB5C58DF0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636" y="496291"/>
            <a:ext cx="3797570" cy="1661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Eco business solution to data capture from The Billion Trees Project">
            <a:extLst>
              <a:ext uri="{FF2B5EF4-FFF2-40B4-BE49-F238E27FC236}">
                <a16:creationId xmlns:a16="http://schemas.microsoft.com/office/drawing/2014/main" id="{599925A0-5734-F3DE-2CB6-95AB465661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7562" y="2422097"/>
            <a:ext cx="3314903" cy="2013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e United Nations Environment Programme (UNEP): new partner of Maskbook! |  MaskBook">
            <a:extLst>
              <a:ext uri="{FF2B5EF4-FFF2-40B4-BE49-F238E27FC236}">
                <a16:creationId xmlns:a16="http://schemas.microsoft.com/office/drawing/2014/main" id="{E58385A8-0527-771B-EFE1-34918ADF6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02549" y="480657"/>
            <a:ext cx="3793472" cy="3793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arth Hour 2021: 10 Facts &amp; How to Get Involved | Earth.Org">
            <a:extLst>
              <a:ext uri="{FF2B5EF4-FFF2-40B4-BE49-F238E27FC236}">
                <a16:creationId xmlns:a16="http://schemas.microsoft.com/office/drawing/2014/main" id="{6C63A6E2-6EF0-7AF4-3C6E-0A4085316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86176" y="516381"/>
            <a:ext cx="3797984" cy="3722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5C34627B-48E6-4F4D-B843-97717A86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19934" y="5694097"/>
            <a:ext cx="5486400" cy="0"/>
          </a:xfrm>
          <a:prstGeom prst="line">
            <a:avLst/>
          </a:prstGeom>
          <a:ln w="1587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Global Alliance for Clean Cookstoves | Mel Joulwan : Well Fed">
            <a:extLst>
              <a:ext uri="{FF2B5EF4-FFF2-40B4-BE49-F238E27FC236}">
                <a16:creationId xmlns:a16="http://schemas.microsoft.com/office/drawing/2014/main" id="{94E895A7-3362-899E-1EC2-FA4D25AF0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5765" y="4525715"/>
            <a:ext cx="3558497" cy="201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9365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E30843-6F04-E229-A05E-922681BD1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GB" b="1" dirty="0"/>
              <a:t>The Paris Agreement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02ABE-6D37-5FC8-4A00-B4028C5F0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Description:</a:t>
            </a:r>
            <a:r>
              <a:rPr lang="en-GB" sz="2000"/>
              <a:t> An international treaty adopted in 2015 to combat climate change and limit global warming to below 2 degrees Celsius.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Participants:</a:t>
            </a:r>
            <a:r>
              <a:rPr lang="en-GB" sz="2000"/>
              <a:t> Almost every country in the world has committed to reducing greenhouse gas emissions.</a:t>
            </a:r>
          </a:p>
          <a:p>
            <a:endParaRPr lang="en-GB" sz="2000"/>
          </a:p>
        </p:txBody>
      </p:sp>
      <p:pic>
        <p:nvPicPr>
          <p:cNvPr id="4" name="Picture 10" descr="Yale Experts Explain The Paris Climate Agreement | Yale Sustainability">
            <a:extLst>
              <a:ext uri="{FF2B5EF4-FFF2-40B4-BE49-F238E27FC236}">
                <a16:creationId xmlns:a16="http://schemas.microsoft.com/office/drawing/2014/main" id="{0FA2EBD7-E711-D6CC-8A40-01970979C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19367" y="3015386"/>
            <a:ext cx="4788505" cy="2094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877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19516F-C165-3F88-F21B-1FB077EE9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GB" sz="4100" b="1"/>
              <a:t>The United Nations Environment Programme (UNEP)</a:t>
            </a:r>
            <a:endParaRPr lang="en-GB" sz="41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66F00-B44A-ECE8-97B8-AA5CDCEE1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Description:</a:t>
            </a:r>
            <a:r>
              <a:rPr lang="en-GB" sz="2000"/>
              <a:t> UNEP coordinates the UN's environmental activities and assists developing countries in implementing environmentally sound policies and practices.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Example:</a:t>
            </a:r>
            <a:r>
              <a:rPr lang="en-GB" sz="2000"/>
              <a:t> The "Clean Seas" campaign aims to eliminate marine litter and plastic pollution.</a:t>
            </a:r>
          </a:p>
        </p:txBody>
      </p:sp>
      <p:pic>
        <p:nvPicPr>
          <p:cNvPr id="4" name="Picture 8" descr="The United Nations Environment Programme (UNEP): new partner of Maskbook! |  MaskBook">
            <a:extLst>
              <a:ext uri="{FF2B5EF4-FFF2-40B4-BE49-F238E27FC236}">
                <a16:creationId xmlns:a16="http://schemas.microsoft.com/office/drawing/2014/main" id="{7C06022E-F97C-4D78-4C60-A5566DEBA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29548" y="2484255"/>
            <a:ext cx="3714244" cy="371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557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E3FBDB-F20A-24AC-D438-A4C320F48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GB" sz="3700" b="1"/>
              <a:t>The Global Alliance for Clean Cookstoves</a:t>
            </a:r>
            <a:endParaRPr lang="en-GB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AFD46-FF05-8439-3D20-816DD88F3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Description:</a:t>
            </a:r>
            <a:r>
              <a:rPr lang="en-GB" sz="2000"/>
              <a:t> A public-private partnership working to create a thriving global market for clean and efficient household cooking solutions.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Impact:</a:t>
            </a:r>
            <a:r>
              <a:rPr lang="en-GB" sz="2000"/>
              <a:t> Reduces health problems caused by indoor air pollution and decreases deforestation for fuelwood.</a:t>
            </a:r>
          </a:p>
          <a:p>
            <a:endParaRPr lang="en-GB" sz="2000"/>
          </a:p>
        </p:txBody>
      </p:sp>
      <p:pic>
        <p:nvPicPr>
          <p:cNvPr id="4" name="Picture 6" descr="Global Alliance for Clean Cookstoves | Mel Joulwan : Well Fed">
            <a:extLst>
              <a:ext uri="{FF2B5EF4-FFF2-40B4-BE49-F238E27FC236}">
                <a16:creationId xmlns:a16="http://schemas.microsoft.com/office/drawing/2014/main" id="{FFF5981B-31BF-2C00-4992-1A9D1FEA2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80610" y="2101721"/>
            <a:ext cx="4737650" cy="2676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74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357A1F-1740-91F6-F7E9-38B8B5136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GB" sz="3700"/>
              <a:t>The Billion Tree Campaign: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BC4B2-3E0F-C0CF-FE37-41747C086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Description:</a:t>
            </a:r>
            <a:r>
              <a:rPr lang="en-GB" sz="2000"/>
              <a:t> A worldwide tree-planting initiative led by the United Nations to fight deforestation and combat climate change.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Impact:</a:t>
            </a:r>
            <a:r>
              <a:rPr lang="en-GB" sz="2000"/>
              <a:t> Millions of trees have been planted globally, restoring degraded lands and improving biodiversity.</a:t>
            </a:r>
          </a:p>
          <a:p>
            <a:endParaRPr lang="en-GB" sz="2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Eco business solution to data capture from The Billion Trees Project">
            <a:extLst>
              <a:ext uri="{FF2B5EF4-FFF2-40B4-BE49-F238E27FC236}">
                <a16:creationId xmlns:a16="http://schemas.microsoft.com/office/drawing/2014/main" id="{D735FB83-E544-CD9B-5747-0653B56110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46" r="17485" b="-1"/>
          <a:stretch/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7666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EFC920F-B85A-4068-BD93-41064EDE9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C559108-BBAE-426C-8564-051D2BA6D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2BC35EE-6650-42D2-AEFB-4B7CD1AFC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952C743-9049-4DFB-878B-2AB07B6E4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6B2175-3D20-C366-9D66-F567E35A6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425" y="1238081"/>
            <a:ext cx="4709345" cy="962953"/>
          </a:xfrm>
        </p:spPr>
        <p:txBody>
          <a:bodyPr anchor="b">
            <a:normAutofit/>
          </a:bodyPr>
          <a:lstStyle/>
          <a:p>
            <a:r>
              <a:rPr lang="en-GB" sz="3800" b="1"/>
              <a:t>Earth Hour</a:t>
            </a:r>
            <a:endParaRPr lang="en-GB" sz="3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39885" y="2372170"/>
            <a:ext cx="43891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9D3F6-F53D-83C7-98FD-CE4B3C3CD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736" y="2508105"/>
            <a:ext cx="4709345" cy="3632493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Description:</a:t>
            </a:r>
            <a:r>
              <a:rPr lang="en-GB" sz="2000"/>
              <a:t> An annual global event organized by the World Wildlife Fund (WWF) where individuals, communities, and businesses turn off non-essential electric lights for one hour as a symbol of commitment to the planet.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Participants:</a:t>
            </a:r>
            <a:r>
              <a:rPr lang="en-GB" sz="2000"/>
              <a:t> Over 190 countries and territories participate each year.</a:t>
            </a:r>
          </a:p>
          <a:p>
            <a:endParaRPr lang="en-GB" sz="2000"/>
          </a:p>
        </p:txBody>
      </p:sp>
      <p:pic>
        <p:nvPicPr>
          <p:cNvPr id="4" name="Picture 4" descr="Earth Hour 2021: 10 Facts &amp; How to Get Involved | Earth.Org">
            <a:extLst>
              <a:ext uri="{FF2B5EF4-FFF2-40B4-BE49-F238E27FC236}">
                <a16:creationId xmlns:a16="http://schemas.microsoft.com/office/drawing/2014/main" id="{15DF5307-1D72-14BA-C31A-0A7791958B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1527"/>
          <a:stretch/>
        </p:blipFill>
        <p:spPr bwMode="auto">
          <a:xfrm>
            <a:off x="6538366" y="1383738"/>
            <a:ext cx="4929098" cy="475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699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17052-800A-C259-50E9-A34A20E6B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Grammar Focus - Conditionals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321723-001C-6702-EB2F-3DFCF1AB3F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85631"/>
            <a:ext cx="771262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Zero Conditional: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Used for general truths and scientific facts.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 "If you heat water to 100°C, it boils."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First Conditional: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Used for real and possible situations.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 "If we reduce our waste, we will help the environment."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Second Conditional: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Used for hypothetical situations.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 "If I were the mayor, I would implement more recycling programs."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74885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28F64C6-FE22-4FC1-A763-DFCC5148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17636" y="4577975"/>
            <a:ext cx="11482938" cy="1899827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2334B1-985D-70FE-05BB-38EF0D40F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325" y="4741948"/>
            <a:ext cx="10825663" cy="8620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Practice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4D311-02E4-CF14-2EF9-56A6FB76A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325" y="5839017"/>
            <a:ext cx="10825663" cy="40374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800" kern="1200">
                <a:solidFill>
                  <a:srgbClr val="E7E6E6"/>
                </a:solidFill>
                <a:latin typeface="+mn-lt"/>
                <a:ea typeface="+mn-ea"/>
                <a:cs typeface="+mn-cs"/>
              </a:rPr>
              <a:t>Create sentences using zero, first, and second conditionals related to environmental actions.</a:t>
            </a:r>
          </a:p>
        </p:txBody>
      </p:sp>
      <p:pic>
        <p:nvPicPr>
          <p:cNvPr id="7" name="Picture 6" descr="Row of white windmills">
            <a:extLst>
              <a:ext uri="{FF2B5EF4-FFF2-40B4-BE49-F238E27FC236}">
                <a16:creationId xmlns:a16="http://schemas.microsoft.com/office/drawing/2014/main" id="{368F389D-C968-42AA-5856-CFB008D729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469" r="3" b="18532"/>
          <a:stretch/>
        </p:blipFill>
        <p:spPr>
          <a:xfrm>
            <a:off x="307840" y="321733"/>
            <a:ext cx="3793472" cy="2010551"/>
          </a:xfrm>
          <a:prstGeom prst="rect">
            <a:avLst/>
          </a:prstGeom>
        </p:spPr>
      </p:pic>
      <p:pic>
        <p:nvPicPr>
          <p:cNvPr id="5" name="Picture 4" descr="Green sea turtle underwater">
            <a:extLst>
              <a:ext uri="{FF2B5EF4-FFF2-40B4-BE49-F238E27FC236}">
                <a16:creationId xmlns:a16="http://schemas.microsoft.com/office/drawing/2014/main" id="{F9F00256-D4B3-6905-9AE9-82C4F08D15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52" r="1" b="8733"/>
          <a:stretch/>
        </p:blipFill>
        <p:spPr>
          <a:xfrm>
            <a:off x="4194959" y="321735"/>
            <a:ext cx="3797570" cy="2010551"/>
          </a:xfrm>
          <a:prstGeom prst="rect">
            <a:avLst/>
          </a:prstGeom>
        </p:spPr>
      </p:pic>
      <p:pic>
        <p:nvPicPr>
          <p:cNvPr id="13" name="Picture 12" descr="Foggy skyscrapers against the sky">
            <a:extLst>
              <a:ext uri="{FF2B5EF4-FFF2-40B4-BE49-F238E27FC236}">
                <a16:creationId xmlns:a16="http://schemas.microsoft.com/office/drawing/2014/main" id="{BAF64F2C-5292-536B-3FA1-6CDC62C4CB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94"/>
          <a:stretch/>
        </p:blipFill>
        <p:spPr>
          <a:xfrm>
            <a:off x="8086176" y="321734"/>
            <a:ext cx="3797984" cy="2010550"/>
          </a:xfrm>
          <a:prstGeom prst="rect">
            <a:avLst/>
          </a:prstGeom>
        </p:spPr>
      </p:pic>
      <p:pic>
        <p:nvPicPr>
          <p:cNvPr id="15" name="Picture 14" descr="A top view of a volcano erupting">
            <a:extLst>
              <a:ext uri="{FF2B5EF4-FFF2-40B4-BE49-F238E27FC236}">
                <a16:creationId xmlns:a16="http://schemas.microsoft.com/office/drawing/2014/main" id="{5BDD3C16-4866-E5A1-A95A-2CF15E93D4B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55" r="1" b="10771"/>
          <a:stretch/>
        </p:blipFill>
        <p:spPr>
          <a:xfrm>
            <a:off x="307840" y="2423723"/>
            <a:ext cx="3794760" cy="2010551"/>
          </a:xfrm>
          <a:prstGeom prst="rect">
            <a:avLst/>
          </a:prstGeom>
        </p:spPr>
      </p:pic>
      <p:pic>
        <p:nvPicPr>
          <p:cNvPr id="11" name="Picture 10" descr="Velvet-purple coronet hummingbird">
            <a:extLst>
              <a:ext uri="{FF2B5EF4-FFF2-40B4-BE49-F238E27FC236}">
                <a16:creationId xmlns:a16="http://schemas.microsoft.com/office/drawing/2014/main" id="{457C9D5B-F3C9-8472-973F-C0D734AC77B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2" r="1" b="13036"/>
          <a:stretch/>
        </p:blipFill>
        <p:spPr>
          <a:xfrm>
            <a:off x="4190180" y="2422095"/>
            <a:ext cx="3794760" cy="2013804"/>
          </a:xfrm>
          <a:prstGeom prst="rect">
            <a:avLst/>
          </a:prstGeom>
        </p:spPr>
      </p:pic>
      <p:pic>
        <p:nvPicPr>
          <p:cNvPr id="9" name="Picture 8" descr="Highland bridge connects the mountain">
            <a:extLst>
              <a:ext uri="{FF2B5EF4-FFF2-40B4-BE49-F238E27FC236}">
                <a16:creationId xmlns:a16="http://schemas.microsoft.com/office/drawing/2014/main" id="{8097B9FF-C7CC-07EB-AEBA-3D3991EB96F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09" r="1" b="1"/>
          <a:stretch/>
        </p:blipFill>
        <p:spPr>
          <a:xfrm>
            <a:off x="8093394" y="2422097"/>
            <a:ext cx="3794760" cy="2010551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C34627B-48E6-4F4D-B843-97717A86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7963" y="5694097"/>
            <a:ext cx="9144000" cy="0"/>
          </a:xfrm>
          <a:prstGeom prst="line">
            <a:avLst/>
          </a:prstGeom>
          <a:ln w="1587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667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3C3D69-F3F7-6761-FE51-97B9583C3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n-GB" sz="4000"/>
              <a:t>Group Activity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9DEE4-0144-2D55-5D68-4912F897D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r>
              <a:rPr lang="en-GB" sz="1900"/>
              <a:t>In groups, create a proposal for a new environmental initiative that addresses a local or global issue.</a:t>
            </a:r>
          </a:p>
          <a:p>
            <a:endParaRPr lang="en-GB" sz="1900"/>
          </a:p>
          <a:p>
            <a:pPr>
              <a:buFont typeface="Arial" panose="020B0604020202020204" pitchFamily="34" charset="0"/>
              <a:buChar char="•"/>
            </a:pPr>
            <a:r>
              <a:rPr lang="en-GB" sz="1900" b="1"/>
              <a:t>Step 1:</a:t>
            </a:r>
            <a:r>
              <a:rPr lang="en-GB" sz="1900"/>
              <a:t> Identify the issue your initiative will address.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900" b="1"/>
              <a:t>Step 2:</a:t>
            </a:r>
            <a:r>
              <a:rPr lang="en-GB" sz="1900"/>
              <a:t> Develop a plan, including objectives, methods, and expected outcomes.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900" b="1"/>
              <a:t>Step 3:</a:t>
            </a:r>
            <a:r>
              <a:rPr lang="en-GB" sz="1900"/>
              <a:t> Use conditionals to discuss potential impacts and hypothetical situations.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900" b="1"/>
              <a:t>Step 4:</a:t>
            </a:r>
            <a:r>
              <a:rPr lang="en-GB" sz="1900"/>
              <a:t> Present your proposal to the class.</a:t>
            </a:r>
          </a:p>
          <a:p>
            <a:endParaRPr lang="en-GB" sz="19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Oil refinery against blue sky">
            <a:extLst>
              <a:ext uri="{FF2B5EF4-FFF2-40B4-BE49-F238E27FC236}">
                <a16:creationId xmlns:a16="http://schemas.microsoft.com/office/drawing/2014/main" id="{4CB84E44-80AF-AC41-F010-BFA84BEB7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423" y="604492"/>
            <a:ext cx="4397433" cy="247355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Industrial smokestack">
            <a:extLst>
              <a:ext uri="{FF2B5EF4-FFF2-40B4-BE49-F238E27FC236}">
                <a16:creationId xmlns:a16="http://schemas.microsoft.com/office/drawing/2014/main" id="{9D7630F4-59CE-1E38-F4CA-073C856B2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4499" y="3707894"/>
            <a:ext cx="3773417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412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D1EA-DB20-6CB9-85F7-C5CFA11BD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Delayed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09F7F-834E-B33C-0815-10828AA1A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93A1C4-3CC2-5629-E19D-497E68016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575" y="466725"/>
            <a:ext cx="1638300" cy="76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1E4A39-2301-C33C-FC73-F570A998F1CD}"/>
              </a:ext>
            </a:extLst>
          </p:cNvPr>
          <p:cNvSpPr txBox="1"/>
          <p:nvPr/>
        </p:nvSpPr>
        <p:spPr>
          <a:xfrm>
            <a:off x="238125" y="6308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dirty="0" err="1">
                <a:solidFill>
                  <a:srgbClr val="898989"/>
                </a:solidFill>
                <a:latin typeface="Calibri" panose="020F0502020204030204" pitchFamily="34" charset="0"/>
              </a:rPr>
              <a:t>t</a:t>
            </a:r>
            <a:r>
              <a:rPr lang="en-GB" sz="1800" b="0" i="0" kern="1200" spc="0" baseline="0" dirty="0" err="1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uSpeaking</a:t>
            </a:r>
            <a:r>
              <a:rPr lang="en-GB" sz="1800" b="0" i="0" kern="1200" spc="0" baseline="0" dirty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2024,  All rights reserved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23058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414</Words>
  <Application>Microsoft Office PowerPoint</Application>
  <PresentationFormat>Widescreen</PresentationFormat>
  <Paragraphs>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Services</vt:lpstr>
      <vt:lpstr>What do you know about these initiatives?</vt:lpstr>
      <vt:lpstr>The Paris Agreement </vt:lpstr>
      <vt:lpstr>The United Nations Environment Programme (UNEP)</vt:lpstr>
      <vt:lpstr>The Global Alliance for Clean Cookstoves</vt:lpstr>
      <vt:lpstr>The Billion Tree Campaign:</vt:lpstr>
      <vt:lpstr>Earth Hour</vt:lpstr>
      <vt:lpstr>Grammar Focus - Conditionals</vt:lpstr>
      <vt:lpstr>Practice Activity</vt:lpstr>
      <vt:lpstr>Group Activity</vt:lpstr>
      <vt:lpstr>Delayed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</dc:title>
  <dc:creator>Clarke, Theodore James Dalgliesh</dc:creator>
  <cp:lastModifiedBy>Clarke, Theodore James Dalgliesh</cp:lastModifiedBy>
  <cp:revision>21</cp:revision>
  <dcterms:created xsi:type="dcterms:W3CDTF">2024-05-27T11:38:08Z</dcterms:created>
  <dcterms:modified xsi:type="dcterms:W3CDTF">2024-06-19T09:48:58Z</dcterms:modified>
</cp:coreProperties>
</file>