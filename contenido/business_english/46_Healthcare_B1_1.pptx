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3" r:id="rId7"/>
    <p:sldId id="274" r:id="rId8"/>
    <p:sldId id="271" r:id="rId9"/>
    <p:sldId id="272" r:id="rId10"/>
    <p:sldId id="27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7DC1D2-17B8-47F9-8A5C-EF535C00988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06576B-3EE0-4F0C-8C2D-8FA59F8FD8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My head is pounding, and I can’t concentrate.</a:t>
          </a:r>
          <a:br>
            <a:rPr lang="en-GB"/>
          </a:br>
          <a:endParaRPr lang="en-US"/>
        </a:p>
      </dgm:t>
    </dgm:pt>
    <dgm:pt modelId="{C678E8F7-8F55-45B5-A576-3BCDD9E376ED}" type="parTrans" cxnId="{E7C248B1-67AB-43E7-B860-28B0DB01148A}">
      <dgm:prSet/>
      <dgm:spPr/>
      <dgm:t>
        <a:bodyPr/>
        <a:lstStyle/>
        <a:p>
          <a:endParaRPr lang="en-US"/>
        </a:p>
      </dgm:t>
    </dgm:pt>
    <dgm:pt modelId="{F16D43A8-BBDC-4CAA-8781-E43E2E473C66}" type="sibTrans" cxnId="{E7C248B1-67AB-43E7-B860-28B0DB01148A}">
      <dgm:prSet/>
      <dgm:spPr/>
      <dgm:t>
        <a:bodyPr/>
        <a:lstStyle/>
        <a:p>
          <a:endParaRPr lang="en-US"/>
        </a:p>
      </dgm:t>
    </dgm:pt>
    <dgm:pt modelId="{E48C9C54-9410-49ED-9927-331F6CF7D6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I’ve been sitting in the same position all day.</a:t>
          </a:r>
          <a:endParaRPr lang="en-US"/>
        </a:p>
      </dgm:t>
    </dgm:pt>
    <dgm:pt modelId="{17BE7301-6F34-4D1B-967B-2385589ED78F}" type="parTrans" cxnId="{E6E7BD01-6EF7-40FA-B071-184722A55CA7}">
      <dgm:prSet/>
      <dgm:spPr/>
      <dgm:t>
        <a:bodyPr/>
        <a:lstStyle/>
        <a:p>
          <a:endParaRPr lang="en-US"/>
        </a:p>
      </dgm:t>
    </dgm:pt>
    <dgm:pt modelId="{8FA15374-DB12-477B-8D1A-7709B56D6AEF}" type="sibTrans" cxnId="{E6E7BD01-6EF7-40FA-B071-184722A55CA7}">
      <dgm:prSet/>
      <dgm:spPr/>
      <dgm:t>
        <a:bodyPr/>
        <a:lstStyle/>
        <a:p>
          <a:endParaRPr lang="en-US"/>
        </a:p>
      </dgm:t>
    </dgm:pt>
    <dgm:pt modelId="{33968F9E-3024-4943-89AF-153A9F8E2BD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 just ate too many sweets, and now my stomach hurts.</a:t>
          </a:r>
          <a:endParaRPr lang="en-US"/>
        </a:p>
      </dgm:t>
    </dgm:pt>
    <dgm:pt modelId="{581B1F7E-513F-4D29-90BD-C63A6D050277}" type="parTrans" cxnId="{1945B331-2E76-4E22-8A14-1DB923C5ABB1}">
      <dgm:prSet/>
      <dgm:spPr/>
      <dgm:t>
        <a:bodyPr/>
        <a:lstStyle/>
        <a:p>
          <a:endParaRPr lang="en-US"/>
        </a:p>
      </dgm:t>
    </dgm:pt>
    <dgm:pt modelId="{97501779-72E0-4CB0-8737-BA7F7D0D13E1}" type="sibTrans" cxnId="{1945B331-2E76-4E22-8A14-1DB923C5ABB1}">
      <dgm:prSet/>
      <dgm:spPr/>
      <dgm:t>
        <a:bodyPr/>
        <a:lstStyle/>
        <a:p>
          <a:endParaRPr lang="en-US"/>
        </a:p>
      </dgm:t>
    </dgm:pt>
    <dgm:pt modelId="{0577E506-08D9-4690-BAF0-C37C57B4A96B}" type="pres">
      <dgm:prSet presAssocID="{A97DC1D2-17B8-47F9-8A5C-EF535C009882}" presName="root" presStyleCnt="0">
        <dgm:presLayoutVars>
          <dgm:dir/>
          <dgm:resizeHandles val="exact"/>
        </dgm:presLayoutVars>
      </dgm:prSet>
      <dgm:spPr/>
    </dgm:pt>
    <dgm:pt modelId="{2D5FB93F-8BCC-494A-A049-2BC789DDD1D6}" type="pres">
      <dgm:prSet presAssocID="{1C06576B-3EE0-4F0C-8C2D-8FA59F8FD817}" presName="compNode" presStyleCnt="0"/>
      <dgm:spPr/>
    </dgm:pt>
    <dgm:pt modelId="{F7CCB257-47BA-4D24-BC7C-D96178DC184D}" type="pres">
      <dgm:prSet presAssocID="{1C06576B-3EE0-4F0C-8C2D-8FA59F8FD8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765461AD-FCEA-4BD3-8E3D-5B4F6363312D}" type="pres">
      <dgm:prSet presAssocID="{1C06576B-3EE0-4F0C-8C2D-8FA59F8FD817}" presName="spaceRect" presStyleCnt="0"/>
      <dgm:spPr/>
    </dgm:pt>
    <dgm:pt modelId="{4424CBFD-B145-40CB-9981-7E8AE0EDAC83}" type="pres">
      <dgm:prSet presAssocID="{1C06576B-3EE0-4F0C-8C2D-8FA59F8FD817}" presName="textRect" presStyleLbl="revTx" presStyleIdx="0" presStyleCnt="3">
        <dgm:presLayoutVars>
          <dgm:chMax val="1"/>
          <dgm:chPref val="1"/>
        </dgm:presLayoutVars>
      </dgm:prSet>
      <dgm:spPr/>
    </dgm:pt>
    <dgm:pt modelId="{4BDEE44F-0B44-4EC6-8DC5-418909562205}" type="pres">
      <dgm:prSet presAssocID="{F16D43A8-BBDC-4CAA-8781-E43E2E473C66}" presName="sibTrans" presStyleCnt="0"/>
      <dgm:spPr/>
    </dgm:pt>
    <dgm:pt modelId="{A48EF9FF-67A7-4BBA-B33E-64EF313A66CF}" type="pres">
      <dgm:prSet presAssocID="{E48C9C54-9410-49ED-9927-331F6CF7D679}" presName="compNode" presStyleCnt="0"/>
      <dgm:spPr/>
    </dgm:pt>
    <dgm:pt modelId="{BCDB0016-8DFF-44A9-86C4-00B260CAB904}" type="pres">
      <dgm:prSet presAssocID="{E48C9C54-9410-49ED-9927-331F6CF7D6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68F4077D-DD0A-4FD9-A067-ED0D07B3ECBE}" type="pres">
      <dgm:prSet presAssocID="{E48C9C54-9410-49ED-9927-331F6CF7D679}" presName="spaceRect" presStyleCnt="0"/>
      <dgm:spPr/>
    </dgm:pt>
    <dgm:pt modelId="{DF7A00B0-43C3-473D-9333-D7E4FFD135D6}" type="pres">
      <dgm:prSet presAssocID="{E48C9C54-9410-49ED-9927-331F6CF7D679}" presName="textRect" presStyleLbl="revTx" presStyleIdx="1" presStyleCnt="3">
        <dgm:presLayoutVars>
          <dgm:chMax val="1"/>
          <dgm:chPref val="1"/>
        </dgm:presLayoutVars>
      </dgm:prSet>
      <dgm:spPr/>
    </dgm:pt>
    <dgm:pt modelId="{30149B32-02C4-4A4D-B650-C9EA80238B55}" type="pres">
      <dgm:prSet presAssocID="{8FA15374-DB12-477B-8D1A-7709B56D6AEF}" presName="sibTrans" presStyleCnt="0"/>
      <dgm:spPr/>
    </dgm:pt>
    <dgm:pt modelId="{258D3058-216A-4200-9730-9E2991C542F6}" type="pres">
      <dgm:prSet presAssocID="{33968F9E-3024-4943-89AF-153A9F8E2BD0}" presName="compNode" presStyleCnt="0"/>
      <dgm:spPr/>
    </dgm:pt>
    <dgm:pt modelId="{9DA5AFDC-9FAC-47A4-BD64-FCD064AFE967}" type="pres">
      <dgm:prSet presAssocID="{33968F9E-3024-4943-89AF-153A9F8E2B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llipop"/>
        </a:ext>
      </dgm:extLst>
    </dgm:pt>
    <dgm:pt modelId="{95639432-EE22-4A65-98A0-AD7967E39979}" type="pres">
      <dgm:prSet presAssocID="{33968F9E-3024-4943-89AF-153A9F8E2BD0}" presName="spaceRect" presStyleCnt="0"/>
      <dgm:spPr/>
    </dgm:pt>
    <dgm:pt modelId="{FAF17677-64DE-4FBC-A526-5B00D782ADB2}" type="pres">
      <dgm:prSet presAssocID="{33968F9E-3024-4943-89AF-153A9F8E2B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E7BD01-6EF7-40FA-B071-184722A55CA7}" srcId="{A97DC1D2-17B8-47F9-8A5C-EF535C009882}" destId="{E48C9C54-9410-49ED-9927-331F6CF7D679}" srcOrd="1" destOrd="0" parTransId="{17BE7301-6F34-4D1B-967B-2385589ED78F}" sibTransId="{8FA15374-DB12-477B-8D1A-7709B56D6AEF}"/>
    <dgm:cxn modelId="{5191F229-C470-489C-B6E3-C663D521E939}" type="presOf" srcId="{1C06576B-3EE0-4F0C-8C2D-8FA59F8FD817}" destId="{4424CBFD-B145-40CB-9981-7E8AE0EDAC83}" srcOrd="0" destOrd="0" presId="urn:microsoft.com/office/officeart/2018/2/layout/IconLabelList"/>
    <dgm:cxn modelId="{60B4702F-145F-475D-907E-7064DA81B0C1}" type="presOf" srcId="{33968F9E-3024-4943-89AF-153A9F8E2BD0}" destId="{FAF17677-64DE-4FBC-A526-5B00D782ADB2}" srcOrd="0" destOrd="0" presId="urn:microsoft.com/office/officeart/2018/2/layout/IconLabelList"/>
    <dgm:cxn modelId="{1945B331-2E76-4E22-8A14-1DB923C5ABB1}" srcId="{A97DC1D2-17B8-47F9-8A5C-EF535C009882}" destId="{33968F9E-3024-4943-89AF-153A9F8E2BD0}" srcOrd="2" destOrd="0" parTransId="{581B1F7E-513F-4D29-90BD-C63A6D050277}" sibTransId="{97501779-72E0-4CB0-8737-BA7F7D0D13E1}"/>
    <dgm:cxn modelId="{E7C248B1-67AB-43E7-B860-28B0DB01148A}" srcId="{A97DC1D2-17B8-47F9-8A5C-EF535C009882}" destId="{1C06576B-3EE0-4F0C-8C2D-8FA59F8FD817}" srcOrd="0" destOrd="0" parTransId="{C678E8F7-8F55-45B5-A576-3BCDD9E376ED}" sibTransId="{F16D43A8-BBDC-4CAA-8781-E43E2E473C66}"/>
    <dgm:cxn modelId="{2E5E1EC3-C58C-4737-BE71-1FA344DC95E9}" type="presOf" srcId="{E48C9C54-9410-49ED-9927-331F6CF7D679}" destId="{DF7A00B0-43C3-473D-9333-D7E4FFD135D6}" srcOrd="0" destOrd="0" presId="urn:microsoft.com/office/officeart/2018/2/layout/IconLabelList"/>
    <dgm:cxn modelId="{880066EF-7CAD-48E2-9DD3-9151E409AA5D}" type="presOf" srcId="{A97DC1D2-17B8-47F9-8A5C-EF535C009882}" destId="{0577E506-08D9-4690-BAF0-C37C57B4A96B}" srcOrd="0" destOrd="0" presId="urn:microsoft.com/office/officeart/2018/2/layout/IconLabelList"/>
    <dgm:cxn modelId="{22176BCE-743A-4228-BFF3-7EEF7DBE50F1}" type="presParOf" srcId="{0577E506-08D9-4690-BAF0-C37C57B4A96B}" destId="{2D5FB93F-8BCC-494A-A049-2BC789DDD1D6}" srcOrd="0" destOrd="0" presId="urn:microsoft.com/office/officeart/2018/2/layout/IconLabelList"/>
    <dgm:cxn modelId="{C0C971DC-2862-40DC-9841-624AB66FD7B6}" type="presParOf" srcId="{2D5FB93F-8BCC-494A-A049-2BC789DDD1D6}" destId="{F7CCB257-47BA-4D24-BC7C-D96178DC184D}" srcOrd="0" destOrd="0" presId="urn:microsoft.com/office/officeart/2018/2/layout/IconLabelList"/>
    <dgm:cxn modelId="{7ADEB837-16BC-402C-834A-8C38F65BE027}" type="presParOf" srcId="{2D5FB93F-8BCC-494A-A049-2BC789DDD1D6}" destId="{765461AD-FCEA-4BD3-8E3D-5B4F6363312D}" srcOrd="1" destOrd="0" presId="urn:microsoft.com/office/officeart/2018/2/layout/IconLabelList"/>
    <dgm:cxn modelId="{508E924A-73C3-4CA0-9942-FBCF3816D50D}" type="presParOf" srcId="{2D5FB93F-8BCC-494A-A049-2BC789DDD1D6}" destId="{4424CBFD-B145-40CB-9981-7E8AE0EDAC83}" srcOrd="2" destOrd="0" presId="urn:microsoft.com/office/officeart/2018/2/layout/IconLabelList"/>
    <dgm:cxn modelId="{C13B5702-4B07-4826-90A7-961DF99C86DA}" type="presParOf" srcId="{0577E506-08D9-4690-BAF0-C37C57B4A96B}" destId="{4BDEE44F-0B44-4EC6-8DC5-418909562205}" srcOrd="1" destOrd="0" presId="urn:microsoft.com/office/officeart/2018/2/layout/IconLabelList"/>
    <dgm:cxn modelId="{30D18A26-AA31-4E6D-BC30-9C88304BF7EC}" type="presParOf" srcId="{0577E506-08D9-4690-BAF0-C37C57B4A96B}" destId="{A48EF9FF-67A7-4BBA-B33E-64EF313A66CF}" srcOrd="2" destOrd="0" presId="urn:microsoft.com/office/officeart/2018/2/layout/IconLabelList"/>
    <dgm:cxn modelId="{8BE158DC-8E74-4885-97FD-745F0FBE8C00}" type="presParOf" srcId="{A48EF9FF-67A7-4BBA-B33E-64EF313A66CF}" destId="{BCDB0016-8DFF-44A9-86C4-00B260CAB904}" srcOrd="0" destOrd="0" presId="urn:microsoft.com/office/officeart/2018/2/layout/IconLabelList"/>
    <dgm:cxn modelId="{147C0522-E8BB-46A9-8F22-C631344F1C4C}" type="presParOf" srcId="{A48EF9FF-67A7-4BBA-B33E-64EF313A66CF}" destId="{68F4077D-DD0A-4FD9-A067-ED0D07B3ECBE}" srcOrd="1" destOrd="0" presId="urn:microsoft.com/office/officeart/2018/2/layout/IconLabelList"/>
    <dgm:cxn modelId="{84383629-FFFB-477D-9879-90447A085CB8}" type="presParOf" srcId="{A48EF9FF-67A7-4BBA-B33E-64EF313A66CF}" destId="{DF7A00B0-43C3-473D-9333-D7E4FFD135D6}" srcOrd="2" destOrd="0" presId="urn:microsoft.com/office/officeart/2018/2/layout/IconLabelList"/>
    <dgm:cxn modelId="{A452DC9C-B226-42BA-8E51-E6B50F1B08CE}" type="presParOf" srcId="{0577E506-08D9-4690-BAF0-C37C57B4A96B}" destId="{30149B32-02C4-4A4D-B650-C9EA80238B55}" srcOrd="3" destOrd="0" presId="urn:microsoft.com/office/officeart/2018/2/layout/IconLabelList"/>
    <dgm:cxn modelId="{8B209C9F-9535-420A-A61E-930DE161DA0D}" type="presParOf" srcId="{0577E506-08D9-4690-BAF0-C37C57B4A96B}" destId="{258D3058-216A-4200-9730-9E2991C542F6}" srcOrd="4" destOrd="0" presId="urn:microsoft.com/office/officeart/2018/2/layout/IconLabelList"/>
    <dgm:cxn modelId="{E8AF1FC7-D936-4B3A-B670-741DCB938331}" type="presParOf" srcId="{258D3058-216A-4200-9730-9E2991C542F6}" destId="{9DA5AFDC-9FAC-47A4-BD64-FCD064AFE967}" srcOrd="0" destOrd="0" presId="urn:microsoft.com/office/officeart/2018/2/layout/IconLabelList"/>
    <dgm:cxn modelId="{2C4D3820-B3AA-4F72-A717-57240F304407}" type="presParOf" srcId="{258D3058-216A-4200-9730-9E2991C542F6}" destId="{95639432-EE22-4A65-98A0-AD7967E39979}" srcOrd="1" destOrd="0" presId="urn:microsoft.com/office/officeart/2018/2/layout/IconLabelList"/>
    <dgm:cxn modelId="{C967EA21-0A75-4453-B556-4E6E4DA7316D}" type="presParOf" srcId="{258D3058-216A-4200-9730-9E2991C542F6}" destId="{FAF17677-64DE-4FBC-A526-5B00D782AD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CB257-47BA-4D24-BC7C-D96178DC184D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4CBFD-B145-40CB-9981-7E8AE0EDAC83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My head is pounding, and I can’t concentrate.</a:t>
          </a:r>
          <a:br>
            <a:rPr lang="en-GB" sz="1500" kern="1200"/>
          </a:br>
          <a:endParaRPr lang="en-US" sz="1500" kern="1200"/>
        </a:p>
      </dsp:txBody>
      <dsp:txXfrm>
        <a:off x="417971" y="2644140"/>
        <a:ext cx="2889450" cy="720000"/>
      </dsp:txXfrm>
    </dsp:sp>
    <dsp:sp modelId="{BCDB0016-8DFF-44A9-86C4-00B260CAB904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A00B0-43C3-473D-9333-D7E4FFD135D6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I’ve been sitting in the same position all day.</a:t>
          </a:r>
          <a:endParaRPr lang="en-US" sz="1500" kern="1200"/>
        </a:p>
      </dsp:txBody>
      <dsp:txXfrm>
        <a:off x="3813075" y="2644140"/>
        <a:ext cx="2889450" cy="720000"/>
      </dsp:txXfrm>
    </dsp:sp>
    <dsp:sp modelId="{9DA5AFDC-9FAC-47A4-BD64-FCD064AFE967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17677-64DE-4FBC-A526-5B00D782ADB2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 just ate too many sweets, and now my stomach hurts.</a:t>
          </a:r>
          <a:endParaRPr lang="en-US" sz="1500" kern="1200"/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21/10/2024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ild lying in bed">
            <a:extLst>
              <a:ext uri="{FF2B5EF4-FFF2-40B4-BE49-F238E27FC236}">
                <a16:creationId xmlns:a16="http://schemas.microsoft.com/office/drawing/2014/main" id="{5620F228-5E1A-B08E-9F69-7A2F648DF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5" r="-2" b="19471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5" name="Picture 4" descr="Person holding red heat pack">
            <a:extLst>
              <a:ext uri="{FF2B5EF4-FFF2-40B4-BE49-F238E27FC236}">
                <a16:creationId xmlns:a16="http://schemas.microsoft.com/office/drawing/2014/main" id="{F155BA84-9C47-7A05-2C1F-0AED6F215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1" r="-2" b="15311"/>
          <a:stretch/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1D631-EAF0-86A0-1218-CD82ABAB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en-GB" sz="3400"/>
              <a:t>Warm up	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7C225-9DFE-728D-85B0-70416172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GB" sz="2000" dirty="0"/>
              <a:t>When was the last time you were sick?</a:t>
            </a:r>
          </a:p>
          <a:p>
            <a:r>
              <a:rPr lang="en-GB" sz="2000" dirty="0"/>
              <a:t> </a:t>
            </a:r>
          </a:p>
          <a:p>
            <a:r>
              <a:rPr lang="en-GB" sz="2000" dirty="0"/>
              <a:t>What happened?</a:t>
            </a:r>
          </a:p>
          <a:p>
            <a:endParaRPr lang="en-GB" sz="2000" dirty="0"/>
          </a:p>
          <a:p>
            <a:r>
              <a:rPr lang="en-GB" sz="2000" dirty="0"/>
              <a:t>Did you see a doctor or pharmacist?</a:t>
            </a:r>
          </a:p>
          <a:p>
            <a:endParaRPr lang="en-GB" sz="2000" dirty="0"/>
          </a:p>
          <a:p>
            <a:r>
              <a:rPr lang="en-GB" sz="2000" dirty="0"/>
              <a:t>What did you take?</a:t>
            </a:r>
          </a:p>
        </p:txBody>
      </p:sp>
    </p:spTree>
    <p:extLst>
      <p:ext uri="{BB962C8B-B14F-4D97-AF65-F5344CB8AC3E}">
        <p14:creationId xmlns:p14="http://schemas.microsoft.com/office/powerpoint/2010/main" val="408286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22AE-8331-7D56-02C3-140D4CA0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GB" sz="4000"/>
              <a:t>Idioms</a:t>
            </a:r>
          </a:p>
        </p:txBody>
      </p:sp>
      <p:pic>
        <p:nvPicPr>
          <p:cNvPr id="5" name="Picture 4" descr="Digital art of a red umbrella under the rain">
            <a:extLst>
              <a:ext uri="{FF2B5EF4-FFF2-40B4-BE49-F238E27FC236}">
                <a16:creationId xmlns:a16="http://schemas.microsoft.com/office/drawing/2014/main" id="{D3DE237F-292C-BD33-32A0-60D29EE22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r="30942" b="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C3163-9B7E-85C5-21E3-1AD5CA0FA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1800" b="1"/>
              <a:t>Feeling under the weather</a:t>
            </a:r>
            <a:endParaRPr lang="en-GB" sz="180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/>
              <a:t>Explanation:</a:t>
            </a:r>
            <a:r>
              <a:rPr lang="en-GB" sz="1800"/>
              <a:t> This idiom means to feel slightly ill or not well, usually referring to mild symptoms like a cold or fatigue.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/>
              <a:t>Example Sentence:</a:t>
            </a:r>
            <a:r>
              <a:rPr lang="en-GB" sz="1800"/>
              <a:t> I’m feeling under the weather today, so I think I’ll stay home and 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/>
              <a:t>Question for Discussion:</a:t>
            </a:r>
            <a:r>
              <a:rPr lang="en-GB" sz="1800"/>
              <a:t> What do you usually do when you’re feeling under the weather?</a:t>
            </a:r>
          </a:p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80473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6B790-8BFE-360C-5925-6EB61115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D9C85-C19B-5F3D-A412-B12A52D1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119" y="891540"/>
            <a:ext cx="4589493" cy="1578308"/>
          </a:xfrm>
        </p:spPr>
        <p:txBody>
          <a:bodyPr>
            <a:normAutofit/>
          </a:bodyPr>
          <a:lstStyle/>
          <a:p>
            <a:r>
              <a:rPr lang="en-GB" sz="4000"/>
              <a:t>Idioms</a:t>
            </a:r>
          </a:p>
        </p:txBody>
      </p:sp>
      <p:pic>
        <p:nvPicPr>
          <p:cNvPr id="5" name="Picture 4" descr="Worm's eye view of the feet of a person running on the road">
            <a:extLst>
              <a:ext uri="{FF2B5EF4-FFF2-40B4-BE49-F238E27FC236}">
                <a16:creationId xmlns:a16="http://schemas.microsoft.com/office/drawing/2014/main" id="{9C91123C-A61F-4E8F-346F-0C77B793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85"/>
          <a:stretch/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BCDA5-C378-256A-11F2-AB0D30EC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119" y="2630161"/>
            <a:ext cx="4589491" cy="3332489"/>
          </a:xfrm>
        </p:spPr>
        <p:txBody>
          <a:bodyPr>
            <a:normAutofit/>
          </a:bodyPr>
          <a:lstStyle/>
          <a:p>
            <a:r>
              <a:rPr lang="en-GB" sz="2000" b="1"/>
              <a:t>Back on your feet</a:t>
            </a:r>
            <a:endParaRPr 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Explanation:</a:t>
            </a:r>
            <a:r>
              <a:rPr lang="en-GB" sz="2000"/>
              <a:t> This idiom means to recover from an illness or injury and return to normal health or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 Sentence:</a:t>
            </a:r>
            <a:r>
              <a:rPr lang="en-GB" sz="2000"/>
              <a:t> After two weeks of rest, I’m finally back on my feet.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Question for Discussion:</a:t>
            </a:r>
            <a:r>
              <a:rPr lang="en-GB" sz="2000"/>
              <a:t> What helps you get back on your feet quickly when you're sick?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84475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7E440-645D-C510-6BEF-E67C0EE6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olin and sheet music">
            <a:extLst>
              <a:ext uri="{FF2B5EF4-FFF2-40B4-BE49-F238E27FC236}">
                <a16:creationId xmlns:a16="http://schemas.microsoft.com/office/drawing/2014/main" id="{93AE6B25-2F84-4AE0-C2AD-8A00A5B1D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8" r="580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7B5F2-CD65-3A4C-7FDE-648C6D75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Idioms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2178-2661-BE62-DF93-590696F5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GB" sz="2000" b="1"/>
              <a:t>Fit as a fiddle</a:t>
            </a:r>
            <a:endParaRPr 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Explanation:</a:t>
            </a:r>
            <a:r>
              <a:rPr lang="en-GB" sz="2000"/>
              <a:t> This idiom is used to describe someone who is in excellent health or physical condition.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 Sentence:</a:t>
            </a:r>
            <a:r>
              <a:rPr lang="en-GB" sz="2000"/>
              <a:t> My grandfather is 80 years old, but he’s still fit as a fiddle!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Question for Discussion:</a:t>
            </a:r>
            <a:r>
              <a:rPr lang="en-GB" sz="2000"/>
              <a:t> What activities do you think help people stay fit as a fiddle?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13775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A849-40B0-18DA-E1BE-899A1F90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 dirty="0"/>
              <a:t>Expressions with Ache</a:t>
            </a:r>
          </a:p>
        </p:txBody>
      </p:sp>
      <p:pic>
        <p:nvPicPr>
          <p:cNvPr id="6" name="Picture 5" descr="The radiologic figure of a skeleton">
            <a:extLst>
              <a:ext uri="{FF2B5EF4-FFF2-40B4-BE49-F238E27FC236}">
                <a16:creationId xmlns:a16="http://schemas.microsoft.com/office/drawing/2014/main" id="{7B30CB0F-0484-C612-DD27-957D9A84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39" r="-1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88F863A-0374-2273-BBA7-95E45EA3E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8557" y="2551176"/>
            <a:ext cx="5444382" cy="35912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Headache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– Pain in the head or forehead.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Example: I have a headache today because I didn't sleep well.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Backache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– Pain in the lower or upper back.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Example: She has a terrible backache from sitting too long at work.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Stomachache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– Pain in the stomach or abdomen.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Example: I ate too much pizza, and now I have a stomachache.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Toothache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– Pain in or around a tooth.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Example: My toothache was so bad that I had to see a dentist.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Earache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– Pain inside the ear.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Example: The cold weather gave me an earache.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645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44C5-2436-963E-18C1-4FDB7BD3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the ache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98A78A9-0310-82D9-E29A-9A985541B1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451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45A37-6F99-42C0-1CEB-BFF66921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368C7-E7B7-53BB-3455-9C4DA1B9C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47462"/>
            <a:ext cx="4977578" cy="4213510"/>
          </a:xfrm>
        </p:spPr>
        <p:txBody>
          <a:bodyPr anchor="ctr">
            <a:normAutofit fontScale="92500" lnSpcReduction="20000"/>
          </a:bodyPr>
          <a:lstStyle/>
          <a:p>
            <a:r>
              <a:rPr lang="en-GB" sz="1600" b="1" dirty="0">
                <a:solidFill>
                  <a:schemeClr val="tx2"/>
                </a:solidFill>
              </a:rPr>
              <a:t>Fever</a:t>
            </a:r>
            <a:r>
              <a:rPr lang="en-GB" sz="1600" dirty="0">
                <a:solidFill>
                  <a:schemeClr val="tx2"/>
                </a:solidFill>
              </a:rPr>
              <a:t> – A high body temperature, usually indicating illness.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Flu</a:t>
            </a:r>
            <a:r>
              <a:rPr lang="en-GB" sz="1600" dirty="0">
                <a:solidFill>
                  <a:schemeClr val="tx2"/>
                </a:solidFill>
              </a:rPr>
              <a:t> – A contagious viral illness that causes fever, body aches, and fatigue.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Cold</a:t>
            </a:r>
            <a:r>
              <a:rPr lang="en-GB" sz="1600" dirty="0">
                <a:solidFill>
                  <a:schemeClr val="tx2"/>
                </a:solidFill>
              </a:rPr>
              <a:t> – A common viral infection that affects the nose and throat, causing congestion and coughing.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Treatment</a:t>
            </a:r>
            <a:r>
              <a:rPr lang="en-GB" sz="1600" dirty="0">
                <a:solidFill>
                  <a:schemeClr val="tx2"/>
                </a:solidFill>
              </a:rPr>
              <a:t> – The medical care given to a patient for an illness or injury.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Medicine</a:t>
            </a:r>
            <a:r>
              <a:rPr lang="en-GB" sz="1600" dirty="0">
                <a:solidFill>
                  <a:schemeClr val="tx2"/>
                </a:solidFill>
              </a:rPr>
              <a:t> – A substance used to treat or prevent illness.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Prescription</a:t>
            </a:r>
            <a:r>
              <a:rPr lang="en-GB" sz="1600" dirty="0">
                <a:solidFill>
                  <a:schemeClr val="tx2"/>
                </a:solidFill>
              </a:rPr>
              <a:t> – A doctor’s written order for medicine.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Backache</a:t>
            </a:r>
            <a:r>
              <a:rPr lang="en-GB" sz="1600" dirty="0">
                <a:solidFill>
                  <a:schemeClr val="tx2"/>
                </a:solidFill>
              </a:rPr>
              <a:t> – Pain in the back, often caused by strain or injury.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Headache</a:t>
            </a:r>
            <a:r>
              <a:rPr lang="en-GB" sz="1600" dirty="0">
                <a:solidFill>
                  <a:schemeClr val="tx2"/>
                </a:solidFill>
              </a:rPr>
              <a:t> – Pain in the head or forehead, often due to stress or tension.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Cough</a:t>
            </a:r>
            <a:r>
              <a:rPr lang="en-GB" sz="1600" dirty="0">
                <a:solidFill>
                  <a:schemeClr val="tx2"/>
                </a:solidFill>
              </a:rPr>
              <a:t> – A reflex that clears the throat or lungs of irritants.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Sore throat</a:t>
            </a:r>
            <a:r>
              <a:rPr lang="en-GB" sz="1600" dirty="0">
                <a:solidFill>
                  <a:schemeClr val="tx2"/>
                </a:solidFill>
              </a:rPr>
              <a:t> – Pain or irritation in the throat, often a symptom of a cold.</a:t>
            </a:r>
          </a:p>
          <a:p>
            <a:endParaRPr lang="en-GB" sz="1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First Aid Kit">
            <a:extLst>
              <a:ext uri="{FF2B5EF4-FFF2-40B4-BE49-F238E27FC236}">
                <a16:creationId xmlns:a16="http://schemas.microsoft.com/office/drawing/2014/main" id="{647A9F7B-BE6E-B419-6A80-723081EC2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4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ysing medical x-ray results">
            <a:extLst>
              <a:ext uri="{FF2B5EF4-FFF2-40B4-BE49-F238E27FC236}">
                <a16:creationId xmlns:a16="http://schemas.microsoft.com/office/drawing/2014/main" id="{9DAA11F5-C9F3-3D9E-E492-110388B0D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8F69B-2909-D42E-3A20-45291635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06EC1-2A2D-D898-AC35-89846229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GB" sz="1700" dirty="0"/>
              <a:t>Use the vocabulary to discuss a time when they were sick or injured. Describe:</a:t>
            </a:r>
          </a:p>
          <a:p>
            <a:r>
              <a:rPr lang="en-GB" sz="1700" b="1" dirty="0"/>
              <a:t>Symptoms</a:t>
            </a:r>
            <a:r>
              <a:rPr lang="en-GB" sz="1700" dirty="0"/>
              <a:t> they experienced (e.g., headache, fever, sore throat).</a:t>
            </a:r>
          </a:p>
          <a:p>
            <a:r>
              <a:rPr lang="en-GB" sz="1700" b="1" dirty="0"/>
              <a:t>Treatments</a:t>
            </a:r>
            <a:r>
              <a:rPr lang="en-GB" sz="1700" dirty="0"/>
              <a:t> they used (e.g., medicine, rest, doctor’s visit).</a:t>
            </a:r>
          </a:p>
          <a:p>
            <a:endParaRPr lang="en-GB" sz="17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Have you ever had the flu? What were your symptoms?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How did you treat your backache?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700" dirty="0"/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19466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67350-153C-8C06-532C-FA419D99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574" y="181853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Role play – Doctors visit</a:t>
            </a:r>
          </a:p>
        </p:txBody>
      </p:sp>
      <p:pic>
        <p:nvPicPr>
          <p:cNvPr id="22" name="Graphic 21" descr="Lightning">
            <a:extLst>
              <a:ext uri="{FF2B5EF4-FFF2-40B4-BE49-F238E27FC236}">
                <a16:creationId xmlns:a16="http://schemas.microsoft.com/office/drawing/2014/main" id="{FC5FC13A-D379-6E8F-9EDD-32CE9D5E9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BD1F-2BBF-D872-67BD-B67F1CD96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1996751"/>
            <a:ext cx="4977578" cy="4593829"/>
          </a:xfrm>
        </p:spPr>
        <p:txBody>
          <a:bodyPr anchor="ctr">
            <a:normAutofit fontScale="85000" lnSpcReduction="20000"/>
          </a:bodyPr>
          <a:lstStyle/>
          <a:p>
            <a:r>
              <a:rPr lang="en-GB" sz="2100" dirty="0">
                <a:solidFill>
                  <a:schemeClr val="tx2"/>
                </a:solidFill>
              </a:rPr>
              <a:t>How are you feeling today?</a:t>
            </a:r>
          </a:p>
          <a:p>
            <a:r>
              <a:rPr lang="en-GB" sz="2100" dirty="0">
                <a:solidFill>
                  <a:schemeClr val="tx2"/>
                </a:solidFill>
              </a:rPr>
              <a:t>Do you feel under the weather?</a:t>
            </a:r>
          </a:p>
          <a:p>
            <a:r>
              <a:rPr lang="en-GB" sz="2100" dirty="0">
                <a:solidFill>
                  <a:schemeClr val="tx2"/>
                </a:solidFill>
              </a:rPr>
              <a:t>Have you been feeling 'off-colour' recently?</a:t>
            </a:r>
          </a:p>
          <a:p>
            <a:r>
              <a:rPr lang="en-GB" sz="2100" dirty="0">
                <a:solidFill>
                  <a:schemeClr val="tx2"/>
                </a:solidFill>
              </a:rPr>
              <a:t>What symptoms are you experiencing? Do you have a headache or a stomach-ache?</a:t>
            </a:r>
          </a:p>
          <a:p>
            <a:r>
              <a:rPr lang="en-GB" sz="2100" dirty="0">
                <a:solidFill>
                  <a:schemeClr val="tx2"/>
                </a:solidFill>
              </a:rPr>
              <a:t>Are you feeling tired, or is it more of an ache? Maybe a backache or something else?</a:t>
            </a:r>
          </a:p>
          <a:p>
            <a:r>
              <a:rPr lang="en-GB" sz="2100" dirty="0">
                <a:solidFill>
                  <a:schemeClr val="tx2"/>
                </a:solidFill>
              </a:rPr>
              <a:t>How long have you been feeling this way?</a:t>
            </a:r>
          </a:p>
          <a:p>
            <a:r>
              <a:rPr lang="en-GB" sz="2100" dirty="0">
                <a:solidFill>
                  <a:schemeClr val="tx2"/>
                </a:solidFill>
              </a:rPr>
              <a:t>Are you having any other symptoms, such as a fever or chills?</a:t>
            </a:r>
          </a:p>
          <a:p>
            <a:r>
              <a:rPr lang="en-GB" sz="2100" dirty="0">
                <a:solidFill>
                  <a:schemeClr val="tx2"/>
                </a:solidFill>
              </a:rPr>
              <a:t>Could you describe your pain? Is it a dull ache or a sharp pain?</a:t>
            </a:r>
          </a:p>
          <a:p>
            <a:r>
              <a:rPr lang="en-GB" sz="2100" dirty="0">
                <a:solidFill>
                  <a:schemeClr val="tx2"/>
                </a:solidFill>
              </a:rPr>
              <a:t>Are you getting enough rest? You’ll need to get back on your feet soon.</a:t>
            </a:r>
          </a:p>
          <a:p>
            <a:r>
              <a:rPr lang="en-GB" sz="2100" dirty="0">
                <a:solidFill>
                  <a:schemeClr val="tx2"/>
                </a:solidFill>
              </a:rPr>
              <a:t>You might want to take it easy for a few days. Let’s make sure you're as fit as a fiddle.</a:t>
            </a:r>
          </a:p>
          <a:p>
            <a:pPr>
              <a:buFont typeface="+mj-lt"/>
              <a:buAutoNum type="arabicPeriod"/>
            </a:pPr>
            <a:endParaRPr lang="en-GB" sz="1100" dirty="0">
              <a:solidFill>
                <a:schemeClr val="tx2"/>
              </a:solidFill>
            </a:endParaRPr>
          </a:p>
          <a:p>
            <a:endParaRPr lang="en-GB" sz="11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2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722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Healthcare</vt:lpstr>
      <vt:lpstr>Warm up </vt:lpstr>
      <vt:lpstr>Idioms</vt:lpstr>
      <vt:lpstr>Idioms</vt:lpstr>
      <vt:lpstr>Idioms</vt:lpstr>
      <vt:lpstr>Expressions with Ache</vt:lpstr>
      <vt:lpstr>Name the ache</vt:lpstr>
      <vt:lpstr>Vocabulary</vt:lpstr>
      <vt:lpstr>Discussion</vt:lpstr>
      <vt:lpstr>Role play – Doctors visit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Clarke, Theodore James Dalgliesh</cp:lastModifiedBy>
  <cp:revision>38</cp:revision>
  <dcterms:created xsi:type="dcterms:W3CDTF">2024-05-27T11:38:08Z</dcterms:created>
  <dcterms:modified xsi:type="dcterms:W3CDTF">2024-10-21T09:19:21Z</dcterms:modified>
</cp:coreProperties>
</file>