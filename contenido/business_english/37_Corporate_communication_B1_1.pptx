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0" r:id="rId6"/>
    <p:sldId id="271" r:id="rId7"/>
    <p:sldId id="272" r:id="rId8"/>
    <p:sldId id="273" r:id="rId9"/>
    <p:sldId id="27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3" d="100"/>
          <a:sy n="103" d="100"/>
        </p:scale>
        <p:origin x="12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7DD37-D658-9AED-AD10-B33CD1837D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4295EE0-AE6B-D40C-9276-6705D688E9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0968830-4EBA-300B-20A8-E2ECC72AB217}"/>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C0330D13-24A5-0787-F325-A56EB07110C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FED0737-604C-2433-950C-B24C9A82275A}"/>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57099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3177-8F66-B60D-EADA-1DD21E6842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4EC1BB-7AA0-6729-C712-4BA9C8EE15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2CB058A-BC96-688D-0457-4F46CA316C25}"/>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D4D488FA-1D96-01EB-E5B9-9BA9348E2239}"/>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A7F09AD4-3BC7-B19B-A3E9-C51DCB7B39E2}"/>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88054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DE020-6FF0-39FE-6F6C-F3A99DBC7C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3D3FF36-74A9-B95B-632C-80318D1DD8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C87356-09D5-BE01-D10A-0E4D23C072EC}"/>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2500E4E7-4FC6-4EA8-773B-94739DD98AB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4E40DE2-BABD-08A8-B839-0212E5077BD0}"/>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20817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CD969-429F-F2B7-CF42-69CA43A9C57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D8358EE-A9E4-9E1F-44D7-AB7C3C16DE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EDE27AB-4B6F-0766-4270-CC9ECA729A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DF7388F-AC94-A975-0D56-623CAB8B1EB9}"/>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6" name="Footer Placeholder 5">
            <a:extLst>
              <a:ext uri="{FF2B5EF4-FFF2-40B4-BE49-F238E27FC236}">
                <a16:creationId xmlns:a16="http://schemas.microsoft.com/office/drawing/2014/main" id="{387C2E32-DE9F-257C-29D3-FA309DC74C38}"/>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C9B39110-9137-5936-F74A-73A59E4A64E2}"/>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65581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1927-245F-330D-18EC-B24149027CF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C0E279-9189-B715-2202-B568A7958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8E531A-BAA5-9A08-F2DD-7BFE55B8B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9F8DEB2-D4CF-812F-82A4-81ADDB8CC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8F2D72-707B-80CA-43B4-BEC361617A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BF65D42-9C67-99DE-65D6-60D890E853A0}"/>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8" name="Footer Placeholder 7">
            <a:extLst>
              <a:ext uri="{FF2B5EF4-FFF2-40B4-BE49-F238E27FC236}">
                <a16:creationId xmlns:a16="http://schemas.microsoft.com/office/drawing/2014/main" id="{F5AE8439-6F41-C9F4-92EA-53DFEFA4B6F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44E7B33-9850-548B-6D94-69447D26DC3C}"/>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1380531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9C42-0B13-D4E2-F25C-0037689A679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1A922A5-0B85-0267-CC0C-53CC30AEE551}"/>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4" name="Footer Placeholder 3">
            <a:extLst>
              <a:ext uri="{FF2B5EF4-FFF2-40B4-BE49-F238E27FC236}">
                <a16:creationId xmlns:a16="http://schemas.microsoft.com/office/drawing/2014/main" id="{642617DB-77FB-2C9A-B218-F928D3C241BB}"/>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D4F443E-DA6B-BA3C-797A-C918E3023748}"/>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911744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BF082-5D7C-F747-D0C9-B88545A4F831}"/>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3" name="Footer Placeholder 2">
            <a:extLst>
              <a:ext uri="{FF2B5EF4-FFF2-40B4-BE49-F238E27FC236}">
                <a16:creationId xmlns:a16="http://schemas.microsoft.com/office/drawing/2014/main" id="{270F0429-F7D0-EB93-F588-762E222C992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69D469BE-63F0-F6DC-C941-CA1BA3706CB1}"/>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112308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6E206-9E94-ED56-B06C-1AF2FD6C0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65CCB25-E331-F3C2-F569-92D4F21CE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7EF3D0-B9C7-BC6F-4D57-A30D2467B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740C33-F851-116F-ADF1-B841BF34A261}"/>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6" name="Footer Placeholder 5">
            <a:extLst>
              <a:ext uri="{FF2B5EF4-FFF2-40B4-BE49-F238E27FC236}">
                <a16:creationId xmlns:a16="http://schemas.microsoft.com/office/drawing/2014/main" id="{DAF3BD38-FE43-0E35-0701-49ABC0B1BF2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9631BD6-DCF3-5978-E67F-18C841DB4931}"/>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4029452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1B05F-44F0-49E9-400A-72C7285A22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28C3A85-1C96-4CDE-9FDA-2FB487BB38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66F73FC8-0D07-1D8D-A888-6AC5C56B3C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741BEA-A23B-D314-89CC-B4B4B23BEF4F}"/>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6" name="Footer Placeholder 5">
            <a:extLst>
              <a:ext uri="{FF2B5EF4-FFF2-40B4-BE49-F238E27FC236}">
                <a16:creationId xmlns:a16="http://schemas.microsoft.com/office/drawing/2014/main" id="{FF760A10-1ACD-DED4-6548-4332398AE13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9341396-3250-59E4-C1DC-4C7A658005A4}"/>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25162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6E316-E484-6F2E-2F9C-437899F3FB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2FADA6-5D43-72FF-C5C1-1FAAA79370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BE93AB-A99C-F9E7-DF72-143AD8315CE3}"/>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FAAF8D5F-7649-4312-9A04-BA3F8DA5CA5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C8A3B27-86D2-F256-43F8-A84EDCBAAEC9}"/>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209204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EBC73-3D62-9FF3-50B1-2D15C713BC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1B7351-1213-3777-82C5-82A628A712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5FF9DF-59C0-A01F-66F4-15203780E3FD}"/>
              </a:ext>
            </a:extLst>
          </p:cNvPr>
          <p:cNvSpPr>
            <a:spLocks noGrp="1"/>
          </p:cNvSpPr>
          <p:nvPr>
            <p:ph type="dt" sz="half" idx="10"/>
          </p:nvPr>
        </p:nvSpPr>
        <p:spPr/>
        <p:txBody>
          <a:body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96A58C8F-5BD5-1439-C275-74E43AA706D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E60A941-5E68-3824-0DD2-976156024140}"/>
              </a:ext>
            </a:extLst>
          </p:cNvPr>
          <p:cNvSpPr>
            <a:spLocks noGrp="1"/>
          </p:cNvSpPr>
          <p:nvPr>
            <p:ph type="sldNum" sz="quarter" idx="12"/>
          </p:nvPr>
        </p:nvSpPr>
        <p:spPr/>
        <p:txBody>
          <a:bodyPr/>
          <a:lstStyle/>
          <a:p>
            <a:fld id="{0870E28E-9260-4321-B241-2827FE9778FA}" type="slidenum">
              <a:rPr lang="en-GB" smtClean="0"/>
              <a:t>‹#›</a:t>
            </a:fld>
            <a:endParaRPr lang="en-GB" dirty="0"/>
          </a:p>
        </p:txBody>
      </p:sp>
    </p:spTree>
    <p:extLst>
      <p:ext uri="{BB962C8B-B14F-4D97-AF65-F5344CB8AC3E}">
        <p14:creationId xmlns:p14="http://schemas.microsoft.com/office/powerpoint/2010/main" val="3629070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652316-9F94-E619-917C-ABF9FF2C58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3FF267-67D6-C335-05DD-A3ECB046D9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BADFFE-194A-026F-6F37-D0FB0382B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041829-3D20-49A7-A921-3C0486746E51}" type="datetimeFigureOut">
              <a:rPr lang="en-GB" smtClean="0"/>
              <a:t>15/08/2024</a:t>
            </a:fld>
            <a:endParaRPr lang="en-GB" dirty="0"/>
          </a:p>
        </p:txBody>
      </p:sp>
      <p:sp>
        <p:nvSpPr>
          <p:cNvPr id="5" name="Footer Placeholder 4">
            <a:extLst>
              <a:ext uri="{FF2B5EF4-FFF2-40B4-BE49-F238E27FC236}">
                <a16:creationId xmlns:a16="http://schemas.microsoft.com/office/drawing/2014/main" id="{74302D5E-D9DC-CC35-8A44-8122FBE5E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DF57D7BD-F65C-4F22-7ADC-02F4044E61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70E28E-9260-4321-B241-2827FE9778FA}" type="slidenum">
              <a:rPr lang="en-GB" smtClean="0"/>
              <a:t>‹#›</a:t>
            </a:fld>
            <a:endParaRPr lang="en-GB" dirty="0"/>
          </a:p>
        </p:txBody>
      </p:sp>
    </p:spTree>
    <p:extLst>
      <p:ext uri="{BB962C8B-B14F-4D97-AF65-F5344CB8AC3E}">
        <p14:creationId xmlns:p14="http://schemas.microsoft.com/office/powerpoint/2010/main" val="548657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D1C10-EF0E-D430-A224-9892BE1E6198}"/>
              </a:ext>
            </a:extLst>
          </p:cNvPr>
          <p:cNvSpPr>
            <a:spLocks noGrp="1"/>
          </p:cNvSpPr>
          <p:nvPr>
            <p:ph type="ctrTitle"/>
          </p:nvPr>
        </p:nvSpPr>
        <p:spPr/>
        <p:txBody>
          <a:bodyPr/>
          <a:lstStyle/>
          <a:p>
            <a:r>
              <a:rPr lang="en-GB" dirty="0"/>
              <a:t>Corporate communication</a:t>
            </a:r>
          </a:p>
        </p:txBody>
      </p:sp>
      <p:sp>
        <p:nvSpPr>
          <p:cNvPr id="3" name="Subtitle 2">
            <a:extLst>
              <a:ext uri="{FF2B5EF4-FFF2-40B4-BE49-F238E27FC236}">
                <a16:creationId xmlns:a16="http://schemas.microsoft.com/office/drawing/2014/main" id="{B9C1BCCB-D479-5D19-A7A0-0F9706CCF25F}"/>
              </a:ext>
            </a:extLst>
          </p:cNvPr>
          <p:cNvSpPr>
            <a:spLocks noGrp="1"/>
          </p:cNvSpPr>
          <p:nvPr>
            <p:ph type="subTitle" idx="1"/>
          </p:nvPr>
        </p:nvSpPr>
        <p:spPr/>
        <p:txBody>
          <a:bodyPr/>
          <a:lstStyle/>
          <a:p>
            <a:r>
              <a:rPr lang="en-GB" dirty="0"/>
              <a:t>English B1</a:t>
            </a:r>
          </a:p>
        </p:txBody>
      </p:sp>
      <p:pic>
        <p:nvPicPr>
          <p:cNvPr id="4" name="Picture 3">
            <a:extLst>
              <a:ext uri="{FF2B5EF4-FFF2-40B4-BE49-F238E27FC236}">
                <a16:creationId xmlns:a16="http://schemas.microsoft.com/office/drawing/2014/main" id="{980C80E8-D186-E5E8-47CD-E2A3536D35F4}"/>
              </a:ext>
            </a:extLst>
          </p:cNvPr>
          <p:cNvPicPr>
            <a:picLocks noChangeAspect="1"/>
          </p:cNvPicPr>
          <p:nvPr/>
        </p:nvPicPr>
        <p:blipFill>
          <a:blip r:embed="rId2"/>
          <a:stretch>
            <a:fillRect/>
          </a:stretch>
        </p:blipFill>
        <p:spPr>
          <a:xfrm>
            <a:off x="10324711" y="127519"/>
            <a:ext cx="1638300" cy="762000"/>
          </a:xfrm>
          <a:prstGeom prst="rect">
            <a:avLst/>
          </a:prstGeom>
        </p:spPr>
      </p:pic>
      <p:sp>
        <p:nvSpPr>
          <p:cNvPr id="6" name="TextBox 5">
            <a:extLst>
              <a:ext uri="{FF2B5EF4-FFF2-40B4-BE49-F238E27FC236}">
                <a16:creationId xmlns:a16="http://schemas.microsoft.com/office/drawing/2014/main" id="{5191748F-A243-B9EF-7160-4C36E6E53D64}"/>
              </a:ext>
            </a:extLst>
          </p:cNvPr>
          <p:cNvSpPr txBox="1"/>
          <p:nvPr/>
        </p:nvSpPr>
        <p:spPr>
          <a:xfrm>
            <a:off x="167555" y="6280832"/>
            <a:ext cx="6097554"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err="1">
                <a:solidFill>
                  <a:srgbClr val="898989"/>
                </a:solidFill>
                <a:latin typeface="Calibri" panose="020F0502020204030204" pitchFamily="34" charset="0"/>
              </a:rPr>
              <a:t>t</a:t>
            </a:r>
            <a:r>
              <a:rPr lang="en-GB" sz="1800" b="0" i="0" kern="1200" spc="0" baseline="0" err="1">
                <a:ln>
                  <a:noFill/>
                </a:ln>
                <a:solidFill>
                  <a:srgbClr val="898989"/>
                </a:solidFill>
                <a:effectLst/>
                <a:latin typeface="Calibri" panose="020F0502020204030204" pitchFamily="34" charset="0"/>
                <a:ea typeface="+mn-ea"/>
                <a:cs typeface="+mn-cs"/>
              </a:rPr>
              <a:t>uSpeaking</a:t>
            </a:r>
            <a:r>
              <a:rPr lang="en-GB" sz="1800" b="0" i="0" kern="1200" spc="0" baseline="0">
                <a:ln>
                  <a:noFill/>
                </a:ln>
                <a:solidFill>
                  <a:srgbClr val="898989"/>
                </a:solidFill>
                <a:effectLst/>
                <a:latin typeface="Calibri" panose="020F0502020204030204" pitchFamily="34" charset="0"/>
                <a:ea typeface="+mn-ea"/>
                <a:cs typeface="+mn-cs"/>
              </a:rPr>
              <a:t> 2024,  </a:t>
            </a:r>
            <a:r>
              <a:rPr lang="en-GB" sz="1800" b="0" i="0" kern="1200" spc="0" baseline="0" dirty="0">
                <a:ln>
                  <a:noFill/>
                </a:ln>
                <a:solidFill>
                  <a:srgbClr val="898989"/>
                </a:solidFill>
                <a:effectLst/>
                <a:latin typeface="Calibri" panose="020F0502020204030204" pitchFamily="34" charset="0"/>
                <a:ea typeface="+mn-ea"/>
                <a:cs typeface="+mn-cs"/>
              </a:rPr>
              <a:t>All rights reserved</a:t>
            </a:r>
            <a:endParaRPr lang="en-GB" dirty="0">
              <a:effectLst/>
            </a:endParaRPr>
          </a:p>
        </p:txBody>
      </p:sp>
    </p:spTree>
    <p:extLst>
      <p:ext uri="{BB962C8B-B14F-4D97-AF65-F5344CB8AC3E}">
        <p14:creationId xmlns:p14="http://schemas.microsoft.com/office/powerpoint/2010/main" val="3975860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D6B9-0744-27D5-82C2-66E7A7FAD856}"/>
              </a:ext>
            </a:extLst>
          </p:cNvPr>
          <p:cNvSpPr>
            <a:spLocks noGrp="1"/>
          </p:cNvSpPr>
          <p:nvPr>
            <p:ph type="title"/>
          </p:nvPr>
        </p:nvSpPr>
        <p:spPr>
          <a:xfrm>
            <a:off x="5868557" y="1138036"/>
            <a:ext cx="5444382" cy="1402470"/>
          </a:xfrm>
        </p:spPr>
        <p:txBody>
          <a:bodyPr anchor="t">
            <a:normAutofit/>
          </a:bodyPr>
          <a:lstStyle/>
          <a:p>
            <a:r>
              <a:rPr lang="en-GB" sz="3200"/>
              <a:t>Warm up</a:t>
            </a:r>
          </a:p>
        </p:txBody>
      </p:sp>
      <p:pic>
        <p:nvPicPr>
          <p:cNvPr id="6" name="Picture 5" descr="Colourful envelopes">
            <a:extLst>
              <a:ext uri="{FF2B5EF4-FFF2-40B4-BE49-F238E27FC236}">
                <a16:creationId xmlns:a16="http://schemas.microsoft.com/office/drawing/2014/main" id="{F199B517-875A-9E69-BCA4-612F712ADD89}"/>
              </a:ext>
            </a:extLst>
          </p:cNvPr>
          <p:cNvPicPr>
            <a:picLocks noChangeAspect="1"/>
          </p:cNvPicPr>
          <p:nvPr/>
        </p:nvPicPr>
        <p:blipFill>
          <a:blip r:embed="rId2"/>
          <a:srcRect l="25765" r="24097" b="-1"/>
          <a:stretch/>
        </p:blipFill>
        <p:spPr>
          <a:xfrm>
            <a:off x="-1" y="10"/>
            <a:ext cx="5151179" cy="6857990"/>
          </a:xfrm>
          <a:prstGeom prst="rect">
            <a:avLst/>
          </a:prstGeom>
        </p:spPr>
      </p:pic>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241EF189-91D3-7661-29FE-2202B4ED88D7}"/>
              </a:ext>
            </a:extLst>
          </p:cNvPr>
          <p:cNvSpPr>
            <a:spLocks noGrp="1" noChangeArrowheads="1"/>
          </p:cNvSpPr>
          <p:nvPr>
            <p:ph idx="1"/>
          </p:nvPr>
        </p:nvSpPr>
        <p:spPr bwMode="auto">
          <a:xfrm>
            <a:off x="5868557" y="2551176"/>
            <a:ext cx="5444382" cy="35912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endParaRPr kumimoji="0" lang="en-US" altLang="en-US" sz="2000" b="0" i="0" u="none" strike="noStrike" cap="none" normalizeH="0" baseline="0">
              <a:ln>
                <a:noFill/>
              </a:ln>
              <a:effectLst/>
            </a:endParaRPr>
          </a:p>
          <a:p>
            <a:pPr eaLnBrk="0" fontAlgn="base" hangingPunct="0">
              <a:spcBef>
                <a:spcPct val="0"/>
              </a:spcBef>
              <a:spcAft>
                <a:spcPts val="600"/>
              </a:spcAft>
            </a:pPr>
            <a:r>
              <a:rPr kumimoji="0" lang="en-US" altLang="en-US" sz="2000" b="0" i="0" u="none" strike="noStrike" cap="none" normalizeH="0" baseline="0">
                <a:ln>
                  <a:noFill/>
                </a:ln>
                <a:effectLst/>
              </a:rPr>
              <a:t>Can you think of a time when you had to send a formal email? What was it about?</a:t>
            </a:r>
          </a:p>
          <a:p>
            <a:pPr eaLnBrk="0" fontAlgn="base" hangingPunct="0">
              <a:spcBef>
                <a:spcPct val="0"/>
              </a:spcBef>
              <a:spcAft>
                <a:spcPts val="600"/>
              </a:spcAft>
            </a:pPr>
            <a:r>
              <a:rPr kumimoji="0" lang="en-US" altLang="en-US" sz="2000" b="0" i="0" u="none" strike="noStrike" cap="none" normalizeH="0" baseline="0">
                <a:ln>
                  <a:noFill/>
                </a:ln>
                <a:effectLst/>
              </a:rPr>
              <a:t>What kind of information did you include in that email?</a:t>
            </a:r>
          </a:p>
          <a:p>
            <a:pPr eaLnBrk="0" fontAlgn="base" hangingPunct="0">
              <a:spcBef>
                <a:spcPct val="0"/>
              </a:spcBef>
              <a:spcAft>
                <a:spcPts val="600"/>
              </a:spcAft>
            </a:pPr>
            <a:r>
              <a:rPr kumimoji="0" lang="en-US" altLang="en-US" sz="2000" b="0" i="0" u="none" strike="noStrike" cap="none" normalizeH="0" baseline="0">
                <a:ln>
                  <a:noFill/>
                </a:ln>
                <a:effectLst/>
              </a:rPr>
              <a:t>Have you ever received a formal email? How did it look different from informal emails? </a:t>
            </a:r>
          </a:p>
        </p:txBody>
      </p:sp>
    </p:spTree>
    <p:extLst>
      <p:ext uri="{BB962C8B-B14F-4D97-AF65-F5344CB8AC3E}">
        <p14:creationId xmlns:p14="http://schemas.microsoft.com/office/powerpoint/2010/main" val="574329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8F53C-86E4-AEF4-51E0-B41A209C5DD1}"/>
              </a:ext>
            </a:extLst>
          </p:cNvPr>
          <p:cNvSpPr>
            <a:spLocks noGrp="1"/>
          </p:cNvSpPr>
          <p:nvPr>
            <p:ph type="title"/>
          </p:nvPr>
        </p:nvSpPr>
        <p:spPr>
          <a:xfrm>
            <a:off x="5868557" y="1138036"/>
            <a:ext cx="5444382" cy="1402470"/>
          </a:xfrm>
        </p:spPr>
        <p:txBody>
          <a:bodyPr anchor="t">
            <a:normAutofit/>
          </a:bodyPr>
          <a:lstStyle/>
          <a:p>
            <a:r>
              <a:rPr lang="en-GB" sz="3200"/>
              <a:t>Introduction to Email Structure</a:t>
            </a:r>
          </a:p>
        </p:txBody>
      </p:sp>
      <p:pic>
        <p:nvPicPr>
          <p:cNvPr id="13" name="Picture 12" descr="Pen placed on top of a signature line">
            <a:extLst>
              <a:ext uri="{FF2B5EF4-FFF2-40B4-BE49-F238E27FC236}">
                <a16:creationId xmlns:a16="http://schemas.microsoft.com/office/drawing/2014/main" id="{366F86D3-27C3-FD97-B34A-84FE3FF31ED4}"/>
              </a:ext>
            </a:extLst>
          </p:cNvPr>
          <p:cNvPicPr>
            <a:picLocks noChangeAspect="1"/>
          </p:cNvPicPr>
          <p:nvPr/>
        </p:nvPicPr>
        <p:blipFill>
          <a:blip r:embed="rId2"/>
          <a:srcRect l="49863" r="-1" b="-1"/>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8B78F3F-8AD9-3A05-46C1-34AC75D5A928}"/>
              </a:ext>
            </a:extLst>
          </p:cNvPr>
          <p:cNvSpPr>
            <a:spLocks noGrp="1"/>
          </p:cNvSpPr>
          <p:nvPr>
            <p:ph idx="1"/>
          </p:nvPr>
        </p:nvSpPr>
        <p:spPr>
          <a:xfrm>
            <a:off x="5868557" y="2551176"/>
            <a:ext cx="5444382" cy="3591207"/>
          </a:xfrm>
        </p:spPr>
        <p:txBody>
          <a:bodyPr>
            <a:normAutofit/>
          </a:bodyPr>
          <a:lstStyle/>
          <a:p>
            <a:r>
              <a:rPr lang="en-GB" sz="2000" b="1" dirty="0"/>
              <a:t>Explain the Structure:</a:t>
            </a:r>
            <a:endParaRPr lang="en-GB" sz="2000" dirty="0"/>
          </a:p>
          <a:p>
            <a:pPr>
              <a:buFont typeface="Arial" panose="020B0604020202020204" pitchFamily="34" charset="0"/>
              <a:buChar char="•"/>
            </a:pPr>
            <a:r>
              <a:rPr lang="en-GB" sz="2000" b="1" dirty="0"/>
              <a:t>Subject Line:</a:t>
            </a:r>
            <a:r>
              <a:rPr lang="en-GB" sz="2000" dirty="0"/>
              <a:t> Brief and clear.</a:t>
            </a:r>
          </a:p>
          <a:p>
            <a:pPr>
              <a:buFont typeface="Arial" panose="020B0604020202020204" pitchFamily="34" charset="0"/>
              <a:buChar char="•"/>
            </a:pPr>
            <a:r>
              <a:rPr lang="en-GB" sz="2000" b="1" dirty="0"/>
              <a:t>Greeting:</a:t>
            </a:r>
            <a:r>
              <a:rPr lang="en-GB" sz="2000" dirty="0"/>
              <a:t> Polite and appropriate (e.g., Dear [Name], Hello [Name],).</a:t>
            </a:r>
          </a:p>
          <a:p>
            <a:pPr>
              <a:buFont typeface="Arial" panose="020B0604020202020204" pitchFamily="34" charset="0"/>
              <a:buChar char="•"/>
            </a:pPr>
            <a:r>
              <a:rPr lang="en-GB" sz="2000" b="1" dirty="0"/>
              <a:t>Body:</a:t>
            </a:r>
            <a:r>
              <a:rPr lang="en-GB" sz="2000" dirty="0"/>
              <a:t> Main message with clear points.</a:t>
            </a:r>
          </a:p>
          <a:p>
            <a:pPr>
              <a:buFont typeface="Arial" panose="020B0604020202020204" pitchFamily="34" charset="0"/>
              <a:buChar char="•"/>
            </a:pPr>
            <a:r>
              <a:rPr lang="en-GB" sz="2000" b="1" dirty="0"/>
              <a:t>Closing:</a:t>
            </a:r>
            <a:r>
              <a:rPr lang="en-GB" sz="2000" dirty="0"/>
              <a:t> Polite ending (e.g., Best regards, Sincerely,).</a:t>
            </a:r>
          </a:p>
          <a:p>
            <a:pPr>
              <a:buFont typeface="Arial" panose="020B0604020202020204" pitchFamily="34" charset="0"/>
              <a:buChar char="•"/>
            </a:pPr>
            <a:r>
              <a:rPr lang="en-GB" sz="2000" b="1" dirty="0"/>
              <a:t>Signature:</a:t>
            </a:r>
            <a:r>
              <a:rPr lang="en-GB" sz="2000" dirty="0"/>
              <a:t> Your name and contact information.</a:t>
            </a:r>
          </a:p>
          <a:p>
            <a:endParaRPr lang="en-GB" sz="2000" dirty="0"/>
          </a:p>
        </p:txBody>
      </p:sp>
    </p:spTree>
    <p:extLst>
      <p:ext uri="{BB962C8B-B14F-4D97-AF65-F5344CB8AC3E}">
        <p14:creationId xmlns:p14="http://schemas.microsoft.com/office/powerpoint/2010/main" val="2582674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C3A0A4-274C-3777-FE78-4DE3E5C93F43}"/>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Example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9F0D7B9-472D-71E8-7D06-1E94F450B2E4}"/>
              </a:ext>
            </a:extLst>
          </p:cNvPr>
          <p:cNvSpPr>
            <a:spLocks noGrp="1"/>
          </p:cNvSpPr>
          <p:nvPr>
            <p:ph idx="1"/>
          </p:nvPr>
        </p:nvSpPr>
        <p:spPr>
          <a:xfrm>
            <a:off x="4447308" y="591344"/>
            <a:ext cx="6906491" cy="5585619"/>
          </a:xfrm>
        </p:spPr>
        <p:txBody>
          <a:bodyPr anchor="ctr">
            <a:normAutofit/>
          </a:bodyPr>
          <a:lstStyle/>
          <a:p>
            <a:r>
              <a:rPr lang="en-GB" sz="1800" b="1"/>
              <a:t>Subject:</a:t>
            </a:r>
            <a:r>
              <a:rPr lang="en-GB" sz="1800"/>
              <a:t> Request for Meeting to Discuss Project Proposal</a:t>
            </a:r>
          </a:p>
          <a:p>
            <a:r>
              <a:rPr lang="en-GB" sz="1800" b="1"/>
              <a:t>Dear Ms. Johnson,</a:t>
            </a:r>
            <a:endParaRPr lang="en-GB" sz="1800"/>
          </a:p>
          <a:p>
            <a:r>
              <a:rPr lang="en-GB" sz="1800"/>
              <a:t>I hope this email finds you well.</a:t>
            </a:r>
          </a:p>
          <a:p>
            <a:r>
              <a:rPr lang="en-GB" sz="1800"/>
              <a:t>I am writing to request a meeting to discuss the upcoming project proposal for our new marketing campaign. We have developed some preliminary ideas and would like to present them to you to get your feedback and approval before moving forward.</a:t>
            </a:r>
          </a:p>
          <a:p>
            <a:r>
              <a:rPr lang="en-GB" sz="1800"/>
              <a:t>Could we schedule a meeting sometime next week? Please let me know your availability, and I will do my best to accommodate your schedule.</a:t>
            </a:r>
          </a:p>
          <a:p>
            <a:r>
              <a:rPr lang="en-GB" sz="1800"/>
              <a:t>Thank you for your attention to this matter. I look forward to your response.</a:t>
            </a:r>
          </a:p>
          <a:p>
            <a:r>
              <a:rPr lang="en-GB" sz="1800" b="1"/>
              <a:t>Best regards,</a:t>
            </a:r>
            <a:endParaRPr lang="en-GB" sz="1800"/>
          </a:p>
          <a:p>
            <a:r>
              <a:rPr lang="en-GB" sz="1800"/>
              <a:t>Alex Parker</a:t>
            </a:r>
            <a:br>
              <a:rPr lang="en-GB" sz="1800"/>
            </a:br>
            <a:r>
              <a:rPr lang="en-GB" sz="1800"/>
              <a:t>Marketing Coordinator</a:t>
            </a:r>
            <a:br>
              <a:rPr lang="en-GB" sz="1800"/>
            </a:br>
            <a:r>
              <a:rPr lang="en-GB" sz="1800"/>
              <a:t>XYZ Company</a:t>
            </a:r>
            <a:br>
              <a:rPr lang="en-GB" sz="1800"/>
            </a:br>
            <a:r>
              <a:rPr lang="en-GB" sz="1800"/>
              <a:t>alex.parker@xyzcompany.com</a:t>
            </a:r>
            <a:br>
              <a:rPr lang="en-GB" sz="1800"/>
            </a:br>
            <a:r>
              <a:rPr lang="en-GB" sz="1800"/>
              <a:t>(123) 456-7890</a:t>
            </a:r>
          </a:p>
          <a:p>
            <a:endParaRPr lang="en-GB" sz="1800"/>
          </a:p>
        </p:txBody>
      </p:sp>
    </p:spTree>
    <p:extLst>
      <p:ext uri="{BB962C8B-B14F-4D97-AF65-F5344CB8AC3E}">
        <p14:creationId xmlns:p14="http://schemas.microsoft.com/office/powerpoint/2010/main" val="176486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4C21BAE-6866-4C7A-A7EC-C1B2E572D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Multi-coloured paper-craft art">
            <a:extLst>
              <a:ext uri="{FF2B5EF4-FFF2-40B4-BE49-F238E27FC236}">
                <a16:creationId xmlns:a16="http://schemas.microsoft.com/office/drawing/2014/main" id="{B734BF7B-03D7-86E4-1EB9-8E4567A36970}"/>
              </a:ext>
            </a:extLst>
          </p:cNvPr>
          <p:cNvPicPr>
            <a:picLocks noChangeAspect="1"/>
          </p:cNvPicPr>
          <p:nvPr/>
        </p:nvPicPr>
        <p:blipFill>
          <a:blip r:embed="rId2"/>
          <a:srcRect t="11018" b="4712"/>
          <a:stretch/>
        </p:blipFill>
        <p:spPr>
          <a:xfrm>
            <a:off x="1" y="1"/>
            <a:ext cx="12192000" cy="6857999"/>
          </a:xfrm>
          <a:prstGeom prst="rect">
            <a:avLst/>
          </a:prstGeom>
        </p:spPr>
      </p:pic>
      <p:sp useBgFill="1">
        <p:nvSpPr>
          <p:cNvPr id="17" name="Freeform: Shape 16">
            <a:extLst>
              <a:ext uri="{FF2B5EF4-FFF2-40B4-BE49-F238E27FC236}">
                <a16:creationId xmlns:a16="http://schemas.microsoft.com/office/drawing/2014/main" id="{7E7D0C94-08B4-48AE-8813-CC4D6029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899" y="609600"/>
            <a:ext cx="5372101" cy="5513767"/>
          </a:xfrm>
          <a:custGeom>
            <a:avLst/>
            <a:gdLst>
              <a:gd name="connsiteX0" fmla="*/ 0 w 5372101"/>
              <a:gd name="connsiteY0" fmla="*/ 0 h 5513767"/>
              <a:gd name="connsiteX1" fmla="*/ 5372101 w 5372101"/>
              <a:gd name="connsiteY1" fmla="*/ 0 h 5513767"/>
              <a:gd name="connsiteX2" fmla="*/ 5372101 w 5372101"/>
              <a:gd name="connsiteY2" fmla="*/ 5513767 h 5513767"/>
              <a:gd name="connsiteX3" fmla="*/ 5363126 w 5372101"/>
              <a:gd name="connsiteY3" fmla="*/ 5512835 h 5513767"/>
              <a:gd name="connsiteX4" fmla="*/ 5316714 w 5372101"/>
              <a:gd name="connsiteY4" fmla="*/ 5491247 h 5513767"/>
              <a:gd name="connsiteX5" fmla="*/ 5198331 w 5372101"/>
              <a:gd name="connsiteY5" fmla="*/ 5470092 h 5513767"/>
              <a:gd name="connsiteX6" fmla="*/ 5150428 w 5372101"/>
              <a:gd name="connsiteY6" fmla="*/ 5472506 h 5513767"/>
              <a:gd name="connsiteX7" fmla="*/ 5085506 w 5372101"/>
              <a:gd name="connsiteY7" fmla="*/ 5468851 h 5513767"/>
              <a:gd name="connsiteX8" fmla="*/ 4968663 w 5372101"/>
              <a:gd name="connsiteY8" fmla="*/ 5470487 h 5513767"/>
              <a:gd name="connsiteX9" fmla="*/ 4815623 w 5372101"/>
              <a:gd name="connsiteY9" fmla="*/ 5458622 h 5513767"/>
              <a:gd name="connsiteX10" fmla="*/ 4716679 w 5372101"/>
              <a:gd name="connsiteY10" fmla="*/ 5405365 h 5513767"/>
              <a:gd name="connsiteX11" fmla="*/ 4704891 w 5372101"/>
              <a:gd name="connsiteY11" fmla="*/ 5411529 h 5513767"/>
              <a:gd name="connsiteX12" fmla="*/ 4630496 w 5372101"/>
              <a:gd name="connsiteY12" fmla="*/ 5396532 h 5513767"/>
              <a:gd name="connsiteX13" fmla="*/ 4506964 w 5372101"/>
              <a:gd name="connsiteY13" fmla="*/ 5396685 h 5513767"/>
              <a:gd name="connsiteX14" fmla="*/ 4427135 w 5372101"/>
              <a:gd name="connsiteY14" fmla="*/ 5358585 h 5513767"/>
              <a:gd name="connsiteX15" fmla="*/ 4028338 w 5372101"/>
              <a:gd name="connsiteY15" fmla="*/ 5313494 h 5513767"/>
              <a:gd name="connsiteX16" fmla="*/ 4015367 w 5372101"/>
              <a:gd name="connsiteY16" fmla="*/ 5320766 h 5513767"/>
              <a:gd name="connsiteX17" fmla="*/ 4002837 w 5372101"/>
              <a:gd name="connsiteY17" fmla="*/ 5322294 h 5513767"/>
              <a:gd name="connsiteX18" fmla="*/ 3997650 w 5372101"/>
              <a:gd name="connsiteY18" fmla="*/ 5329513 h 5513767"/>
              <a:gd name="connsiteX19" fmla="*/ 3991991 w 5372101"/>
              <a:gd name="connsiteY19" fmla="*/ 5331908 h 5513767"/>
              <a:gd name="connsiteX20" fmla="*/ 3925210 w 5372101"/>
              <a:gd name="connsiteY20" fmla="*/ 5319395 h 5513767"/>
              <a:gd name="connsiteX21" fmla="*/ 3837014 w 5372101"/>
              <a:gd name="connsiteY21" fmla="*/ 5289023 h 5513767"/>
              <a:gd name="connsiteX22" fmla="*/ 3798765 w 5372101"/>
              <a:gd name="connsiteY22" fmla="*/ 5299431 h 5513767"/>
              <a:gd name="connsiteX23" fmla="*/ 3792144 w 5372101"/>
              <a:gd name="connsiteY23" fmla="*/ 5301616 h 5513767"/>
              <a:gd name="connsiteX24" fmla="*/ 3766249 w 5372101"/>
              <a:gd name="connsiteY24" fmla="*/ 5301869 h 5513767"/>
              <a:gd name="connsiteX25" fmla="*/ 3718651 w 5372101"/>
              <a:gd name="connsiteY25" fmla="*/ 5320541 h 5513767"/>
              <a:gd name="connsiteX26" fmla="*/ 3671207 w 5372101"/>
              <a:gd name="connsiteY26" fmla="*/ 5318046 h 5513767"/>
              <a:gd name="connsiteX27" fmla="*/ 3446863 w 5372101"/>
              <a:gd name="connsiteY27" fmla="*/ 5294348 h 5513767"/>
              <a:gd name="connsiteX28" fmla="*/ 3312000 w 5372101"/>
              <a:gd name="connsiteY28" fmla="*/ 5286923 h 5513767"/>
              <a:gd name="connsiteX29" fmla="*/ 3259756 w 5372101"/>
              <a:gd name="connsiteY29" fmla="*/ 5294712 h 5513767"/>
              <a:gd name="connsiteX30" fmla="*/ 3187481 w 5372101"/>
              <a:gd name="connsiteY30" fmla="*/ 5298457 h 5513767"/>
              <a:gd name="connsiteX31" fmla="*/ 3124115 w 5372101"/>
              <a:gd name="connsiteY31" fmla="*/ 5294626 h 5513767"/>
              <a:gd name="connsiteX32" fmla="*/ 3099907 w 5372101"/>
              <a:gd name="connsiteY32" fmla="*/ 5302443 h 5513767"/>
              <a:gd name="connsiteX33" fmla="*/ 3017494 w 5372101"/>
              <a:gd name="connsiteY33" fmla="*/ 5301439 h 5513767"/>
              <a:gd name="connsiteX34" fmla="*/ 3010848 w 5372101"/>
              <a:gd name="connsiteY34" fmla="*/ 5307225 h 5513767"/>
              <a:gd name="connsiteX35" fmla="*/ 2994286 w 5372101"/>
              <a:gd name="connsiteY35" fmla="*/ 5309060 h 5513767"/>
              <a:gd name="connsiteX36" fmla="*/ 2988160 w 5372101"/>
              <a:gd name="connsiteY36" fmla="*/ 5310041 h 5513767"/>
              <a:gd name="connsiteX37" fmla="*/ 2984260 w 5372101"/>
              <a:gd name="connsiteY37" fmla="*/ 5307528 h 5513767"/>
              <a:gd name="connsiteX38" fmla="*/ 2979127 w 5372101"/>
              <a:gd name="connsiteY38" fmla="*/ 5308389 h 5513767"/>
              <a:gd name="connsiteX39" fmla="*/ 2978660 w 5372101"/>
              <a:gd name="connsiteY39" fmla="*/ 5311563 h 5513767"/>
              <a:gd name="connsiteX40" fmla="*/ 2946326 w 5372101"/>
              <a:gd name="connsiteY40" fmla="*/ 5316745 h 5513767"/>
              <a:gd name="connsiteX41" fmla="*/ 2713134 w 5372101"/>
              <a:gd name="connsiteY41" fmla="*/ 5331381 h 5513767"/>
              <a:gd name="connsiteX42" fmla="*/ 2352072 w 5372101"/>
              <a:gd name="connsiteY42" fmla="*/ 5342761 h 5513767"/>
              <a:gd name="connsiteX43" fmla="*/ 2260922 w 5372101"/>
              <a:gd name="connsiteY43" fmla="*/ 5328122 h 5513767"/>
              <a:gd name="connsiteX44" fmla="*/ 2178497 w 5372101"/>
              <a:gd name="connsiteY44" fmla="*/ 5351065 h 5513767"/>
              <a:gd name="connsiteX45" fmla="*/ 2034408 w 5372101"/>
              <a:gd name="connsiteY45" fmla="*/ 5307958 h 5513767"/>
              <a:gd name="connsiteX46" fmla="*/ 1831505 w 5372101"/>
              <a:gd name="connsiteY46" fmla="*/ 5312691 h 5513767"/>
              <a:gd name="connsiteX47" fmla="*/ 1710387 w 5372101"/>
              <a:gd name="connsiteY47" fmla="*/ 5308705 h 5513767"/>
              <a:gd name="connsiteX48" fmla="*/ 1664816 w 5372101"/>
              <a:gd name="connsiteY48" fmla="*/ 5296479 h 5513767"/>
              <a:gd name="connsiteX49" fmla="*/ 1600883 w 5372101"/>
              <a:gd name="connsiteY49" fmla="*/ 5286607 h 5513767"/>
              <a:gd name="connsiteX50" fmla="*/ 1488397 w 5372101"/>
              <a:gd name="connsiteY50" fmla="*/ 5260898 h 5513767"/>
              <a:gd name="connsiteX51" fmla="*/ 1336670 w 5372101"/>
              <a:gd name="connsiteY51" fmla="*/ 5240770 h 5513767"/>
              <a:gd name="connsiteX52" fmla="*/ 1224297 w 5372101"/>
              <a:gd name="connsiteY52" fmla="*/ 5271845 h 5513767"/>
              <a:gd name="connsiteX53" fmla="*/ 1214830 w 5372101"/>
              <a:gd name="connsiteY53" fmla="*/ 5263450 h 5513767"/>
              <a:gd name="connsiteX54" fmla="*/ 1138181 w 5372101"/>
              <a:gd name="connsiteY54" fmla="*/ 5262590 h 5513767"/>
              <a:gd name="connsiteX55" fmla="*/ 943575 w 5372101"/>
              <a:gd name="connsiteY55" fmla="*/ 5290808 h 5513767"/>
              <a:gd name="connsiteX56" fmla="*/ 529813 w 5372101"/>
              <a:gd name="connsiteY56" fmla="*/ 5218555 h 5513767"/>
              <a:gd name="connsiteX57" fmla="*/ 519546 w 5372101"/>
              <a:gd name="connsiteY57" fmla="*/ 5208845 h 5513767"/>
              <a:gd name="connsiteX58" fmla="*/ 507906 w 5372101"/>
              <a:gd name="connsiteY58" fmla="*/ 5204779 h 5513767"/>
              <a:gd name="connsiteX59" fmla="*/ 505153 w 5372101"/>
              <a:gd name="connsiteY59" fmla="*/ 5196726 h 5513767"/>
              <a:gd name="connsiteX60" fmla="*/ 500429 w 5372101"/>
              <a:gd name="connsiteY60" fmla="*/ 5193241 h 5513767"/>
              <a:gd name="connsiteX61" fmla="*/ 431923 w 5372101"/>
              <a:gd name="connsiteY61" fmla="*/ 5191553 h 5513767"/>
              <a:gd name="connsiteX62" fmla="*/ 337115 w 5372101"/>
              <a:gd name="connsiteY62" fmla="*/ 5202714 h 5513767"/>
              <a:gd name="connsiteX63" fmla="*/ 303383 w 5372101"/>
              <a:gd name="connsiteY63" fmla="*/ 5184750 h 5513767"/>
              <a:gd name="connsiteX64" fmla="*/ 297664 w 5372101"/>
              <a:gd name="connsiteY64" fmla="*/ 5181269 h 5513767"/>
              <a:gd name="connsiteX65" fmla="*/ 272701 w 5372101"/>
              <a:gd name="connsiteY65" fmla="*/ 5175678 h 5513767"/>
              <a:gd name="connsiteX66" fmla="*/ 268242 w 5372101"/>
              <a:gd name="connsiteY66" fmla="*/ 5163678 h 5513767"/>
              <a:gd name="connsiteX67" fmla="*/ 232517 w 5372101"/>
              <a:gd name="connsiteY67" fmla="*/ 5147792 h 5513767"/>
              <a:gd name="connsiteX68" fmla="*/ 185851 w 5372101"/>
              <a:gd name="connsiteY68" fmla="*/ 5140408 h 5513767"/>
              <a:gd name="connsiteX69" fmla="*/ 20337 w 5372101"/>
              <a:gd name="connsiteY69" fmla="*/ 5113040 h 5513767"/>
              <a:gd name="connsiteX70" fmla="*/ 0 w 5372101"/>
              <a:gd name="connsiteY70" fmla="*/ 5112243 h 551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372101" h="5513767">
                <a:moveTo>
                  <a:pt x="0" y="0"/>
                </a:moveTo>
                <a:lnTo>
                  <a:pt x="5372101" y="0"/>
                </a:lnTo>
                <a:lnTo>
                  <a:pt x="5372101" y="5513767"/>
                </a:lnTo>
                <a:lnTo>
                  <a:pt x="5363126" y="5512835"/>
                </a:lnTo>
                <a:cubicBezTo>
                  <a:pt x="5345779" y="5509071"/>
                  <a:pt x="5329767" y="5502649"/>
                  <a:pt x="5316714" y="5491247"/>
                </a:cubicBezTo>
                <a:cubicBezTo>
                  <a:pt x="5295689" y="5478131"/>
                  <a:pt x="5219502" y="5459909"/>
                  <a:pt x="5198331" y="5470092"/>
                </a:cubicBezTo>
                <a:cubicBezTo>
                  <a:pt x="5181052" y="5469102"/>
                  <a:pt x="5165047" y="5459569"/>
                  <a:pt x="5150428" y="5472506"/>
                </a:cubicBezTo>
                <a:cubicBezTo>
                  <a:pt x="5129562" y="5487248"/>
                  <a:pt x="5088050" y="5445894"/>
                  <a:pt x="5085506" y="5468851"/>
                </a:cubicBezTo>
                <a:cubicBezTo>
                  <a:pt x="5055692" y="5440170"/>
                  <a:pt x="5006122" y="5469577"/>
                  <a:pt x="4968663" y="5470487"/>
                </a:cubicBezTo>
                <a:cubicBezTo>
                  <a:pt x="4947085" y="5444049"/>
                  <a:pt x="4889767" y="5472037"/>
                  <a:pt x="4815623" y="5458622"/>
                </a:cubicBezTo>
                <a:cubicBezTo>
                  <a:pt x="4792418" y="5428488"/>
                  <a:pt x="4765548" y="5449887"/>
                  <a:pt x="4716679" y="5405365"/>
                </a:cubicBezTo>
                <a:cubicBezTo>
                  <a:pt x="4713235" y="5407807"/>
                  <a:pt x="4709266" y="5409883"/>
                  <a:pt x="4704891" y="5411529"/>
                </a:cubicBezTo>
                <a:cubicBezTo>
                  <a:pt x="4679473" y="5421092"/>
                  <a:pt x="4646164" y="5414379"/>
                  <a:pt x="4630496" y="5396532"/>
                </a:cubicBezTo>
                <a:cubicBezTo>
                  <a:pt x="4590205" y="5365061"/>
                  <a:pt x="4548419" y="5412094"/>
                  <a:pt x="4506964" y="5396685"/>
                </a:cubicBezTo>
                <a:lnTo>
                  <a:pt x="4427135" y="5358585"/>
                </a:lnTo>
                <a:cubicBezTo>
                  <a:pt x="4319267" y="5308575"/>
                  <a:pt x="4152341" y="5340956"/>
                  <a:pt x="4028338" y="5313494"/>
                </a:cubicBezTo>
                <a:lnTo>
                  <a:pt x="4015367" y="5320766"/>
                </a:lnTo>
                <a:lnTo>
                  <a:pt x="4002837" y="5322294"/>
                </a:lnTo>
                <a:lnTo>
                  <a:pt x="3997650" y="5329513"/>
                </a:lnTo>
                <a:lnTo>
                  <a:pt x="3991991" y="5331908"/>
                </a:lnTo>
                <a:cubicBezTo>
                  <a:pt x="3969659" y="5338581"/>
                  <a:pt x="3978880" y="5316131"/>
                  <a:pt x="3925210" y="5319395"/>
                </a:cubicBezTo>
                <a:cubicBezTo>
                  <a:pt x="3947765" y="5277139"/>
                  <a:pt x="3837331" y="5338342"/>
                  <a:pt x="3837014" y="5289023"/>
                </a:cubicBezTo>
                <a:cubicBezTo>
                  <a:pt x="3824001" y="5291376"/>
                  <a:pt x="3811407" y="5295212"/>
                  <a:pt x="3798765" y="5299431"/>
                </a:cubicBezTo>
                <a:lnTo>
                  <a:pt x="3792144" y="5301616"/>
                </a:lnTo>
                <a:lnTo>
                  <a:pt x="3766249" y="5301869"/>
                </a:lnTo>
                <a:lnTo>
                  <a:pt x="3718651" y="5320541"/>
                </a:lnTo>
                <a:cubicBezTo>
                  <a:pt x="3703968" y="5321892"/>
                  <a:pt x="3688308" y="5321427"/>
                  <a:pt x="3671207" y="5318046"/>
                </a:cubicBezTo>
                <a:cubicBezTo>
                  <a:pt x="3616458" y="5288532"/>
                  <a:pt x="3514048" y="5333307"/>
                  <a:pt x="3446863" y="5294348"/>
                </a:cubicBezTo>
                <a:cubicBezTo>
                  <a:pt x="3420930" y="5283822"/>
                  <a:pt x="3333157" y="5274511"/>
                  <a:pt x="3312000" y="5286923"/>
                </a:cubicBezTo>
                <a:cubicBezTo>
                  <a:pt x="3292759" y="5287903"/>
                  <a:pt x="3273112" y="5280334"/>
                  <a:pt x="3259756" y="5294712"/>
                </a:cubicBezTo>
                <a:cubicBezTo>
                  <a:pt x="3239905" y="5311572"/>
                  <a:pt x="3185410" y="5275588"/>
                  <a:pt x="3187481" y="5298457"/>
                </a:cubicBezTo>
                <a:cubicBezTo>
                  <a:pt x="3168018" y="5286036"/>
                  <a:pt x="3146200" y="5288458"/>
                  <a:pt x="3124115" y="5294626"/>
                </a:cubicBezTo>
                <a:lnTo>
                  <a:pt x="3099907" y="5302443"/>
                </a:lnTo>
                <a:lnTo>
                  <a:pt x="3017494" y="5301439"/>
                </a:lnTo>
                <a:lnTo>
                  <a:pt x="3010848" y="5307225"/>
                </a:lnTo>
                <a:lnTo>
                  <a:pt x="2994286" y="5309060"/>
                </a:lnTo>
                <a:lnTo>
                  <a:pt x="2988160" y="5310041"/>
                </a:lnTo>
                <a:lnTo>
                  <a:pt x="2984260" y="5307528"/>
                </a:lnTo>
                <a:cubicBezTo>
                  <a:pt x="2981957" y="5306419"/>
                  <a:pt x="2980273" y="5306402"/>
                  <a:pt x="2979127" y="5308389"/>
                </a:cubicBezTo>
                <a:cubicBezTo>
                  <a:pt x="2978971" y="5309447"/>
                  <a:pt x="2978816" y="5310505"/>
                  <a:pt x="2978660" y="5311563"/>
                </a:cubicBezTo>
                <a:lnTo>
                  <a:pt x="2946326" y="5316745"/>
                </a:lnTo>
                <a:lnTo>
                  <a:pt x="2713134" y="5331381"/>
                </a:lnTo>
                <a:cubicBezTo>
                  <a:pt x="2610698" y="5372328"/>
                  <a:pt x="2466037" y="5325762"/>
                  <a:pt x="2352072" y="5342761"/>
                </a:cubicBezTo>
                <a:cubicBezTo>
                  <a:pt x="2293501" y="5293708"/>
                  <a:pt x="2324138" y="5338538"/>
                  <a:pt x="2260922" y="5328122"/>
                </a:cubicBezTo>
                <a:cubicBezTo>
                  <a:pt x="2275681" y="5372347"/>
                  <a:pt x="2185007" y="5301703"/>
                  <a:pt x="2178497" y="5351065"/>
                </a:cubicBezTo>
                <a:cubicBezTo>
                  <a:pt x="2133294" y="5337229"/>
                  <a:pt x="2097074" y="5300208"/>
                  <a:pt x="2034408" y="5307958"/>
                </a:cubicBezTo>
                <a:cubicBezTo>
                  <a:pt x="1981894" y="5332879"/>
                  <a:pt x="1896288" y="5279365"/>
                  <a:pt x="1831505" y="5312691"/>
                </a:cubicBezTo>
                <a:cubicBezTo>
                  <a:pt x="1807063" y="5321035"/>
                  <a:pt x="1727674" y="5322925"/>
                  <a:pt x="1710387" y="5308705"/>
                </a:cubicBezTo>
                <a:cubicBezTo>
                  <a:pt x="1693367" y="5306094"/>
                  <a:pt x="1674901" y="5312009"/>
                  <a:pt x="1664816" y="5296479"/>
                </a:cubicBezTo>
                <a:cubicBezTo>
                  <a:pt x="1649255" y="5277912"/>
                  <a:pt x="1596152" y="5309335"/>
                  <a:pt x="1600883" y="5286607"/>
                </a:cubicBezTo>
                <a:cubicBezTo>
                  <a:pt x="1563066" y="5308189"/>
                  <a:pt x="1524339" y="5269513"/>
                  <a:pt x="1488397" y="5260898"/>
                </a:cubicBezTo>
                <a:cubicBezTo>
                  <a:pt x="1459246" y="5282011"/>
                  <a:pt x="1412580" y="5243108"/>
                  <a:pt x="1336670" y="5240770"/>
                </a:cubicBezTo>
                <a:cubicBezTo>
                  <a:pt x="1304792" y="5265122"/>
                  <a:pt x="1285508" y="5238878"/>
                  <a:pt x="1224297" y="5271845"/>
                </a:cubicBezTo>
                <a:cubicBezTo>
                  <a:pt x="1221731" y="5268771"/>
                  <a:pt x="1218543" y="5265944"/>
                  <a:pt x="1214830" y="5263450"/>
                </a:cubicBezTo>
                <a:cubicBezTo>
                  <a:pt x="1193241" y="5248952"/>
                  <a:pt x="1158925" y="5248567"/>
                  <a:pt x="1138181" y="5262590"/>
                </a:cubicBezTo>
                <a:lnTo>
                  <a:pt x="943575" y="5290808"/>
                </a:lnTo>
                <a:cubicBezTo>
                  <a:pt x="823587" y="5316899"/>
                  <a:pt x="658340" y="5217603"/>
                  <a:pt x="529813" y="5218555"/>
                </a:cubicBezTo>
                <a:lnTo>
                  <a:pt x="519546" y="5208845"/>
                </a:lnTo>
                <a:lnTo>
                  <a:pt x="507906" y="5204779"/>
                </a:lnTo>
                <a:lnTo>
                  <a:pt x="505153" y="5196726"/>
                </a:lnTo>
                <a:lnTo>
                  <a:pt x="500429" y="5193241"/>
                </a:lnTo>
                <a:cubicBezTo>
                  <a:pt x="480923" y="5182176"/>
                  <a:pt x="482807" y="5205793"/>
                  <a:pt x="431923" y="5191553"/>
                </a:cubicBezTo>
                <a:cubicBezTo>
                  <a:pt x="440499" y="5237077"/>
                  <a:pt x="352872" y="5155083"/>
                  <a:pt x="337115" y="5202714"/>
                </a:cubicBezTo>
                <a:cubicBezTo>
                  <a:pt x="325265" y="5197752"/>
                  <a:pt x="314288" y="5191441"/>
                  <a:pt x="303383" y="5184750"/>
                </a:cubicBezTo>
                <a:lnTo>
                  <a:pt x="297664" y="5181269"/>
                </a:lnTo>
                <a:lnTo>
                  <a:pt x="272701" y="5175678"/>
                </a:lnTo>
                <a:lnTo>
                  <a:pt x="268242" y="5163678"/>
                </a:lnTo>
                <a:lnTo>
                  <a:pt x="232517" y="5147792"/>
                </a:lnTo>
                <a:cubicBezTo>
                  <a:pt x="218741" y="5143453"/>
                  <a:pt x="203450" y="5140668"/>
                  <a:pt x="185851" y="5140408"/>
                </a:cubicBezTo>
                <a:cubicBezTo>
                  <a:pt x="139207" y="5153337"/>
                  <a:pt x="79723" y="5120316"/>
                  <a:pt x="20337" y="5113040"/>
                </a:cubicBezTo>
                <a:lnTo>
                  <a:pt x="0" y="5112243"/>
                </a:lnTo>
                <a:close/>
              </a:path>
            </a:pathLst>
          </a:custGeom>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EB13716-3946-BF17-4C7E-FAE5776A3F39}"/>
              </a:ext>
            </a:extLst>
          </p:cNvPr>
          <p:cNvSpPr>
            <a:spLocks noGrp="1"/>
          </p:cNvSpPr>
          <p:nvPr>
            <p:ph type="title"/>
          </p:nvPr>
        </p:nvSpPr>
        <p:spPr>
          <a:xfrm>
            <a:off x="1037809" y="1071350"/>
            <a:ext cx="4775162" cy="1339382"/>
          </a:xfrm>
        </p:spPr>
        <p:txBody>
          <a:bodyPr>
            <a:normAutofit/>
          </a:bodyPr>
          <a:lstStyle/>
          <a:p>
            <a:pPr algn="ctr"/>
            <a:r>
              <a:rPr lang="en-GB" sz="3600"/>
              <a:t>Explanation of Structure</a:t>
            </a:r>
          </a:p>
        </p:txBody>
      </p:sp>
      <p:sp>
        <p:nvSpPr>
          <p:cNvPr id="14" name="Rectangle 6">
            <a:extLst>
              <a:ext uri="{FF2B5EF4-FFF2-40B4-BE49-F238E27FC236}">
                <a16:creationId xmlns:a16="http://schemas.microsoft.com/office/drawing/2014/main" id="{F0C518C2-0AA4-470C-87B9-9CBF428FBA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64666" y="399531"/>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6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933BDB02-D6E6-1961-9111-1C987CCF0F74}"/>
              </a:ext>
            </a:extLst>
          </p:cNvPr>
          <p:cNvSpPr>
            <a:spLocks noGrp="1" noChangeArrowheads="1"/>
          </p:cNvSpPr>
          <p:nvPr>
            <p:ph idx="1"/>
          </p:nvPr>
        </p:nvSpPr>
        <p:spPr bwMode="auto">
          <a:xfrm>
            <a:off x="1189319" y="2547257"/>
            <a:ext cx="4458446" cy="31097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1100" b="1" i="0" u="none" strike="noStrike" cap="none" normalizeH="0" baseline="0" dirty="0">
                <a:ln>
                  <a:noFill/>
                </a:ln>
                <a:effectLst/>
              </a:rPr>
              <a:t>Subject Line:</a:t>
            </a:r>
            <a:r>
              <a:rPr kumimoji="0" lang="en-US" altLang="en-US" sz="1100" b="0" i="0" u="none" strike="noStrike" cap="none" normalizeH="0" baseline="0" dirty="0">
                <a:ln>
                  <a:noFill/>
                </a:ln>
                <a:effectLst/>
              </a:rPr>
              <a:t> Clearly states the purpose of the email.</a:t>
            </a:r>
          </a:p>
          <a:p>
            <a:pPr eaLnBrk="0" fontAlgn="base" hangingPunct="0">
              <a:spcBef>
                <a:spcPct val="0"/>
              </a:spcBef>
              <a:spcAft>
                <a:spcPts val="600"/>
              </a:spcAft>
            </a:pPr>
            <a:r>
              <a:rPr kumimoji="0" lang="en-US" altLang="en-US" sz="1100" b="1" i="0" u="none" strike="noStrike" cap="none" normalizeH="0" baseline="0" dirty="0">
                <a:ln>
                  <a:noFill/>
                </a:ln>
                <a:effectLst/>
              </a:rPr>
              <a:t>Greeting:</a:t>
            </a:r>
            <a:r>
              <a:rPr kumimoji="0" lang="en-US" altLang="en-US" sz="1100" b="0" i="0" u="none" strike="noStrike" cap="none" normalizeH="0" baseline="0" dirty="0">
                <a:ln>
                  <a:noFill/>
                </a:ln>
                <a:effectLst/>
              </a:rPr>
              <a:t> Polite and professional, addressing the recipient formally.</a:t>
            </a:r>
          </a:p>
          <a:p>
            <a:pPr eaLnBrk="0" fontAlgn="base" hangingPunct="0">
              <a:spcBef>
                <a:spcPct val="0"/>
              </a:spcBef>
              <a:spcAft>
                <a:spcPts val="600"/>
              </a:spcAft>
            </a:pPr>
            <a:r>
              <a:rPr kumimoji="0" lang="en-US" altLang="en-US" sz="1100" b="1" i="0" u="none" strike="noStrike" cap="none" normalizeH="0" baseline="0" dirty="0">
                <a:ln>
                  <a:noFill/>
                </a:ln>
                <a:effectLst/>
              </a:rPr>
              <a:t>Body:</a:t>
            </a:r>
            <a:endParaRPr kumimoji="0" lang="en-US" altLang="en-US" sz="1100" b="0" i="0" u="none" strike="noStrike" cap="none" normalizeH="0" baseline="0" dirty="0">
              <a:ln>
                <a:noFill/>
              </a:ln>
              <a:effectLst/>
            </a:endParaRPr>
          </a:p>
          <a:p>
            <a:pPr eaLnBrk="0" fontAlgn="base" hangingPunct="0">
              <a:spcBef>
                <a:spcPct val="0"/>
              </a:spcBef>
              <a:spcAft>
                <a:spcPts val="600"/>
              </a:spcAft>
            </a:pPr>
            <a:r>
              <a:rPr kumimoji="0" lang="en-US" altLang="en-US" sz="1100" b="1" i="0" u="none" strike="noStrike" cap="none" normalizeH="0" baseline="0" dirty="0">
                <a:ln>
                  <a:noFill/>
                </a:ln>
                <a:effectLst/>
              </a:rPr>
              <a:t>Opening Line:</a:t>
            </a:r>
            <a:r>
              <a:rPr kumimoji="0" lang="en-US" altLang="en-US" sz="1100" b="0" i="0" u="none" strike="noStrike" cap="none" normalizeH="0" baseline="0" dirty="0">
                <a:ln>
                  <a:noFill/>
                </a:ln>
                <a:effectLst/>
              </a:rPr>
              <a:t> Polite introduction to set a positive tone.</a:t>
            </a:r>
          </a:p>
          <a:p>
            <a:pPr eaLnBrk="0" fontAlgn="base" hangingPunct="0">
              <a:spcBef>
                <a:spcPct val="0"/>
              </a:spcBef>
              <a:spcAft>
                <a:spcPts val="600"/>
              </a:spcAft>
            </a:pPr>
            <a:r>
              <a:rPr kumimoji="0" lang="en-US" altLang="en-US" sz="1100" b="1" i="0" u="none" strike="noStrike" cap="none" normalizeH="0" baseline="0" dirty="0">
                <a:ln>
                  <a:noFill/>
                </a:ln>
                <a:effectLst/>
              </a:rPr>
              <a:t>Main Message:</a:t>
            </a:r>
            <a:r>
              <a:rPr kumimoji="0" lang="en-US" altLang="en-US" sz="1100" b="0" i="0" u="none" strike="noStrike" cap="none" normalizeH="0" baseline="0" dirty="0">
                <a:ln>
                  <a:noFill/>
                </a:ln>
                <a:effectLst/>
              </a:rPr>
              <a:t> Directly states the purpose of the email (requesting a meeting).</a:t>
            </a:r>
          </a:p>
          <a:p>
            <a:pPr eaLnBrk="0" fontAlgn="base" hangingPunct="0">
              <a:spcBef>
                <a:spcPct val="0"/>
              </a:spcBef>
              <a:spcAft>
                <a:spcPts val="600"/>
              </a:spcAft>
            </a:pPr>
            <a:r>
              <a:rPr kumimoji="0" lang="en-US" altLang="en-US" sz="1100" b="1" i="0" u="none" strike="noStrike" cap="none" normalizeH="0" baseline="0" dirty="0">
                <a:ln>
                  <a:noFill/>
                </a:ln>
                <a:effectLst/>
              </a:rPr>
              <a:t>Details:</a:t>
            </a:r>
            <a:r>
              <a:rPr kumimoji="0" lang="en-US" altLang="en-US" sz="1100" b="0" i="0" u="none" strike="noStrike" cap="none" normalizeH="0" baseline="0" dirty="0">
                <a:ln>
                  <a:noFill/>
                </a:ln>
                <a:effectLst/>
              </a:rPr>
              <a:t> Provides context and asks for a specific action (scheduling a meeting).</a:t>
            </a:r>
          </a:p>
          <a:p>
            <a:pPr eaLnBrk="0" fontAlgn="base" hangingPunct="0">
              <a:spcBef>
                <a:spcPct val="0"/>
              </a:spcBef>
              <a:spcAft>
                <a:spcPts val="600"/>
              </a:spcAft>
            </a:pPr>
            <a:r>
              <a:rPr kumimoji="0" lang="en-US" altLang="en-US" sz="1100" b="1" i="0" u="none" strike="noStrike" cap="none" normalizeH="0" baseline="0" dirty="0">
                <a:ln>
                  <a:noFill/>
                </a:ln>
                <a:effectLst/>
              </a:rPr>
              <a:t>Closing Line:</a:t>
            </a:r>
            <a:r>
              <a:rPr kumimoji="0" lang="en-US" altLang="en-US" sz="1100" b="0" i="0" u="none" strike="noStrike" cap="none" normalizeH="0" baseline="0" dirty="0">
                <a:ln>
                  <a:noFill/>
                </a:ln>
                <a:effectLst/>
              </a:rPr>
              <a:t> Polite sign-off thanking the recipient and expressing anticipation for their reply.</a:t>
            </a:r>
          </a:p>
          <a:p>
            <a:pPr eaLnBrk="0" fontAlgn="base" hangingPunct="0">
              <a:spcBef>
                <a:spcPct val="0"/>
              </a:spcBef>
              <a:spcAft>
                <a:spcPts val="600"/>
              </a:spcAft>
            </a:pPr>
            <a:r>
              <a:rPr kumimoji="0" lang="en-US" altLang="en-US" sz="1100" b="1" i="0" u="none" strike="noStrike" cap="none" normalizeH="0" baseline="0" dirty="0">
                <a:ln>
                  <a:noFill/>
                </a:ln>
                <a:effectLst/>
              </a:rPr>
              <a:t>Closing:</a:t>
            </a:r>
            <a:r>
              <a:rPr kumimoji="0" lang="en-US" altLang="en-US" sz="1100" b="0" i="0" u="none" strike="noStrike" cap="none" normalizeH="0" baseline="0" dirty="0">
                <a:ln>
                  <a:noFill/>
                </a:ln>
                <a:effectLst/>
              </a:rPr>
              <a:t> Formal closing phrase.</a:t>
            </a:r>
          </a:p>
          <a:p>
            <a:pPr eaLnBrk="0" fontAlgn="base" hangingPunct="0">
              <a:spcBef>
                <a:spcPct val="0"/>
              </a:spcBef>
              <a:spcAft>
                <a:spcPts val="600"/>
              </a:spcAft>
            </a:pPr>
            <a:r>
              <a:rPr kumimoji="0" lang="en-US" altLang="en-US" sz="1100" b="1" i="0" u="none" strike="noStrike" cap="none" normalizeH="0" baseline="0" dirty="0">
                <a:ln>
                  <a:noFill/>
                </a:ln>
                <a:effectLst/>
              </a:rPr>
              <a:t>Signature:</a:t>
            </a:r>
            <a:r>
              <a:rPr kumimoji="0" lang="en-US" altLang="en-US" sz="1100" b="0" i="0" u="none" strike="noStrike" cap="none" normalizeH="0" baseline="0" dirty="0">
                <a:ln>
                  <a:noFill/>
                </a:ln>
                <a:effectLst/>
              </a:rPr>
              <a:t> Includes the sender's name, job title, company name, and contact information for clarity. </a:t>
            </a:r>
          </a:p>
        </p:txBody>
      </p:sp>
    </p:spTree>
    <p:extLst>
      <p:ext uri="{BB962C8B-B14F-4D97-AF65-F5344CB8AC3E}">
        <p14:creationId xmlns:p14="http://schemas.microsoft.com/office/powerpoint/2010/main" val="422382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087A96-7451-94E5-BC96-3EDEE63703D4}"/>
              </a:ext>
            </a:extLst>
          </p:cNvPr>
          <p:cNvSpPr>
            <a:spLocks noGrp="1"/>
          </p:cNvSpPr>
          <p:nvPr>
            <p:ph type="title"/>
          </p:nvPr>
        </p:nvSpPr>
        <p:spPr>
          <a:xfrm>
            <a:off x="804672" y="802955"/>
            <a:ext cx="4977976" cy="1454051"/>
          </a:xfrm>
        </p:spPr>
        <p:txBody>
          <a:bodyPr>
            <a:normAutofit/>
          </a:bodyPr>
          <a:lstStyle/>
          <a:p>
            <a:r>
              <a:rPr lang="en-GB" sz="3600">
                <a:solidFill>
                  <a:schemeClr val="tx2"/>
                </a:solidFill>
              </a:rPr>
              <a:t>Key Phrases for Effective Communication</a:t>
            </a:r>
          </a:p>
        </p:txBody>
      </p:sp>
      <p:sp>
        <p:nvSpPr>
          <p:cNvPr id="3" name="Content Placeholder 2">
            <a:extLst>
              <a:ext uri="{FF2B5EF4-FFF2-40B4-BE49-F238E27FC236}">
                <a16:creationId xmlns:a16="http://schemas.microsoft.com/office/drawing/2014/main" id="{D7DCE222-B700-31D3-A6DD-8DE9C45DFD59}"/>
              </a:ext>
            </a:extLst>
          </p:cNvPr>
          <p:cNvSpPr>
            <a:spLocks noGrp="1"/>
          </p:cNvSpPr>
          <p:nvPr>
            <p:ph idx="1"/>
          </p:nvPr>
        </p:nvSpPr>
        <p:spPr>
          <a:xfrm>
            <a:off x="804672" y="2421682"/>
            <a:ext cx="4977578" cy="3639289"/>
          </a:xfrm>
        </p:spPr>
        <p:txBody>
          <a:bodyPr anchor="ctr">
            <a:normAutofit/>
          </a:bodyPr>
          <a:lstStyle/>
          <a:p>
            <a:pPr>
              <a:buFont typeface="Arial" panose="020B0604020202020204" pitchFamily="34" charset="0"/>
              <a:buChar char="•"/>
            </a:pPr>
            <a:r>
              <a:rPr lang="en-GB" sz="1500" b="1" dirty="0">
                <a:solidFill>
                  <a:schemeClr val="tx2"/>
                </a:solidFill>
              </a:rPr>
              <a:t>Greeting Phrases:</a:t>
            </a:r>
            <a:endParaRPr lang="en-GB" sz="1500" dirty="0">
              <a:solidFill>
                <a:schemeClr val="tx2"/>
              </a:solidFill>
            </a:endParaRPr>
          </a:p>
          <a:p>
            <a:pPr marL="742950" lvl="1" indent="-285750">
              <a:buFont typeface="Arial" panose="020B0604020202020204" pitchFamily="34" charset="0"/>
              <a:buChar char="•"/>
            </a:pPr>
            <a:r>
              <a:rPr lang="en-GB" sz="1500" dirty="0">
                <a:solidFill>
                  <a:schemeClr val="tx2"/>
                </a:solidFill>
              </a:rPr>
              <a:t>I hope this email finds you well.</a:t>
            </a:r>
          </a:p>
          <a:p>
            <a:pPr marL="742950" lvl="1" indent="-285750">
              <a:buFont typeface="Arial" panose="020B0604020202020204" pitchFamily="34" charset="0"/>
              <a:buChar char="•"/>
            </a:pPr>
            <a:r>
              <a:rPr lang="en-GB" sz="1500" dirty="0">
                <a:solidFill>
                  <a:schemeClr val="tx2"/>
                </a:solidFill>
              </a:rPr>
              <a:t>I trust you are doing well.</a:t>
            </a:r>
          </a:p>
          <a:p>
            <a:pPr marL="742950" lvl="1" indent="-285750">
              <a:buFont typeface="Arial" panose="020B0604020202020204" pitchFamily="34" charset="0"/>
              <a:buChar char="•"/>
            </a:pPr>
            <a:r>
              <a:rPr lang="en-GB" sz="1500" dirty="0">
                <a:solidFill>
                  <a:schemeClr val="tx2"/>
                </a:solidFill>
              </a:rPr>
              <a:t>I hope you are having a good week.</a:t>
            </a:r>
          </a:p>
          <a:p>
            <a:pPr>
              <a:buFont typeface="Arial" panose="020B0604020202020204" pitchFamily="34" charset="0"/>
              <a:buChar char="•"/>
            </a:pPr>
            <a:r>
              <a:rPr lang="en-GB" sz="1500" b="1" dirty="0">
                <a:solidFill>
                  <a:schemeClr val="tx2"/>
                </a:solidFill>
              </a:rPr>
              <a:t>Body Phrases:</a:t>
            </a:r>
            <a:endParaRPr lang="en-GB" sz="1500" dirty="0">
              <a:solidFill>
                <a:schemeClr val="tx2"/>
              </a:solidFill>
            </a:endParaRPr>
          </a:p>
          <a:p>
            <a:pPr marL="742950" lvl="1" indent="-285750">
              <a:buFont typeface="Arial" panose="020B0604020202020204" pitchFamily="34" charset="0"/>
              <a:buChar char="•"/>
            </a:pPr>
            <a:r>
              <a:rPr lang="en-GB" sz="1500" dirty="0">
                <a:solidFill>
                  <a:schemeClr val="tx2"/>
                </a:solidFill>
              </a:rPr>
              <a:t>I am writing to inform you that…</a:t>
            </a:r>
          </a:p>
          <a:p>
            <a:pPr marL="742950" lvl="1" indent="-285750">
              <a:buFont typeface="Arial" panose="020B0604020202020204" pitchFamily="34" charset="0"/>
              <a:buChar char="•"/>
            </a:pPr>
            <a:r>
              <a:rPr lang="en-GB" sz="1500" dirty="0">
                <a:solidFill>
                  <a:schemeClr val="tx2"/>
                </a:solidFill>
              </a:rPr>
              <a:t>I would like to bring to your attention…</a:t>
            </a:r>
          </a:p>
          <a:p>
            <a:pPr marL="742950" lvl="1" indent="-285750">
              <a:buFont typeface="Arial" panose="020B0604020202020204" pitchFamily="34" charset="0"/>
              <a:buChar char="•"/>
            </a:pPr>
            <a:r>
              <a:rPr lang="en-GB" sz="1500" dirty="0">
                <a:solidFill>
                  <a:schemeClr val="tx2"/>
                </a:solidFill>
              </a:rPr>
              <a:t>Please be advised that…</a:t>
            </a:r>
          </a:p>
          <a:p>
            <a:pPr>
              <a:buFont typeface="Arial" panose="020B0604020202020204" pitchFamily="34" charset="0"/>
              <a:buChar char="•"/>
            </a:pPr>
            <a:r>
              <a:rPr lang="en-GB" sz="1500" b="1" dirty="0">
                <a:solidFill>
                  <a:schemeClr val="tx2"/>
                </a:solidFill>
              </a:rPr>
              <a:t>Closing Phrases:</a:t>
            </a:r>
            <a:endParaRPr lang="en-GB" sz="1500" dirty="0">
              <a:solidFill>
                <a:schemeClr val="tx2"/>
              </a:solidFill>
            </a:endParaRPr>
          </a:p>
          <a:p>
            <a:pPr marL="742950" lvl="1" indent="-285750">
              <a:buFont typeface="Arial" panose="020B0604020202020204" pitchFamily="34" charset="0"/>
              <a:buChar char="•"/>
            </a:pPr>
            <a:r>
              <a:rPr lang="en-GB" sz="1500" dirty="0">
                <a:solidFill>
                  <a:schemeClr val="tx2"/>
                </a:solidFill>
              </a:rPr>
              <a:t>Thank you for your attention.</a:t>
            </a:r>
          </a:p>
          <a:p>
            <a:pPr marL="742950" lvl="1" indent="-285750">
              <a:buFont typeface="Arial" panose="020B0604020202020204" pitchFamily="34" charset="0"/>
              <a:buChar char="•"/>
            </a:pPr>
            <a:r>
              <a:rPr lang="en-GB" sz="1500" dirty="0">
                <a:solidFill>
                  <a:schemeClr val="tx2"/>
                </a:solidFill>
              </a:rPr>
              <a:t>I appreciate your prompt response.</a:t>
            </a:r>
          </a:p>
          <a:p>
            <a:pPr marL="742950" lvl="1" indent="-285750">
              <a:buFont typeface="Arial" panose="020B0604020202020204" pitchFamily="34" charset="0"/>
              <a:buChar char="•"/>
            </a:pPr>
            <a:r>
              <a:rPr lang="en-GB" sz="1500" dirty="0">
                <a:solidFill>
                  <a:schemeClr val="tx2"/>
                </a:solidFill>
              </a:rPr>
              <a:t>Looking forward to hearing from you.</a:t>
            </a:r>
          </a:p>
          <a:p>
            <a:endParaRPr lang="en-GB" sz="15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nvelope">
            <a:extLst>
              <a:ext uri="{FF2B5EF4-FFF2-40B4-BE49-F238E27FC236}">
                <a16:creationId xmlns:a16="http://schemas.microsoft.com/office/drawing/2014/main" id="{AAC7322B-6333-386B-36B4-C0CBA6A8A8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77332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4397D8-9842-0D6D-4502-90A0EDECDA9C}"/>
              </a:ext>
            </a:extLst>
          </p:cNvPr>
          <p:cNvSpPr>
            <a:spLocks noGrp="1"/>
          </p:cNvSpPr>
          <p:nvPr>
            <p:ph type="title"/>
          </p:nvPr>
        </p:nvSpPr>
        <p:spPr>
          <a:xfrm>
            <a:off x="6094105" y="802955"/>
            <a:ext cx="4977976" cy="1454051"/>
          </a:xfrm>
        </p:spPr>
        <p:txBody>
          <a:bodyPr>
            <a:normAutofit/>
          </a:bodyPr>
          <a:lstStyle/>
          <a:p>
            <a:r>
              <a:rPr lang="en-GB" sz="3600">
                <a:solidFill>
                  <a:schemeClr val="tx2"/>
                </a:solidFill>
              </a:rPr>
              <a:t>Pair Work or Group Activity</a:t>
            </a:r>
          </a:p>
        </p:txBody>
      </p:sp>
      <p:pic>
        <p:nvPicPr>
          <p:cNvPr id="8" name="Graphic 7" descr="Meeting">
            <a:extLst>
              <a:ext uri="{FF2B5EF4-FFF2-40B4-BE49-F238E27FC236}">
                <a16:creationId xmlns:a16="http://schemas.microsoft.com/office/drawing/2014/main" id="{306B2CC9-A6AE-4109-1923-4F388DDD90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4" name="Rectangle 1">
            <a:extLst>
              <a:ext uri="{FF2B5EF4-FFF2-40B4-BE49-F238E27FC236}">
                <a16:creationId xmlns:a16="http://schemas.microsoft.com/office/drawing/2014/main" id="{DCDE88AE-E79A-0BBF-668F-0B3AA272A2BE}"/>
              </a:ext>
            </a:extLst>
          </p:cNvPr>
          <p:cNvSpPr>
            <a:spLocks noGrp="1" noChangeArrowheads="1"/>
          </p:cNvSpPr>
          <p:nvPr>
            <p:ph idx="1"/>
          </p:nvPr>
        </p:nvSpPr>
        <p:spPr bwMode="auto">
          <a:xfrm>
            <a:off x="6090574" y="2421682"/>
            <a:ext cx="4977578" cy="363928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None/>
              <a:tabLst/>
            </a:pPr>
            <a:r>
              <a:rPr kumimoji="0" lang="en-US" altLang="en-US" sz="1500" b="1" i="0" u="none" strike="noStrike" cap="none" normalizeH="0" baseline="0">
                <a:ln>
                  <a:noFill/>
                </a:ln>
                <a:solidFill>
                  <a:schemeClr val="tx2"/>
                </a:solidFill>
                <a:effectLst/>
              </a:rPr>
              <a:t>Scenario 1:</a:t>
            </a:r>
            <a:r>
              <a:rPr kumimoji="0" lang="en-US" altLang="en-US" sz="1500" b="0" i="0" u="none" strike="noStrike" cap="none" normalizeH="0" baseline="0">
                <a:ln>
                  <a:noFill/>
                </a:ln>
                <a:solidFill>
                  <a:schemeClr val="tx2"/>
                </a:solidFill>
                <a:effectLst/>
              </a:rPr>
              <a:t> Requesting a Meeting</a:t>
            </a:r>
          </a:p>
          <a:p>
            <a:pPr eaLnBrk="0" fontAlgn="base" hangingPunct="0">
              <a:spcBef>
                <a:spcPct val="0"/>
              </a:spcBef>
              <a:spcAft>
                <a:spcPts val="600"/>
              </a:spcAft>
            </a:pPr>
            <a:r>
              <a:rPr kumimoji="0" lang="en-US" altLang="en-US" sz="1500" b="0" i="0" u="none" strike="noStrike" cap="none" normalizeH="0" baseline="0">
                <a:ln>
                  <a:noFill/>
                </a:ln>
                <a:solidFill>
                  <a:schemeClr val="tx2"/>
                </a:solidFill>
                <a:effectLst/>
              </a:rPr>
              <a:t>You need to schedule a meeting with a colleague to discuss a new project proposal. Use phrases for making a request and suggesting a time for the meeting.</a:t>
            </a:r>
          </a:p>
          <a:p>
            <a:pPr marL="0" marR="0" lvl="0" indent="0" defTabSz="914400" rtl="0" eaLnBrk="0" fontAlgn="base" latinLnBrk="0" hangingPunct="0">
              <a:spcBef>
                <a:spcPct val="0"/>
              </a:spcBef>
              <a:spcAft>
                <a:spcPts val="600"/>
              </a:spcAft>
              <a:buClrTx/>
              <a:buSzTx/>
              <a:buNone/>
              <a:tabLst/>
            </a:pPr>
            <a:r>
              <a:rPr kumimoji="0" lang="en-US" altLang="en-US" sz="1500" b="1" i="0" u="none" strike="noStrike" cap="none" normalizeH="0" baseline="0">
                <a:ln>
                  <a:noFill/>
                </a:ln>
                <a:solidFill>
                  <a:schemeClr val="tx2"/>
                </a:solidFill>
                <a:effectLst/>
              </a:rPr>
              <a:t>Scenario 2:</a:t>
            </a:r>
            <a:r>
              <a:rPr kumimoji="0" lang="en-US" altLang="en-US" sz="1500" b="0" i="0" u="none" strike="noStrike" cap="none" normalizeH="0" baseline="0">
                <a:ln>
                  <a:noFill/>
                </a:ln>
                <a:solidFill>
                  <a:schemeClr val="tx2"/>
                </a:solidFill>
                <a:effectLst/>
              </a:rPr>
              <a:t> Following Up</a:t>
            </a:r>
          </a:p>
          <a:p>
            <a:pPr eaLnBrk="0" fontAlgn="base" hangingPunct="0">
              <a:spcBef>
                <a:spcPct val="0"/>
              </a:spcBef>
              <a:spcAft>
                <a:spcPts val="600"/>
              </a:spcAft>
            </a:pPr>
            <a:r>
              <a:rPr kumimoji="0" lang="en-US" altLang="en-US" sz="1500" b="0" i="0" u="none" strike="noStrike" cap="none" normalizeH="0" baseline="0">
                <a:ln>
                  <a:noFill/>
                </a:ln>
                <a:solidFill>
                  <a:schemeClr val="tx2"/>
                </a:solidFill>
                <a:effectLst/>
              </a:rPr>
              <a:t>You are following up on an email you sent last week regarding a report that was due. Use phrases to politely remind the recipient and ask for an update.</a:t>
            </a:r>
          </a:p>
          <a:p>
            <a:pPr marL="0" marR="0" lvl="0" indent="0" defTabSz="914400" rtl="0" eaLnBrk="0" fontAlgn="base" latinLnBrk="0" hangingPunct="0">
              <a:spcBef>
                <a:spcPct val="0"/>
              </a:spcBef>
              <a:spcAft>
                <a:spcPts val="600"/>
              </a:spcAft>
              <a:buClrTx/>
              <a:buSzTx/>
              <a:buNone/>
              <a:tabLst/>
            </a:pPr>
            <a:r>
              <a:rPr kumimoji="0" lang="en-US" altLang="en-US" sz="1500" b="1" i="0" u="none" strike="noStrike" cap="none" normalizeH="0" baseline="0">
                <a:ln>
                  <a:noFill/>
                </a:ln>
                <a:solidFill>
                  <a:schemeClr val="tx2"/>
                </a:solidFill>
                <a:effectLst/>
              </a:rPr>
              <a:t>Scenario 3:</a:t>
            </a:r>
            <a:r>
              <a:rPr kumimoji="0" lang="en-US" altLang="en-US" sz="1500" b="0" i="0" u="none" strike="noStrike" cap="none" normalizeH="0" baseline="0">
                <a:ln>
                  <a:noFill/>
                </a:ln>
                <a:solidFill>
                  <a:schemeClr val="tx2"/>
                </a:solidFill>
                <a:effectLst/>
              </a:rPr>
              <a:t> Clarification on Policy</a:t>
            </a:r>
          </a:p>
          <a:p>
            <a:pPr eaLnBrk="0" fontAlgn="base" hangingPunct="0">
              <a:spcBef>
                <a:spcPct val="0"/>
              </a:spcBef>
              <a:spcAft>
                <a:spcPts val="600"/>
              </a:spcAft>
            </a:pPr>
            <a:r>
              <a:rPr kumimoji="0" lang="en-US" altLang="en-US" sz="1500" b="0" i="0" u="none" strike="noStrike" cap="none" normalizeH="0" baseline="0">
                <a:ln>
                  <a:noFill/>
                </a:ln>
                <a:solidFill>
                  <a:schemeClr val="tx2"/>
                </a:solidFill>
                <a:effectLst/>
              </a:rPr>
              <a:t>You need clarification on a recent change in company policy. Write an email requesting more details and expressing your need for further information.</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a:ln>
                <a:noFill/>
              </a:ln>
              <a:solidFill>
                <a:schemeClr val="tx2"/>
              </a:solidFill>
              <a:effectLst/>
            </a:endParaRP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46478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AA596-ACC4-5D6C-F718-BE9AEADC3E26}"/>
              </a:ext>
            </a:extLst>
          </p:cNvPr>
          <p:cNvSpPr>
            <a:spLocks noGrp="1"/>
          </p:cNvSpPr>
          <p:nvPr>
            <p:ph type="title"/>
          </p:nvPr>
        </p:nvSpPr>
        <p:spPr>
          <a:xfrm>
            <a:off x="804672" y="802955"/>
            <a:ext cx="4977976" cy="1454051"/>
          </a:xfrm>
        </p:spPr>
        <p:txBody>
          <a:bodyPr>
            <a:normAutofit/>
          </a:bodyPr>
          <a:lstStyle/>
          <a:p>
            <a:r>
              <a:rPr lang="en-GB" sz="3600" dirty="0">
                <a:solidFill>
                  <a:schemeClr val="tx2"/>
                </a:solidFill>
              </a:rPr>
              <a:t>Peer Review</a:t>
            </a:r>
          </a:p>
        </p:txBody>
      </p:sp>
      <p:sp>
        <p:nvSpPr>
          <p:cNvPr id="3" name="Content Placeholder 2">
            <a:extLst>
              <a:ext uri="{FF2B5EF4-FFF2-40B4-BE49-F238E27FC236}">
                <a16:creationId xmlns:a16="http://schemas.microsoft.com/office/drawing/2014/main" id="{45992312-FF90-E60A-3DBC-3906BDF0DF36}"/>
              </a:ext>
            </a:extLst>
          </p:cNvPr>
          <p:cNvSpPr>
            <a:spLocks noGrp="1"/>
          </p:cNvSpPr>
          <p:nvPr>
            <p:ph idx="1"/>
          </p:nvPr>
        </p:nvSpPr>
        <p:spPr>
          <a:xfrm>
            <a:off x="804672" y="2421682"/>
            <a:ext cx="4977578" cy="3639289"/>
          </a:xfrm>
        </p:spPr>
        <p:txBody>
          <a:bodyPr anchor="ctr">
            <a:normAutofit/>
          </a:bodyPr>
          <a:lstStyle/>
          <a:p>
            <a:r>
              <a:rPr lang="en-GB" sz="1800" dirty="0">
                <a:solidFill>
                  <a:schemeClr val="tx2"/>
                </a:solidFill>
              </a:rPr>
              <a:t>Once the emails are drafted, have each pair or group exchange their email with another group for peer review.</a:t>
            </a:r>
          </a:p>
          <a:p>
            <a:endParaRPr lang="en-GB" sz="1800" dirty="0">
              <a:solidFill>
                <a:schemeClr val="tx2"/>
              </a:solidFill>
            </a:endParaRPr>
          </a:p>
          <a:p>
            <a:pPr marL="0" marR="0" lvl="0" indent="0" defTabSz="914400" rtl="0" eaLnBrk="0" fontAlgn="base" latinLnBrk="0" hangingPunct="0">
              <a:spcBef>
                <a:spcPct val="0"/>
              </a:spcBef>
              <a:spcAft>
                <a:spcPct val="0"/>
              </a:spcAft>
              <a:buClrTx/>
              <a:buSzTx/>
              <a:buFontTx/>
              <a:buNone/>
              <a:tabLst/>
            </a:pPr>
            <a:endParaRPr kumimoji="0" lang="en-US" altLang="en-US" sz="1800" b="0" i="0" u="none" strike="noStrike" cap="none" normalizeH="0" baseline="0" dirty="0">
              <a:ln>
                <a:noFill/>
              </a:ln>
              <a:solidFill>
                <a:schemeClr val="tx2"/>
              </a:solidFill>
              <a:effectLst/>
            </a:endParaRPr>
          </a:p>
          <a:p>
            <a:pPr eaLnBrk="0" fontAlgn="base" hangingPunct="0">
              <a:spcBef>
                <a:spcPct val="0"/>
              </a:spcBef>
              <a:spcAft>
                <a:spcPct val="0"/>
              </a:spcAft>
            </a:pPr>
            <a:r>
              <a:rPr kumimoji="0" lang="en-US" altLang="en-US" sz="2000" b="0" i="0" u="none" strike="noStrike" cap="none" normalizeH="0" baseline="0" dirty="0">
                <a:ln>
                  <a:noFill/>
                </a:ln>
                <a:solidFill>
                  <a:schemeClr val="tx2"/>
                </a:solidFill>
                <a:effectLst/>
              </a:rPr>
              <a:t>Does the email have a clear subject line?</a:t>
            </a:r>
          </a:p>
          <a:p>
            <a:pPr eaLnBrk="0" fontAlgn="base" hangingPunct="0">
              <a:spcBef>
                <a:spcPct val="0"/>
              </a:spcBef>
              <a:spcAft>
                <a:spcPct val="0"/>
              </a:spcAft>
            </a:pPr>
            <a:r>
              <a:rPr kumimoji="0" lang="en-US" altLang="en-US" sz="2000" b="0" i="0" u="none" strike="noStrike" cap="none" normalizeH="0" baseline="0" dirty="0">
                <a:ln>
                  <a:noFill/>
                </a:ln>
                <a:solidFill>
                  <a:schemeClr val="tx2"/>
                </a:solidFill>
                <a:effectLst/>
              </a:rPr>
              <a:t>Are the key phrases used correctly?</a:t>
            </a:r>
          </a:p>
          <a:p>
            <a:pPr eaLnBrk="0" fontAlgn="base" hangingPunct="0">
              <a:spcBef>
                <a:spcPct val="0"/>
              </a:spcBef>
              <a:spcAft>
                <a:spcPct val="0"/>
              </a:spcAft>
            </a:pPr>
            <a:r>
              <a:rPr kumimoji="0" lang="en-US" altLang="en-US" sz="2000" b="0" i="0" u="none" strike="noStrike" cap="none" normalizeH="0" baseline="0" dirty="0">
                <a:ln>
                  <a:noFill/>
                </a:ln>
                <a:solidFill>
                  <a:schemeClr val="tx2"/>
                </a:solidFill>
                <a:effectLst/>
              </a:rPr>
              <a:t>Is the tone appropriate and professional?</a:t>
            </a:r>
          </a:p>
          <a:p>
            <a:pPr eaLnBrk="0" fontAlgn="base" hangingPunct="0">
              <a:spcBef>
                <a:spcPct val="0"/>
              </a:spcBef>
              <a:spcAft>
                <a:spcPct val="0"/>
              </a:spcAft>
            </a:pPr>
            <a:r>
              <a:rPr kumimoji="0" lang="en-US" altLang="en-US" sz="2000" b="0" i="0" u="none" strike="noStrike" cap="none" normalizeH="0" baseline="0" dirty="0">
                <a:ln>
                  <a:noFill/>
                </a:ln>
                <a:solidFill>
                  <a:schemeClr val="tx2"/>
                </a:solidFill>
                <a:effectLst/>
              </a:rPr>
              <a:t>Are all parts of the email included (greeting, body, closing, and signature)? </a:t>
            </a:r>
          </a:p>
          <a:p>
            <a:endParaRPr lang="en-GB" sz="1800" dirty="0">
              <a:solidFill>
                <a:schemeClr val="tx2"/>
              </a:solidFill>
            </a:endParaRPr>
          </a:p>
        </p:txBody>
      </p:sp>
      <p:grpSp>
        <p:nvGrpSpPr>
          <p:cNvPr id="15" name="Group 14">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6" name="Freeform: Shape 15">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Open envelope">
            <a:extLst>
              <a:ext uri="{FF2B5EF4-FFF2-40B4-BE49-F238E27FC236}">
                <a16:creationId xmlns:a16="http://schemas.microsoft.com/office/drawing/2014/main" id="{3D4E6DD3-D4CE-2636-0F10-E3C21D22A59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256587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F0472E-4C51-53FE-033D-2E3DAFEE6F53}"/>
              </a:ext>
            </a:extLst>
          </p:cNvPr>
          <p:cNvSpPr>
            <a:spLocks noGrp="1"/>
          </p:cNvSpPr>
          <p:nvPr>
            <p:ph type="title"/>
          </p:nvPr>
        </p:nvSpPr>
        <p:spPr>
          <a:xfrm>
            <a:off x="4572001" y="601744"/>
            <a:ext cx="6781800" cy="1338696"/>
          </a:xfrm>
        </p:spPr>
        <p:txBody>
          <a:bodyPr>
            <a:normAutofit/>
          </a:bodyPr>
          <a:lstStyle/>
          <a:p>
            <a:r>
              <a:rPr lang="en-GB" dirty="0"/>
              <a:t>Discussion Questions</a:t>
            </a:r>
          </a:p>
        </p:txBody>
      </p:sp>
      <p:pic>
        <p:nvPicPr>
          <p:cNvPr id="5" name="Picture 4" descr="Yellow and blue symbols">
            <a:extLst>
              <a:ext uri="{FF2B5EF4-FFF2-40B4-BE49-F238E27FC236}">
                <a16:creationId xmlns:a16="http://schemas.microsoft.com/office/drawing/2014/main" id="{8EF7B056-A5F6-12A0-3104-63BCE571F954}"/>
              </a:ext>
            </a:extLst>
          </p:cNvPr>
          <p:cNvPicPr>
            <a:picLocks noChangeAspect="1"/>
          </p:cNvPicPr>
          <p:nvPr/>
        </p:nvPicPr>
        <p:blipFill>
          <a:blip r:embed="rId2"/>
          <a:srcRect l="26500" r="31616" b="1"/>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642CE14D-987D-3304-36C5-71B6D2AC03CD}"/>
              </a:ext>
            </a:extLst>
          </p:cNvPr>
          <p:cNvSpPr>
            <a:spLocks noGrp="1"/>
          </p:cNvSpPr>
          <p:nvPr>
            <p:ph idx="1"/>
          </p:nvPr>
        </p:nvSpPr>
        <p:spPr>
          <a:xfrm>
            <a:off x="4572001" y="2201958"/>
            <a:ext cx="6781800" cy="3900730"/>
          </a:xfrm>
        </p:spPr>
        <p:txBody>
          <a:bodyPr anchor="t">
            <a:normAutofit/>
          </a:bodyPr>
          <a:lstStyle/>
          <a:p>
            <a:pPr marL="0" indent="0">
              <a:buNone/>
            </a:pPr>
            <a:r>
              <a:rPr lang="en-GB" sz="1100" b="1" dirty="0"/>
              <a:t>Ask Groups to Consider:</a:t>
            </a:r>
          </a:p>
          <a:p>
            <a:pPr>
              <a:buFont typeface="Arial" panose="020B0604020202020204" pitchFamily="34" charset="0"/>
              <a:buChar char="•"/>
            </a:pPr>
            <a:r>
              <a:rPr lang="en-GB" sz="1100" b="1" dirty="0"/>
              <a:t>Clarity and Structure:</a:t>
            </a:r>
            <a:endParaRPr lang="en-GB" sz="1100" dirty="0"/>
          </a:p>
          <a:p>
            <a:pPr marL="742950" lvl="1" indent="-285750">
              <a:buFont typeface="Arial" panose="020B0604020202020204" pitchFamily="34" charset="0"/>
              <a:buChar char="•"/>
            </a:pPr>
            <a:r>
              <a:rPr lang="en-GB" sz="1100" dirty="0"/>
              <a:t>Was the subject line clear and appropriate for the email’s purpose?</a:t>
            </a:r>
          </a:p>
          <a:p>
            <a:pPr marL="742950" lvl="1" indent="-285750">
              <a:buFont typeface="Arial" panose="020B0604020202020204" pitchFamily="34" charset="0"/>
              <a:buChar char="•"/>
            </a:pPr>
            <a:r>
              <a:rPr lang="en-GB" sz="1100" dirty="0"/>
              <a:t>Did the email follow the correct structure (greeting, body, closing, signature)? Why is this important?</a:t>
            </a:r>
          </a:p>
          <a:p>
            <a:pPr>
              <a:buFont typeface="Arial" panose="020B0604020202020204" pitchFamily="34" charset="0"/>
              <a:buChar char="•"/>
            </a:pPr>
            <a:r>
              <a:rPr lang="en-GB" sz="1100" b="1" dirty="0"/>
              <a:t>Use of Key Phrases:</a:t>
            </a:r>
            <a:endParaRPr lang="en-GB" sz="1100" dirty="0"/>
          </a:p>
          <a:p>
            <a:pPr marL="742950" lvl="1" indent="-285750">
              <a:buFont typeface="Arial" panose="020B0604020202020204" pitchFamily="34" charset="0"/>
              <a:buChar char="•"/>
            </a:pPr>
            <a:r>
              <a:rPr lang="en-GB" sz="1100" dirty="0"/>
              <a:t>How effectively were the key phrases used in the email? Did they help in making the communication clear and professional?</a:t>
            </a:r>
          </a:p>
          <a:p>
            <a:pPr marL="742950" lvl="1" indent="-285750">
              <a:buFont typeface="Arial" panose="020B0604020202020204" pitchFamily="34" charset="0"/>
              <a:buChar char="•"/>
            </a:pPr>
            <a:r>
              <a:rPr lang="en-GB" sz="1100" dirty="0"/>
              <a:t>Were there any key phrases that seemed particularly effective or useful? Why?</a:t>
            </a:r>
          </a:p>
          <a:p>
            <a:pPr>
              <a:buFont typeface="Arial" panose="020B0604020202020204" pitchFamily="34" charset="0"/>
              <a:buChar char="•"/>
            </a:pPr>
            <a:r>
              <a:rPr lang="en-GB" sz="1100" b="1" dirty="0"/>
              <a:t>Tone and Professionalism:</a:t>
            </a:r>
            <a:endParaRPr lang="en-GB" sz="1100" dirty="0"/>
          </a:p>
          <a:p>
            <a:pPr marL="742950" lvl="1" indent="-285750">
              <a:buFont typeface="Arial" panose="020B0604020202020204" pitchFamily="34" charset="0"/>
              <a:buChar char="•"/>
            </a:pPr>
            <a:r>
              <a:rPr lang="en-GB" sz="1100" dirty="0"/>
              <a:t>Did the tone of the email match the intended purpose? Was it polite and professional?</a:t>
            </a:r>
          </a:p>
          <a:p>
            <a:pPr marL="742950" lvl="1" indent="-285750">
              <a:buFont typeface="Arial" panose="020B0604020202020204" pitchFamily="34" charset="0"/>
              <a:buChar char="•"/>
            </a:pPr>
            <a:r>
              <a:rPr lang="en-GB" sz="1100" dirty="0"/>
              <a:t>How well did the email address the recipient’s needs or concerns?</a:t>
            </a:r>
          </a:p>
          <a:p>
            <a:pPr>
              <a:buFont typeface="Arial" panose="020B0604020202020204" pitchFamily="34" charset="0"/>
              <a:buChar char="•"/>
            </a:pPr>
            <a:r>
              <a:rPr lang="en-GB" sz="1100" b="1" dirty="0"/>
              <a:t>Common Issues:</a:t>
            </a:r>
            <a:endParaRPr lang="en-GB" sz="1100" dirty="0"/>
          </a:p>
          <a:p>
            <a:pPr marL="742950" lvl="1" indent="-285750">
              <a:buFont typeface="Arial" panose="020B0604020202020204" pitchFamily="34" charset="0"/>
              <a:buChar char="•"/>
            </a:pPr>
            <a:r>
              <a:rPr lang="en-GB" sz="1100" dirty="0"/>
              <a:t>Did you notice any common mistakes in the emails shared, such as issues with phrase usage or email structure?</a:t>
            </a:r>
          </a:p>
          <a:p>
            <a:pPr marL="742950" lvl="1" indent="-285750">
              <a:buFont typeface="Arial" panose="020B0604020202020204" pitchFamily="34" charset="0"/>
              <a:buChar char="•"/>
            </a:pPr>
            <a:r>
              <a:rPr lang="en-GB" sz="1100" dirty="0"/>
              <a:t>How can these issues be addressed or corrected in future emails?</a:t>
            </a:r>
          </a:p>
          <a:p>
            <a:endParaRPr lang="en-GB" sz="1100" dirty="0"/>
          </a:p>
        </p:txBody>
      </p:sp>
    </p:spTree>
    <p:extLst>
      <p:ext uri="{BB962C8B-B14F-4D97-AF65-F5344CB8AC3E}">
        <p14:creationId xmlns:p14="http://schemas.microsoft.com/office/powerpoint/2010/main" val="208085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9D1EA-DB20-6CB9-85F7-C5CFA11BDA2D}"/>
              </a:ext>
            </a:extLst>
          </p:cNvPr>
          <p:cNvSpPr>
            <a:spLocks noGrp="1"/>
          </p:cNvSpPr>
          <p:nvPr>
            <p:ph type="title"/>
          </p:nvPr>
        </p:nvSpPr>
        <p:spPr/>
        <p:txBody>
          <a:bodyPr/>
          <a:lstStyle/>
          <a:p>
            <a:r>
              <a:rPr lang="en-GB" dirty="0"/>
              <a:t>Delayed feedback</a:t>
            </a:r>
          </a:p>
        </p:txBody>
      </p:sp>
      <p:sp>
        <p:nvSpPr>
          <p:cNvPr id="3" name="Content Placeholder 2">
            <a:extLst>
              <a:ext uri="{FF2B5EF4-FFF2-40B4-BE49-F238E27FC236}">
                <a16:creationId xmlns:a16="http://schemas.microsoft.com/office/drawing/2014/main" id="{81D09F7F-834E-B33C-0815-10828AA1AC78}"/>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2593A1C4-3CC2-5629-E19D-497E6801685C}"/>
              </a:ext>
            </a:extLst>
          </p:cNvPr>
          <p:cNvPicPr>
            <a:picLocks noChangeAspect="1"/>
          </p:cNvPicPr>
          <p:nvPr/>
        </p:nvPicPr>
        <p:blipFill>
          <a:blip r:embed="rId2"/>
          <a:stretch>
            <a:fillRect/>
          </a:stretch>
        </p:blipFill>
        <p:spPr>
          <a:xfrm>
            <a:off x="9934575" y="466725"/>
            <a:ext cx="1638300" cy="762000"/>
          </a:xfrm>
          <a:prstGeom prst="rect">
            <a:avLst/>
          </a:prstGeom>
        </p:spPr>
      </p:pic>
      <p:sp>
        <p:nvSpPr>
          <p:cNvPr id="7" name="TextBox 6">
            <a:extLst>
              <a:ext uri="{FF2B5EF4-FFF2-40B4-BE49-F238E27FC236}">
                <a16:creationId xmlns:a16="http://schemas.microsoft.com/office/drawing/2014/main" id="{F41E4A39-2301-C33C-FC73-F570A998F1CD}"/>
              </a:ext>
            </a:extLst>
          </p:cNvPr>
          <p:cNvSpPr txBox="1"/>
          <p:nvPr/>
        </p:nvSpPr>
        <p:spPr>
          <a:xfrm>
            <a:off x="238125" y="6308209"/>
            <a:ext cx="6096000" cy="369332"/>
          </a:xfrm>
          <a:prstGeom prst="rect">
            <a:avLst/>
          </a:prstGeom>
          <a:noFill/>
        </p:spPr>
        <p:txBody>
          <a:bodyPr wrap="square">
            <a:spAutoFit/>
          </a:bodyPr>
          <a:lstStyle/>
          <a:p>
            <a:pPr marL="0" marR="0" indent="0" algn="l" rtl="0" eaLnBrk="1" fontAlgn="auto" latinLnBrk="0" hangingPunct="1">
              <a:spcBef>
                <a:spcPts val="0"/>
              </a:spcBef>
              <a:spcAft>
                <a:spcPts val="0"/>
              </a:spcAft>
            </a:pPr>
            <a:r>
              <a:rPr lang="en-GB" err="1">
                <a:solidFill>
                  <a:srgbClr val="898989"/>
                </a:solidFill>
                <a:latin typeface="Calibri" panose="020F0502020204030204" pitchFamily="34" charset="0"/>
              </a:rPr>
              <a:t>t</a:t>
            </a:r>
            <a:r>
              <a:rPr lang="en-GB" sz="1800" b="0" i="0" kern="1200" spc="0" baseline="0" err="1">
                <a:ln>
                  <a:noFill/>
                </a:ln>
                <a:solidFill>
                  <a:srgbClr val="898989"/>
                </a:solidFill>
                <a:effectLst/>
                <a:latin typeface="Calibri" panose="020F0502020204030204" pitchFamily="34" charset="0"/>
                <a:ea typeface="+mn-ea"/>
                <a:cs typeface="+mn-cs"/>
              </a:rPr>
              <a:t>uSpeaking</a:t>
            </a:r>
            <a:r>
              <a:rPr lang="en-GB" sz="1800" b="0" i="0" kern="1200" spc="0" baseline="0">
                <a:ln>
                  <a:noFill/>
                </a:ln>
                <a:solidFill>
                  <a:srgbClr val="898989"/>
                </a:solidFill>
                <a:effectLst/>
                <a:latin typeface="Calibri" panose="020F0502020204030204" pitchFamily="34" charset="0"/>
                <a:ea typeface="+mn-ea"/>
                <a:cs typeface="+mn-cs"/>
              </a:rPr>
              <a:t> 2024,  </a:t>
            </a:r>
            <a:r>
              <a:rPr lang="en-GB" sz="1800" b="0" i="0" kern="1200" spc="0" baseline="0" dirty="0">
                <a:ln>
                  <a:noFill/>
                </a:ln>
                <a:solidFill>
                  <a:srgbClr val="898989"/>
                </a:solidFill>
                <a:effectLst/>
                <a:latin typeface="Calibri" panose="020F0502020204030204" pitchFamily="34" charset="0"/>
                <a:ea typeface="+mn-ea"/>
                <a:cs typeface="+mn-cs"/>
              </a:rPr>
              <a:t>All rights reserved</a:t>
            </a:r>
            <a:endParaRPr lang="en-GB" dirty="0">
              <a:effectLst/>
            </a:endParaRPr>
          </a:p>
        </p:txBody>
      </p:sp>
    </p:spTree>
    <p:extLst>
      <p:ext uri="{BB962C8B-B14F-4D97-AF65-F5344CB8AC3E}">
        <p14:creationId xmlns:p14="http://schemas.microsoft.com/office/powerpoint/2010/main" val="1523058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2238</TotalTime>
  <Words>776</Words>
  <Application>Microsoft Office PowerPoint</Application>
  <PresentationFormat>Widescreen</PresentationFormat>
  <Paragraphs>78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Corporate communication</vt:lpstr>
      <vt:lpstr>Warm up</vt:lpstr>
      <vt:lpstr>Introduction to Email Structure</vt:lpstr>
      <vt:lpstr>Example</vt:lpstr>
      <vt:lpstr>Explanation of Structure</vt:lpstr>
      <vt:lpstr>Key Phrases for Effective Communication</vt:lpstr>
      <vt:lpstr>Pair Work or Group Activity</vt:lpstr>
      <vt:lpstr>Peer Review</vt:lpstr>
      <vt:lpstr>Discussion Questions</vt:lpstr>
      <vt:lpstr>Delayed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dc:title>
  <dc:creator>Clarke, Theodore James Dalgliesh</dc:creator>
  <cp:lastModifiedBy>Clarke, Theodore James Dalgliesh</cp:lastModifiedBy>
  <cp:revision>40</cp:revision>
  <dcterms:created xsi:type="dcterms:W3CDTF">2024-05-27T11:38:08Z</dcterms:created>
  <dcterms:modified xsi:type="dcterms:W3CDTF">2024-08-15T11:50:37Z</dcterms:modified>
</cp:coreProperties>
</file>