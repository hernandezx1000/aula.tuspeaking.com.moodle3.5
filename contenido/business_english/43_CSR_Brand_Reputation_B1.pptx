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8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5A876D-5C18-42D1-AFEA-F5C58C1684A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34211C-74F5-4FC3-85C6-01A9BBCF6B61}">
      <dgm:prSet/>
      <dgm:spPr/>
      <dgm:t>
        <a:bodyPr/>
        <a:lstStyle/>
        <a:p>
          <a:r>
            <a:rPr lang="en-US" b="0" i="0" baseline="0"/>
            <a:t>What CSR activities did the company in the case study carry out?</a:t>
          </a:r>
          <a:endParaRPr lang="en-US"/>
        </a:p>
      </dgm:t>
    </dgm:pt>
    <dgm:pt modelId="{F90DEAFA-FB6E-4025-8C35-A47EAD0729EA}" type="parTrans" cxnId="{AA4958F1-6041-4078-B546-05F51E14A5A0}">
      <dgm:prSet/>
      <dgm:spPr/>
      <dgm:t>
        <a:bodyPr/>
        <a:lstStyle/>
        <a:p>
          <a:endParaRPr lang="en-US"/>
        </a:p>
      </dgm:t>
    </dgm:pt>
    <dgm:pt modelId="{8AD885A3-BD06-4AF2-A30C-2744B2EA44E1}" type="sibTrans" cxnId="{AA4958F1-6041-4078-B546-05F51E14A5A0}">
      <dgm:prSet/>
      <dgm:spPr/>
      <dgm:t>
        <a:bodyPr/>
        <a:lstStyle/>
        <a:p>
          <a:endParaRPr lang="en-US"/>
        </a:p>
      </dgm:t>
    </dgm:pt>
    <dgm:pt modelId="{A1103EDF-91BF-4334-9069-130E10D15978}">
      <dgm:prSet/>
      <dgm:spPr/>
      <dgm:t>
        <a:bodyPr/>
        <a:lstStyle/>
        <a:p>
          <a:r>
            <a:rPr lang="en-US" b="0" i="0" baseline="0"/>
            <a:t>How did these activities improve the company's reputation?</a:t>
          </a:r>
          <a:endParaRPr lang="en-US"/>
        </a:p>
      </dgm:t>
    </dgm:pt>
    <dgm:pt modelId="{63F7C08B-91EF-433B-B3B9-3D5FE93526B4}" type="parTrans" cxnId="{141B8CD2-B0E5-4610-9B83-129FC1F2F0C5}">
      <dgm:prSet/>
      <dgm:spPr/>
      <dgm:t>
        <a:bodyPr/>
        <a:lstStyle/>
        <a:p>
          <a:endParaRPr lang="en-US"/>
        </a:p>
      </dgm:t>
    </dgm:pt>
    <dgm:pt modelId="{7EE4DA68-11E9-44B3-97BA-67D995750FCF}" type="sibTrans" cxnId="{141B8CD2-B0E5-4610-9B83-129FC1F2F0C5}">
      <dgm:prSet/>
      <dgm:spPr/>
      <dgm:t>
        <a:bodyPr/>
        <a:lstStyle/>
        <a:p>
          <a:endParaRPr lang="en-US"/>
        </a:p>
      </dgm:t>
    </dgm:pt>
    <dgm:pt modelId="{56D9FED6-B7F3-4BFE-B897-A926DDEBE84D}">
      <dgm:prSet/>
      <dgm:spPr/>
      <dgm:t>
        <a:bodyPr/>
        <a:lstStyle/>
        <a:p>
          <a:r>
            <a:rPr lang="en-US" b="0" i="0" baseline="0"/>
            <a:t>What made these CSR initiatives successful? Was it the way they were implemented or something else? </a:t>
          </a:r>
          <a:endParaRPr lang="en-US"/>
        </a:p>
      </dgm:t>
    </dgm:pt>
    <dgm:pt modelId="{32FADC3D-DF5D-430E-B6C1-4D27BAD2F090}" type="parTrans" cxnId="{464AFDD5-CD9D-4007-A3EB-682342DB1AE8}">
      <dgm:prSet/>
      <dgm:spPr/>
      <dgm:t>
        <a:bodyPr/>
        <a:lstStyle/>
        <a:p>
          <a:endParaRPr lang="en-US"/>
        </a:p>
      </dgm:t>
    </dgm:pt>
    <dgm:pt modelId="{7D8B9F76-50AA-468B-B797-C3743FA640B0}" type="sibTrans" cxnId="{464AFDD5-CD9D-4007-A3EB-682342DB1AE8}">
      <dgm:prSet/>
      <dgm:spPr/>
      <dgm:t>
        <a:bodyPr/>
        <a:lstStyle/>
        <a:p>
          <a:endParaRPr lang="en-US"/>
        </a:p>
      </dgm:t>
    </dgm:pt>
    <dgm:pt modelId="{DBBD4540-6468-405B-9823-378336AFCF2D}" type="pres">
      <dgm:prSet presAssocID="{125A876D-5C18-42D1-AFEA-F5C58C1684A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7067F48-6C8D-4CD3-BA69-BE12674C55D5}" type="pres">
      <dgm:prSet presAssocID="{3A34211C-74F5-4FC3-85C6-01A9BBCF6B61}" presName="hierRoot1" presStyleCnt="0"/>
      <dgm:spPr/>
    </dgm:pt>
    <dgm:pt modelId="{34AAA042-4C0F-41A0-9BFA-9ACD03EE0C77}" type="pres">
      <dgm:prSet presAssocID="{3A34211C-74F5-4FC3-85C6-01A9BBCF6B61}" presName="composite" presStyleCnt="0"/>
      <dgm:spPr/>
    </dgm:pt>
    <dgm:pt modelId="{7EC1F2DB-F1BE-44DD-AD3B-5A19B0A0C5A3}" type="pres">
      <dgm:prSet presAssocID="{3A34211C-74F5-4FC3-85C6-01A9BBCF6B61}" presName="background" presStyleLbl="node0" presStyleIdx="0" presStyleCnt="3"/>
      <dgm:spPr/>
    </dgm:pt>
    <dgm:pt modelId="{8C7D1592-3D9C-4585-AAFB-97DDDFA59318}" type="pres">
      <dgm:prSet presAssocID="{3A34211C-74F5-4FC3-85C6-01A9BBCF6B61}" presName="text" presStyleLbl="fgAcc0" presStyleIdx="0" presStyleCnt="3">
        <dgm:presLayoutVars>
          <dgm:chPref val="3"/>
        </dgm:presLayoutVars>
      </dgm:prSet>
      <dgm:spPr/>
    </dgm:pt>
    <dgm:pt modelId="{B4D16280-3FEF-4D97-BC79-8C06D871A0CE}" type="pres">
      <dgm:prSet presAssocID="{3A34211C-74F5-4FC3-85C6-01A9BBCF6B61}" presName="hierChild2" presStyleCnt="0"/>
      <dgm:spPr/>
    </dgm:pt>
    <dgm:pt modelId="{96B62484-F345-4ADE-AB6E-1B98A6462DD7}" type="pres">
      <dgm:prSet presAssocID="{A1103EDF-91BF-4334-9069-130E10D15978}" presName="hierRoot1" presStyleCnt="0"/>
      <dgm:spPr/>
    </dgm:pt>
    <dgm:pt modelId="{1121A06B-4965-4944-93F6-F0CF1195F6F4}" type="pres">
      <dgm:prSet presAssocID="{A1103EDF-91BF-4334-9069-130E10D15978}" presName="composite" presStyleCnt="0"/>
      <dgm:spPr/>
    </dgm:pt>
    <dgm:pt modelId="{2CFDFDD8-17C8-481E-87CB-14E6F5B88AF9}" type="pres">
      <dgm:prSet presAssocID="{A1103EDF-91BF-4334-9069-130E10D15978}" presName="background" presStyleLbl="node0" presStyleIdx="1" presStyleCnt="3"/>
      <dgm:spPr/>
    </dgm:pt>
    <dgm:pt modelId="{92ADAE38-CAE9-4BF5-B148-7C672E6D5750}" type="pres">
      <dgm:prSet presAssocID="{A1103EDF-91BF-4334-9069-130E10D15978}" presName="text" presStyleLbl="fgAcc0" presStyleIdx="1" presStyleCnt="3">
        <dgm:presLayoutVars>
          <dgm:chPref val="3"/>
        </dgm:presLayoutVars>
      </dgm:prSet>
      <dgm:spPr/>
    </dgm:pt>
    <dgm:pt modelId="{5D4033B8-F177-4E36-A207-D997764ACECA}" type="pres">
      <dgm:prSet presAssocID="{A1103EDF-91BF-4334-9069-130E10D15978}" presName="hierChild2" presStyleCnt="0"/>
      <dgm:spPr/>
    </dgm:pt>
    <dgm:pt modelId="{82AC0E8E-B124-4389-B517-D7DA9B85ED56}" type="pres">
      <dgm:prSet presAssocID="{56D9FED6-B7F3-4BFE-B897-A926DDEBE84D}" presName="hierRoot1" presStyleCnt="0"/>
      <dgm:spPr/>
    </dgm:pt>
    <dgm:pt modelId="{012E5DE6-01DB-4061-B61F-3AEDB3819776}" type="pres">
      <dgm:prSet presAssocID="{56D9FED6-B7F3-4BFE-B897-A926DDEBE84D}" presName="composite" presStyleCnt="0"/>
      <dgm:spPr/>
    </dgm:pt>
    <dgm:pt modelId="{5A56C1FC-4F22-4BA7-B9B4-F4A72A087A52}" type="pres">
      <dgm:prSet presAssocID="{56D9FED6-B7F3-4BFE-B897-A926DDEBE84D}" presName="background" presStyleLbl="node0" presStyleIdx="2" presStyleCnt="3"/>
      <dgm:spPr/>
    </dgm:pt>
    <dgm:pt modelId="{C7740C7C-0E86-40EB-AC42-9AAD0085CA04}" type="pres">
      <dgm:prSet presAssocID="{56D9FED6-B7F3-4BFE-B897-A926DDEBE84D}" presName="text" presStyleLbl="fgAcc0" presStyleIdx="2" presStyleCnt="3">
        <dgm:presLayoutVars>
          <dgm:chPref val="3"/>
        </dgm:presLayoutVars>
      </dgm:prSet>
      <dgm:spPr/>
    </dgm:pt>
    <dgm:pt modelId="{9094C1D6-C136-4D2F-AEB0-3689CDF8F39F}" type="pres">
      <dgm:prSet presAssocID="{56D9FED6-B7F3-4BFE-B897-A926DDEBE84D}" presName="hierChild2" presStyleCnt="0"/>
      <dgm:spPr/>
    </dgm:pt>
  </dgm:ptLst>
  <dgm:cxnLst>
    <dgm:cxn modelId="{E8802C15-5BD0-4396-9C68-81B0CADB8D67}" type="presOf" srcId="{3A34211C-74F5-4FC3-85C6-01A9BBCF6B61}" destId="{8C7D1592-3D9C-4585-AAFB-97DDDFA59318}" srcOrd="0" destOrd="0" presId="urn:microsoft.com/office/officeart/2005/8/layout/hierarchy1"/>
    <dgm:cxn modelId="{4B3D2022-4C36-49B1-8D20-CA3AF586F769}" type="presOf" srcId="{A1103EDF-91BF-4334-9069-130E10D15978}" destId="{92ADAE38-CAE9-4BF5-B148-7C672E6D5750}" srcOrd="0" destOrd="0" presId="urn:microsoft.com/office/officeart/2005/8/layout/hierarchy1"/>
    <dgm:cxn modelId="{22CF2899-B7AA-42EC-BFA9-3ED1CDF52A16}" type="presOf" srcId="{56D9FED6-B7F3-4BFE-B897-A926DDEBE84D}" destId="{C7740C7C-0E86-40EB-AC42-9AAD0085CA04}" srcOrd="0" destOrd="0" presId="urn:microsoft.com/office/officeart/2005/8/layout/hierarchy1"/>
    <dgm:cxn modelId="{141B8CD2-B0E5-4610-9B83-129FC1F2F0C5}" srcId="{125A876D-5C18-42D1-AFEA-F5C58C1684AA}" destId="{A1103EDF-91BF-4334-9069-130E10D15978}" srcOrd="1" destOrd="0" parTransId="{63F7C08B-91EF-433B-B3B9-3D5FE93526B4}" sibTransId="{7EE4DA68-11E9-44B3-97BA-67D995750FCF}"/>
    <dgm:cxn modelId="{464AFDD5-CD9D-4007-A3EB-682342DB1AE8}" srcId="{125A876D-5C18-42D1-AFEA-F5C58C1684AA}" destId="{56D9FED6-B7F3-4BFE-B897-A926DDEBE84D}" srcOrd="2" destOrd="0" parTransId="{32FADC3D-DF5D-430E-B6C1-4D27BAD2F090}" sibTransId="{7D8B9F76-50AA-468B-B797-C3743FA640B0}"/>
    <dgm:cxn modelId="{9AC041F1-D7B8-4A55-B8FC-6DBAE28A8D8E}" type="presOf" srcId="{125A876D-5C18-42D1-AFEA-F5C58C1684AA}" destId="{DBBD4540-6468-405B-9823-378336AFCF2D}" srcOrd="0" destOrd="0" presId="urn:microsoft.com/office/officeart/2005/8/layout/hierarchy1"/>
    <dgm:cxn modelId="{AA4958F1-6041-4078-B546-05F51E14A5A0}" srcId="{125A876D-5C18-42D1-AFEA-F5C58C1684AA}" destId="{3A34211C-74F5-4FC3-85C6-01A9BBCF6B61}" srcOrd="0" destOrd="0" parTransId="{F90DEAFA-FB6E-4025-8C35-A47EAD0729EA}" sibTransId="{8AD885A3-BD06-4AF2-A30C-2744B2EA44E1}"/>
    <dgm:cxn modelId="{AE18FB5E-85CA-4CD5-8CC2-67D64BF3FF03}" type="presParOf" srcId="{DBBD4540-6468-405B-9823-378336AFCF2D}" destId="{97067F48-6C8D-4CD3-BA69-BE12674C55D5}" srcOrd="0" destOrd="0" presId="urn:microsoft.com/office/officeart/2005/8/layout/hierarchy1"/>
    <dgm:cxn modelId="{C8210C6C-3A8E-4037-90A5-D47715BBD4AA}" type="presParOf" srcId="{97067F48-6C8D-4CD3-BA69-BE12674C55D5}" destId="{34AAA042-4C0F-41A0-9BFA-9ACD03EE0C77}" srcOrd="0" destOrd="0" presId="urn:microsoft.com/office/officeart/2005/8/layout/hierarchy1"/>
    <dgm:cxn modelId="{3B0FA549-3A66-4BED-8AD9-092D7844B528}" type="presParOf" srcId="{34AAA042-4C0F-41A0-9BFA-9ACD03EE0C77}" destId="{7EC1F2DB-F1BE-44DD-AD3B-5A19B0A0C5A3}" srcOrd="0" destOrd="0" presId="urn:microsoft.com/office/officeart/2005/8/layout/hierarchy1"/>
    <dgm:cxn modelId="{D11EC846-8D72-4D58-A1A5-7790DC1EFF23}" type="presParOf" srcId="{34AAA042-4C0F-41A0-9BFA-9ACD03EE0C77}" destId="{8C7D1592-3D9C-4585-AAFB-97DDDFA59318}" srcOrd="1" destOrd="0" presId="urn:microsoft.com/office/officeart/2005/8/layout/hierarchy1"/>
    <dgm:cxn modelId="{40453DAB-2062-4C36-B063-0BF7BE51CF7A}" type="presParOf" srcId="{97067F48-6C8D-4CD3-BA69-BE12674C55D5}" destId="{B4D16280-3FEF-4D97-BC79-8C06D871A0CE}" srcOrd="1" destOrd="0" presId="urn:microsoft.com/office/officeart/2005/8/layout/hierarchy1"/>
    <dgm:cxn modelId="{F3B58762-05C0-4672-B637-2D26833BCEAB}" type="presParOf" srcId="{DBBD4540-6468-405B-9823-378336AFCF2D}" destId="{96B62484-F345-4ADE-AB6E-1B98A6462DD7}" srcOrd="1" destOrd="0" presId="urn:microsoft.com/office/officeart/2005/8/layout/hierarchy1"/>
    <dgm:cxn modelId="{8AB2FAB9-A603-4526-A13A-94043AEE33AD}" type="presParOf" srcId="{96B62484-F345-4ADE-AB6E-1B98A6462DD7}" destId="{1121A06B-4965-4944-93F6-F0CF1195F6F4}" srcOrd="0" destOrd="0" presId="urn:microsoft.com/office/officeart/2005/8/layout/hierarchy1"/>
    <dgm:cxn modelId="{6CD482C1-B59B-4043-8F3D-B5FA338A1677}" type="presParOf" srcId="{1121A06B-4965-4944-93F6-F0CF1195F6F4}" destId="{2CFDFDD8-17C8-481E-87CB-14E6F5B88AF9}" srcOrd="0" destOrd="0" presId="urn:microsoft.com/office/officeart/2005/8/layout/hierarchy1"/>
    <dgm:cxn modelId="{EAF8D08B-1C96-4924-8B1E-6A3484EF08AF}" type="presParOf" srcId="{1121A06B-4965-4944-93F6-F0CF1195F6F4}" destId="{92ADAE38-CAE9-4BF5-B148-7C672E6D5750}" srcOrd="1" destOrd="0" presId="urn:microsoft.com/office/officeart/2005/8/layout/hierarchy1"/>
    <dgm:cxn modelId="{DAA58FC2-E0D7-49DA-A400-67337F4D9F79}" type="presParOf" srcId="{96B62484-F345-4ADE-AB6E-1B98A6462DD7}" destId="{5D4033B8-F177-4E36-A207-D997764ACECA}" srcOrd="1" destOrd="0" presId="urn:microsoft.com/office/officeart/2005/8/layout/hierarchy1"/>
    <dgm:cxn modelId="{741D6513-EED2-485E-8E9A-0707F72F401A}" type="presParOf" srcId="{DBBD4540-6468-405B-9823-378336AFCF2D}" destId="{82AC0E8E-B124-4389-B517-D7DA9B85ED56}" srcOrd="2" destOrd="0" presId="urn:microsoft.com/office/officeart/2005/8/layout/hierarchy1"/>
    <dgm:cxn modelId="{7C6AE51A-634E-4AE8-A95F-48ED891EF6B4}" type="presParOf" srcId="{82AC0E8E-B124-4389-B517-D7DA9B85ED56}" destId="{012E5DE6-01DB-4061-B61F-3AEDB3819776}" srcOrd="0" destOrd="0" presId="urn:microsoft.com/office/officeart/2005/8/layout/hierarchy1"/>
    <dgm:cxn modelId="{2F562E41-8FC7-427A-84F5-F6A08A7FE715}" type="presParOf" srcId="{012E5DE6-01DB-4061-B61F-3AEDB3819776}" destId="{5A56C1FC-4F22-4BA7-B9B4-F4A72A087A52}" srcOrd="0" destOrd="0" presId="urn:microsoft.com/office/officeart/2005/8/layout/hierarchy1"/>
    <dgm:cxn modelId="{42ED8E21-E511-4A36-948C-EFF99EFCED84}" type="presParOf" srcId="{012E5DE6-01DB-4061-B61F-3AEDB3819776}" destId="{C7740C7C-0E86-40EB-AC42-9AAD0085CA04}" srcOrd="1" destOrd="0" presId="urn:microsoft.com/office/officeart/2005/8/layout/hierarchy1"/>
    <dgm:cxn modelId="{51CA5908-3917-4BE4-896A-1D812D38C182}" type="presParOf" srcId="{82AC0E8E-B124-4389-B517-D7DA9B85ED56}" destId="{9094C1D6-C136-4D2F-AEB0-3689CDF8F3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1F2DB-F1BE-44DD-AD3B-5A19B0A0C5A3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D1592-3D9C-4585-AAFB-97DDDFA59318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What CSR activities did the company in the case study carry out?</a:t>
          </a:r>
          <a:endParaRPr lang="en-US" sz="2200" kern="1200"/>
        </a:p>
      </dsp:txBody>
      <dsp:txXfrm>
        <a:off x="398656" y="1088253"/>
        <a:ext cx="2959127" cy="1837317"/>
      </dsp:txXfrm>
    </dsp:sp>
    <dsp:sp modelId="{2CFDFDD8-17C8-481E-87CB-14E6F5B88AF9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DAE38-CAE9-4BF5-B148-7C672E6D5750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How did these activities improve the company's reputation?</a:t>
          </a:r>
          <a:endParaRPr lang="en-US" sz="2200" kern="1200"/>
        </a:p>
      </dsp:txBody>
      <dsp:txXfrm>
        <a:off x="4155097" y="1088253"/>
        <a:ext cx="2959127" cy="1837317"/>
      </dsp:txXfrm>
    </dsp:sp>
    <dsp:sp modelId="{5A56C1FC-4F22-4BA7-B9B4-F4A72A087A52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40C7C-0E86-40EB-AC42-9AAD0085CA04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What made these CSR initiatives successful? Was it the way they were implemented or something else? </a:t>
          </a:r>
          <a:endParaRPr lang="en-US" sz="22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C5FC-6D57-EAD2-8799-552932480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85887-BC2F-96B5-E0D1-E5252ABEE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6F410-7337-82C9-88F8-5F17EE8B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7B87-53D7-252F-4AF0-CF0AD2EC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8CE54-71C6-31B7-9E95-34267674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823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B008-9E4F-36F6-D294-6AF94FDF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8C4B-DEA8-2E3A-3F7E-DD9CD8884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47020-DE41-0A20-EE92-52D23BBB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E8B44-4F93-B5E2-6BAB-55FE347A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4AF1C-C3BC-F099-DFDC-031DB9FB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530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6AFD-0292-28B4-48DA-D107C737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D2F66-64DB-D05F-3ABE-1FFA1CED7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F5945-D0AE-C218-03A1-405DC62F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29971-6FEB-4A8E-C938-F7302E55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95198-91C3-6DF4-DCF0-243B2162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13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49EB-721E-C6C6-9D4B-B09F8FA6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596C-9790-E9BD-9050-EB95278E1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0D3BF-FB6C-9529-757D-E20211803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6868C-DD44-3263-4071-1918EFDA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58E7F-F95A-E6A0-E0B8-E93A0EA5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248FF-596A-DF5A-0B2C-0BF1CA49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197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48D5-9A81-DEAB-A169-84E78B32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F521-EA80-2656-2F66-4AD70D763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F3964-06E8-2E3B-AB65-E3DDE8989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49C99-E63A-967A-3674-4CB0AE9B4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A9F22-BD08-0C75-9009-BA33EEC47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E6AA5-EF9E-3FDC-803E-FF493E79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4DB0A-1585-FD08-48A9-0F91640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6CFAC-66D4-CC1A-19F3-673EEE54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492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0CFD-6C85-A085-2B9C-F0AF1F2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2A5D8-E869-5F1D-F2E2-3A9B45C1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ED394-FB2E-AB8A-66AF-9A18C754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89CFB-613A-452F-F2E0-E9E94820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624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9AFA8-4BD5-9AF7-90FC-D092015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1FBB6-55C6-5CDF-88F4-BEADA552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BD2F0-4E2B-253B-0E96-FE212464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992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869F-EC5F-6C94-76B2-10353D91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D1ED8-4CA0-D97B-9CF2-8B86C7971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C3B98-0869-7929-0FE8-8925C9558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4735C-B59E-4258-2702-AA53CC3C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5DF63-0EC3-825A-F064-0F29E6A9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6E9DC-6ED1-169F-70A4-EA38E7D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AE59-8AC1-96B1-3CE9-A0D4FF8A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950F2-2490-EF61-CA26-C5F653E56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8F227-703C-02E6-CDDF-D6567CAEB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63A0D-7EBE-1900-4D51-9A7B80F8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8129-1A0F-0D1F-B870-7727C0C2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5AECA-2992-78AF-A203-F141049B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112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B840-CAEA-43E5-8F5E-7CB281AA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C93EA-34AF-D6C4-2670-579262778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AB165-20EB-662C-404E-2FC13231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0380B-65DE-8A73-54D6-8381181C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22BD4-2F42-4113-26A0-EF778D38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68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EFDA2-845E-31D1-8644-DEFEC3C27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52BE0-D511-7735-B08F-CC6883E50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079C4-C794-1BC7-3CA1-585E4DA4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70537-4CEF-52FC-DF64-83FE9237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24C2-0389-AAC3-D7EF-0CF3DC21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519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F6258-59DB-D502-2310-F5E6CA954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FB25F-05D3-5D68-F41D-C4C4489F3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B5EA1-D7AB-395B-7E38-9FD252650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FAC8-E278-AC78-7372-2A9B61DB5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3BD0F-3768-2266-1A60-90767DC1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39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9F8A-3458-0384-D3DE-6A953FEF5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Integrating sustainability into business </a:t>
            </a:r>
            <a:r>
              <a:rPr lang="en-US" altLang="en-US" dirty="0">
                <a:solidFill>
                  <a:srgbClr val="333333"/>
                </a:solidFill>
              </a:rPr>
              <a:t>s</a:t>
            </a: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trategy</a:t>
            </a:r>
            <a:r>
              <a:rPr kumimoji="0" lang="en-US" altLang="en-US" sz="5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9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1C2AD-45C1-9E0A-1F74-60E9AAD105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Business English B1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8ECA0-33E9-141C-6226-3CEEEEA04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691" y="360363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BF2F2-9290-F3AC-390E-225DA13AEF5D}"/>
              </a:ext>
            </a:extLst>
          </p:cNvPr>
          <p:cNvSpPr txBox="1"/>
          <p:nvPr/>
        </p:nvSpPr>
        <p:spPr>
          <a:xfrm>
            <a:off x="585369" y="59635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800" b="0" i="0" kern="1200" spc="0" baseline="0" dirty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TuSpeaking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All rights reserved</a:t>
            </a:r>
            <a:endParaRPr lang="es-ES" dirty="0"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B8728C-D0F4-541F-78BB-ED65C690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1CAF170-C9CA-7438-7D22-281210CEC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99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rchitects discussing project at workstation">
            <a:extLst>
              <a:ext uri="{FF2B5EF4-FFF2-40B4-BE49-F238E27FC236}">
                <a16:creationId xmlns:a16="http://schemas.microsoft.com/office/drawing/2014/main" id="{F995D3F0-659B-82F7-92CF-9EE17C69B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B2BC9-BE8A-F9DA-9E9B-81F1E8119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Warm up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E15F8-F0AB-7A9E-5B5E-716519C57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GB" sz="2000"/>
              <a:t>What do you think Corporate Social Responsibility (CSR) means?</a:t>
            </a:r>
          </a:p>
          <a:p>
            <a:endParaRPr lang="en-GB" sz="2000"/>
          </a:p>
          <a:p>
            <a:r>
              <a:rPr lang="en-GB" sz="2000"/>
              <a:t>Why might it be important for a company?</a:t>
            </a:r>
          </a:p>
        </p:txBody>
      </p:sp>
    </p:spTree>
    <p:extLst>
      <p:ext uri="{BB962C8B-B14F-4D97-AF65-F5344CB8AC3E}">
        <p14:creationId xmlns:p14="http://schemas.microsoft.com/office/powerpoint/2010/main" val="311164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5455D-4547-9198-2901-B4D6CCB15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89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20D1C-EAB9-C748-8D66-33C984C8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Conversation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D065D6-6FB2-E688-5707-3FC134A23B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Can you think of any companies that do good things for society?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What do they do?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How do you think helping society could make a company look better to its customers? </a:t>
            </a:r>
          </a:p>
        </p:txBody>
      </p:sp>
    </p:spTree>
    <p:extLst>
      <p:ext uri="{BB962C8B-B14F-4D97-AF65-F5344CB8AC3E}">
        <p14:creationId xmlns:p14="http://schemas.microsoft.com/office/powerpoint/2010/main" val="3316506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White puzzle with one red piece">
            <a:extLst>
              <a:ext uri="{FF2B5EF4-FFF2-40B4-BE49-F238E27FC236}">
                <a16:creationId xmlns:a16="http://schemas.microsoft.com/office/drawing/2014/main" id="{642A0B49-9B22-D2F2-6E44-0549158F2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15" r="27010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5E9A7-238D-7EEC-CB91-132A24037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/>
              <a:t>Vocabulary	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6FD438-AA1F-B7C0-2B52-476876A4C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Ethical Branding: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The company’s ethical branding strategy focuses on using fair trade materials and ensuring that workers are paid fairly.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Stakeholder Engagement: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Effective stakeholder engagement involves listening to customers, employees, and community members to address their concerns and needs.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Social Impact: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The charity’s partnership with the company had a positive social impact, helping thousands of people in need.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Reputation Management: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Reputation management strategies help companies maintain a positive public image, even during a crisis. </a:t>
            </a:r>
          </a:p>
        </p:txBody>
      </p:sp>
    </p:spTree>
    <p:extLst>
      <p:ext uri="{BB962C8B-B14F-4D97-AF65-F5344CB8AC3E}">
        <p14:creationId xmlns:p14="http://schemas.microsoft.com/office/powerpoint/2010/main" val="3690016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Shoes for Social Impact: An Interview with the Chief Strategy and Impact  Officer of TOMS">
            <a:extLst>
              <a:ext uri="{FF2B5EF4-FFF2-40B4-BE49-F238E27FC236}">
                <a16:creationId xmlns:a16="http://schemas.microsoft.com/office/drawing/2014/main" id="{7B9691C9-7D19-E269-88AC-E9734975CF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/>
          <a:stretch/>
        </p:blipFill>
        <p:spPr bwMode="auto">
          <a:xfrm>
            <a:off x="20" y="10"/>
            <a:ext cx="12191979" cy="5486390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3321" name="Rectangle 1332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9FAD2-3AFB-9DFB-74E3-E9318102B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Successful CSR initiatives</a:t>
            </a:r>
          </a:p>
        </p:txBody>
      </p:sp>
    </p:spTree>
    <p:extLst>
      <p:ext uri="{BB962C8B-B14F-4D97-AF65-F5344CB8AC3E}">
        <p14:creationId xmlns:p14="http://schemas.microsoft.com/office/powerpoint/2010/main" val="1482870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345" name="Rectangle 14344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93CC2-9BE0-638F-0340-FF9337F2A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GB" sz="4000"/>
              <a:t>TOMS Shoes</a:t>
            </a:r>
          </a:p>
        </p:txBody>
      </p:sp>
      <p:pic>
        <p:nvPicPr>
          <p:cNvPr id="14338" name="Picture 2" descr="Brand Stories: TOMS Shoes - Works Design Group">
            <a:extLst>
              <a:ext uri="{FF2B5EF4-FFF2-40B4-BE49-F238E27FC236}">
                <a16:creationId xmlns:a16="http://schemas.microsoft.com/office/drawing/2014/main" id="{6B84B6F9-28D6-62C4-01B2-C3C87AF0C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6122" y="2533173"/>
            <a:ext cx="5804955" cy="342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C5B5-418E-D760-6D4D-0842A95B6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b="1" dirty="0"/>
              <a:t>One for One Model:</a:t>
            </a:r>
            <a:endParaRPr lang="en-GB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 dirty="0"/>
              <a:t>Mission:</a:t>
            </a:r>
            <a:r>
              <a:rPr lang="en-GB" sz="1900" dirty="0"/>
              <a:t> TOMS Shoes is known for its One for One model, where for every pair of shoes purchased, the company donates a pair to a child in need.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 dirty="0"/>
              <a:t>Global Impact:</a:t>
            </a:r>
            <a:r>
              <a:rPr lang="en-GB" sz="1900" dirty="0"/>
              <a:t> This initiative has provided millions of shoes to children in over 70 countries, helping to improve health and education by protecting feet from infections and providing better access to schools.</a:t>
            </a:r>
          </a:p>
          <a:p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296779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DA111-B4E2-0B0E-55C0-01B383F2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GB" sz="4000"/>
              <a:t>Social Impact</a:t>
            </a:r>
          </a:p>
        </p:txBody>
      </p:sp>
      <p:pic>
        <p:nvPicPr>
          <p:cNvPr id="7" name="Graphic 6" descr="Footprint">
            <a:extLst>
              <a:ext uri="{FF2B5EF4-FFF2-40B4-BE49-F238E27FC236}">
                <a16:creationId xmlns:a16="http://schemas.microsoft.com/office/drawing/2014/main" id="{DA3C03C1-41AA-39FD-0ADF-AE5956336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0852" y="2357888"/>
            <a:ext cx="3775494" cy="37754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81EF8-CD83-2B70-6E9F-C3287271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300" b="1"/>
              <a:t>Beyond Shoes:</a:t>
            </a:r>
            <a:r>
              <a:rPr lang="en-GB" sz="13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/>
              <a:t>TOMS has expanded its social impact efforts beyond shoes. They have introduced similar programs for eyewear, clean water, and safe birth services.</a:t>
            </a:r>
          </a:p>
          <a:p>
            <a:pPr marL="0" indent="0">
              <a:buNone/>
            </a:pPr>
            <a:r>
              <a:rPr lang="en-GB" sz="1300" b="1"/>
              <a:t>Eyewear:</a:t>
            </a:r>
            <a:r>
              <a:rPr lang="en-GB" sz="13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/>
              <a:t>For every pair of glasses sold, TOMS provides eye care services, including prescription glasses and medical treatment, to people in need.</a:t>
            </a:r>
          </a:p>
          <a:p>
            <a:pPr marL="0" indent="0">
              <a:buNone/>
            </a:pPr>
            <a:r>
              <a:rPr lang="en-GB" sz="1300" b="1"/>
              <a:t>Water:</a:t>
            </a:r>
            <a:r>
              <a:rPr lang="en-GB" sz="13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/>
              <a:t>They fund water projects to provide clean drinking water to communities around the world.</a:t>
            </a:r>
          </a:p>
          <a:p>
            <a:pPr marL="0" indent="0">
              <a:buNone/>
            </a:pPr>
            <a:r>
              <a:rPr lang="en-GB" sz="1300" b="1"/>
              <a:t>Safe Birth:</a:t>
            </a:r>
            <a:r>
              <a:rPr lang="en-GB" sz="13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/>
              <a:t>TOMS also supports programs that provide trained birth attendants and medical supplies to ensure safer deliveries for mothers in developing countries.</a:t>
            </a:r>
          </a:p>
          <a:p>
            <a:endParaRPr lang="en-GB" sz="1300"/>
          </a:p>
        </p:txBody>
      </p:sp>
    </p:spTree>
    <p:extLst>
      <p:ext uri="{BB962C8B-B14F-4D97-AF65-F5344CB8AC3E}">
        <p14:creationId xmlns:p14="http://schemas.microsoft.com/office/powerpoint/2010/main" val="130788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C4786-D3C7-12EB-EC59-C1F7FC90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Sustainability Efforts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1C05-FEBD-8455-1811-AD0F4CA86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/>
              <a:t>Sustainable Materials:</a:t>
            </a:r>
            <a:r>
              <a:rPr lang="en-GB" sz="20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/>
              <a:t>TOMS is working towards using more sustainable materials in their products. They focus on reducing their environmental impact by using recycled and eco-friendly materials.</a:t>
            </a:r>
          </a:p>
          <a:p>
            <a:pPr marL="0" indent="0">
              <a:buNone/>
            </a:pPr>
            <a:r>
              <a:rPr lang="en-GB" sz="2000" b="1"/>
              <a:t>Community and Social Justice:</a:t>
            </a:r>
            <a:endParaRPr lang="en-GB" sz="200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Advocacy:</a:t>
            </a:r>
            <a:r>
              <a:rPr lang="en-GB" sz="2000"/>
              <a:t> TOMS supports various social justice initiatives, including mental health awareness and supporting marginalized communities through their grant programs and partnerships with nonprofits.</a:t>
            </a: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56117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773C7-BC40-7B59-26E1-2A7E270C4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Conversation	</a:t>
            </a:r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A6BFEFE5-66DD-5DD7-D806-78EED7906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56809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581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1" name="Rectangle 1639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3" name="Rectangle 1639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95" name="Rectangle 1639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7" name="Rectangle 1639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99" name="Freeform: Shape 1639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5C0C0-B0A7-A639-F636-E49EFD66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 &amp; Jerry’s CSR Initiatives</a:t>
            </a:r>
          </a:p>
        </p:txBody>
      </p:sp>
      <p:pic>
        <p:nvPicPr>
          <p:cNvPr id="16386" name="Picture 2" descr="Sabores clásicos | Ben &amp; Jerry's">
            <a:extLst>
              <a:ext uri="{FF2B5EF4-FFF2-40B4-BE49-F238E27FC236}">
                <a16:creationId xmlns:a16="http://schemas.microsoft.com/office/drawing/2014/main" id="{8C29DCD4-A80E-AD6E-AD03-55AD7143F6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017407"/>
            <a:ext cx="7225748" cy="482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39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A27C5-6B31-34C1-ED21-ECEA5B98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Social and Environmental Mission</a:t>
            </a:r>
            <a:endParaRPr lang="en-GB" sz="3600">
              <a:solidFill>
                <a:schemeClr val="tx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31075E-0781-F16B-90A9-7CBDD8054B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672" y="2421682"/>
            <a:ext cx="4977578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Mission: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Ben &amp; Jerry’s has a long-standing commitment to social and environmental causes. Their mission is to make the world a better place through their business practices.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Environmental Initiatives: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The company focuses on sustainability in several ways: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Sustainable Sourcing: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They source Fairtrade-certified ingredients, including cocoa and vanilla, ensuring fair wages and working conditions for farmers.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Environmental Impact Reduction: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Ben &amp; Jerry’s works to reduce their carbon footprint by using renewable energy in their production facilities and minimizing waste through recycling and composting.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Graphic 7" descr="Earth Globe Americas">
            <a:extLst>
              <a:ext uri="{FF2B5EF4-FFF2-40B4-BE49-F238E27FC236}">
                <a16:creationId xmlns:a16="http://schemas.microsoft.com/office/drawing/2014/main" id="{2871DF58-9DCE-3C3B-FE3E-F4FF806A2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26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E1771-4491-024F-6BC4-7FFD87F7F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Ben and Jerry’s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A006B-BB37-6C47-FC12-DF40937A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500" b="1" dirty="0">
                <a:solidFill>
                  <a:schemeClr val="tx2"/>
                </a:solidFill>
              </a:rPr>
              <a:t>Social Causes:</a:t>
            </a:r>
            <a:r>
              <a:rPr lang="en-GB" sz="1500" dirty="0">
                <a:solidFill>
                  <a:schemeClr val="tx2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Ben &amp; Jerry’s actively engages in social justice issues. They have been vocal advocates for climate justice, racial equity, and LGBTQ+ rights.</a:t>
            </a:r>
          </a:p>
          <a:p>
            <a:pPr marL="0" indent="0">
              <a:buNone/>
            </a:pPr>
            <a:r>
              <a:rPr lang="en-GB" sz="1500" b="1" dirty="0">
                <a:solidFill>
                  <a:schemeClr val="tx2"/>
                </a:solidFill>
              </a:rPr>
              <a:t>Campaigns:</a:t>
            </a:r>
            <a:r>
              <a:rPr lang="en-GB" sz="1500" dirty="0">
                <a:solidFill>
                  <a:schemeClr val="tx2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They run campaigns to raise awareness about various issues, such as their Justice </a:t>
            </a:r>
            <a:r>
              <a:rPr lang="en-GB" sz="1500" dirty="0" err="1">
                <a:solidFill>
                  <a:schemeClr val="tx2"/>
                </a:solidFill>
              </a:rPr>
              <a:t>ReMix’d</a:t>
            </a:r>
            <a:r>
              <a:rPr lang="en-GB" sz="1500" dirty="0">
                <a:solidFill>
                  <a:schemeClr val="tx2"/>
                </a:solidFill>
              </a:rPr>
              <a:t> </a:t>
            </a:r>
            <a:r>
              <a:rPr lang="en-GB" sz="1500" dirty="0" err="1">
                <a:solidFill>
                  <a:schemeClr val="tx2"/>
                </a:solidFill>
              </a:rPr>
              <a:t>flavor</a:t>
            </a:r>
            <a:r>
              <a:rPr lang="en-GB" sz="1500" dirty="0">
                <a:solidFill>
                  <a:schemeClr val="tx2"/>
                </a:solidFill>
              </a:rPr>
              <a:t>, which was created to support criminal justice </a:t>
            </a:r>
            <a:r>
              <a:rPr lang="en-GB" sz="1500" b="1" dirty="0">
                <a:solidFill>
                  <a:schemeClr val="tx2"/>
                </a:solidFill>
              </a:rPr>
              <a:t>Community Programs: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tx2"/>
                </a:solidFill>
              </a:rPr>
              <a:t> The company supports local communities through grants and donations to nonprofit organizations. Their Ben &amp; Jerry’s Foundation funds projects related to social and environmental justice.</a:t>
            </a:r>
          </a:p>
          <a:p>
            <a:endParaRPr lang="en-GB" sz="15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cales of Justice">
            <a:extLst>
              <a:ext uri="{FF2B5EF4-FFF2-40B4-BE49-F238E27FC236}">
                <a16:creationId xmlns:a16="http://schemas.microsoft.com/office/drawing/2014/main" id="{4ECAF7BD-8ED0-55DD-12CD-1CFDB34EC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64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A09D-687E-E50D-6A1A-5F1F2650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and 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F41CE-A751-B5C5-B756-C690E22FE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group prepares a short summary of their assigned CSR strategy, highlighting how it could improve a company's brand reputation.</a:t>
            </a:r>
          </a:p>
        </p:txBody>
      </p:sp>
    </p:spTree>
    <p:extLst>
      <p:ext uri="{BB962C8B-B14F-4D97-AF65-F5344CB8AC3E}">
        <p14:creationId xmlns:p14="http://schemas.microsoft.com/office/powerpoint/2010/main" val="77030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Light bulb on yellow background with sketched light beams and cord">
            <a:extLst>
              <a:ext uri="{FF2B5EF4-FFF2-40B4-BE49-F238E27FC236}">
                <a16:creationId xmlns:a16="http://schemas.microsoft.com/office/drawing/2014/main" id="{935F565B-A6EC-629F-C236-6D8D489A7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71" r="3613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07B6D-5511-0F3E-6A48-04C888A2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/>
              <a:t>Conversation questions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96F904-D09E-AE8A-39BE-694BE6E818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How could you use the CSR strategies discussed today in your own business ideas?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Which CSR strategy do you think would be the most important for a new company?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Why? </a:t>
            </a:r>
          </a:p>
        </p:txBody>
      </p:sp>
    </p:spTree>
    <p:extLst>
      <p:ext uri="{BB962C8B-B14F-4D97-AF65-F5344CB8AC3E}">
        <p14:creationId xmlns:p14="http://schemas.microsoft.com/office/powerpoint/2010/main" val="413197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C526-9C89-01BE-A1ED-2CD0D17E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Delayed feedback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29F1-FA1F-8085-B0AF-C47D4070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548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697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Integrating sustainability into business strategy </vt:lpstr>
      <vt:lpstr>Warm up </vt:lpstr>
      <vt:lpstr>Conversation</vt:lpstr>
      <vt:lpstr>Vocabulary </vt:lpstr>
      <vt:lpstr>Successful CSR initiatives</vt:lpstr>
      <vt:lpstr>TOMS Shoes</vt:lpstr>
      <vt:lpstr>Social Impact</vt:lpstr>
      <vt:lpstr>Sustainability Efforts</vt:lpstr>
      <vt:lpstr>Conversation </vt:lpstr>
      <vt:lpstr>Ben &amp; Jerry’s CSR Initiatives</vt:lpstr>
      <vt:lpstr>Social and Environmental Mission</vt:lpstr>
      <vt:lpstr>Ben and Jerry’s </vt:lpstr>
      <vt:lpstr>Application and Presentation </vt:lpstr>
      <vt:lpstr>Conversation questions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</dc:title>
  <dc:creator>Theo Clarke</dc:creator>
  <cp:lastModifiedBy>Clarke, Theodore James Dalgliesh</cp:lastModifiedBy>
  <cp:revision>17</cp:revision>
  <dcterms:created xsi:type="dcterms:W3CDTF">2024-03-22T11:49:07Z</dcterms:created>
  <dcterms:modified xsi:type="dcterms:W3CDTF">2024-08-14T11:16:10Z</dcterms:modified>
</cp:coreProperties>
</file>