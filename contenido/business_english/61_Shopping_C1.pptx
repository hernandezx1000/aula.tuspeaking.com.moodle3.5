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F24F4E-A1D3-4967-883A-24D0A7FCC31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7CB66C5-11A7-40D7-BB42-A0764983DCDB}">
      <dgm:prSet/>
      <dgm:spPr/>
      <dgm:t>
        <a:bodyPr/>
        <a:lstStyle/>
        <a:p>
          <a:r>
            <a:rPr lang="en-US" b="1" i="0" baseline="0"/>
            <a:t>Returning an Item:</a:t>
          </a:r>
          <a:endParaRPr lang="en-US"/>
        </a:p>
      </dgm:t>
    </dgm:pt>
    <dgm:pt modelId="{80237BB8-0B2B-40E5-BB13-7607D394E1B6}" type="parTrans" cxnId="{75FF4EA5-8E29-4844-837B-DCB045B4DAB6}">
      <dgm:prSet/>
      <dgm:spPr/>
      <dgm:t>
        <a:bodyPr/>
        <a:lstStyle/>
        <a:p>
          <a:endParaRPr lang="en-US"/>
        </a:p>
      </dgm:t>
    </dgm:pt>
    <dgm:pt modelId="{22D68E48-C8AD-4D0E-AC35-9D1C2BAFDF08}" type="sibTrans" cxnId="{75FF4EA5-8E29-4844-837B-DCB045B4DAB6}">
      <dgm:prSet/>
      <dgm:spPr/>
      <dgm:t>
        <a:bodyPr/>
        <a:lstStyle/>
        <a:p>
          <a:endParaRPr lang="en-US"/>
        </a:p>
      </dgm:t>
    </dgm:pt>
    <dgm:pt modelId="{E7768BBA-84D8-4325-800D-DCE512152E6D}">
      <dgm:prSet/>
      <dgm:spPr/>
      <dgm:t>
        <a:bodyPr/>
        <a:lstStyle/>
        <a:p>
          <a:r>
            <a:rPr lang="en-US" b="0" i="1" baseline="0"/>
            <a:t>Example Dialogue:</a:t>
          </a:r>
          <a:endParaRPr lang="en-US"/>
        </a:p>
      </dgm:t>
    </dgm:pt>
    <dgm:pt modelId="{200093C8-4F5C-48F3-9DA0-D796B6573227}" type="parTrans" cxnId="{2E28870A-7A06-4ACF-A776-5CB0051D041C}">
      <dgm:prSet/>
      <dgm:spPr/>
      <dgm:t>
        <a:bodyPr/>
        <a:lstStyle/>
        <a:p>
          <a:endParaRPr lang="en-US"/>
        </a:p>
      </dgm:t>
    </dgm:pt>
    <dgm:pt modelId="{C6F7E0CA-130F-4154-8090-2268935B3F85}" type="sibTrans" cxnId="{2E28870A-7A06-4ACF-A776-5CB0051D041C}">
      <dgm:prSet/>
      <dgm:spPr/>
      <dgm:t>
        <a:bodyPr/>
        <a:lstStyle/>
        <a:p>
          <a:endParaRPr lang="en-US"/>
        </a:p>
      </dgm:t>
    </dgm:pt>
    <dgm:pt modelId="{720B2CE7-C285-491C-982C-6E2F77AE9C6B}">
      <dgm:prSet/>
      <dgm:spPr/>
      <dgm:t>
        <a:bodyPr/>
        <a:lstStyle/>
        <a:p>
          <a:r>
            <a:rPr lang="en-US" b="0" i="0" baseline="0"/>
            <a:t>A: I'm supposed to bring the receipt when returning an item.</a:t>
          </a:r>
          <a:endParaRPr lang="en-US"/>
        </a:p>
      </dgm:t>
    </dgm:pt>
    <dgm:pt modelId="{D06475C3-61F4-4006-9BAC-DC97E1C1E6D1}" type="parTrans" cxnId="{3C50784D-6712-4D25-A01F-C4F29F375F99}">
      <dgm:prSet/>
      <dgm:spPr/>
      <dgm:t>
        <a:bodyPr/>
        <a:lstStyle/>
        <a:p>
          <a:endParaRPr lang="en-US"/>
        </a:p>
      </dgm:t>
    </dgm:pt>
    <dgm:pt modelId="{0EC60506-278B-4294-BCCF-9C3050AB1484}" type="sibTrans" cxnId="{3C50784D-6712-4D25-A01F-C4F29F375F99}">
      <dgm:prSet/>
      <dgm:spPr/>
      <dgm:t>
        <a:bodyPr/>
        <a:lstStyle/>
        <a:p>
          <a:endParaRPr lang="en-US"/>
        </a:p>
      </dgm:t>
    </dgm:pt>
    <dgm:pt modelId="{579AAA39-BAF4-45D1-8E52-93CFEC221A38}">
      <dgm:prSet/>
      <dgm:spPr/>
      <dgm:t>
        <a:bodyPr/>
        <a:lstStyle/>
        <a:p>
          <a:r>
            <a:rPr lang="en-US" b="0" i="0" baseline="0"/>
            <a:t>B: Yes, and we are supposed to return it within 30 days of purchase.</a:t>
          </a:r>
          <a:endParaRPr lang="en-US"/>
        </a:p>
      </dgm:t>
    </dgm:pt>
    <dgm:pt modelId="{EE60734E-1095-4975-841C-63B444544EC2}" type="parTrans" cxnId="{A593BFCB-E28D-4375-99A8-A50ED90DB9B3}">
      <dgm:prSet/>
      <dgm:spPr/>
      <dgm:t>
        <a:bodyPr/>
        <a:lstStyle/>
        <a:p>
          <a:endParaRPr lang="en-US"/>
        </a:p>
      </dgm:t>
    </dgm:pt>
    <dgm:pt modelId="{21C9A10A-62A8-4BDC-B944-133D6866C8AB}" type="sibTrans" cxnId="{A593BFCB-E28D-4375-99A8-A50ED90DB9B3}">
      <dgm:prSet/>
      <dgm:spPr/>
      <dgm:t>
        <a:bodyPr/>
        <a:lstStyle/>
        <a:p>
          <a:endParaRPr lang="en-US"/>
        </a:p>
      </dgm:t>
    </dgm:pt>
    <dgm:pt modelId="{B22E2652-612F-4BBA-8A46-C26086FF5668}">
      <dgm:prSet/>
      <dgm:spPr/>
      <dgm:t>
        <a:bodyPr/>
        <a:lstStyle/>
        <a:p>
          <a:r>
            <a:rPr lang="en-US" b="1" i="0" baseline="0"/>
            <a:t>Using a Gift Card:</a:t>
          </a:r>
          <a:endParaRPr lang="en-US"/>
        </a:p>
      </dgm:t>
    </dgm:pt>
    <dgm:pt modelId="{F582ECB0-37F9-48B7-9488-68CF98F804C5}" type="parTrans" cxnId="{2766E9A5-16C2-45CB-8B82-AD3BB6E8724D}">
      <dgm:prSet/>
      <dgm:spPr/>
      <dgm:t>
        <a:bodyPr/>
        <a:lstStyle/>
        <a:p>
          <a:endParaRPr lang="en-US"/>
        </a:p>
      </dgm:t>
    </dgm:pt>
    <dgm:pt modelId="{1CBD6F0B-F57B-4F3D-AA58-F337ED0ABA71}" type="sibTrans" cxnId="{2766E9A5-16C2-45CB-8B82-AD3BB6E8724D}">
      <dgm:prSet/>
      <dgm:spPr/>
      <dgm:t>
        <a:bodyPr/>
        <a:lstStyle/>
        <a:p>
          <a:endParaRPr lang="en-US"/>
        </a:p>
      </dgm:t>
    </dgm:pt>
    <dgm:pt modelId="{4F7D5A3E-B05C-4188-A466-4A8FBF701A81}">
      <dgm:prSet/>
      <dgm:spPr/>
      <dgm:t>
        <a:bodyPr/>
        <a:lstStyle/>
        <a:p>
          <a:r>
            <a:rPr lang="en-US" b="0" i="1" baseline="0"/>
            <a:t>Example Dialogue:</a:t>
          </a:r>
          <a:endParaRPr lang="en-US"/>
        </a:p>
      </dgm:t>
    </dgm:pt>
    <dgm:pt modelId="{830F2B5A-3730-4C5A-8270-4FD928C22B20}" type="parTrans" cxnId="{52F9796B-654C-4B8E-BFB8-55B0C3D8FBAD}">
      <dgm:prSet/>
      <dgm:spPr/>
      <dgm:t>
        <a:bodyPr/>
        <a:lstStyle/>
        <a:p>
          <a:endParaRPr lang="en-US"/>
        </a:p>
      </dgm:t>
    </dgm:pt>
    <dgm:pt modelId="{BADCB26B-BF59-49DD-A44B-359D2714B354}" type="sibTrans" cxnId="{52F9796B-654C-4B8E-BFB8-55B0C3D8FBAD}">
      <dgm:prSet/>
      <dgm:spPr/>
      <dgm:t>
        <a:bodyPr/>
        <a:lstStyle/>
        <a:p>
          <a:endParaRPr lang="en-US"/>
        </a:p>
      </dgm:t>
    </dgm:pt>
    <dgm:pt modelId="{BB595A33-E66E-4E87-A7EA-50F9ADD84FEC}">
      <dgm:prSet/>
      <dgm:spPr/>
      <dgm:t>
        <a:bodyPr/>
        <a:lstStyle/>
        <a:p>
          <a:r>
            <a:rPr lang="en-US" b="0" i="0" baseline="0"/>
            <a:t>A: Are we supposed to activate the gift card before using it?</a:t>
          </a:r>
          <a:endParaRPr lang="en-US"/>
        </a:p>
      </dgm:t>
    </dgm:pt>
    <dgm:pt modelId="{2F03160E-C9C7-4B7A-BF94-BBB3E51821E7}" type="parTrans" cxnId="{22815446-DACD-4187-9048-741E9D5048A9}">
      <dgm:prSet/>
      <dgm:spPr/>
      <dgm:t>
        <a:bodyPr/>
        <a:lstStyle/>
        <a:p>
          <a:endParaRPr lang="en-US"/>
        </a:p>
      </dgm:t>
    </dgm:pt>
    <dgm:pt modelId="{1241110B-1E76-45DB-AA59-C39C232BEE19}" type="sibTrans" cxnId="{22815446-DACD-4187-9048-741E9D5048A9}">
      <dgm:prSet/>
      <dgm:spPr/>
      <dgm:t>
        <a:bodyPr/>
        <a:lstStyle/>
        <a:p>
          <a:endParaRPr lang="en-US"/>
        </a:p>
      </dgm:t>
    </dgm:pt>
    <dgm:pt modelId="{7C9406DE-6661-44EE-9581-3A7463D45FE7}">
      <dgm:prSet/>
      <dgm:spPr/>
      <dgm:t>
        <a:bodyPr/>
        <a:lstStyle/>
        <a:p>
          <a:r>
            <a:rPr lang="en-US" b="0" i="0" baseline="0"/>
            <a:t>B: No, it’s supposed to be ready to use immediately after purchase.</a:t>
          </a:r>
          <a:endParaRPr lang="en-US"/>
        </a:p>
      </dgm:t>
    </dgm:pt>
    <dgm:pt modelId="{27338EF4-05F2-4E07-B429-C36E8D5CC366}" type="parTrans" cxnId="{453832E9-D8C8-4DE7-9063-EB81CC5978AF}">
      <dgm:prSet/>
      <dgm:spPr/>
      <dgm:t>
        <a:bodyPr/>
        <a:lstStyle/>
        <a:p>
          <a:endParaRPr lang="en-US"/>
        </a:p>
      </dgm:t>
    </dgm:pt>
    <dgm:pt modelId="{954B0FAB-93C9-4EBA-A480-AEFA5FFFFBBB}" type="sibTrans" cxnId="{453832E9-D8C8-4DE7-9063-EB81CC5978AF}">
      <dgm:prSet/>
      <dgm:spPr/>
      <dgm:t>
        <a:bodyPr/>
        <a:lstStyle/>
        <a:p>
          <a:endParaRPr lang="en-US"/>
        </a:p>
      </dgm:t>
    </dgm:pt>
    <dgm:pt modelId="{A3B8A2B2-9809-4601-A371-2F6C04392F11}">
      <dgm:prSet/>
      <dgm:spPr/>
      <dgm:t>
        <a:bodyPr/>
        <a:lstStyle/>
        <a:p>
          <a:r>
            <a:rPr lang="en-US" b="1" i="0" baseline="0"/>
            <a:t>Shopping During a Sale:</a:t>
          </a:r>
          <a:endParaRPr lang="en-US"/>
        </a:p>
      </dgm:t>
    </dgm:pt>
    <dgm:pt modelId="{7DBF4D08-42FE-401E-9B92-DFA7B6AB5C50}" type="parTrans" cxnId="{4A59988B-A8D1-470E-BAEF-8A06367219A7}">
      <dgm:prSet/>
      <dgm:spPr/>
      <dgm:t>
        <a:bodyPr/>
        <a:lstStyle/>
        <a:p>
          <a:endParaRPr lang="en-US"/>
        </a:p>
      </dgm:t>
    </dgm:pt>
    <dgm:pt modelId="{A36A5B99-53AC-4B18-A031-9E6362C6EF3B}" type="sibTrans" cxnId="{4A59988B-A8D1-470E-BAEF-8A06367219A7}">
      <dgm:prSet/>
      <dgm:spPr/>
      <dgm:t>
        <a:bodyPr/>
        <a:lstStyle/>
        <a:p>
          <a:endParaRPr lang="en-US"/>
        </a:p>
      </dgm:t>
    </dgm:pt>
    <dgm:pt modelId="{13A969A2-4CF9-4475-A8DF-F4D8491319D5}">
      <dgm:prSet/>
      <dgm:spPr/>
      <dgm:t>
        <a:bodyPr/>
        <a:lstStyle/>
        <a:p>
          <a:r>
            <a:rPr lang="en-US" b="0" i="1" baseline="0"/>
            <a:t>Example Dialogue:</a:t>
          </a:r>
          <a:endParaRPr lang="en-US"/>
        </a:p>
      </dgm:t>
    </dgm:pt>
    <dgm:pt modelId="{F9C9DDB0-7770-4E98-8CEC-863D50EF4026}" type="parTrans" cxnId="{D0E0EABB-9E95-4EA5-8952-5172ACD13CB3}">
      <dgm:prSet/>
      <dgm:spPr/>
      <dgm:t>
        <a:bodyPr/>
        <a:lstStyle/>
        <a:p>
          <a:endParaRPr lang="en-US"/>
        </a:p>
      </dgm:t>
    </dgm:pt>
    <dgm:pt modelId="{6DACF1F8-0D8C-4203-A426-11F9845A6BA1}" type="sibTrans" cxnId="{D0E0EABB-9E95-4EA5-8952-5172ACD13CB3}">
      <dgm:prSet/>
      <dgm:spPr/>
      <dgm:t>
        <a:bodyPr/>
        <a:lstStyle/>
        <a:p>
          <a:endParaRPr lang="en-US"/>
        </a:p>
      </dgm:t>
    </dgm:pt>
    <dgm:pt modelId="{332FEE88-9F3F-4956-9529-97007D5541B2}">
      <dgm:prSet/>
      <dgm:spPr/>
      <dgm:t>
        <a:bodyPr/>
        <a:lstStyle/>
        <a:p>
          <a:r>
            <a:rPr lang="en-US" b="0" i="0" baseline="0"/>
            <a:t>A: We are supposed to get an additional discount with this coupon.</a:t>
          </a:r>
          <a:endParaRPr lang="en-US"/>
        </a:p>
      </dgm:t>
    </dgm:pt>
    <dgm:pt modelId="{21CCDF4A-D171-4791-9C1A-61A767FA6274}" type="parTrans" cxnId="{AC0E7AF2-5678-46FD-84DE-BFF9447B7AEE}">
      <dgm:prSet/>
      <dgm:spPr/>
      <dgm:t>
        <a:bodyPr/>
        <a:lstStyle/>
        <a:p>
          <a:endParaRPr lang="en-US"/>
        </a:p>
      </dgm:t>
    </dgm:pt>
    <dgm:pt modelId="{3D45A800-3A11-4C84-A7EA-FB066B10AF39}" type="sibTrans" cxnId="{AC0E7AF2-5678-46FD-84DE-BFF9447B7AEE}">
      <dgm:prSet/>
      <dgm:spPr/>
      <dgm:t>
        <a:bodyPr/>
        <a:lstStyle/>
        <a:p>
          <a:endParaRPr lang="en-US"/>
        </a:p>
      </dgm:t>
    </dgm:pt>
    <dgm:pt modelId="{372B9643-D813-4C35-AB43-E020D8080A0F}">
      <dgm:prSet/>
      <dgm:spPr/>
      <dgm:t>
        <a:bodyPr/>
        <a:lstStyle/>
        <a:p>
          <a:r>
            <a:rPr lang="en-US" b="0" i="0" baseline="0"/>
            <a:t>B: Yes, but we are also supposed to check the expiration date first.</a:t>
          </a:r>
          <a:endParaRPr lang="en-US"/>
        </a:p>
      </dgm:t>
    </dgm:pt>
    <dgm:pt modelId="{DD54D5A2-F204-4460-9BCF-B7B735E505F1}" type="parTrans" cxnId="{A4EFAFBB-8621-4008-AD02-9DC78191A5C1}">
      <dgm:prSet/>
      <dgm:spPr/>
      <dgm:t>
        <a:bodyPr/>
        <a:lstStyle/>
        <a:p>
          <a:endParaRPr lang="en-US"/>
        </a:p>
      </dgm:t>
    </dgm:pt>
    <dgm:pt modelId="{AAC7685E-2A88-4D01-A9F9-FF66609DDF7F}" type="sibTrans" cxnId="{A4EFAFBB-8621-4008-AD02-9DC78191A5C1}">
      <dgm:prSet/>
      <dgm:spPr/>
      <dgm:t>
        <a:bodyPr/>
        <a:lstStyle/>
        <a:p>
          <a:endParaRPr lang="en-US"/>
        </a:p>
      </dgm:t>
    </dgm:pt>
    <dgm:pt modelId="{FCE773B5-DAD4-4ADA-B5D2-8B9BC5E00BFC}">
      <dgm:prSet/>
      <dgm:spPr/>
      <dgm:t>
        <a:bodyPr/>
        <a:lstStyle/>
        <a:p>
          <a:r>
            <a:rPr lang="en-US" b="1" i="0" baseline="0"/>
            <a:t>Customer Service Inquiry:</a:t>
          </a:r>
          <a:endParaRPr lang="en-US"/>
        </a:p>
      </dgm:t>
    </dgm:pt>
    <dgm:pt modelId="{5FCFF754-8BDB-442E-877D-DDBCD9CDEF43}" type="parTrans" cxnId="{CF926B2A-37B3-4402-BCAA-09159AC324E2}">
      <dgm:prSet/>
      <dgm:spPr/>
      <dgm:t>
        <a:bodyPr/>
        <a:lstStyle/>
        <a:p>
          <a:endParaRPr lang="en-US"/>
        </a:p>
      </dgm:t>
    </dgm:pt>
    <dgm:pt modelId="{A58E4210-50B7-4070-97CF-C3F927059765}" type="sibTrans" cxnId="{CF926B2A-37B3-4402-BCAA-09159AC324E2}">
      <dgm:prSet/>
      <dgm:spPr/>
      <dgm:t>
        <a:bodyPr/>
        <a:lstStyle/>
        <a:p>
          <a:endParaRPr lang="en-US"/>
        </a:p>
      </dgm:t>
    </dgm:pt>
    <dgm:pt modelId="{767489B7-0CC2-43DD-8547-A29FCAC8E7A4}">
      <dgm:prSet/>
      <dgm:spPr/>
      <dgm:t>
        <a:bodyPr/>
        <a:lstStyle/>
        <a:p>
          <a:r>
            <a:rPr lang="en-US" b="0" i="1" baseline="0"/>
            <a:t>Example Dialogue:</a:t>
          </a:r>
          <a:endParaRPr lang="en-US"/>
        </a:p>
      </dgm:t>
    </dgm:pt>
    <dgm:pt modelId="{B2A26A42-C621-4385-9376-AACBC85EAB81}" type="parTrans" cxnId="{82D6A489-1240-4EF5-9026-DA954B89DADC}">
      <dgm:prSet/>
      <dgm:spPr/>
      <dgm:t>
        <a:bodyPr/>
        <a:lstStyle/>
        <a:p>
          <a:endParaRPr lang="en-US"/>
        </a:p>
      </dgm:t>
    </dgm:pt>
    <dgm:pt modelId="{E49D24F0-222F-4E7D-A117-98B78BE53872}" type="sibTrans" cxnId="{82D6A489-1240-4EF5-9026-DA954B89DADC}">
      <dgm:prSet/>
      <dgm:spPr/>
      <dgm:t>
        <a:bodyPr/>
        <a:lstStyle/>
        <a:p>
          <a:endParaRPr lang="en-US"/>
        </a:p>
      </dgm:t>
    </dgm:pt>
    <dgm:pt modelId="{24922D21-E806-412C-ABE7-31EF4666A834}">
      <dgm:prSet/>
      <dgm:spPr/>
      <dgm:t>
        <a:bodyPr/>
        <a:lstStyle/>
        <a:p>
          <a:r>
            <a:rPr lang="en-US" b="0" i="0" baseline="0"/>
            <a:t>A: What am I supposed to do if I have a complaint?</a:t>
          </a:r>
          <a:endParaRPr lang="en-US"/>
        </a:p>
      </dgm:t>
    </dgm:pt>
    <dgm:pt modelId="{B2EC6299-F459-4B2F-9319-5B904E3031B1}" type="parTrans" cxnId="{DBD20F18-D094-4E80-85F4-561C98A852F7}">
      <dgm:prSet/>
      <dgm:spPr/>
      <dgm:t>
        <a:bodyPr/>
        <a:lstStyle/>
        <a:p>
          <a:endParaRPr lang="en-US"/>
        </a:p>
      </dgm:t>
    </dgm:pt>
    <dgm:pt modelId="{74C03FB6-B253-412E-B13F-958D273C304D}" type="sibTrans" cxnId="{DBD20F18-D094-4E80-85F4-561C98A852F7}">
      <dgm:prSet/>
      <dgm:spPr/>
      <dgm:t>
        <a:bodyPr/>
        <a:lstStyle/>
        <a:p>
          <a:endParaRPr lang="en-US"/>
        </a:p>
      </dgm:t>
    </dgm:pt>
    <dgm:pt modelId="{8A392473-B821-4C50-8820-81C235C81C5F}">
      <dgm:prSet/>
      <dgm:spPr/>
      <dgm:t>
        <a:bodyPr/>
        <a:lstStyle/>
        <a:p>
          <a:r>
            <a:rPr lang="en-US" b="0" i="0" baseline="0"/>
            <a:t>B: You are supposed to speak with the customer service representative.</a:t>
          </a:r>
          <a:endParaRPr lang="en-US"/>
        </a:p>
      </dgm:t>
    </dgm:pt>
    <dgm:pt modelId="{1E3F36A5-D33D-492C-B8DE-09AE5227A4E4}" type="parTrans" cxnId="{AFF38588-4BF5-4CC7-9662-2D2E59CE638D}">
      <dgm:prSet/>
      <dgm:spPr/>
      <dgm:t>
        <a:bodyPr/>
        <a:lstStyle/>
        <a:p>
          <a:endParaRPr lang="en-US"/>
        </a:p>
      </dgm:t>
    </dgm:pt>
    <dgm:pt modelId="{3CBDB8A5-A028-4B69-B353-2FA0DF3F0682}" type="sibTrans" cxnId="{AFF38588-4BF5-4CC7-9662-2D2E59CE638D}">
      <dgm:prSet/>
      <dgm:spPr/>
      <dgm:t>
        <a:bodyPr/>
        <a:lstStyle/>
        <a:p>
          <a:endParaRPr lang="en-US"/>
        </a:p>
      </dgm:t>
    </dgm:pt>
    <dgm:pt modelId="{7AD2EBE6-EAD5-4153-B201-9E357CE98E79}" type="pres">
      <dgm:prSet presAssocID="{D9F24F4E-A1D3-4967-883A-24D0A7FCC31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86183E2-88A3-4ABC-8D1B-A2085B786153}" type="pres">
      <dgm:prSet presAssocID="{F7CB66C5-11A7-40D7-BB42-A0764983DCDB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CB6C12-3911-4B6C-91B8-C6A8AF0B9821}" type="pres">
      <dgm:prSet presAssocID="{F7CB66C5-11A7-40D7-BB42-A0764983DCDB}" presName="childText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E561D2-AC96-4021-9264-5FB61F9C0DC7}" type="pres">
      <dgm:prSet presAssocID="{B22E2652-612F-4BBA-8A46-C26086FF5668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D252C8-2F48-4545-B2A7-333C7DA5B321}" type="pres">
      <dgm:prSet presAssocID="{B22E2652-612F-4BBA-8A46-C26086FF5668}" presName="childText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1AD77A-4013-4E77-9725-7E10D3FF7991}" type="pres">
      <dgm:prSet presAssocID="{A3B8A2B2-9809-4601-A371-2F6C04392F11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A2A35B-DC45-42F8-875E-387C449DF74C}" type="pres">
      <dgm:prSet presAssocID="{A3B8A2B2-9809-4601-A371-2F6C04392F11}" presName="childText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94FAAD-BCAE-4CFB-9D26-DB3BD9E5170F}" type="pres">
      <dgm:prSet presAssocID="{FCE773B5-DAD4-4ADA-B5D2-8B9BC5E00BFC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1B6312-D445-4457-875E-01AF1707B17C}" type="pres">
      <dgm:prSet presAssocID="{FCE773B5-DAD4-4ADA-B5D2-8B9BC5E00BFC}" presName="childText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84CC814-70D8-4983-8C49-2802A95A36C9}" type="presOf" srcId="{332FEE88-9F3F-4956-9529-97007D5541B2}" destId="{91A2A35B-DC45-42F8-875E-387C449DF74C}" srcOrd="0" destOrd="1" presId="urn:microsoft.com/office/officeart/2005/8/layout/vList2"/>
    <dgm:cxn modelId="{2766E9A5-16C2-45CB-8B82-AD3BB6E8724D}" srcId="{D9F24F4E-A1D3-4967-883A-24D0A7FCC31A}" destId="{B22E2652-612F-4BBA-8A46-C26086FF5668}" srcOrd="1" destOrd="0" parTransId="{F582ECB0-37F9-48B7-9488-68CF98F804C5}" sibTransId="{1CBD6F0B-F57B-4F3D-AA58-F337ED0ABA71}"/>
    <dgm:cxn modelId="{296D7C16-730C-4D78-BE33-779979599C1B}" type="presOf" srcId="{767489B7-0CC2-43DD-8547-A29FCAC8E7A4}" destId="{BE1B6312-D445-4457-875E-01AF1707B17C}" srcOrd="0" destOrd="0" presId="urn:microsoft.com/office/officeart/2005/8/layout/vList2"/>
    <dgm:cxn modelId="{3C50784D-6712-4D25-A01F-C4F29F375F99}" srcId="{E7768BBA-84D8-4325-800D-DCE512152E6D}" destId="{720B2CE7-C285-491C-982C-6E2F77AE9C6B}" srcOrd="0" destOrd="0" parTransId="{D06475C3-61F4-4006-9BAC-DC97E1C1E6D1}" sibTransId="{0EC60506-278B-4294-BCCF-9C3050AB1484}"/>
    <dgm:cxn modelId="{7796A2A8-72C5-43F0-8CAD-1E75D920EEA0}" type="presOf" srcId="{D9F24F4E-A1D3-4967-883A-24D0A7FCC31A}" destId="{7AD2EBE6-EAD5-4153-B201-9E357CE98E79}" srcOrd="0" destOrd="0" presId="urn:microsoft.com/office/officeart/2005/8/layout/vList2"/>
    <dgm:cxn modelId="{52F9796B-654C-4B8E-BFB8-55B0C3D8FBAD}" srcId="{B22E2652-612F-4BBA-8A46-C26086FF5668}" destId="{4F7D5A3E-B05C-4188-A466-4A8FBF701A81}" srcOrd="0" destOrd="0" parTransId="{830F2B5A-3730-4C5A-8270-4FD928C22B20}" sibTransId="{BADCB26B-BF59-49DD-A44B-359D2714B354}"/>
    <dgm:cxn modelId="{D0E0EABB-9E95-4EA5-8952-5172ACD13CB3}" srcId="{A3B8A2B2-9809-4601-A371-2F6C04392F11}" destId="{13A969A2-4CF9-4475-A8DF-F4D8491319D5}" srcOrd="0" destOrd="0" parTransId="{F9C9DDB0-7770-4E98-8CEC-863D50EF4026}" sibTransId="{6DACF1F8-0D8C-4203-A426-11F9845A6BA1}"/>
    <dgm:cxn modelId="{25BAED39-D652-49B2-B892-25E0F399C923}" type="presOf" srcId="{24922D21-E806-412C-ABE7-31EF4666A834}" destId="{BE1B6312-D445-4457-875E-01AF1707B17C}" srcOrd="0" destOrd="1" presId="urn:microsoft.com/office/officeart/2005/8/layout/vList2"/>
    <dgm:cxn modelId="{AFF38588-4BF5-4CC7-9662-2D2E59CE638D}" srcId="{767489B7-0CC2-43DD-8547-A29FCAC8E7A4}" destId="{8A392473-B821-4C50-8820-81C235C81C5F}" srcOrd="1" destOrd="0" parTransId="{1E3F36A5-D33D-492C-B8DE-09AE5227A4E4}" sibTransId="{3CBDB8A5-A028-4B69-B353-2FA0DF3F0682}"/>
    <dgm:cxn modelId="{75FF4EA5-8E29-4844-837B-DCB045B4DAB6}" srcId="{D9F24F4E-A1D3-4967-883A-24D0A7FCC31A}" destId="{F7CB66C5-11A7-40D7-BB42-A0764983DCDB}" srcOrd="0" destOrd="0" parTransId="{80237BB8-0B2B-40E5-BB13-7607D394E1B6}" sibTransId="{22D68E48-C8AD-4D0E-AC35-9D1C2BAFDF08}"/>
    <dgm:cxn modelId="{D5367264-0804-481A-A483-1D6834651D03}" type="presOf" srcId="{8A392473-B821-4C50-8820-81C235C81C5F}" destId="{BE1B6312-D445-4457-875E-01AF1707B17C}" srcOrd="0" destOrd="2" presId="urn:microsoft.com/office/officeart/2005/8/layout/vList2"/>
    <dgm:cxn modelId="{A4EFAFBB-8621-4008-AD02-9DC78191A5C1}" srcId="{13A969A2-4CF9-4475-A8DF-F4D8491319D5}" destId="{372B9643-D813-4C35-AB43-E020D8080A0F}" srcOrd="1" destOrd="0" parTransId="{DD54D5A2-F204-4460-9BCF-B7B735E505F1}" sibTransId="{AAC7685E-2A88-4D01-A9F9-FF66609DDF7F}"/>
    <dgm:cxn modelId="{4976E2F0-9D1D-4182-B36D-2210A6CF6F20}" type="presOf" srcId="{F7CB66C5-11A7-40D7-BB42-A0764983DCDB}" destId="{B86183E2-88A3-4ABC-8D1B-A2085B786153}" srcOrd="0" destOrd="0" presId="urn:microsoft.com/office/officeart/2005/8/layout/vList2"/>
    <dgm:cxn modelId="{453832E9-D8C8-4DE7-9063-EB81CC5978AF}" srcId="{4F7D5A3E-B05C-4188-A466-4A8FBF701A81}" destId="{7C9406DE-6661-44EE-9581-3A7463D45FE7}" srcOrd="1" destOrd="0" parTransId="{27338EF4-05F2-4E07-B429-C36E8D5CC366}" sibTransId="{954B0FAB-93C9-4EBA-A480-AEFA5FFFFBBB}"/>
    <dgm:cxn modelId="{AC0E7AF2-5678-46FD-84DE-BFF9447B7AEE}" srcId="{13A969A2-4CF9-4475-A8DF-F4D8491319D5}" destId="{332FEE88-9F3F-4956-9529-97007D5541B2}" srcOrd="0" destOrd="0" parTransId="{21CCDF4A-D171-4791-9C1A-61A767FA6274}" sibTransId="{3D45A800-3A11-4C84-A7EA-FB066B10AF39}"/>
    <dgm:cxn modelId="{2700D5A2-C8A1-4BCE-B956-EFAFEE725E2E}" type="presOf" srcId="{B22E2652-612F-4BBA-8A46-C26086FF5668}" destId="{97E561D2-AC96-4021-9264-5FB61F9C0DC7}" srcOrd="0" destOrd="0" presId="urn:microsoft.com/office/officeart/2005/8/layout/vList2"/>
    <dgm:cxn modelId="{CF926B2A-37B3-4402-BCAA-09159AC324E2}" srcId="{D9F24F4E-A1D3-4967-883A-24D0A7FCC31A}" destId="{FCE773B5-DAD4-4ADA-B5D2-8B9BC5E00BFC}" srcOrd="3" destOrd="0" parTransId="{5FCFF754-8BDB-442E-877D-DDBCD9CDEF43}" sibTransId="{A58E4210-50B7-4070-97CF-C3F927059765}"/>
    <dgm:cxn modelId="{A593BFCB-E28D-4375-99A8-A50ED90DB9B3}" srcId="{E7768BBA-84D8-4325-800D-DCE512152E6D}" destId="{579AAA39-BAF4-45D1-8E52-93CFEC221A38}" srcOrd="1" destOrd="0" parTransId="{EE60734E-1095-4975-841C-63B444544EC2}" sibTransId="{21C9A10A-62A8-4BDC-B944-133D6866C8AB}"/>
    <dgm:cxn modelId="{22815446-DACD-4187-9048-741E9D5048A9}" srcId="{4F7D5A3E-B05C-4188-A466-4A8FBF701A81}" destId="{BB595A33-E66E-4E87-A7EA-50F9ADD84FEC}" srcOrd="0" destOrd="0" parTransId="{2F03160E-C9C7-4B7A-BF94-BBB3E51821E7}" sibTransId="{1241110B-1E76-45DB-AA59-C39C232BEE19}"/>
    <dgm:cxn modelId="{DBD20F18-D094-4E80-85F4-561C98A852F7}" srcId="{767489B7-0CC2-43DD-8547-A29FCAC8E7A4}" destId="{24922D21-E806-412C-ABE7-31EF4666A834}" srcOrd="0" destOrd="0" parTransId="{B2EC6299-F459-4B2F-9319-5B904E3031B1}" sibTransId="{74C03FB6-B253-412E-B13F-958D273C304D}"/>
    <dgm:cxn modelId="{50777C72-E83C-473E-86D5-6514DBF6EACC}" type="presOf" srcId="{FCE773B5-DAD4-4ADA-B5D2-8B9BC5E00BFC}" destId="{C594FAAD-BCAE-4CFB-9D26-DB3BD9E5170F}" srcOrd="0" destOrd="0" presId="urn:microsoft.com/office/officeart/2005/8/layout/vList2"/>
    <dgm:cxn modelId="{6540E84C-19E4-454E-A930-49946A7F62F1}" type="presOf" srcId="{372B9643-D813-4C35-AB43-E020D8080A0F}" destId="{91A2A35B-DC45-42F8-875E-387C449DF74C}" srcOrd="0" destOrd="2" presId="urn:microsoft.com/office/officeart/2005/8/layout/vList2"/>
    <dgm:cxn modelId="{ED5347FB-D470-43FC-A5A6-907AFE165075}" type="presOf" srcId="{BB595A33-E66E-4E87-A7EA-50F9ADD84FEC}" destId="{D5D252C8-2F48-4545-B2A7-333C7DA5B321}" srcOrd="0" destOrd="1" presId="urn:microsoft.com/office/officeart/2005/8/layout/vList2"/>
    <dgm:cxn modelId="{2E28870A-7A06-4ACF-A776-5CB0051D041C}" srcId="{F7CB66C5-11A7-40D7-BB42-A0764983DCDB}" destId="{E7768BBA-84D8-4325-800D-DCE512152E6D}" srcOrd="0" destOrd="0" parTransId="{200093C8-4F5C-48F3-9DA0-D796B6573227}" sibTransId="{C6F7E0CA-130F-4154-8090-2268935B3F85}"/>
    <dgm:cxn modelId="{82D6A489-1240-4EF5-9026-DA954B89DADC}" srcId="{FCE773B5-DAD4-4ADA-B5D2-8B9BC5E00BFC}" destId="{767489B7-0CC2-43DD-8547-A29FCAC8E7A4}" srcOrd="0" destOrd="0" parTransId="{B2A26A42-C621-4385-9376-AACBC85EAB81}" sibTransId="{E49D24F0-222F-4E7D-A117-98B78BE53872}"/>
    <dgm:cxn modelId="{BC92EF04-8E86-4BF5-8306-711BD7F64446}" type="presOf" srcId="{7C9406DE-6661-44EE-9581-3A7463D45FE7}" destId="{D5D252C8-2F48-4545-B2A7-333C7DA5B321}" srcOrd="0" destOrd="2" presId="urn:microsoft.com/office/officeart/2005/8/layout/vList2"/>
    <dgm:cxn modelId="{9B675594-93CA-4682-BA8B-46BA8F3E307D}" type="presOf" srcId="{A3B8A2B2-9809-4601-A371-2F6C04392F11}" destId="{D41AD77A-4013-4E77-9725-7E10D3FF7991}" srcOrd="0" destOrd="0" presId="urn:microsoft.com/office/officeart/2005/8/layout/vList2"/>
    <dgm:cxn modelId="{23BE6D48-F613-4E88-8F1D-E4F2E6889F1C}" type="presOf" srcId="{579AAA39-BAF4-45D1-8E52-93CFEC221A38}" destId="{55CB6C12-3911-4B6C-91B8-C6A8AF0B9821}" srcOrd="0" destOrd="2" presId="urn:microsoft.com/office/officeart/2005/8/layout/vList2"/>
    <dgm:cxn modelId="{47378A95-F380-4B95-845D-4DA8F16B5F59}" type="presOf" srcId="{4F7D5A3E-B05C-4188-A466-4A8FBF701A81}" destId="{D5D252C8-2F48-4545-B2A7-333C7DA5B321}" srcOrd="0" destOrd="0" presId="urn:microsoft.com/office/officeart/2005/8/layout/vList2"/>
    <dgm:cxn modelId="{56BAD5F8-FC66-40AE-A539-10507D96B6CB}" type="presOf" srcId="{13A969A2-4CF9-4475-A8DF-F4D8491319D5}" destId="{91A2A35B-DC45-42F8-875E-387C449DF74C}" srcOrd="0" destOrd="0" presId="urn:microsoft.com/office/officeart/2005/8/layout/vList2"/>
    <dgm:cxn modelId="{A08C376B-754E-4A00-B16B-9D25EE375478}" type="presOf" srcId="{E7768BBA-84D8-4325-800D-DCE512152E6D}" destId="{55CB6C12-3911-4B6C-91B8-C6A8AF0B9821}" srcOrd="0" destOrd="0" presId="urn:microsoft.com/office/officeart/2005/8/layout/vList2"/>
    <dgm:cxn modelId="{4A59988B-A8D1-470E-BAEF-8A06367219A7}" srcId="{D9F24F4E-A1D3-4967-883A-24D0A7FCC31A}" destId="{A3B8A2B2-9809-4601-A371-2F6C04392F11}" srcOrd="2" destOrd="0" parTransId="{7DBF4D08-42FE-401E-9B92-DFA7B6AB5C50}" sibTransId="{A36A5B99-53AC-4B18-A031-9E6362C6EF3B}"/>
    <dgm:cxn modelId="{8E834B8E-C340-4E1E-94FD-DFE3D3831E84}" type="presOf" srcId="{720B2CE7-C285-491C-982C-6E2F77AE9C6B}" destId="{55CB6C12-3911-4B6C-91B8-C6A8AF0B9821}" srcOrd="0" destOrd="1" presId="urn:microsoft.com/office/officeart/2005/8/layout/vList2"/>
    <dgm:cxn modelId="{5C8B1AF1-D122-42AF-8100-16F3E6047B30}" type="presParOf" srcId="{7AD2EBE6-EAD5-4153-B201-9E357CE98E79}" destId="{B86183E2-88A3-4ABC-8D1B-A2085B786153}" srcOrd="0" destOrd="0" presId="urn:microsoft.com/office/officeart/2005/8/layout/vList2"/>
    <dgm:cxn modelId="{2FC0D4F1-F944-49E9-A4C2-37C1F82411E1}" type="presParOf" srcId="{7AD2EBE6-EAD5-4153-B201-9E357CE98E79}" destId="{55CB6C12-3911-4B6C-91B8-C6A8AF0B9821}" srcOrd="1" destOrd="0" presId="urn:microsoft.com/office/officeart/2005/8/layout/vList2"/>
    <dgm:cxn modelId="{943598A0-507A-4ADC-B026-5ADB3B9F83CA}" type="presParOf" srcId="{7AD2EBE6-EAD5-4153-B201-9E357CE98E79}" destId="{97E561D2-AC96-4021-9264-5FB61F9C0DC7}" srcOrd="2" destOrd="0" presId="urn:microsoft.com/office/officeart/2005/8/layout/vList2"/>
    <dgm:cxn modelId="{5C44FCD8-4BC7-40BA-957E-E77DD4CB0540}" type="presParOf" srcId="{7AD2EBE6-EAD5-4153-B201-9E357CE98E79}" destId="{D5D252C8-2F48-4545-B2A7-333C7DA5B321}" srcOrd="3" destOrd="0" presId="urn:microsoft.com/office/officeart/2005/8/layout/vList2"/>
    <dgm:cxn modelId="{561CE300-D86C-4429-A4C2-91A140C93C86}" type="presParOf" srcId="{7AD2EBE6-EAD5-4153-B201-9E357CE98E79}" destId="{D41AD77A-4013-4E77-9725-7E10D3FF7991}" srcOrd="4" destOrd="0" presId="urn:microsoft.com/office/officeart/2005/8/layout/vList2"/>
    <dgm:cxn modelId="{845D0B07-3119-4D75-8BF4-64664E4B4938}" type="presParOf" srcId="{7AD2EBE6-EAD5-4153-B201-9E357CE98E79}" destId="{91A2A35B-DC45-42F8-875E-387C449DF74C}" srcOrd="5" destOrd="0" presId="urn:microsoft.com/office/officeart/2005/8/layout/vList2"/>
    <dgm:cxn modelId="{F2E68E33-3B72-4A7D-A261-4B62FCEB140C}" type="presParOf" srcId="{7AD2EBE6-EAD5-4153-B201-9E357CE98E79}" destId="{C594FAAD-BCAE-4CFB-9D26-DB3BD9E5170F}" srcOrd="6" destOrd="0" presId="urn:microsoft.com/office/officeart/2005/8/layout/vList2"/>
    <dgm:cxn modelId="{C148E764-43C5-479D-AC08-1FEA0B83C96A}" type="presParOf" srcId="{7AD2EBE6-EAD5-4153-B201-9E357CE98E79}" destId="{BE1B6312-D445-4457-875E-01AF1707B17C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7DD37-D658-9AED-AD10-B33CD1837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4295EE0-AE6B-D40C-9276-6705D688E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0968830-4EBA-300B-20A8-E2ECC72AB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0330D13-24A5-0787-F325-A56EB071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FED0737-604C-2433-950C-B24C9A82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09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623177-8F66-B60D-EADA-1DD21E684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4EC1BB-7AA0-6729-C712-4BA9C8EE1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2CB058A-BC96-688D-0457-4F46CA31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4D488FA-1D96-01EB-E5B9-9BA9348E2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7F09AD4-3BC7-B19B-A3E9-C51DCB7B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540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3DE020-6FF0-39FE-6F6C-F3A99DBC7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3D3FF36-74A9-B95B-632C-80318D1DD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BC87356-09D5-BE01-D10A-0E4D23C0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500E4E7-4FC6-4EA8-773B-94739DD9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4E40DE2-BABD-08A8-B839-0212E5077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8172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CD969-429F-F2B7-CF42-69CA43A9C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D8358EE-A9E4-9E1F-44D7-AB7C3C16D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EDE27AB-4B6F-0766-4270-CC9ECA729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DF7388F-AC94-A975-0D56-623CAB8B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87C2E32-DE9F-257C-29D3-FA309DC7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9B39110-9137-5936-F74A-73A59E4A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581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C91927-245F-330D-18EC-B2414902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0C0E279-9189-B715-2202-B568A7958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28E531A-BAA5-9A08-F2DD-7BFE55B8B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9F8DEB2-D4CF-812F-82A4-81ADDB8CC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C8F2D72-707B-80CA-43B4-BEC361617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BF65D42-9C67-99DE-65D6-60D890E8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5AE8439-6F41-C9F4-92EA-53DFEFA4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44E7B33-9850-548B-6D94-69447D26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053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449C42-0B13-D4E2-F25C-0037689A6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1A922A5-0B85-0267-CC0C-53CC30AE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42617DB-77FB-2C9A-B218-F928D3C2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D4F443E-DA6B-BA3C-797A-C918E302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174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78BF082-5D7C-F747-D0C9-B88545A4F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70F0429-F7D0-EB93-F588-762E222C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9D469BE-63F0-F6DC-C941-CA1BA370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30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56E206-9E94-ED56-B06C-1AF2FD6C0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5CCB25-E331-F3C2-F569-92D4F21CE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37EF3D0-B9C7-BC6F-4D57-A30D2467B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6740C33-F851-116F-ADF1-B841BF34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AF3BD38-FE43-0E35-0701-49ABC0B1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9631BD6-DCF3-5978-E67F-18C841DB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945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F1B05F-44F0-49E9-400A-72C7285A2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28C3A85-1C96-4CDE-9FDA-2FB487BB3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6F73FC8-0D07-1D8D-A888-6AC5C56B3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C741BEA-A23B-D314-89CC-B4B4B23BE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F760A10-1ACD-DED4-6548-4332398A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9341396-3250-59E4-C1DC-4C7A6580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162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96E316-E484-6F2E-2F9C-437899F3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82FADA6-5D43-72FF-C5C1-1FAAA7937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BE93AB-A99C-F9E7-DF72-143AD8315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AAF8D5F-7649-4312-9A04-BA3F8DA5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8A3B27-86D2-F256-43F8-A84EDCBA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204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54EBC73-3D62-9FF3-50B1-2D15C713BC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C1B7351-1213-3777-82C5-82A628A71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5FF9DF-59C0-A01F-66F4-15203780E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6A58C8F-5BD5-1439-C275-74E43AA7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60A941-5E68-3824-0DD2-97615602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907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7652316-9F94-E619-917C-ABF9FF2C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F3FF267-67D6-C335-05DD-A3ECB046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ABADFFE-194A-026F-6F37-D0FB0382B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302D5E-D9DC-CC35-8A44-8122FBE5EC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F57D7BD-F65C-4F22-7ADC-02F4044E61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865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2D1C10-EF0E-D430-A224-9892BE1E61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Shopping and commercial skills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9C1BCCB-D479-5D19-A7A0-0F9706CCF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English </a:t>
            </a:r>
            <a:r>
              <a:rPr lang="en-GB" dirty="0" smtClean="0"/>
              <a:t>C1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80C80E8-D186-E5E8-47CD-E2A3536D3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711" y="127519"/>
            <a:ext cx="1638300" cy="76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191748F-A243-B9EF-7160-4C36E6E53D64}"/>
              </a:ext>
            </a:extLst>
          </p:cNvPr>
          <p:cNvSpPr txBox="1"/>
          <p:nvPr/>
        </p:nvSpPr>
        <p:spPr>
          <a:xfrm>
            <a:off x="167555" y="628083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err="1">
                <a:solidFill>
                  <a:srgbClr val="898989"/>
                </a:solidFill>
                <a:latin typeface="Calibri" panose="020F0502020204030204" pitchFamily="34" charset="0"/>
              </a:rPr>
              <a:t>t</a:t>
            </a:r>
            <a:r>
              <a:rPr lang="en-GB" sz="1800" b="0" i="0" kern="1200" spc="0" baseline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uSpeaking</a:t>
            </a:r>
            <a:r>
              <a:rPr lang="en-GB" sz="1800" b="0" i="0" kern="1200" spc="0" baseline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All rights reserved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586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928F64C6-FE22-4FC1-A763-DFCC514811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317636" y="4577975"/>
            <a:ext cx="11482938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023CB-FC19-3B4C-E302-4A1C059EF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25" y="4741948"/>
            <a:ext cx="10825663" cy="86203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Warm up  -  Where do you do your shopping?</a:t>
            </a:r>
          </a:p>
        </p:txBody>
      </p:sp>
      <p:pic>
        <p:nvPicPr>
          <p:cNvPr id="5" name="Content Placeholder 4" descr="Elderly man grocery shopping">
            <a:extLst>
              <a:ext uri="{FF2B5EF4-FFF2-40B4-BE49-F238E27FC236}">
                <a16:creationId xmlns:a16="http://schemas.microsoft.com/office/drawing/2014/main" xmlns="" id="{40F17B25-1011-E01D-E478-92304F08A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53" r="3" b="4349"/>
          <a:stretch/>
        </p:blipFill>
        <p:spPr>
          <a:xfrm>
            <a:off x="307840" y="321733"/>
            <a:ext cx="3793472" cy="2010551"/>
          </a:xfrm>
          <a:prstGeom prst="rect">
            <a:avLst/>
          </a:prstGeom>
        </p:spPr>
      </p:pic>
      <p:pic>
        <p:nvPicPr>
          <p:cNvPr id="7" name="Picture 6" descr="Person buying vegetables">
            <a:extLst>
              <a:ext uri="{FF2B5EF4-FFF2-40B4-BE49-F238E27FC236}">
                <a16:creationId xmlns:a16="http://schemas.microsoft.com/office/drawing/2014/main" xmlns="" id="{E35D8B6A-0DF4-CDA6-A838-341FC6CBE5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40" r="1" b="6546"/>
          <a:stretch/>
        </p:blipFill>
        <p:spPr>
          <a:xfrm>
            <a:off x="4194959" y="321735"/>
            <a:ext cx="3797570" cy="2010551"/>
          </a:xfrm>
          <a:prstGeom prst="rect">
            <a:avLst/>
          </a:prstGeom>
        </p:spPr>
      </p:pic>
      <p:pic>
        <p:nvPicPr>
          <p:cNvPr id="15" name="Picture 14" descr="Woman standing at car showroom">
            <a:extLst>
              <a:ext uri="{FF2B5EF4-FFF2-40B4-BE49-F238E27FC236}">
                <a16:creationId xmlns:a16="http://schemas.microsoft.com/office/drawing/2014/main" xmlns="" id="{EEDC5F89-A74C-FFC8-0C1D-4B9AC42D93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93"/>
          <a:stretch/>
        </p:blipFill>
        <p:spPr>
          <a:xfrm>
            <a:off x="8086176" y="321734"/>
            <a:ext cx="3797984" cy="2010550"/>
          </a:xfrm>
          <a:prstGeom prst="rect">
            <a:avLst/>
          </a:prstGeom>
        </p:spPr>
      </p:pic>
      <p:pic>
        <p:nvPicPr>
          <p:cNvPr id="11" name="Picture 10" descr="Person in store">
            <a:extLst>
              <a:ext uri="{FF2B5EF4-FFF2-40B4-BE49-F238E27FC236}">
                <a16:creationId xmlns:a16="http://schemas.microsoft.com/office/drawing/2014/main" xmlns="" id="{0E1BC67A-ABCF-C82A-6DF6-2B5BE88B9E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0627"/>
          <a:stretch/>
        </p:blipFill>
        <p:spPr>
          <a:xfrm>
            <a:off x="307840" y="2423723"/>
            <a:ext cx="3794760" cy="2010551"/>
          </a:xfrm>
          <a:prstGeom prst="rect">
            <a:avLst/>
          </a:prstGeom>
        </p:spPr>
      </p:pic>
      <p:pic>
        <p:nvPicPr>
          <p:cNvPr id="13" name="Picture 12" descr="Woman choosing clothes">
            <a:extLst>
              <a:ext uri="{FF2B5EF4-FFF2-40B4-BE49-F238E27FC236}">
                <a16:creationId xmlns:a16="http://schemas.microsoft.com/office/drawing/2014/main" xmlns="" id="{E1E93B66-5F6F-F238-431C-DD7CB8F010D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54" r="1" b="7745"/>
          <a:stretch/>
        </p:blipFill>
        <p:spPr>
          <a:xfrm>
            <a:off x="4190180" y="2422095"/>
            <a:ext cx="3794760" cy="2013804"/>
          </a:xfrm>
          <a:prstGeom prst="rect">
            <a:avLst/>
          </a:prstGeom>
        </p:spPr>
      </p:pic>
      <p:pic>
        <p:nvPicPr>
          <p:cNvPr id="9" name="Picture 8" descr="Person preparing in the kitchen">
            <a:extLst>
              <a:ext uri="{FF2B5EF4-FFF2-40B4-BE49-F238E27FC236}">
                <a16:creationId xmlns:a16="http://schemas.microsoft.com/office/drawing/2014/main" xmlns="" id="{2C6C02A4-BFC0-3D10-9012-055C0E6E7A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26" r="1" b="1"/>
          <a:stretch/>
        </p:blipFill>
        <p:spPr>
          <a:xfrm>
            <a:off x="8093394" y="2422097"/>
            <a:ext cx="3794760" cy="2010551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5C34627B-48E6-4F4D-B843-97717A86B4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727963" y="5694097"/>
            <a:ext cx="91440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908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96BE04-EF75-6F9F-B535-B3D685F2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n-GB" sz="4000"/>
              <a:t>The passive voice</a:t>
            </a:r>
          </a:p>
        </p:txBody>
      </p:sp>
      <p:pic>
        <p:nvPicPr>
          <p:cNvPr id="5" name="Picture 4" descr="Panic buying during pandemic">
            <a:extLst>
              <a:ext uri="{FF2B5EF4-FFF2-40B4-BE49-F238E27FC236}">
                <a16:creationId xmlns:a16="http://schemas.microsoft.com/office/drawing/2014/main" xmlns="" id="{85103680-11E8-4A76-F227-999521C522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1" r="24711" b="-2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ECE78F-A7BC-BBD5-4979-A7653F480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r>
              <a:rPr lang="en-GB" sz="1800" dirty="0"/>
              <a:t>The passive voice is used when the focus is on the action or the object of the action rather than who or what is performing the action.</a:t>
            </a:r>
          </a:p>
          <a:p>
            <a:endParaRPr lang="en-GB" sz="1800" dirty="0"/>
          </a:p>
          <a:p>
            <a:r>
              <a:rPr lang="en-GB" sz="1800" dirty="0"/>
              <a:t>The passive voice is formed with the verb to be + past participle (e.g., is made, was bought).</a:t>
            </a:r>
          </a:p>
          <a:p>
            <a:endParaRPr lang="en-GB" sz="1800" dirty="0"/>
          </a:p>
          <a:p>
            <a:r>
              <a:rPr lang="en-GB" sz="1800" dirty="0"/>
              <a:t>Example: During Covid, a lot of toilet paper was bought.</a:t>
            </a:r>
          </a:p>
        </p:txBody>
      </p:sp>
    </p:spTree>
    <p:extLst>
      <p:ext uri="{BB962C8B-B14F-4D97-AF65-F5344CB8AC3E}">
        <p14:creationId xmlns:p14="http://schemas.microsoft.com/office/powerpoint/2010/main" val="944577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2C61293E-6EBE-43EF-A52C-9BEBFD7679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BF2AF1-C1B8-7DDC-5132-01131391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GB" sz="5400"/>
              <a:t>More examples</a:t>
            </a:r>
          </a:p>
        </p:txBody>
      </p:sp>
      <p:pic>
        <p:nvPicPr>
          <p:cNvPr id="6" name="Picture 5" descr="Shopping cart with boxes">
            <a:extLst>
              <a:ext uri="{FF2B5EF4-FFF2-40B4-BE49-F238E27FC236}">
                <a16:creationId xmlns:a16="http://schemas.microsoft.com/office/drawing/2014/main" xmlns="" id="{9C4C015F-BD95-7120-6370-9723B34244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461" r="19095" b="-2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xmlns="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E4F56E5C-59A1-B72F-6971-11857D6B27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296" y="2706624"/>
            <a:ext cx="6894576" cy="3483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0" i="1" u="none" strike="noStrike" cap="none" normalizeH="0" baseline="0" dirty="0">
                <a:ln>
                  <a:noFill/>
                </a:ln>
                <a:effectLst/>
              </a:rPr>
              <a:t>Present Simple: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The store is cleaned every day.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0" i="1" u="none" strike="noStrike" cap="none" normalizeH="0" baseline="0" dirty="0">
                <a:ln>
                  <a:noFill/>
                </a:ln>
                <a:effectLst/>
              </a:rPr>
              <a:t>Past Simple: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The sale was announced yesterday.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0" i="1" u="none" strike="noStrike" cap="none" normalizeH="0" baseline="0" dirty="0">
                <a:ln>
                  <a:noFill/>
                </a:ln>
                <a:effectLst/>
              </a:rPr>
              <a:t>Future Simple: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A new branch will be opened next month.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0" i="1" u="none" strike="noStrike" cap="none" normalizeH="0" baseline="0" dirty="0">
                <a:ln>
                  <a:noFill/>
                </a:ln>
                <a:effectLst/>
              </a:rPr>
              <a:t>Present Perfect: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The product has been delivered. </a:t>
            </a:r>
          </a:p>
        </p:txBody>
      </p:sp>
    </p:spTree>
    <p:extLst>
      <p:ext uri="{BB962C8B-B14F-4D97-AF65-F5344CB8AC3E}">
        <p14:creationId xmlns:p14="http://schemas.microsoft.com/office/powerpoint/2010/main" val="1427330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2C61293E-6EBE-43EF-A52C-9BEBFD7679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3D8EFD-0ECD-F1F5-4965-D082BCC6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GB" sz="5400"/>
              <a:t>Why Use Passive Voice?</a:t>
            </a:r>
          </a:p>
        </p:txBody>
      </p:sp>
      <p:pic>
        <p:nvPicPr>
          <p:cNvPr id="5" name="Picture 4" descr="Abstract blurred background of department store">
            <a:extLst>
              <a:ext uri="{FF2B5EF4-FFF2-40B4-BE49-F238E27FC236}">
                <a16:creationId xmlns:a16="http://schemas.microsoft.com/office/drawing/2014/main" xmlns="" id="{DBEC0264-1358-8F19-AE4D-7C1697F1D3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22" r="36234" b="-2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xmlns="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389AFA-FC8E-45E4-290C-9A85AD12B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GB" sz="2200" dirty="0"/>
              <a:t>The passive voice is often used in shopping and commercial contexts to emphasize the product or service rather than the doer.</a:t>
            </a:r>
          </a:p>
          <a:p>
            <a:endParaRPr lang="en-GB" sz="2200" dirty="0"/>
          </a:p>
          <a:p>
            <a:r>
              <a:rPr lang="en-GB" sz="2200" dirty="0"/>
              <a:t>Example: Complaints are handled by customer service.</a:t>
            </a:r>
          </a:p>
        </p:txBody>
      </p:sp>
    </p:spTree>
    <p:extLst>
      <p:ext uri="{BB962C8B-B14F-4D97-AF65-F5344CB8AC3E}">
        <p14:creationId xmlns:p14="http://schemas.microsoft.com/office/powerpoint/2010/main" val="1094122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xmlns="" id="{9F7D5CDA-D291-4307-BF55-1381FED2963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Light bulb on yellow background with sketched light beams and cord">
            <a:extLst>
              <a:ext uri="{FF2B5EF4-FFF2-40B4-BE49-F238E27FC236}">
                <a16:creationId xmlns:a16="http://schemas.microsoft.com/office/drawing/2014/main" xmlns="" id="{7D3A5C26-7C52-835C-7B14-98FB66D942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827" r="569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xmlns="" id="{59B296B9-C5A5-4E4F-9B60-C907B5F146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xmlns="" id="{D0300FD3-5AF1-6305-15FA-9078072672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A82B0-B0F4-B3D9-440F-5195D1089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GB" sz="4000"/>
              <a:t>Practice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469A09F4-1859-2DB5-8CFE-8C7DE08299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1" y="2884929"/>
            <a:ext cx="4659756" cy="33741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Convert these active sentences to passive: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Active: They opened a new store.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Active: The company offers discounts.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Active: They will deliver the package tomorrow.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Active: The cashier has counted the money.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59840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E51BA4DF-2BD4-4EC2-B1DB-B27C8AC718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13990E-CBD2-9128-0410-D565009B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GB" sz="4000" dirty="0"/>
              <a:t>Answers</a:t>
            </a:r>
          </a:p>
        </p:txBody>
      </p:sp>
      <p:pic>
        <p:nvPicPr>
          <p:cNvPr id="6" name="Picture 5" descr="Boxes on a conveyor belt&#10;&#10;Description automatically generated">
            <a:extLst>
              <a:ext uri="{FF2B5EF4-FFF2-40B4-BE49-F238E27FC236}">
                <a16:creationId xmlns:a16="http://schemas.microsoft.com/office/drawing/2014/main" xmlns="" id="{8DA74103-918C-8683-41C9-2647FFCEC0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988" r="31592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778D0696-ADD4-9642-C010-8ED649046C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53734" y="2409830"/>
            <a:ext cx="6798539" cy="37052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Active: They opened a new store. → Passive: A new store was opened.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Active: The company offers discounts. → Passive: Discounts are offered.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Active: They will deliver the package tomorrow. → Passive: The package will be delivered tomorrow.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Active: The cashier has counted the money. → Passive: The money has been counted. </a:t>
            </a:r>
          </a:p>
        </p:txBody>
      </p:sp>
    </p:spTree>
    <p:extLst>
      <p:ext uri="{BB962C8B-B14F-4D97-AF65-F5344CB8AC3E}">
        <p14:creationId xmlns:p14="http://schemas.microsoft.com/office/powerpoint/2010/main" val="3116161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45D37F4E-DDB4-456B-97E0-9937730A03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5B8B5A-2821-6718-95DB-E018E5671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 fontScale="90000"/>
          </a:bodyPr>
          <a:lstStyle/>
          <a:p>
            <a:r>
              <a:rPr lang="en-GB" sz="4600"/>
              <a:t>Role play – Ask and answer questions, try to respond with the passive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xmlns="" id="{B2DD41CD-8F47-4F56-AD12-4E2FF76969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381B5F-CB87-496B-4AC0-664594A62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 fontScale="92500" lnSpcReduction="20000"/>
          </a:bodyPr>
          <a:lstStyle/>
          <a:p>
            <a:r>
              <a:rPr lang="en-GB" sz="2000" b="1" dirty="0"/>
              <a:t>Examples:</a:t>
            </a:r>
            <a:endParaRPr lang="en-GB" sz="2000" dirty="0"/>
          </a:p>
          <a:p>
            <a:r>
              <a:rPr lang="en-GB" sz="2000" i="1" dirty="0"/>
              <a:t>Present Simple:</a:t>
            </a:r>
            <a:r>
              <a:rPr lang="en-GB" sz="2000" dirty="0"/>
              <a:t> How often is the store cleaned?</a:t>
            </a:r>
          </a:p>
          <a:p>
            <a:pPr lvl="1"/>
            <a:r>
              <a:rPr lang="en-GB" sz="2000" i="1" dirty="0"/>
              <a:t>Example:</a:t>
            </a:r>
            <a:r>
              <a:rPr lang="en-GB" sz="2000" dirty="0"/>
              <a:t> The store is cleaned daily.</a:t>
            </a:r>
          </a:p>
          <a:p>
            <a:r>
              <a:rPr lang="en-GB" sz="2000" i="1" dirty="0"/>
              <a:t>Past Simple:</a:t>
            </a:r>
            <a:r>
              <a:rPr lang="en-GB" sz="2000" dirty="0"/>
              <a:t> What happened at the grand opening?</a:t>
            </a:r>
          </a:p>
          <a:p>
            <a:pPr lvl="1"/>
            <a:r>
              <a:rPr lang="en-GB" sz="2000" i="1" dirty="0"/>
              <a:t>Example:</a:t>
            </a:r>
            <a:r>
              <a:rPr lang="en-GB" sz="2000" dirty="0"/>
              <a:t> The grand opening was attended by many people.</a:t>
            </a:r>
          </a:p>
          <a:p>
            <a:r>
              <a:rPr lang="en-GB" sz="2000" i="1" dirty="0"/>
              <a:t>Future Simple:</a:t>
            </a:r>
            <a:r>
              <a:rPr lang="en-GB" sz="2000" dirty="0"/>
              <a:t> What will happen next month?</a:t>
            </a:r>
          </a:p>
          <a:p>
            <a:pPr lvl="1"/>
            <a:r>
              <a:rPr lang="en-GB" sz="2000" i="1" dirty="0"/>
              <a:t>Example:</a:t>
            </a:r>
            <a:r>
              <a:rPr lang="en-GB" sz="2000" dirty="0"/>
              <a:t> A new clothing line will be launched next month.</a:t>
            </a:r>
          </a:p>
          <a:p>
            <a:r>
              <a:rPr lang="en-GB" sz="2000" i="1" dirty="0"/>
              <a:t>Present Perfect:</a:t>
            </a:r>
            <a:r>
              <a:rPr lang="en-GB" sz="2000" dirty="0"/>
              <a:t> What has been done to improve the shopping experience?</a:t>
            </a:r>
          </a:p>
          <a:p>
            <a:pPr lvl="1"/>
            <a:r>
              <a:rPr lang="en-GB" sz="2000" i="1" dirty="0"/>
              <a:t>Example:</a:t>
            </a:r>
            <a:r>
              <a:rPr lang="en-GB" sz="2000" dirty="0"/>
              <a:t> New customer service desks have been installed.</a:t>
            </a:r>
          </a:p>
          <a:p>
            <a:endParaRPr lang="en-GB" sz="1700" dirty="0"/>
          </a:p>
        </p:txBody>
      </p:sp>
      <p:pic>
        <p:nvPicPr>
          <p:cNvPr id="5" name="Picture 4" descr="Closed sign in window">
            <a:extLst>
              <a:ext uri="{FF2B5EF4-FFF2-40B4-BE49-F238E27FC236}">
                <a16:creationId xmlns:a16="http://schemas.microsoft.com/office/drawing/2014/main" xmlns="" id="{16A5BC1C-0BA2-02A4-E000-2631357959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4" r="28560" b="2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48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777A147A-9ED8-46B4-8660-1B3C2AA880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B18871-E504-2F71-43E0-12C19114F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 dirty="0"/>
              <a:t>Introduction to Be Supposed To: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xmlns="" id="{5D6C15A0-C087-4593-8414-2B4EC1CDC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A3752EFD-7073-58A7-3DAF-3F0A608DA6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26418" y="552091"/>
            <a:ext cx="6224335" cy="54315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1" u="none" strike="noStrike" cap="none" normalizeH="0" baseline="0" dirty="0">
                <a:ln>
                  <a:noFill/>
                </a:ln>
                <a:effectLst/>
              </a:rPr>
              <a:t>Be supposed to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is used to talk about expectations, obligations, or what is generally believed to be the correct way to do something.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Form: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Be supposed to is followed by the base form of the verb (e.g., is supposed to, are supposed to, was supposed to).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2200" dirty="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Examples Related to Shopping: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Present: Customers are supposed to keep their receipts.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Past: The store was supposed to open at 9 AM.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Future: The sale is supposed to end next week.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598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xmlns="" id="{F13C74B1-5B17-4795-BED0-7140497B44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A39E13-91CB-FF92-2659-D90F8DF07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 fontScale="90000"/>
          </a:bodyPr>
          <a:lstStyle/>
          <a:p>
            <a:r>
              <a:rPr lang="en-GB" sz="4600"/>
              <a:t>Usage in Different Contexts: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xmlns="" id="{D4974D33-8DC5-464E-8C6D-BE58F0669C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20048EB8-9C9D-970C-3B7C-846DEABB25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872899"/>
            <a:ext cx="4243589" cy="33206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</a:rPr>
              <a:t>Rules and Regulations: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</a:rPr>
              <a:t> You are supposed to show your ID when using a credit card.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</a:rPr>
              <a:t>Expectations: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</a:rPr>
              <a:t> Employees are supposed to arrive on time.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</a:rPr>
              <a:t>General Beliefs: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</a:rPr>
              <a:t> This brand is supposed to be very high-quality. </a:t>
            </a:r>
          </a:p>
        </p:txBody>
      </p:sp>
      <p:pic>
        <p:nvPicPr>
          <p:cNvPr id="6" name="Picture 5" descr="Hands of person using credit card reader">
            <a:extLst>
              <a:ext uri="{FF2B5EF4-FFF2-40B4-BE49-F238E27FC236}">
                <a16:creationId xmlns:a16="http://schemas.microsoft.com/office/drawing/2014/main" xmlns="" id="{6A68737E-D152-55D5-B94A-23F7575843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9" r="12178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67212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45D37F4E-DDB4-456B-97E0-9937730A03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7735E29-698B-4928-746A-52A010E0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 fontScale="90000"/>
          </a:bodyPr>
          <a:lstStyle/>
          <a:p>
            <a:r>
              <a:rPr lang="en-GB" sz="5400"/>
              <a:t>Exercise: Fill-in-the-Blank Sentences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xmlns="" id="{B2DD41CD-8F47-4F56-AD12-4E2FF76969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D5CDD9-64A0-37E9-4685-C627CA40B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GB" sz="2200" b="1" dirty="0"/>
              <a:t>Examples:</a:t>
            </a:r>
            <a:endParaRPr lang="en-GB" sz="2200" dirty="0"/>
          </a:p>
          <a:p>
            <a:pPr>
              <a:buFont typeface="+mj-lt"/>
              <a:buAutoNum type="arabicPeriod"/>
            </a:pPr>
            <a:r>
              <a:rPr lang="en-GB" sz="2200" dirty="0"/>
              <a:t>You ________ (be supposed to) compare prices before buying.</a:t>
            </a:r>
          </a:p>
          <a:p>
            <a:pPr>
              <a:buFont typeface="+mj-lt"/>
              <a:buAutoNum type="arabicPeriod"/>
            </a:pPr>
            <a:r>
              <a:rPr lang="en-GB" sz="2200" dirty="0"/>
              <a:t>The store ________ (be supposed to) close at 8 PM.</a:t>
            </a:r>
          </a:p>
          <a:p>
            <a:pPr>
              <a:buFont typeface="+mj-lt"/>
              <a:buAutoNum type="arabicPeriod"/>
            </a:pPr>
            <a:r>
              <a:rPr lang="en-GB" sz="2200" dirty="0"/>
              <a:t>We ________ (be supposed to) receive the shipment yesterday.</a:t>
            </a:r>
          </a:p>
          <a:p>
            <a:pPr>
              <a:buFont typeface="+mj-lt"/>
              <a:buAutoNum type="arabicPeriod"/>
            </a:pPr>
            <a:r>
              <a:rPr lang="en-GB" sz="2200" dirty="0"/>
              <a:t>They ________ (be supposed to) announce the new collection next week.</a:t>
            </a:r>
          </a:p>
          <a:p>
            <a:endParaRPr lang="en-GB" sz="2200" dirty="0"/>
          </a:p>
        </p:txBody>
      </p:sp>
      <p:pic>
        <p:nvPicPr>
          <p:cNvPr id="5" name="Picture 4" descr="Row and stack of eggs on a tray">
            <a:extLst>
              <a:ext uri="{FF2B5EF4-FFF2-40B4-BE49-F238E27FC236}">
                <a16:creationId xmlns:a16="http://schemas.microsoft.com/office/drawing/2014/main" xmlns="" id="{A84BA353-2AB8-B9B7-8F0D-7FE3823662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2" r="27402" b="-1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802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2C61293E-6EBE-43EF-A52C-9BEBFD7679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83606C-CF67-E64B-06D6-DA8E1CCD0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5400"/>
              <a:t>Answers</a:t>
            </a:r>
          </a:p>
        </p:txBody>
      </p:sp>
      <p:pic>
        <p:nvPicPr>
          <p:cNvPr id="5" name="Picture 4" descr="Fragile packaging symbols on the cardboard box">
            <a:extLst>
              <a:ext uri="{FF2B5EF4-FFF2-40B4-BE49-F238E27FC236}">
                <a16:creationId xmlns:a16="http://schemas.microsoft.com/office/drawing/2014/main" xmlns="" id="{FD0CB4EB-FE76-4690-1CB1-826CF7C633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70" r="-1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xmlns="" id="{21540236-BFD5-4A9D-8840-4703E7F768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7D9034-8D9B-4548-0864-8B63BBAB6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 lnSpcReduction="10000"/>
          </a:bodyPr>
          <a:lstStyle/>
          <a:p>
            <a:r>
              <a:rPr lang="en-GB" sz="1500"/>
              <a:t>You ________ (be supposed to) compare prices before buying.</a:t>
            </a:r>
          </a:p>
          <a:p>
            <a:pPr lvl="1"/>
            <a:r>
              <a:rPr lang="en-GB" sz="1500" i="1"/>
              <a:t>Answer:</a:t>
            </a:r>
            <a:r>
              <a:rPr lang="en-GB" sz="1500"/>
              <a:t> You are supposed to compare prices before buying.</a:t>
            </a:r>
          </a:p>
          <a:p>
            <a:r>
              <a:rPr lang="en-GB" sz="1500"/>
              <a:t>The store ________ (be supposed to) close at 8 PM.</a:t>
            </a:r>
          </a:p>
          <a:p>
            <a:pPr lvl="1"/>
            <a:r>
              <a:rPr lang="en-GB" sz="1500" i="1"/>
              <a:t>Answer:</a:t>
            </a:r>
            <a:r>
              <a:rPr lang="en-GB" sz="1500"/>
              <a:t> The store is supposed to close at 8 PM.</a:t>
            </a:r>
          </a:p>
          <a:p>
            <a:r>
              <a:rPr lang="en-GB" sz="1500"/>
              <a:t>We ________ (be supposed to) receive the shipment yesterday.</a:t>
            </a:r>
          </a:p>
          <a:p>
            <a:pPr lvl="1"/>
            <a:r>
              <a:rPr lang="en-GB" sz="1500" i="1"/>
              <a:t>Answer:</a:t>
            </a:r>
            <a:r>
              <a:rPr lang="en-GB" sz="1500"/>
              <a:t> We were supposed to receive the shipment yesterday.</a:t>
            </a:r>
          </a:p>
          <a:p>
            <a:r>
              <a:rPr lang="en-GB" sz="1500"/>
              <a:t>They ________ (be supposed to) announce the new collection next week.</a:t>
            </a:r>
          </a:p>
          <a:p>
            <a:pPr lvl="1"/>
            <a:r>
              <a:rPr lang="en-GB" sz="1500" i="1"/>
              <a:t>Answer:</a:t>
            </a:r>
            <a:r>
              <a:rPr lang="en-GB" sz="1500"/>
              <a:t> They are supposed to announce the new collection next week.</a:t>
            </a:r>
          </a:p>
          <a:p>
            <a:endParaRPr lang="en-GB" sz="1500"/>
          </a:p>
        </p:txBody>
      </p:sp>
    </p:spTree>
    <p:extLst>
      <p:ext uri="{BB962C8B-B14F-4D97-AF65-F5344CB8AC3E}">
        <p14:creationId xmlns:p14="http://schemas.microsoft.com/office/powerpoint/2010/main" val="589073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7517A47C-B2E5-4B79-8061-D74B1311AF6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xmlns="" id="{C505E780-2083-4CB5-A42A-5E0E2908EC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xmlns="" id="{D2C0AE1C-0118-41AE-8A10-7CDCBF10E9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DEA5BB-1492-130E-6CFD-3EAC6645E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 fontScale="90000"/>
          </a:bodyPr>
          <a:lstStyle/>
          <a:p>
            <a:r>
              <a:rPr lang="en-GB" sz="4000"/>
              <a:t>Role-play: Discussing Shopping Scenarios</a:t>
            </a:r>
            <a:br>
              <a:rPr lang="en-GB" sz="4000"/>
            </a:br>
            <a:r>
              <a:rPr kumimoji="0" lang="en-US" altLang="en-US" sz="4000" b="1" i="0" u="none" strike="noStrike" cap="none" normalizeH="0" baseline="0">
                <a:ln>
                  <a:noFill/>
                </a:ln>
                <a:effectLst/>
              </a:rPr>
              <a:t>Task:</a:t>
            </a:r>
            <a:r>
              <a:rPr kumimoji="0" lang="en-US" altLang="en-US" sz="4000" b="0" i="0" u="none" strike="noStrike" cap="none" normalizeH="0" baseline="0">
                <a:ln>
                  <a:noFill/>
                </a:ln>
                <a:effectLst/>
              </a:rPr>
              <a:t> Pairs create and </a:t>
            </a:r>
            <a:r>
              <a:rPr kumimoji="0" lang="en-GB" altLang="en-US" sz="4000" b="0" i="0" u="none" strike="noStrike" cap="none" normalizeH="0" baseline="0">
                <a:ln>
                  <a:noFill/>
                </a:ln>
                <a:effectLst/>
              </a:rPr>
              <a:t>practise</a:t>
            </a:r>
            <a:r>
              <a:rPr kumimoji="0" lang="en-US" altLang="en-US" sz="4000" b="0" i="0" u="none" strike="noStrike" cap="none" normalizeH="0" baseline="0">
                <a:ln>
                  <a:noFill/>
                </a:ln>
                <a:effectLst/>
              </a:rPr>
              <a:t> their dialogues. </a:t>
            </a:r>
            <a:endParaRPr lang="en-GB" sz="4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463EEC44-1BA3-44ED-81FC-A644B04B2A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xmlns="" id="{4C9FD5C7-1070-1C27-ED3A-784353E1F2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404421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9881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99D1EA-DB20-6CB9-85F7-C5CFA11B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Delayed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D09F7F-834E-B33C-0815-10828AA1A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593A1C4-3CC2-5629-E19D-497E6801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575" y="466725"/>
            <a:ext cx="1638300" cy="76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41E4A39-2301-C33C-FC73-F570A998F1CD}"/>
              </a:ext>
            </a:extLst>
          </p:cNvPr>
          <p:cNvSpPr txBox="1"/>
          <p:nvPr/>
        </p:nvSpPr>
        <p:spPr>
          <a:xfrm>
            <a:off x="238125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err="1">
                <a:solidFill>
                  <a:srgbClr val="898989"/>
                </a:solidFill>
                <a:latin typeface="Calibri" panose="020F0502020204030204" pitchFamily="34" charset="0"/>
              </a:rPr>
              <a:t>t</a:t>
            </a:r>
            <a:r>
              <a:rPr lang="en-GB" sz="1800" b="0" i="0" kern="1200" spc="0" baseline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uSpeaking</a:t>
            </a:r>
            <a:r>
              <a:rPr lang="en-GB" sz="1800" b="0" i="0" kern="1200" spc="0" baseline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All rights reserved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2305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2114</TotalTime>
  <Words>833</Words>
  <Application>Microsoft Office PowerPoint</Application>
  <PresentationFormat>Panorámica</PresentationFormat>
  <Paragraphs>90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Shopping and commercial skills</vt:lpstr>
      <vt:lpstr>Warm up  -  Where do you do your shopping?</vt:lpstr>
      <vt:lpstr>The passive voice</vt:lpstr>
      <vt:lpstr>More examples</vt:lpstr>
      <vt:lpstr>Why Use Passive Voice?</vt:lpstr>
      <vt:lpstr>Practice</vt:lpstr>
      <vt:lpstr>Answers</vt:lpstr>
      <vt:lpstr>Role play – Ask and answer questions, try to respond with the passive</vt:lpstr>
      <vt:lpstr>Introduction to Be Supposed To:</vt:lpstr>
      <vt:lpstr>Usage in Different Contexts:</vt:lpstr>
      <vt:lpstr>Exercise: Fill-in-the-Blank Sentences</vt:lpstr>
      <vt:lpstr>Answers</vt:lpstr>
      <vt:lpstr>Role-play: Discussing Shopping Scenarios Task: Pairs create and practise their dialogues. </vt:lpstr>
      <vt:lpstr>Delayed feedback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</dc:title>
  <dc:creator>Clarke, Theodore James Dalgliesh</dc:creator>
  <cp:lastModifiedBy>JaviRo</cp:lastModifiedBy>
  <cp:revision>34</cp:revision>
  <dcterms:created xsi:type="dcterms:W3CDTF">2024-05-27T11:38:08Z</dcterms:created>
  <dcterms:modified xsi:type="dcterms:W3CDTF">2025-01-02T10:51:59Z</dcterms:modified>
</cp:coreProperties>
</file>