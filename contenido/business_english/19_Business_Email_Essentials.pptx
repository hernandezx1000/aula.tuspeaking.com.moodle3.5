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0" r:id="rId4"/>
    <p:sldId id="259" r:id="rId5"/>
    <p:sldId id="260" r:id="rId6"/>
    <p:sldId id="266" r:id="rId7"/>
    <p:sldId id="267" r:id="rId8"/>
    <p:sldId id="261" r:id="rId9"/>
    <p:sldId id="271" r:id="rId10"/>
    <p:sldId id="269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0" y="2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31A117-D5A5-4C1D-A520-F70F457ED731}" type="datetimeFigureOut">
              <a:rPr lang="es-ES" smtClean="0"/>
              <a:t>01/08/2025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2AE89-7105-4FD7-BE5B-18425BA40176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501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B79BC-18C2-F814-A40A-E45351C88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B7424F-6E88-54CD-32EF-A3F281F31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2989E-94D0-4387-E80D-0EE4E415D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34F65-E600-406E-809C-CBF43B10BD27}" type="datetime1">
              <a:rPr lang="es-ES" smtClean="0"/>
              <a:t>01/08/2025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1A59-A245-0285-5F1B-47673DDFA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D5C33-2519-DEE3-E269-1D430EE07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085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BCD2C-8020-DCC4-E7B4-21FAA283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2AACB-3328-D002-2A21-36FD70DBA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AFF40-8860-9222-CEEA-1DDD6680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5358D-333F-474F-854A-573B3E2A38DB}" type="datetime1">
              <a:rPr lang="es-ES" smtClean="0"/>
              <a:t>01/08/2025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A3AB-FE00-FD57-26DB-50B66F658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4FD72-88E8-5AE2-A866-3CDC4AFB5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275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96D0-E483-24D8-2697-2AA895B33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6009D-A564-F2E4-2937-23051B67A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2BF80-461C-7586-1670-F93090414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300BD-868D-4521-ABAF-0AA5B62E8086}" type="datetime1">
              <a:rPr lang="es-ES" smtClean="0"/>
              <a:t>01/08/2025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DC88D-933A-28DB-C70D-6636A6DC3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CBD7D-5EEE-48EB-4163-6D2853207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6948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8E251-A3F4-A255-65D7-8D6A98568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C71F5-FC4A-86BC-C4D5-4B15FFADD7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354F2-A26F-02F4-07D3-D569283F08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91259-1D06-8317-E03C-0811F626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C9C0E-AE44-4AD1-A932-1F5FB3CB035C}" type="datetime1">
              <a:rPr lang="es-ES" smtClean="0"/>
              <a:t>01/08/2025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49F8B-087F-770C-D7D3-C99CF614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C6237-B959-0834-8E72-3C1F539F6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46360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6B272-2ED0-CC29-694B-E204B515E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DA8A9-3587-5BB6-264D-030BAE722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A0D11-D915-1CF8-AE3D-79DA8DE25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79FC6-7192-CB9E-4EAA-7C9E3572F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9C6797-6845-B713-D4E1-46CC146632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0EB0C2-1226-576A-F1FC-7979A4167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B5577-ACD0-42F0-9190-AE6F53E58C0B}" type="datetime1">
              <a:rPr lang="es-ES" smtClean="0"/>
              <a:t>01/08/2025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7F4D0-4D0D-161F-3CB7-0E5E36747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80F39-AD62-25E8-3AB4-E39BD2CD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9891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DF7D9-DD08-4663-8A89-3AD21AA3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3641A-7A3D-0982-7432-C794282E1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2827-6FB6-475C-86CA-C1DCFFF781C6}" type="datetime1">
              <a:rPr lang="es-ES" smtClean="0"/>
              <a:t>01/08/2025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5C85-88FD-E682-05DB-EFC189E6F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8ABC5-395E-612B-1AFE-12B35DA9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790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4970A5-09D3-4F3C-8EAE-FE17EFE8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A6832-2ECF-458E-BE37-E1EB3D3C5877}" type="datetime1">
              <a:rPr lang="es-ES" smtClean="0"/>
              <a:t>01/08/2025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6C9C4B-BC2D-EED3-E6FB-20E3202AF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107E-AA2C-D833-F307-473B393F1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6354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01545-4296-12D6-E3C4-0C26E743F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C7CA5-CE99-78EF-740B-C53E82747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E355D-1F1A-04BD-907E-8EF552583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37DFD-2CDA-500E-5C1E-59DBFA225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5E95A-CD13-49C9-A7B1-3D552A083183}" type="datetime1">
              <a:rPr lang="es-ES" smtClean="0"/>
              <a:t>01/08/2025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985E3-23ED-0225-7B1F-CAC7B674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1E211-EA4E-BD7E-5D33-89714671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2774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8AFA3-48F6-47A9-8C0A-F58EB574B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D9387-72B8-0D1D-CC6D-FE02E8F777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FF518-3A98-C05C-C414-E32BCDBFD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31DD8-C5B1-F1E4-DB19-7F05D2F3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BE413-EACB-4EE1-B23C-D21DAC86EEDB}" type="datetime1">
              <a:rPr lang="es-ES" smtClean="0"/>
              <a:t>01/08/2025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B64BE-A266-A624-24A9-A2130235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60E57-8FCE-FF4F-AF7C-A597F9AF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6573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33197-E5D8-A19E-6ABE-611EAFC78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C66A3-9DEB-D1B4-C145-75924A0253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CF3D1-823B-F4FC-6D1B-5BDA78D09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E2A14-E221-4B84-BEEE-F6B8B281648B}" type="datetime1">
              <a:rPr lang="es-ES" smtClean="0"/>
              <a:t>01/08/2025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EC095-6AA9-DED5-20AF-9E7B8184E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B49A0-19E3-7E5F-B2C5-F822546E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40735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DB2A34-2231-E0F2-D48B-61D56D6FA9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58509-CE68-4983-F95F-D31458697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63D50-640C-A138-0DC1-27EC8FC00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E418D-4D2A-4BC7-9AB9-AF09D0106F76}" type="datetime1">
              <a:rPr lang="es-ES" smtClean="0"/>
              <a:t>01/08/2025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3C0F8-6FEA-0C22-8842-C7C3F56F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2F532-6A82-8D42-A448-7AE7FF222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531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179B1-67D6-D169-DE42-FB457735A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3FF92-9700-E926-FF32-27E265040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F963-2D91-B5EA-5BC3-4EF24DDCA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DAC4E-DEB7-4506-883C-B9269A01D126}" type="datetime1">
              <a:rPr lang="es-ES" smtClean="0"/>
              <a:t>01/08/2025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C87A7-5142-C70F-97CC-99B93246EC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tuSpeaking 2025, all rights reserved</a:t>
            </a:r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20F50-ED01-F6BF-F218-735848ADC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7261C-83DB-47C9-9772-E09B3C4A64F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245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a.pinterest.com/pin/everything-you-need-to-know-about-gmails-new-superconfusing-layout--18366310953863174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reamstime.com/illustration/clarity-magnifying-glass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apable.club/blog/communication-skills/principles-of-effective-communicatio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premium-ai-image/email-newsletter-illustration-mockup_199699002.htm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hare.net/Romanychch/modal-verbs-12937906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marketingnewjersey.us/blog/seo-text-in-real-life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.inspiredpencil.com/pictures-2023/conclusion-word" TargetMode="External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nterest.com/pin/bonus-200-euro-arriver-direttamente-in-busta-paga-i-requisiti-utili-per-ottenerlo--775111785889869375/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nd5.com/stock-footage/item/235005497-feedback-animated-word-cloudtag-animation-kinetic-typography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64F1BC8-800F-4040-BB8C-7D2E38AEE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09DC30-925F-7B8F-C0B7-97CB501D5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598246"/>
            <a:ext cx="4412419" cy="3626217"/>
          </a:xfrm>
        </p:spPr>
        <p:txBody>
          <a:bodyPr anchor="t">
            <a:normAutofit/>
          </a:bodyPr>
          <a:lstStyle/>
          <a:p>
            <a:pPr algn="r"/>
            <a:r>
              <a:rPr lang="en-US" sz="5000">
                <a:solidFill>
                  <a:srgbClr val="FFFFFF"/>
                </a:solidFill>
              </a:rPr>
              <a:t>Clear, Concise, and Courteous: Business Email Essentials</a:t>
            </a:r>
            <a:endParaRPr lang="es-ES" sz="50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8E86A9-D7E7-FEB8-C9B4-4C9DD208ED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350213"/>
            <a:ext cx="4412417" cy="1031537"/>
          </a:xfrm>
        </p:spPr>
        <p:txBody>
          <a:bodyPr>
            <a:normAutofit/>
          </a:bodyPr>
          <a:lstStyle/>
          <a:p>
            <a:pPr algn="r"/>
            <a:r>
              <a:rPr lang="es-ES" sz="3200">
                <a:solidFill>
                  <a:srgbClr val="FFFFFF"/>
                </a:solidFill>
              </a:rPr>
              <a:t>Intermediate Business English Learners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E64C0-07DC-D6D2-E2EB-22CC6A092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224937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tuSpeaking 2025, all rights reserved</a:t>
            </a:r>
            <a:endParaRPr lang="es-ES">
              <a:solidFill>
                <a:srgbClr val="FFFFFF"/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6816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33411EA-4DDC-DD32-3DBB-8698084A55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44" b="1"/>
          <a:stretch>
            <a:fillRect/>
          </a:stretch>
        </p:blipFill>
        <p:spPr>
          <a:xfrm>
            <a:off x="6096000" y="1598246"/>
            <a:ext cx="5257787" cy="1830754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97AFA794-AF2F-45AA-AD9A-03B9214E7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28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20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7" name="Picture 6" descr="A computer with a mail symbol on the screen&#10;&#10;AI-generated content may be incorrect.">
            <a:extLst>
              <a:ext uri="{FF2B5EF4-FFF2-40B4-BE49-F238E27FC236}">
                <a16:creationId xmlns:a16="http://schemas.microsoft.com/office/drawing/2014/main" id="{9E838C64-436E-6622-946A-E84C97609F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11408" r="-1" b="15829"/>
          <a:stretch>
            <a:fillRect/>
          </a:stretch>
        </p:blipFill>
        <p:spPr>
          <a:xfrm>
            <a:off x="5876831" y="3428999"/>
            <a:ext cx="6212499" cy="328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6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F1778-4DF5-0374-82EC-385357F6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Objectives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Close-up of a magnifying glass with a word&#10;&#10;AI-generated content may be incorrect.">
            <a:extLst>
              <a:ext uri="{FF2B5EF4-FFF2-40B4-BE49-F238E27FC236}">
                <a16:creationId xmlns:a16="http://schemas.microsoft.com/office/drawing/2014/main" id="{7DC40EE8-94A7-C5A3-6384-E1013EE688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143" y="1960418"/>
            <a:ext cx="5221625" cy="2937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BDEE6-5A77-A54B-FB37-317118EDF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Autofit/>
          </a:bodyPr>
          <a:lstStyle/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By the end of this session, students will be able to: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Identify and apply the 3 C’s (Clear, Concise, Courteous) in business email writing.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Use appropriate vocabulary for internal business communication.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Apply grammar structures to express tone and politeness.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Write an effective internal business email using the learned strategies.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71AD6-5038-119D-844F-3A038FBB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942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B4953-EADA-B327-036A-B393354D1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C6ABEE0-D874-72B1-E09F-50FA4F4D1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08A104-1B9E-847C-30CE-EC3AB0C41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 dirty="0" err="1"/>
              <a:t>Warm</a:t>
            </a:r>
            <a:r>
              <a:rPr lang="es-ES" sz="5600" dirty="0"/>
              <a:t>-Up </a:t>
            </a:r>
            <a:r>
              <a:rPr lang="es-ES" sz="5600" dirty="0" err="1"/>
              <a:t>Activity</a:t>
            </a:r>
            <a:endParaRPr lang="es-ES" sz="5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723BA2-6B1C-5826-4809-0261E37CE0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C9607-08F8-5571-265F-F338C3FEB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Task: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Think-Pair-Share: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Prompt: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"Think about the last email you received that was unclear or too long. What made it hard to understand? Now, think of a well-written email. What made it effective?"</a:t>
            </a:r>
          </a:p>
          <a:p>
            <a:pPr marL="0" indent="0">
              <a:buNone/>
            </a:pP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D847D-9FC5-BAFC-9DD5-312D13498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23873D7-DB14-E945-CB3C-0196ABFC7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D2CD105-9FE8-73C9-4229-AFB3D74FA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41" y="1887794"/>
            <a:ext cx="5505284" cy="3977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0EC807-A6CF-E8CE-8CCB-564C1C11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Introduction to the Topic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diagram of a chart">
            <a:extLst>
              <a:ext uri="{FF2B5EF4-FFF2-40B4-BE49-F238E27FC236}">
                <a16:creationId xmlns:a16="http://schemas.microsoft.com/office/drawing/2014/main" id="{E9CFCE47-15A6-7D9E-3038-B5843E60F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981" y="1602658"/>
            <a:ext cx="5519744" cy="36271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99AD8-AFE8-3A2B-84A1-ADFB6ACF8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Why Email Writing Matters in Business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Emails are the backbone of modern business communication.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Poor email habits waste time and create misunderstandings.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Professionals are expected to write clearly, briefly, and politely.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Introduce:</a:t>
            </a:r>
          </a:p>
          <a:p>
            <a:pPr lvl="1"/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The 3 C’s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– Clarity, Conciseness, Courtesy.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265337-3A26-1FF8-0201-19C08162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020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D0079A-DF8E-5D56-AC7E-CBC29B40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s-ES" sz="3200">
                <a:solidFill>
                  <a:srgbClr val="FFFFFF"/>
                </a:solidFill>
              </a:rPr>
              <a:t>Key Vocabulary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82B258-6851-F9CC-6CB9-E1C06D05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111EA27-81F4-2B6E-4DD4-5CC5617FBD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22286"/>
              </p:ext>
            </p:extLst>
          </p:nvPr>
        </p:nvGraphicFramePr>
        <p:xfrm>
          <a:off x="1098168" y="2184851"/>
          <a:ext cx="9996054" cy="3796859"/>
        </p:xfrm>
        <a:graphic>
          <a:graphicData uri="http://schemas.openxmlformats.org/drawingml/2006/table">
            <a:tbl>
              <a:tblPr firstRow="1" bandRow="1"/>
              <a:tblGrid>
                <a:gridCol w="3723315">
                  <a:extLst>
                    <a:ext uri="{9D8B030D-6E8A-4147-A177-3AD203B41FA5}">
                      <a16:colId xmlns:a16="http://schemas.microsoft.com/office/drawing/2014/main" val="1839940716"/>
                    </a:ext>
                  </a:extLst>
                </a:gridCol>
                <a:gridCol w="6272739">
                  <a:extLst>
                    <a:ext uri="{9D8B030D-6E8A-4147-A177-3AD203B41FA5}">
                      <a16:colId xmlns:a16="http://schemas.microsoft.com/office/drawing/2014/main" val="2060156773"/>
                    </a:ext>
                  </a:extLst>
                </a:gridCol>
              </a:tblGrid>
              <a:tr h="345169">
                <a:tc>
                  <a:txBody>
                    <a:bodyPr/>
                    <a:lstStyle/>
                    <a:p>
                      <a:r>
                        <a:rPr lang="es-ES" sz="1500" b="1" err="1">
                          <a:ln>
                            <a:solidFill>
                              <a:schemeClr val="accent1"/>
                            </a:solidFill>
                          </a:ln>
                        </a:rPr>
                        <a:t>Term</a:t>
                      </a:r>
                      <a:endParaRPr lang="es-ES" sz="1500" b="1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 b="1" err="1">
                          <a:ln>
                            <a:solidFill>
                              <a:schemeClr val="accent1"/>
                            </a:solidFill>
                          </a:ln>
                        </a:rPr>
                        <a:t>Meaning</a:t>
                      </a:r>
                      <a:endParaRPr lang="es-ES" sz="1500" b="1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22773444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Subject line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The title of the email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012331456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Greeting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How you start the email (e.g., Dear John)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893122011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Signature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Your name and contact info at the end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252750593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Brief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Short and to the point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9004052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Redundant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Repetitive or unnecessary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794303184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 err="1">
                          <a:ln>
                            <a:solidFill>
                              <a:schemeClr val="accent1"/>
                            </a:solidFill>
                          </a:ln>
                        </a:rPr>
                        <a:t>To</a:t>
                      </a: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 the </a:t>
                      </a:r>
                      <a:r>
                        <a:rPr lang="es-ES" sz="1500" err="1">
                          <a:ln>
                            <a:solidFill>
                              <a:schemeClr val="accent1"/>
                            </a:solidFill>
                          </a:ln>
                        </a:rPr>
                        <a:t>point</a:t>
                      </a:r>
                      <a:endParaRPr lang="es-ES" sz="1500">
                        <a:ln>
                          <a:solidFill>
                            <a:schemeClr val="accent1"/>
                          </a:solidFill>
                        </a:ln>
                      </a:endParaRP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Focused on the topic only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011640670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Friendly tone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Warm, respectful language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249303113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Edit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Review and improve writing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997125791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Call to action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What you want the reader to do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804424901"/>
                  </a:ext>
                </a:extLst>
              </a:tr>
              <a:tr h="34516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ES" sz="1500" err="1">
                          <a:ln>
                            <a:solidFill>
                              <a:schemeClr val="accent1"/>
                            </a:solidFill>
                          </a:ln>
                        </a:rPr>
                        <a:t>Follow</a:t>
                      </a:r>
                      <a:r>
                        <a:rPr lang="es-E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-up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ln>
                            <a:solidFill>
                              <a:schemeClr val="accent1"/>
                            </a:solidFill>
                          </a:ln>
                        </a:rPr>
                        <a:t>A message after the first to check progress or give more info</a:t>
                      </a:r>
                    </a:p>
                  </a:txBody>
                  <a:tcPr marL="78447" marR="78447" marT="39224" marB="39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blipFill>
                      <a:blip r:embed="rId2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795840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817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0B7C7-3DF0-1F0C-A772-F3171911B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Vocabulary Exercise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blue envelope with white papers and yellow envelopes&#10;&#10;AI-generated content may be incorrect.">
            <a:extLst>
              <a:ext uri="{FF2B5EF4-FFF2-40B4-BE49-F238E27FC236}">
                <a16:creationId xmlns:a16="http://schemas.microsoft.com/office/drawing/2014/main" id="{0854BAE6-78C0-2C61-812D-6F45E4A713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143" y="1686283"/>
            <a:ext cx="5221625" cy="348543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C8A70-46B4-A570-F822-6F41EFF63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5011008" cy="4020349"/>
          </a:xfrm>
        </p:spPr>
        <p:txBody>
          <a:bodyPr anchor="t">
            <a:noAutofit/>
          </a:bodyPr>
          <a:lstStyle/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Match the term to its meaning: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Students choose the correct word from the vocabulary list.</a:t>
            </a:r>
          </a:p>
          <a:p>
            <a:pPr marL="457200" lvl="1" indent="0">
              <a:buNone/>
            </a:pP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 polite way to begin a message –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Asking someone to respond or act –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Ending with your name and job title –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Not adding extra or repeated words –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 summary of the email’s purpose –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Polite and respectful communication – 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B8E3AF-B861-F275-4948-23E3637D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7656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CED4-7853-1E45-2D8B-DC0515CA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71A33-B309-8693-8293-2E693E2DE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200"/>
          </a:xfrm>
        </p:spPr>
        <p:txBody>
          <a:bodyPr/>
          <a:lstStyle/>
          <a:p>
            <a:r>
              <a:rPr lang="es-ES"/>
              <a:t>Vocabulary Exercise - Answers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15F38-6F15-547E-5449-429DE789E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196"/>
            <a:ext cx="10515600" cy="4619767"/>
          </a:xfrm>
          <a:gradFill>
            <a:gsLst>
              <a:gs pos="0">
                <a:schemeClr val="accent1">
                  <a:lumMod val="9000"/>
                  <a:lumOff val="91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</a:ln>
        </p:spPr>
        <p:txBody>
          <a:bodyPr>
            <a:normAutofit/>
          </a:bodyPr>
          <a:lstStyle/>
          <a:p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Match the term to its meaning: </a:t>
            </a: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Students choose the correct word from the vocabulary list.</a:t>
            </a:r>
          </a:p>
          <a:p>
            <a:pPr marL="457200" lvl="1" indent="0">
              <a:buNone/>
            </a:pPr>
            <a:endParaRPr lang="es-ES" sz="200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A polite way to begin a message – ______</a:t>
            </a:r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Greeting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Asking someone to respond or act – ______</a:t>
            </a:r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Call to action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Ending with your name and job title – ______</a:t>
            </a:r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Signature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Not adding extra or repeated words – ______</a:t>
            </a:r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Brief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A summary of the email’s purpose – ______</a:t>
            </a:r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Subject line</a:t>
            </a:r>
          </a:p>
          <a:p>
            <a:pPr marL="914400" lvl="1" indent="-457200">
              <a:buFont typeface="+mj-lt"/>
              <a:buAutoNum type="arabicPeriod"/>
            </a:pPr>
            <a:endParaRPr lang="en-US" sz="200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Polite and respectful communication – ______</a:t>
            </a:r>
            <a:r>
              <a:rPr lang="en-US" sz="2000" b="1">
                <a:ln>
                  <a:solidFill>
                    <a:schemeClr val="accent1"/>
                  </a:solidFill>
                </a:ln>
                <a:solidFill>
                  <a:schemeClr val="tx2"/>
                </a:solidFill>
              </a:rPr>
              <a:t>Friendly tone</a:t>
            </a:r>
            <a:endParaRPr lang="es-ES" sz="2000" b="1" dirty="0">
              <a:ln>
                <a:solidFill>
                  <a:schemeClr val="accent1"/>
                </a:solidFill>
              </a:ln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89F1A-C85F-EC32-7CF9-3D3A9BD7A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398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C3646-218D-F1C7-517E-9EEC30157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 dirty="0" err="1"/>
              <a:t>Grammar</a:t>
            </a:r>
            <a:r>
              <a:rPr lang="es-ES" sz="5600" dirty="0"/>
              <a:t> Focus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ight bulb with a yellow and purple lightbulb&#10;&#10;AI-generated content may be incorrect.">
            <a:extLst>
              <a:ext uri="{FF2B5EF4-FFF2-40B4-BE49-F238E27FC236}">
                <a16:creationId xmlns:a16="http://schemas.microsoft.com/office/drawing/2014/main" id="{8D7823D8-423E-EE0A-E492-A7AF50683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143" y="1470891"/>
            <a:ext cx="5221625" cy="391621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F2FE4-90AB-0966-3FE3-578F6E30B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47" y="2408903"/>
            <a:ext cx="5014372" cy="414921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Topic: 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Using Modal Verbs for Politeness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 (could, would, might, should)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Why It Matters: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The tone in business emails should be polite, especially when requesting or suggesting.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✍️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Structure:</a:t>
            </a: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Requesting: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Could you send me the report?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Would you be able to attend the meeting?</a:t>
            </a:r>
          </a:p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Suggesting: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We might consider revising the timeline.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You should include more details in the subject line.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25D005-7DEF-3DF9-2CC4-17E7EA6E4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99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642505-1F48-5C44-8B63-74159C7A4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62F4B-ABF2-BAA1-9954-AC3EBA2CB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Grammar</a:t>
            </a:r>
            <a:r>
              <a:rPr lang="es-ES" sz="5600" dirty="0"/>
              <a:t> </a:t>
            </a:r>
            <a:r>
              <a:rPr lang="es-ES" sz="5600"/>
              <a:t>exercice</a:t>
            </a:r>
            <a:endParaRPr lang="es-ES" sz="56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061FAE-FA65-3F59-9CDB-649D31B5E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510053"/>
            <a:ext cx="5221625" cy="383789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2F42-7EB9-9CE4-A9AB-CA0CA78C4E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Rewrite these informal phrases using polite modals: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Send me the report.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 want you to attend the meeting.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Change the subject line.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Reply quickly.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We need to review the document.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Add the client’s name.</a:t>
            </a:r>
          </a:p>
          <a:p>
            <a:pPr marL="0" indent="0">
              <a:buNone/>
            </a:pPr>
            <a:endParaRPr lang="es-E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E56B2-293B-F6DD-4FC3-26F9E092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238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D7F5A-6D37-F4EF-5287-F0EF15B2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FADA-E850-32DD-51AE-ED531B2DA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6439"/>
          </a:xfrm>
        </p:spPr>
        <p:txBody>
          <a:bodyPr/>
          <a:lstStyle/>
          <a:p>
            <a:r>
              <a:rPr lang="es-ES" dirty="0" err="1"/>
              <a:t>Grammar</a:t>
            </a:r>
            <a:r>
              <a:rPr lang="es-ES" dirty="0"/>
              <a:t> </a:t>
            </a:r>
            <a:r>
              <a:rPr lang="es-ES" dirty="0" err="1"/>
              <a:t>exercice</a:t>
            </a:r>
            <a:r>
              <a:rPr lang="es-ES" dirty="0"/>
              <a:t> - </a:t>
            </a:r>
            <a:r>
              <a:rPr lang="es-ES" dirty="0" err="1"/>
              <a:t>Answers</a:t>
            </a:r>
            <a:endParaRPr lang="es-E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A7925-6EFE-692F-45DE-BE9449FEA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891"/>
            <a:ext cx="10515600" cy="4579072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lang="en-US" sz="2000" b="1" dirty="0">
                <a:ln>
                  <a:solidFill>
                    <a:schemeClr val="accent1"/>
                  </a:solidFill>
                </a:ln>
              </a:rPr>
              <a:t>Rewrite these informal phrases using polite modals:</a:t>
            </a:r>
          </a:p>
          <a:p>
            <a:pPr marL="0" indent="0">
              <a:buNone/>
            </a:pPr>
            <a:endParaRPr lang="en-US" sz="2000" dirty="0">
              <a:ln>
                <a:solidFill>
                  <a:schemeClr val="accent1"/>
                </a:solidFill>
              </a:ln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n>
                  <a:solidFill>
                    <a:schemeClr val="accent1"/>
                  </a:solidFill>
                </a:ln>
              </a:rPr>
              <a:t>Send me the report.                                          Could you send me the report?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n>
                  <a:solidFill>
                    <a:schemeClr val="accent1"/>
                  </a:solidFill>
                </a:ln>
              </a:rPr>
              <a:t>I want you to attend the meeting.                Would you be able to attend the meeting? 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n>
                  <a:solidFill>
                    <a:schemeClr val="accent1"/>
                  </a:solidFill>
                </a:ln>
              </a:rPr>
              <a:t>Change the subject line.                                  You might want to change the subject line.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n>
                  <a:solidFill>
                    <a:schemeClr val="accent1"/>
                  </a:solidFill>
                </a:ln>
              </a:rPr>
              <a:t>Reply quickly.                                                        Could you reply as soon as possible?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n>
                  <a:solidFill>
                    <a:schemeClr val="accent1"/>
                  </a:solidFill>
                </a:ln>
              </a:rPr>
              <a:t>We need to review the document.                We should review the document.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ln>
                  <a:solidFill>
                    <a:schemeClr val="accent1"/>
                  </a:solidFill>
                </a:ln>
              </a:rPr>
              <a:t>Add the client’s name.                                        You should add the client’s name.</a:t>
            </a:r>
            <a:endParaRPr lang="es-ES" sz="2000" dirty="0">
              <a:ln>
                <a:solidFill>
                  <a:schemeClr val="accent1"/>
                </a:solidFill>
              </a:ln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3A5A4-1401-DDC4-C959-3DFCE26CE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tuSpeaking 2025, all rights reserved</a:t>
            </a:r>
            <a:endParaRPr lang="es-E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DF18933-5CEE-8D4E-E350-6B9FCFD25776}"/>
              </a:ext>
            </a:extLst>
          </p:cNvPr>
          <p:cNvCxnSpPr>
            <a:cxnSpLocks/>
          </p:cNvCxnSpPr>
          <p:nvPr/>
        </p:nvCxnSpPr>
        <p:spPr>
          <a:xfrm>
            <a:off x="4038600" y="2553077"/>
            <a:ext cx="20574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2A57A70-7655-769E-7BF8-822D2462FC34}"/>
              </a:ext>
            </a:extLst>
          </p:cNvPr>
          <p:cNvCxnSpPr>
            <a:cxnSpLocks/>
          </p:cNvCxnSpPr>
          <p:nvPr/>
        </p:nvCxnSpPr>
        <p:spPr>
          <a:xfrm>
            <a:off x="5450186" y="2893725"/>
            <a:ext cx="6458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C00347-2E3A-F27F-97EA-03D23CC76F38}"/>
              </a:ext>
            </a:extLst>
          </p:cNvPr>
          <p:cNvCxnSpPr>
            <a:cxnSpLocks/>
          </p:cNvCxnSpPr>
          <p:nvPr/>
        </p:nvCxnSpPr>
        <p:spPr>
          <a:xfrm>
            <a:off x="4535786" y="3213980"/>
            <a:ext cx="15602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4C9755-E2BF-12D1-E5FC-84DADDC1FFC9}"/>
              </a:ext>
            </a:extLst>
          </p:cNvPr>
          <p:cNvCxnSpPr>
            <a:cxnSpLocks/>
          </p:cNvCxnSpPr>
          <p:nvPr/>
        </p:nvCxnSpPr>
        <p:spPr>
          <a:xfrm>
            <a:off x="3449371" y="3560321"/>
            <a:ext cx="26466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2155E9-0980-9A50-5DBE-110FADCEFE1D}"/>
              </a:ext>
            </a:extLst>
          </p:cNvPr>
          <p:cNvCxnSpPr>
            <a:cxnSpLocks/>
          </p:cNvCxnSpPr>
          <p:nvPr/>
        </p:nvCxnSpPr>
        <p:spPr>
          <a:xfrm>
            <a:off x="5576935" y="3902044"/>
            <a:ext cx="5190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1EAD6F-C1D9-3F70-C7AE-CDF24ACDD0B5}"/>
              </a:ext>
            </a:extLst>
          </p:cNvPr>
          <p:cNvCxnSpPr>
            <a:cxnSpLocks/>
          </p:cNvCxnSpPr>
          <p:nvPr/>
        </p:nvCxnSpPr>
        <p:spPr>
          <a:xfrm>
            <a:off x="4318503" y="4246075"/>
            <a:ext cx="177749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9950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42B018-FAC0-106E-DAD2-BBEB7ED81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Real-Life Practice Task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sitting at a desk working on a computer&#10;&#10;AI-generated content may be incorrect.">
            <a:extLst>
              <a:ext uri="{FF2B5EF4-FFF2-40B4-BE49-F238E27FC236}">
                <a16:creationId xmlns:a16="http://schemas.microsoft.com/office/drawing/2014/main" id="{9FA6291E-6837-BC07-9638-C223F7752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143" y="1934310"/>
            <a:ext cx="5221625" cy="298938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8FFF2-41EF-2B8B-5BEA-8B5DF3DB9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Task: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Write an internal company email to a colleague who forgot to attach a file.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Include: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Clear subject line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Polite greeting and tone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Brief explanation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Friendly call to action</a:t>
            </a:r>
          </a:p>
          <a:p>
            <a:pPr lvl="1"/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Professional signature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F143C-35EF-0529-4074-932B13684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971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BC0D6-D099-E626-DBDF-96DE368A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Conclusions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torn blue paper with black text&#10;&#10;AI-generated content may be incorrect.">
            <a:extLst>
              <a:ext uri="{FF2B5EF4-FFF2-40B4-BE49-F238E27FC236}">
                <a16:creationId xmlns:a16="http://schemas.microsoft.com/office/drawing/2014/main" id="{5F1F614D-D389-FEA9-CD21-590FBFE62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0251" y="1543665"/>
            <a:ext cx="5425310" cy="379005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38B34-A341-CA9D-8406-02A0CF9B1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ES" sz="1700" b="1" dirty="0" err="1">
                <a:solidFill>
                  <a:schemeClr val="tx1">
                    <a:alpha val="80000"/>
                  </a:schemeClr>
                </a:solidFill>
              </a:rPr>
              <a:t>Review</a:t>
            </a:r>
            <a:r>
              <a:rPr lang="es-ES" sz="1700" b="1" dirty="0">
                <a:solidFill>
                  <a:schemeClr val="tx1">
                    <a:alpha val="80000"/>
                  </a:schemeClr>
                </a:solidFill>
              </a:rPr>
              <a:t> the Essentials:</a:t>
            </a:r>
          </a:p>
          <a:p>
            <a:pPr marL="0" indent="0">
              <a:buNone/>
            </a:pP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✅ Clear = Easy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to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understand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✅ Concise = No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fluff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✅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Courteous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=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Respectful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and polite</a:t>
            </a:r>
          </a:p>
          <a:p>
            <a:pPr marL="0" indent="0">
              <a:buNone/>
            </a:pP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📬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Strong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business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emails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reflect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professionalism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💡 Good emails =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better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teamwork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faster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results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,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clearer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 </a:t>
            </a:r>
            <a:r>
              <a:rPr lang="es-ES" sz="1700" dirty="0" err="1">
                <a:solidFill>
                  <a:schemeClr val="tx1">
                    <a:alpha val="80000"/>
                  </a:schemeClr>
                </a:solidFill>
              </a:rPr>
              <a:t>communication</a:t>
            </a:r>
            <a:r>
              <a:rPr lang="es-ES" sz="1700" dirty="0">
                <a:solidFill>
                  <a:schemeClr val="tx1">
                    <a:alpha val="80000"/>
                  </a:schemeClr>
                </a:solidFill>
              </a:rPr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B5F187-D7F3-CDDB-AB37-918636CC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101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EA000C-B66B-CC3F-55B9-81E8452B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es-ES" sz="5600"/>
              <a:t>Bonus Tip Section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erson touching a glowing screen">
            <a:extLst>
              <a:ext uri="{FF2B5EF4-FFF2-40B4-BE49-F238E27FC236}">
                <a16:creationId xmlns:a16="http://schemas.microsoft.com/office/drawing/2014/main" id="{F558A22B-CB8E-5317-C6CC-A84DA4157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79143" y="1738499"/>
            <a:ext cx="5221625" cy="338100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AACC3-EDA9-892E-0633-64AA4AB17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645922"/>
            <a:ext cx="4434721" cy="371042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Title:</a:t>
            </a: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✨ Pro Tips for Email Writing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Use bullet points for clarity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Avoid jargon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Read aloud before sending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One topic per email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Respond within 24 hours</a:t>
            </a:r>
            <a:endParaRPr lang="es-E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4DA76C-1DA9-F8C1-B9AE-F3319208B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2115" y="1591485"/>
            <a:ext cx="354809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chemeClr val="tx1">
                    <a:alpha val="60000"/>
                  </a:schemeClr>
                </a:solidFill>
              </a:rPr>
              <a:t>tuSpeaking 2025, all rights reserved</a:t>
            </a:r>
            <a:endParaRPr lang="es-ES">
              <a:solidFill>
                <a:schemeClr val="tx1">
                  <a:alpha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0807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blue background&#10;&#10;AI-generated content may be incorrect.">
            <a:extLst>
              <a:ext uri="{FF2B5EF4-FFF2-40B4-BE49-F238E27FC236}">
                <a16:creationId xmlns:a16="http://schemas.microsoft.com/office/drawing/2014/main" id="{801E015E-C945-B48F-842A-5575DD512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ECB118-4728-6C0C-64F4-922206F21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4" y="136526"/>
            <a:ext cx="3803652" cy="98435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Feedback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B01E6-B11D-EA86-4FC1-A351F7649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kern="1200">
                <a:solidFill>
                  <a:schemeClr val="bg1"/>
                </a:solidFill>
                <a:latin typeface="Calibri" panose="020F0502020204030204"/>
                <a:ea typeface="+mn-ea"/>
                <a:cs typeface="+mn-cs"/>
              </a:rPr>
              <a:t>tuSpeaking 2025,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009906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801</Words>
  <Application>Microsoft Office PowerPoint</Application>
  <PresentationFormat>Widescreen</PresentationFormat>
  <Paragraphs>142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Clear, Concise, and Courteous: Business Email Essentials</vt:lpstr>
      <vt:lpstr>Objectives</vt:lpstr>
      <vt:lpstr>Warm-Up Activity</vt:lpstr>
      <vt:lpstr>Introduction to the Topic</vt:lpstr>
      <vt:lpstr>Key Vocabulary</vt:lpstr>
      <vt:lpstr>Vocabulary Exercise</vt:lpstr>
      <vt:lpstr>Vocabulary Exercise - Answers</vt:lpstr>
      <vt:lpstr>Grammar Focus</vt:lpstr>
      <vt:lpstr>Grammar exercice</vt:lpstr>
      <vt:lpstr>Grammar exercice - Answers</vt:lpstr>
      <vt:lpstr>Real-Life Practice Task</vt:lpstr>
      <vt:lpstr>Conclusions</vt:lpstr>
      <vt:lpstr>Bonus Tip Section</vt:lpstr>
      <vt:lpstr>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Javier Rodríguez</dc:creator>
  <cp:lastModifiedBy>Javier Rodríguez</cp:lastModifiedBy>
  <cp:revision>11</cp:revision>
  <dcterms:created xsi:type="dcterms:W3CDTF">2025-07-30T12:07:41Z</dcterms:created>
  <dcterms:modified xsi:type="dcterms:W3CDTF">2025-08-01T09:56:06Z</dcterms:modified>
</cp:coreProperties>
</file>