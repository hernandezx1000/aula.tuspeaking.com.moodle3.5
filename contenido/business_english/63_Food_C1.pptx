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77" r:id="rId4"/>
    <p:sldId id="279" r:id="rId5"/>
    <p:sldId id="280" r:id="rId6"/>
    <p:sldId id="278" r:id="rId7"/>
    <p:sldId id="281" r:id="rId8"/>
    <p:sldId id="282" r:id="rId9"/>
    <p:sldId id="283" r:id="rId10"/>
    <p:sldId id="284" r:id="rId11"/>
    <p:sldId id="285" r:id="rId12"/>
    <p:sldId id="286" r:id="rId13"/>
    <p:sldId id="287" r:id="rId14"/>
    <p:sldId id="275"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597672-C49F-2146-E272-8639613202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xmlns="" id="{05F2F0C0-0BB1-D643-4A48-1CA979C1B0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xmlns="" id="{B9C0EA95-F30D-15AF-903C-656A97D2E71D}"/>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5" name="Footer Placeholder 4">
            <a:extLst>
              <a:ext uri="{FF2B5EF4-FFF2-40B4-BE49-F238E27FC236}">
                <a16:creationId xmlns:a16="http://schemas.microsoft.com/office/drawing/2014/main" xmlns="" id="{E6EFA2D6-F255-6876-4F9A-ACF283952D9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597C03BB-BAD8-EC3A-7015-A2D5287F7CD6}"/>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3531217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F527B4-7922-DBA0-A09C-3E3ABA22BED7}"/>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xmlns="" id="{35A70DB3-C4A7-EABC-C748-CA4BB682CB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579A19E0-70B7-18B0-E4C0-D3BD13C974D2}"/>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5" name="Footer Placeholder 4">
            <a:extLst>
              <a:ext uri="{FF2B5EF4-FFF2-40B4-BE49-F238E27FC236}">
                <a16:creationId xmlns:a16="http://schemas.microsoft.com/office/drawing/2014/main" xmlns="" id="{8D8C9D4C-B784-9845-BC33-7A38DD8EB952}"/>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ECD24327-FF1A-0228-A652-F173B6F0AE5C}"/>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79874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A6EEE8-E589-14C4-87CF-B76D2FB652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xmlns="" id="{A073A84A-2F03-4850-0453-FECA61D03D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D3F4930-E128-D22B-DFF4-56B7A3753BA0}"/>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5" name="Footer Placeholder 4">
            <a:extLst>
              <a:ext uri="{FF2B5EF4-FFF2-40B4-BE49-F238E27FC236}">
                <a16:creationId xmlns:a16="http://schemas.microsoft.com/office/drawing/2014/main" xmlns="" id="{2400B86A-1A66-E656-1EDD-C99CE1BA3C4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16801CF0-9F71-0CE8-79F8-519CD530B549}"/>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2444684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37A17F-CC55-BB60-E9C5-B76FC953A892}"/>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xmlns="" id="{3101BF8B-2075-BA6F-1C43-194A4676FE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xmlns="" id="{490BD44B-5991-1F2D-F37F-FCCD4AFB5F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xmlns="" id="{5149D7C1-5BB7-49FA-F392-A1CB04765E6A}"/>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6" name="Footer Placeholder 5">
            <a:extLst>
              <a:ext uri="{FF2B5EF4-FFF2-40B4-BE49-F238E27FC236}">
                <a16:creationId xmlns:a16="http://schemas.microsoft.com/office/drawing/2014/main" xmlns="" id="{5B82AD49-24B1-D187-C9C8-B0D2A6BE20D4}"/>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xmlns="" id="{88406BFB-0A7D-C1F6-AF40-8D1A19FA4A81}"/>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3688801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0FAE18-A9D3-2312-C91F-9594BA49C4C5}"/>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xmlns="" id="{6C043F2B-56E6-67FE-C55A-597AD5D571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7B1F33F-0098-2388-B642-86882B20DC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xmlns="" id="{D5A0FEAD-A86A-160C-CBB0-CAB8C1C992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7E478F2-2C4E-21BE-33AC-149E284888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xmlns="" id="{A2239A9B-F4F2-0AC8-0E79-0CE6F5DB980B}"/>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8" name="Footer Placeholder 7">
            <a:extLst>
              <a:ext uri="{FF2B5EF4-FFF2-40B4-BE49-F238E27FC236}">
                <a16:creationId xmlns:a16="http://schemas.microsoft.com/office/drawing/2014/main" xmlns="" id="{76A8D355-9F89-F72A-ABB6-835FC0B37D5F}"/>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xmlns="" id="{480FC6B5-3180-56E0-C1EC-70FCBF94CB1A}"/>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1526619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2B4779-3795-E551-519D-68BD45657FC2}"/>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xmlns="" id="{5AF6F5A6-2277-784C-40D9-3F89869142E1}"/>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4" name="Footer Placeholder 3">
            <a:extLst>
              <a:ext uri="{FF2B5EF4-FFF2-40B4-BE49-F238E27FC236}">
                <a16:creationId xmlns:a16="http://schemas.microsoft.com/office/drawing/2014/main" xmlns="" id="{EFAA910A-CD3C-E645-4F7E-EBAFC34DFD7C}"/>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xmlns="" id="{353704A5-5558-FF85-1293-7697F0C66BEC}"/>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347828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7B4F709-0500-359C-9988-979E80BAD7DE}"/>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3" name="Footer Placeholder 2">
            <a:extLst>
              <a:ext uri="{FF2B5EF4-FFF2-40B4-BE49-F238E27FC236}">
                <a16:creationId xmlns:a16="http://schemas.microsoft.com/office/drawing/2014/main" xmlns="" id="{17AB015F-080C-2CCB-0580-73BF569AAB5E}"/>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xmlns="" id="{2C9D1A81-3E01-F190-3AB9-F528E1C7B3EA}"/>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36807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B19858-1C53-4F4E-9E1F-E332E197E6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xmlns="" id="{30F3580B-0035-F5FF-9780-F7C867F1A6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xmlns="" id="{6DE97CDD-5B74-6D26-18AC-B1E9D9D43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EE86219-0035-ADDE-CBA1-5E0C276B8342}"/>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6" name="Footer Placeholder 5">
            <a:extLst>
              <a:ext uri="{FF2B5EF4-FFF2-40B4-BE49-F238E27FC236}">
                <a16:creationId xmlns:a16="http://schemas.microsoft.com/office/drawing/2014/main" xmlns="" id="{64358F6E-0BBB-3FF9-4F80-63539BFED826}"/>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xmlns="" id="{C7C24522-2921-7F11-07C1-291F06A29BE1}"/>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1967532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E0A8B6-90B0-1117-02C3-710029E89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xmlns="" id="{0E28D60A-05DB-7709-E374-45DA23539F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xmlns="" id="{F3856FAD-6E69-F36B-26D6-168527ECE8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9422058-D322-8105-8C07-2E70AAD76C5B}"/>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6" name="Footer Placeholder 5">
            <a:extLst>
              <a:ext uri="{FF2B5EF4-FFF2-40B4-BE49-F238E27FC236}">
                <a16:creationId xmlns:a16="http://schemas.microsoft.com/office/drawing/2014/main" xmlns="" id="{EBC58C27-3BF6-D2D1-2F5F-0865532A5D3B}"/>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xmlns="" id="{B49E4C99-E90E-0A54-30DE-E6C226D10B4F}"/>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4154640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B7B0A5-C5FC-D04F-7E2B-819592A86C3D}"/>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xmlns="" id="{BC339797-8FDE-29DB-9B62-E92978011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FCE83B82-A9D8-A91E-1BD8-8EC382F25E41}"/>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5" name="Footer Placeholder 4">
            <a:extLst>
              <a:ext uri="{FF2B5EF4-FFF2-40B4-BE49-F238E27FC236}">
                <a16:creationId xmlns:a16="http://schemas.microsoft.com/office/drawing/2014/main" xmlns="" id="{D6C5FC47-B4E7-77B4-A899-779A7DF99F54}"/>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D2FD4901-65E9-9FA7-800F-DF5D7F5A2A75}"/>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2504899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8365EEF-0549-D519-8F56-B1CDFFB184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xmlns="" id="{098B9AE4-0F7D-1B7F-08EE-85D7FDCECB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7EEEB710-B90B-C8C5-4277-B05D51737476}"/>
              </a:ext>
            </a:extLst>
          </p:cNvPr>
          <p:cNvSpPr>
            <a:spLocks noGrp="1"/>
          </p:cNvSpPr>
          <p:nvPr>
            <p:ph type="dt" sz="half" idx="10"/>
          </p:nvPr>
        </p:nvSpPr>
        <p:spPr/>
        <p:txBody>
          <a:bodyPr/>
          <a:lstStyle/>
          <a:p>
            <a:fld id="{002176AB-B33A-4CB5-B54D-6C2B98E1C289}" type="datetimeFigureOut">
              <a:rPr lang="es-ES" smtClean="0"/>
              <a:t>02/01/2025</a:t>
            </a:fld>
            <a:endParaRPr lang="es-ES"/>
          </a:p>
        </p:txBody>
      </p:sp>
      <p:sp>
        <p:nvSpPr>
          <p:cNvPr id="5" name="Footer Placeholder 4">
            <a:extLst>
              <a:ext uri="{FF2B5EF4-FFF2-40B4-BE49-F238E27FC236}">
                <a16:creationId xmlns:a16="http://schemas.microsoft.com/office/drawing/2014/main" xmlns="" id="{5B290B3C-FBF9-03F2-3629-86D802BE6C86}"/>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424382F7-F7FB-6D9B-3D00-550077C3E324}"/>
              </a:ext>
            </a:extLst>
          </p:cNvPr>
          <p:cNvSpPr>
            <a:spLocks noGrp="1"/>
          </p:cNvSpPr>
          <p:nvPr>
            <p:ph type="sldNum" sz="quarter" idx="12"/>
          </p:nvPr>
        </p:nvSpPr>
        <p:spPr/>
        <p:txBody>
          <a:bodyPr/>
          <a:lstStyle/>
          <a:p>
            <a:fld id="{0029050A-96E4-41EF-ADE9-9DFFA7612FB4}" type="slidenum">
              <a:rPr lang="es-ES" smtClean="0"/>
              <a:t>‹Nº›</a:t>
            </a:fld>
            <a:endParaRPr lang="es-ES"/>
          </a:p>
        </p:txBody>
      </p:sp>
    </p:spTree>
    <p:extLst>
      <p:ext uri="{BB962C8B-B14F-4D97-AF65-F5344CB8AC3E}">
        <p14:creationId xmlns:p14="http://schemas.microsoft.com/office/powerpoint/2010/main" val="127285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939329-4E9C-8A9C-4FE1-2BDAD90EE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xmlns="" id="{EED12FE2-EFEE-2ADA-9E77-53303B933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6A71EACB-4EF3-36B3-9E04-AE9CD3B2C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176AB-B33A-4CB5-B54D-6C2B98E1C289}" type="datetimeFigureOut">
              <a:rPr lang="es-ES" smtClean="0"/>
              <a:t>02/01/2025</a:t>
            </a:fld>
            <a:endParaRPr lang="es-ES"/>
          </a:p>
        </p:txBody>
      </p:sp>
      <p:sp>
        <p:nvSpPr>
          <p:cNvPr id="5" name="Footer Placeholder 4">
            <a:extLst>
              <a:ext uri="{FF2B5EF4-FFF2-40B4-BE49-F238E27FC236}">
                <a16:creationId xmlns:a16="http://schemas.microsoft.com/office/drawing/2014/main" xmlns="" id="{B190D254-2F59-9418-7F46-ACADF99CF8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xmlns="" id="{74FADD2F-7155-2E7E-A8FB-D96C2E6B01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9050A-96E4-41EF-ADE9-9DFFA7612FB4}" type="slidenum">
              <a:rPr lang="es-ES" smtClean="0"/>
              <a:t>‹Nº›</a:t>
            </a:fld>
            <a:endParaRPr lang="es-ES"/>
          </a:p>
        </p:txBody>
      </p:sp>
    </p:spTree>
    <p:extLst>
      <p:ext uri="{BB962C8B-B14F-4D97-AF65-F5344CB8AC3E}">
        <p14:creationId xmlns:p14="http://schemas.microsoft.com/office/powerpoint/2010/main" val="30749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F7AF82-47AE-71B7-5943-5081310F11AA}"/>
              </a:ext>
            </a:extLst>
          </p:cNvPr>
          <p:cNvSpPr>
            <a:spLocks noGrp="1"/>
          </p:cNvSpPr>
          <p:nvPr>
            <p:ph type="ctrTitle"/>
          </p:nvPr>
        </p:nvSpPr>
        <p:spPr/>
        <p:txBody>
          <a:bodyPr/>
          <a:lstStyle/>
          <a:p>
            <a:r>
              <a:rPr lang="en-GB" dirty="0"/>
              <a:t>Food</a:t>
            </a:r>
            <a:endParaRPr lang="es-ES" dirty="0"/>
          </a:p>
        </p:txBody>
      </p:sp>
      <p:sp>
        <p:nvSpPr>
          <p:cNvPr id="3" name="Subtitle 2">
            <a:extLst>
              <a:ext uri="{FF2B5EF4-FFF2-40B4-BE49-F238E27FC236}">
                <a16:creationId xmlns:a16="http://schemas.microsoft.com/office/drawing/2014/main" xmlns="" id="{8CC35A7C-E0AF-AB01-CDD8-15B22EB1C4AB}"/>
              </a:ext>
            </a:extLst>
          </p:cNvPr>
          <p:cNvSpPr>
            <a:spLocks noGrp="1"/>
          </p:cNvSpPr>
          <p:nvPr>
            <p:ph type="subTitle" idx="1"/>
          </p:nvPr>
        </p:nvSpPr>
        <p:spPr/>
        <p:txBody>
          <a:bodyPr/>
          <a:lstStyle/>
          <a:p>
            <a:r>
              <a:rPr lang="en-GB" dirty="0"/>
              <a:t>English </a:t>
            </a:r>
            <a:r>
              <a:rPr lang="en-GB" dirty="0" smtClean="0"/>
              <a:t>C1</a:t>
            </a:r>
            <a:endParaRPr lang="es-ES" dirty="0"/>
          </a:p>
        </p:txBody>
      </p:sp>
      <p:pic>
        <p:nvPicPr>
          <p:cNvPr id="5" name="Picture 4" descr="A blue text on a black background&#10;&#10;Description automatically generated">
            <a:extLst>
              <a:ext uri="{FF2B5EF4-FFF2-40B4-BE49-F238E27FC236}">
                <a16:creationId xmlns:a16="http://schemas.microsoft.com/office/drawing/2014/main" xmlns="" id="{F9FA81D2-0BFD-4CDC-628C-317827CE1B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9610" y="253147"/>
            <a:ext cx="1636779" cy="762002"/>
          </a:xfrm>
          <a:prstGeom prst="rect">
            <a:avLst/>
          </a:prstGeom>
        </p:spPr>
      </p:pic>
      <p:sp>
        <p:nvSpPr>
          <p:cNvPr id="6" name="TextBox 5">
            <a:extLst>
              <a:ext uri="{FF2B5EF4-FFF2-40B4-BE49-F238E27FC236}">
                <a16:creationId xmlns:a16="http://schemas.microsoft.com/office/drawing/2014/main" xmlns="" id="{A6CE57D4-7297-42B0-7026-7E5EBE6BFA01}"/>
              </a:ext>
            </a:extLst>
          </p:cNvPr>
          <p:cNvSpPr txBox="1"/>
          <p:nvPr/>
        </p:nvSpPr>
        <p:spPr>
          <a:xfrm>
            <a:off x="631595" y="5882326"/>
            <a:ext cx="4166647" cy="369332"/>
          </a:xfrm>
          <a:prstGeom prst="rect">
            <a:avLst/>
          </a:prstGeom>
          <a:noFill/>
        </p:spPr>
        <p:txBody>
          <a:bodyPr wrap="square" rtlCol="0">
            <a:spAutoFit/>
          </a:bodyPr>
          <a:lstStyle/>
          <a:p>
            <a:r>
              <a:rPr lang="en-GB" dirty="0" err="1">
                <a:solidFill>
                  <a:schemeClr val="bg1">
                    <a:lumMod val="65000"/>
                  </a:schemeClr>
                </a:solidFill>
              </a:rPr>
              <a:t>TuSpeaking</a:t>
            </a:r>
            <a:r>
              <a:rPr lang="en-GB" dirty="0">
                <a:solidFill>
                  <a:schemeClr val="bg1">
                    <a:lumMod val="65000"/>
                  </a:schemeClr>
                </a:solidFill>
              </a:rPr>
              <a:t>, 2024, all rights reserved</a:t>
            </a:r>
            <a:endParaRPr lang="es-ES" dirty="0">
              <a:solidFill>
                <a:schemeClr val="bg1">
                  <a:lumMod val="65000"/>
                </a:schemeClr>
              </a:solidFill>
            </a:endParaRPr>
          </a:p>
        </p:txBody>
      </p:sp>
    </p:spTree>
    <p:extLst>
      <p:ext uri="{BB962C8B-B14F-4D97-AF65-F5344CB8AC3E}">
        <p14:creationId xmlns:p14="http://schemas.microsoft.com/office/powerpoint/2010/main" val="3960564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FA25A60-27AF-898F-0B96-CA475137D193}"/>
              </a:ext>
            </a:extLst>
          </p:cNvPr>
          <p:cNvSpPr>
            <a:spLocks noGrp="1"/>
          </p:cNvSpPr>
          <p:nvPr>
            <p:ph type="title"/>
          </p:nvPr>
        </p:nvSpPr>
        <p:spPr>
          <a:xfrm>
            <a:off x="640080" y="325369"/>
            <a:ext cx="4368602" cy="1956841"/>
          </a:xfrm>
        </p:spPr>
        <p:txBody>
          <a:bodyPr anchor="b">
            <a:normAutofit/>
          </a:bodyPr>
          <a:lstStyle/>
          <a:p>
            <a:r>
              <a:rPr lang="en-GB" sz="5400"/>
              <a:t>Warm up</a:t>
            </a:r>
          </a:p>
        </p:txBody>
      </p:sp>
      <p:sp>
        <p:nvSpPr>
          <p:cNvPr id="12"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6D507266-F488-F554-3E24-59A25BDAF1F1}"/>
              </a:ext>
            </a:extLst>
          </p:cNvPr>
          <p:cNvSpPr>
            <a:spLocks noGrp="1"/>
          </p:cNvSpPr>
          <p:nvPr>
            <p:ph idx="1"/>
          </p:nvPr>
        </p:nvSpPr>
        <p:spPr>
          <a:xfrm>
            <a:off x="640080" y="2872899"/>
            <a:ext cx="4243589" cy="3320668"/>
          </a:xfrm>
        </p:spPr>
        <p:txBody>
          <a:bodyPr>
            <a:normAutofit/>
          </a:bodyPr>
          <a:lstStyle/>
          <a:p>
            <a:r>
              <a:rPr lang="en-GB" sz="2200"/>
              <a:t>How do you make this dish?</a:t>
            </a:r>
          </a:p>
        </p:txBody>
      </p:sp>
      <p:pic>
        <p:nvPicPr>
          <p:cNvPr id="5" name="Picture 4" descr="Assorted food on the table">
            <a:extLst>
              <a:ext uri="{FF2B5EF4-FFF2-40B4-BE49-F238E27FC236}">
                <a16:creationId xmlns:a16="http://schemas.microsoft.com/office/drawing/2014/main" xmlns="" id="{2DDD1047-8874-C549-97C4-B9CC8712E1B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140" r="1490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342776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2C61293E-6EBE-43EF-A52C-9BEBFD7679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1E48D83-F671-079C-E855-7DC4270617B9}"/>
              </a:ext>
            </a:extLst>
          </p:cNvPr>
          <p:cNvSpPr>
            <a:spLocks noGrp="1"/>
          </p:cNvSpPr>
          <p:nvPr>
            <p:ph type="title"/>
          </p:nvPr>
        </p:nvSpPr>
        <p:spPr>
          <a:xfrm>
            <a:off x="5297762" y="329184"/>
            <a:ext cx="6251110" cy="1783080"/>
          </a:xfrm>
        </p:spPr>
        <p:txBody>
          <a:bodyPr anchor="b">
            <a:normAutofit fontScale="90000"/>
          </a:bodyPr>
          <a:lstStyle/>
          <a:p>
            <a:r>
              <a:rPr lang="en-GB" sz="5000" dirty="0">
                <a:latin typeface="Aptos Display" panose="020B0004020202020204" pitchFamily="34" charset="0"/>
              </a:rPr>
              <a:t>Affirmative Imperatives in Food Contexts</a:t>
            </a:r>
          </a:p>
        </p:txBody>
      </p:sp>
      <p:pic>
        <p:nvPicPr>
          <p:cNvPr id="6" name="Picture 5" descr="Wooden spoon with pink and white bath salt crystals overflowing onto wood surface">
            <a:extLst>
              <a:ext uri="{FF2B5EF4-FFF2-40B4-BE49-F238E27FC236}">
                <a16:creationId xmlns:a16="http://schemas.microsoft.com/office/drawing/2014/main" xmlns="" id="{D213D67C-A3A8-9434-1386-C20C0E99519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0154" r="35365" b="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3" name="sketchy line">
            <a:extLst>
              <a:ext uri="{FF2B5EF4-FFF2-40B4-BE49-F238E27FC236}">
                <a16:creationId xmlns:a16="http://schemas.microsoft.com/office/drawing/2014/main" xmlns="" id="{21540236-BFD5-4A9D-8840-4703E7F768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7C50B8FE-730C-5B38-E1A1-2158D4EB3736}"/>
              </a:ext>
            </a:extLst>
          </p:cNvPr>
          <p:cNvSpPr>
            <a:spLocks noGrp="1"/>
          </p:cNvSpPr>
          <p:nvPr>
            <p:ph idx="1"/>
          </p:nvPr>
        </p:nvSpPr>
        <p:spPr>
          <a:xfrm>
            <a:off x="5297762" y="2706624"/>
            <a:ext cx="6251110" cy="3483864"/>
          </a:xfrm>
        </p:spPr>
        <p:txBody>
          <a:bodyPr>
            <a:normAutofit/>
          </a:bodyPr>
          <a:lstStyle/>
          <a:p>
            <a:r>
              <a:rPr lang="en-GB" sz="2000">
                <a:latin typeface="Aptos" panose="020B0004020202020204" pitchFamily="34" charset="0"/>
              </a:rPr>
              <a:t>Imperative sentences give commands, instructions, or advice.</a:t>
            </a:r>
          </a:p>
          <a:p>
            <a:endParaRPr lang="en-GB" sz="2000">
              <a:latin typeface="Aptos" panose="020B0004020202020204" pitchFamily="34" charset="0"/>
            </a:endParaRPr>
          </a:p>
          <a:p>
            <a:r>
              <a:rPr lang="en-GB" sz="2000" b="1">
                <a:latin typeface="Aptos" panose="020B0004020202020204" pitchFamily="34" charset="0"/>
              </a:rPr>
              <a:t>Affirmative Imperatives:</a:t>
            </a:r>
            <a:endParaRPr lang="en-GB" sz="2000">
              <a:latin typeface="Aptos" panose="020B0004020202020204" pitchFamily="34" charset="0"/>
            </a:endParaRPr>
          </a:p>
          <a:p>
            <a:pPr>
              <a:buFont typeface="Arial" panose="020B0604020202020204" pitchFamily="34" charset="0"/>
              <a:buChar char="•"/>
            </a:pPr>
            <a:r>
              <a:rPr lang="en-GB" sz="2000">
                <a:latin typeface="Aptos" panose="020B0004020202020204" pitchFamily="34" charset="0"/>
              </a:rPr>
              <a:t>Use the base form of the verb.</a:t>
            </a:r>
          </a:p>
          <a:p>
            <a:pPr>
              <a:buFont typeface="Arial" panose="020B0604020202020204" pitchFamily="34" charset="0"/>
              <a:buChar char="•"/>
            </a:pPr>
            <a:endParaRPr lang="en-GB" sz="2000">
              <a:latin typeface="Aptos" panose="020B0004020202020204" pitchFamily="34" charset="0"/>
            </a:endParaRPr>
          </a:p>
          <a:p>
            <a:pPr>
              <a:buFont typeface="Arial" panose="020B0604020202020204" pitchFamily="34" charset="0"/>
              <a:buChar char="•"/>
            </a:pPr>
            <a:r>
              <a:rPr lang="en-GB" sz="2000">
                <a:latin typeface="Aptos" panose="020B0004020202020204" pitchFamily="34" charset="0"/>
              </a:rPr>
              <a:t>Examples:</a:t>
            </a:r>
          </a:p>
          <a:p>
            <a:pPr lvl="1" eaLnBrk="0" fontAlgn="base" hangingPunct="0">
              <a:spcBef>
                <a:spcPct val="0"/>
              </a:spcBef>
              <a:spcAft>
                <a:spcPct val="0"/>
              </a:spcAft>
            </a:pPr>
            <a:r>
              <a:rPr lang="en-US" altLang="en-US" sz="2000">
                <a:latin typeface="Aptos" panose="020B0004020202020204" pitchFamily="34" charset="0"/>
              </a:rPr>
              <a:t>Chop the onions finely.</a:t>
            </a:r>
          </a:p>
          <a:p>
            <a:pPr marL="742950" lvl="1" indent="-285750"/>
            <a:r>
              <a:rPr lang="en-US" altLang="en-US" sz="2000">
                <a:latin typeface="Aptos" panose="020B0004020202020204" pitchFamily="34" charset="0"/>
              </a:rPr>
              <a:t>Add a pinch of salt. </a:t>
            </a:r>
          </a:p>
          <a:p>
            <a:endParaRPr lang="en-GB" sz="2000">
              <a:latin typeface="Aptos" panose="020B0004020202020204" pitchFamily="34" charset="0"/>
            </a:endParaRPr>
          </a:p>
          <a:p>
            <a:pPr eaLnBrk="0" fontAlgn="base" hangingPunct="0">
              <a:spcBef>
                <a:spcPct val="0"/>
              </a:spcBef>
              <a:spcAft>
                <a:spcPct val="0"/>
              </a:spcAft>
            </a:pPr>
            <a:endParaRPr kumimoji="0" lang="en-US" altLang="en-US" sz="2000" b="0" i="0" u="none" strike="noStrike" cap="none" normalizeH="0" baseline="0">
              <a:ln>
                <a:noFill/>
              </a:ln>
              <a:effectLst/>
              <a:latin typeface="Aptos" panose="020B0004020202020204" pitchFamily="34" charset="0"/>
            </a:endParaRPr>
          </a:p>
          <a:p>
            <a:pPr eaLnBrk="0" fontAlgn="base" hangingPunct="0">
              <a:spcBef>
                <a:spcPct val="0"/>
              </a:spcBef>
              <a:spcAft>
                <a:spcPct val="0"/>
              </a:spcAft>
            </a:pPr>
            <a:endParaRPr lang="en-US" altLang="en-US" sz="2000">
              <a:latin typeface="Aptos" panose="020B0004020202020204" pitchFamily="34" charset="0"/>
            </a:endParaRPr>
          </a:p>
          <a:p>
            <a:pPr eaLnBrk="0" fontAlgn="base" hangingPunct="0">
              <a:spcBef>
                <a:spcPct val="0"/>
              </a:spcBef>
              <a:spcAft>
                <a:spcPct val="0"/>
              </a:spcAft>
            </a:pPr>
            <a:endParaRPr kumimoji="0" lang="en-US" altLang="en-US" sz="2000" b="0" i="0" u="none" strike="noStrike" cap="none" normalizeH="0" baseline="0">
              <a:ln>
                <a:noFill/>
              </a:ln>
              <a:effectLst/>
              <a:latin typeface="Aptos" panose="020B0004020202020204" pitchFamily="34" charset="0"/>
            </a:endParaRPr>
          </a:p>
          <a:p>
            <a:endParaRPr lang="en-GB" sz="2000">
              <a:latin typeface="Aptos" panose="020B0004020202020204" pitchFamily="34" charset="0"/>
            </a:endParaRPr>
          </a:p>
          <a:p>
            <a:endParaRPr lang="en-GB" sz="2000">
              <a:latin typeface="Aptos" panose="020B0004020202020204" pitchFamily="34" charset="0"/>
            </a:endParaRPr>
          </a:p>
        </p:txBody>
      </p:sp>
    </p:spTree>
    <p:extLst>
      <p:ext uri="{BB962C8B-B14F-4D97-AF65-F5344CB8AC3E}">
        <p14:creationId xmlns:p14="http://schemas.microsoft.com/office/powerpoint/2010/main" val="1058018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AFF8A9D-8272-C23D-5099-35BB3A0B6EF2}"/>
              </a:ext>
            </a:extLst>
          </p:cNvPr>
          <p:cNvSpPr>
            <a:spLocks noGrp="1"/>
          </p:cNvSpPr>
          <p:nvPr>
            <p:ph type="title"/>
          </p:nvPr>
        </p:nvSpPr>
        <p:spPr>
          <a:xfrm>
            <a:off x="640080" y="325369"/>
            <a:ext cx="4368602" cy="1956841"/>
          </a:xfrm>
        </p:spPr>
        <p:txBody>
          <a:bodyPr anchor="b">
            <a:normAutofit/>
          </a:bodyPr>
          <a:lstStyle/>
          <a:p>
            <a:r>
              <a:rPr lang="en-GB" sz="4200">
                <a:latin typeface="Aptos Display" panose="020B0004020202020204" pitchFamily="34" charset="0"/>
              </a:rPr>
              <a:t>Negative Imperatives in Food Contexts</a:t>
            </a:r>
            <a:endParaRPr lang="en-GB" sz="4200"/>
          </a:p>
        </p:txBody>
      </p:sp>
      <p:sp>
        <p:nvSpPr>
          <p:cNvPr id="12"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253EB082-345F-FFE6-8B54-FE27D43F859A}"/>
              </a:ext>
            </a:extLst>
          </p:cNvPr>
          <p:cNvSpPr>
            <a:spLocks noGrp="1"/>
          </p:cNvSpPr>
          <p:nvPr>
            <p:ph idx="1"/>
          </p:nvPr>
        </p:nvSpPr>
        <p:spPr>
          <a:xfrm>
            <a:off x="640080" y="2872899"/>
            <a:ext cx="4243589" cy="3320668"/>
          </a:xfrm>
        </p:spPr>
        <p:txBody>
          <a:bodyPr>
            <a:normAutofit/>
          </a:bodyPr>
          <a:lstStyle/>
          <a:p>
            <a:r>
              <a:rPr lang="en-GB" sz="2200" b="1" dirty="0">
                <a:latin typeface="Aptos" panose="020B0004020202020204" pitchFamily="34" charset="0"/>
              </a:rPr>
              <a:t>Negative Imperatives:</a:t>
            </a:r>
            <a:endParaRPr lang="en-GB" sz="2200" dirty="0">
              <a:latin typeface="Aptos" panose="020B0004020202020204" pitchFamily="34" charset="0"/>
            </a:endParaRPr>
          </a:p>
          <a:p>
            <a:pPr>
              <a:buFont typeface="Arial" panose="020B0604020202020204" pitchFamily="34" charset="0"/>
              <a:buChar char="•"/>
            </a:pPr>
            <a:r>
              <a:rPr lang="en-GB" sz="2200" dirty="0">
                <a:latin typeface="Aptos" panose="020B0004020202020204" pitchFamily="34" charset="0"/>
              </a:rPr>
              <a:t>Use do not or don't + base form of the verb.</a:t>
            </a:r>
          </a:p>
          <a:p>
            <a:pPr>
              <a:buFont typeface="Arial" panose="020B0604020202020204" pitchFamily="34" charset="0"/>
              <a:buChar char="•"/>
            </a:pPr>
            <a:r>
              <a:rPr lang="en-GB" sz="2200" dirty="0">
                <a:latin typeface="Aptos" panose="020B0004020202020204" pitchFamily="34" charset="0"/>
              </a:rPr>
              <a:t>Examples:</a:t>
            </a:r>
          </a:p>
          <a:p>
            <a:pPr marL="742950" lvl="1" indent="-285750">
              <a:buFont typeface="Arial" panose="020B0604020202020204" pitchFamily="34" charset="0"/>
              <a:buChar char="•"/>
            </a:pPr>
            <a:r>
              <a:rPr lang="en-GB" sz="2200" dirty="0">
                <a:latin typeface="Aptos" panose="020B0004020202020204" pitchFamily="34" charset="0"/>
              </a:rPr>
              <a:t>Don't overcook the pasta.</a:t>
            </a:r>
          </a:p>
          <a:p>
            <a:pPr marL="742950" lvl="1" indent="-285750">
              <a:buFont typeface="Arial" panose="020B0604020202020204" pitchFamily="34" charset="0"/>
              <a:buChar char="•"/>
            </a:pPr>
            <a:r>
              <a:rPr lang="en-GB" sz="2200" dirty="0">
                <a:latin typeface="Aptos" panose="020B0004020202020204" pitchFamily="34" charset="0"/>
              </a:rPr>
              <a:t>Do not leave the stove unattended.</a:t>
            </a:r>
          </a:p>
          <a:p>
            <a:endParaRPr lang="en-GB" sz="2200" dirty="0"/>
          </a:p>
        </p:txBody>
      </p:sp>
      <p:pic>
        <p:nvPicPr>
          <p:cNvPr id="5" name="Picture 4" descr="Close-up of raw tagliatelle paste">
            <a:extLst>
              <a:ext uri="{FF2B5EF4-FFF2-40B4-BE49-F238E27FC236}">
                <a16:creationId xmlns:a16="http://schemas.microsoft.com/office/drawing/2014/main" xmlns="" id="{6996E03A-B3F6-9014-9E43-37207F75977E}"/>
              </a:ext>
            </a:extLst>
          </p:cNvPr>
          <p:cNvPicPr>
            <a:picLocks noChangeAspect="1"/>
          </p:cNvPicPr>
          <p:nvPr/>
        </p:nvPicPr>
        <p:blipFill rotWithShape="1">
          <a:blip r:embed="rId2">
            <a:extLst>
              <a:ext uri="{28A0092B-C50C-407E-A947-70E740481C1C}">
                <a14:useLocalDpi xmlns:a14="http://schemas.microsoft.com/office/drawing/2010/main" val="0"/>
              </a:ext>
            </a:extLst>
          </a:blip>
          <a:srcRect l="20553" r="14000"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194694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xmlns="" id="{79BB35BC-D5C2-4C8B-A22A-A71E619191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C2E0AD0-CC31-E35F-1A35-C8BBDD47D008}"/>
              </a:ext>
            </a:extLst>
          </p:cNvPr>
          <p:cNvSpPr>
            <a:spLocks noGrp="1"/>
          </p:cNvSpPr>
          <p:nvPr>
            <p:ph type="title"/>
          </p:nvPr>
        </p:nvSpPr>
        <p:spPr>
          <a:xfrm>
            <a:off x="6513788" y="365125"/>
            <a:ext cx="4840010" cy="1807305"/>
          </a:xfrm>
        </p:spPr>
        <p:txBody>
          <a:bodyPr>
            <a:normAutofit/>
          </a:bodyPr>
          <a:lstStyle/>
          <a:p>
            <a:r>
              <a:rPr lang="en-GB">
                <a:latin typeface="Aptos Display" panose="020B0004020202020204" pitchFamily="34" charset="0"/>
              </a:rPr>
              <a:t>Let in imperatives</a:t>
            </a:r>
            <a:endParaRPr lang="en-GB" dirty="0">
              <a:latin typeface="Aptos Display" panose="020B0004020202020204" pitchFamily="34" charset="0"/>
            </a:endParaRPr>
          </a:p>
        </p:txBody>
      </p:sp>
      <p:pic>
        <p:nvPicPr>
          <p:cNvPr id="5" name="Picture 4" descr="Person tasting food">
            <a:extLst>
              <a:ext uri="{FF2B5EF4-FFF2-40B4-BE49-F238E27FC236}">
                <a16:creationId xmlns:a16="http://schemas.microsoft.com/office/drawing/2014/main" xmlns="" id="{FCE1F8C7-B477-BB8D-719F-4E98056702A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974" r="25492"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xmlns="" id="{E80C82E5-B1A6-F3D5-72E8-701B91D816C9}"/>
              </a:ext>
            </a:extLst>
          </p:cNvPr>
          <p:cNvSpPr>
            <a:spLocks noGrp="1"/>
          </p:cNvSpPr>
          <p:nvPr>
            <p:ph idx="1"/>
          </p:nvPr>
        </p:nvSpPr>
        <p:spPr>
          <a:xfrm>
            <a:off x="6513788" y="2333297"/>
            <a:ext cx="4840010" cy="3843666"/>
          </a:xfrm>
        </p:spPr>
        <p:txBody>
          <a:bodyPr>
            <a:normAutofit/>
          </a:bodyPr>
          <a:lstStyle/>
          <a:p>
            <a:r>
              <a:rPr lang="en-GB" sz="1900" b="1" dirty="0">
                <a:latin typeface="Aptos" panose="020B0004020202020204" pitchFamily="34" charset="0"/>
              </a:rPr>
              <a:t>Using Let in Imperatives:</a:t>
            </a:r>
            <a:endParaRPr lang="en-GB" sz="1900" dirty="0">
              <a:latin typeface="Aptos" panose="020B0004020202020204" pitchFamily="34" charset="0"/>
            </a:endParaRPr>
          </a:p>
          <a:p>
            <a:pPr>
              <a:buFont typeface="Arial" panose="020B0604020202020204" pitchFamily="34" charset="0"/>
              <a:buChar char="•"/>
            </a:pPr>
            <a:r>
              <a:rPr lang="en-GB" sz="1900" dirty="0">
                <a:latin typeface="Aptos" panose="020B0004020202020204" pitchFamily="34" charset="0"/>
              </a:rPr>
              <a:t>To make suggestions or give permissions.</a:t>
            </a:r>
          </a:p>
          <a:p>
            <a:pPr>
              <a:buFont typeface="Arial" panose="020B0604020202020204" pitchFamily="34" charset="0"/>
              <a:buChar char="•"/>
            </a:pPr>
            <a:r>
              <a:rPr lang="en-GB" sz="1900" dirty="0">
                <a:latin typeface="Aptos" panose="020B0004020202020204" pitchFamily="34" charset="0"/>
              </a:rPr>
              <a:t>Examples:</a:t>
            </a:r>
          </a:p>
          <a:p>
            <a:pPr marL="742950" lvl="1" indent="-285750">
              <a:buFont typeface="Arial" panose="020B0604020202020204" pitchFamily="34" charset="0"/>
              <a:buChar char="•"/>
            </a:pPr>
            <a:r>
              <a:rPr lang="en-GB" sz="1900" dirty="0">
                <a:latin typeface="Aptos" panose="020B0004020202020204" pitchFamily="34" charset="0"/>
              </a:rPr>
              <a:t>Let's start cooking.</a:t>
            </a:r>
          </a:p>
          <a:p>
            <a:pPr marL="742950" lvl="1" indent="-285750">
              <a:buFont typeface="Arial" panose="020B0604020202020204" pitchFamily="34" charset="0"/>
              <a:buChar char="•"/>
            </a:pPr>
            <a:r>
              <a:rPr lang="en-GB" sz="1900" dirty="0">
                <a:latin typeface="Aptos" panose="020B0004020202020204" pitchFamily="34" charset="0"/>
              </a:rPr>
              <a:t>Let her try the dish first.</a:t>
            </a:r>
          </a:p>
          <a:p>
            <a:r>
              <a:rPr lang="en-GB" sz="1900" b="1" dirty="0">
                <a:latin typeface="Aptos" panose="020B0004020202020204" pitchFamily="34" charset="0"/>
              </a:rPr>
              <a:t>Key Points:</a:t>
            </a:r>
            <a:endParaRPr lang="en-GB" sz="1900" dirty="0">
              <a:latin typeface="Aptos" panose="020B0004020202020204" pitchFamily="34" charset="0"/>
            </a:endParaRPr>
          </a:p>
          <a:p>
            <a:pPr>
              <a:buFont typeface="Arial" panose="020B0604020202020204" pitchFamily="34" charset="0"/>
              <a:buChar char="•"/>
            </a:pPr>
            <a:r>
              <a:rPr lang="en-GB" sz="1900" dirty="0">
                <a:latin typeface="Aptos" panose="020B0004020202020204" pitchFamily="34" charset="0"/>
              </a:rPr>
              <a:t>Imperatives usually have no subject; the subject you is implied.</a:t>
            </a:r>
          </a:p>
          <a:p>
            <a:pPr>
              <a:buFont typeface="Arial" panose="020B0604020202020204" pitchFamily="34" charset="0"/>
              <a:buChar char="•"/>
            </a:pPr>
            <a:r>
              <a:rPr lang="en-GB" sz="1900" dirty="0">
                <a:latin typeface="Aptos" panose="020B0004020202020204" pitchFamily="34" charset="0"/>
              </a:rPr>
              <a:t>For suggestions, use let's followed by the base form of the verb.</a:t>
            </a:r>
          </a:p>
          <a:p>
            <a:endParaRPr lang="en-GB" sz="1900" dirty="0"/>
          </a:p>
        </p:txBody>
      </p:sp>
    </p:spTree>
    <p:extLst>
      <p:ext uri="{BB962C8B-B14F-4D97-AF65-F5344CB8AC3E}">
        <p14:creationId xmlns:p14="http://schemas.microsoft.com/office/powerpoint/2010/main" val="3037893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4A5BE8-177A-5EF4-1C3E-070F1BF4A963}"/>
              </a:ext>
            </a:extLst>
          </p:cNvPr>
          <p:cNvSpPr>
            <a:spLocks noGrp="1"/>
          </p:cNvSpPr>
          <p:nvPr>
            <p:ph type="title"/>
          </p:nvPr>
        </p:nvSpPr>
        <p:spPr/>
        <p:txBody>
          <a:bodyPr/>
          <a:lstStyle/>
          <a:p>
            <a:r>
              <a:rPr lang="en-GB" dirty="0">
                <a:latin typeface="Aptos Display" panose="020B0004020202020204" pitchFamily="34" charset="0"/>
              </a:rPr>
              <a:t>Spanish omelette – find the imperatives </a:t>
            </a:r>
          </a:p>
        </p:txBody>
      </p:sp>
      <p:sp>
        <p:nvSpPr>
          <p:cNvPr id="3" name="Content Placeholder 2">
            <a:extLst>
              <a:ext uri="{FF2B5EF4-FFF2-40B4-BE49-F238E27FC236}">
                <a16:creationId xmlns:a16="http://schemas.microsoft.com/office/drawing/2014/main" xmlns="" id="{C0898053-A962-35D4-77BE-6C4A46EDFA99}"/>
              </a:ext>
            </a:extLst>
          </p:cNvPr>
          <p:cNvSpPr>
            <a:spLocks noGrp="1"/>
          </p:cNvSpPr>
          <p:nvPr>
            <p:ph idx="1"/>
          </p:nvPr>
        </p:nvSpPr>
        <p:spPr/>
        <p:txBody>
          <a:bodyPr>
            <a:normAutofit fontScale="85000" lnSpcReduction="20000"/>
          </a:bodyPr>
          <a:lstStyle/>
          <a:p>
            <a:r>
              <a:rPr lang="en-GB" dirty="0">
                <a:latin typeface="Aptos" panose="020B0004020202020204" pitchFamily="34" charset="0"/>
              </a:rPr>
              <a:t>Peel and slice the potatoes thinly, and peel and finely chop the onion. Heat the olive oil in a large frying pan over medium heat. Add the potatoes and onions, cooking gently until they are soft and golden, about 20 minutes. Drain the excess oil and set the potatoes and onions aside.</a:t>
            </a:r>
          </a:p>
          <a:p>
            <a:r>
              <a:rPr lang="en-GB" dirty="0">
                <a:latin typeface="Aptos" panose="020B0004020202020204" pitchFamily="34" charset="0"/>
              </a:rPr>
              <a:t>In a large bowl, beat the eggs and add a pinch of salt. Add the cooked potatoes and onions to the eggs, mixing gently to combine.</a:t>
            </a:r>
          </a:p>
          <a:p>
            <a:r>
              <a:rPr lang="en-GB" dirty="0">
                <a:latin typeface="Aptos" panose="020B0004020202020204" pitchFamily="34" charset="0"/>
              </a:rPr>
              <a:t>Heat a small amount of oil in the frying pan over medium heat. Pour the egg and potato mixture into the pan, spreading it evenly. Cook on one side until the edges are set and the bottom is golden brown, about 5-7 minutes. Carefully flip the omelette using a plate or lid, then cook the other side until golden and fully set, about 5 minutes.</a:t>
            </a:r>
          </a:p>
          <a:p>
            <a:r>
              <a:rPr lang="en-GB" dirty="0">
                <a:latin typeface="Aptos" panose="020B0004020202020204" pitchFamily="34" charset="0"/>
              </a:rPr>
              <a:t>Slide the omelette onto a serving plate. Let it cool slightly before slicing and serving.</a:t>
            </a:r>
          </a:p>
          <a:p>
            <a:r>
              <a:rPr lang="en-GB" dirty="0">
                <a:latin typeface="Aptos" panose="020B0004020202020204" pitchFamily="34" charset="0"/>
              </a:rPr>
              <a:t>Enjoy your delicious Spanish omelette!</a:t>
            </a:r>
          </a:p>
          <a:p>
            <a:endParaRPr lang="en-GB" dirty="0"/>
          </a:p>
        </p:txBody>
      </p:sp>
    </p:spTree>
    <p:extLst>
      <p:ext uri="{BB962C8B-B14F-4D97-AF65-F5344CB8AC3E}">
        <p14:creationId xmlns:p14="http://schemas.microsoft.com/office/powerpoint/2010/main" val="164008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71B2258F-86CA-4D4D-8270-BC05FCDEBF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holding turkey on platter">
            <a:extLst>
              <a:ext uri="{FF2B5EF4-FFF2-40B4-BE49-F238E27FC236}">
                <a16:creationId xmlns:a16="http://schemas.microsoft.com/office/drawing/2014/main" xmlns="" id="{E388A3A8-4836-9C5C-0AC2-5E341B8086AF}"/>
              </a:ext>
            </a:extLst>
          </p:cNvPr>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t="11838" b="3892"/>
          <a:stretch/>
        </p:blipFill>
        <p:spPr>
          <a:xfrm>
            <a:off x="20" y="1"/>
            <a:ext cx="12191980" cy="6857999"/>
          </a:xfrm>
          <a:prstGeom prst="rect">
            <a:avLst/>
          </a:prstGeom>
        </p:spPr>
      </p:pic>
      <p:sp>
        <p:nvSpPr>
          <p:cNvPr id="2" name="Title 1">
            <a:extLst>
              <a:ext uri="{FF2B5EF4-FFF2-40B4-BE49-F238E27FC236}">
                <a16:creationId xmlns:a16="http://schemas.microsoft.com/office/drawing/2014/main" xmlns="" id="{BDB10C3D-F884-1129-67A0-5721FFC8CDD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Practice</a:t>
            </a:r>
          </a:p>
        </p:txBody>
      </p:sp>
      <p:sp>
        <p:nvSpPr>
          <p:cNvPr id="3" name="Content Placeholder 2">
            <a:extLst>
              <a:ext uri="{FF2B5EF4-FFF2-40B4-BE49-F238E27FC236}">
                <a16:creationId xmlns:a16="http://schemas.microsoft.com/office/drawing/2014/main" xmlns="" id="{E22FE84A-EC6C-3203-6434-F6604DF0CD8F}"/>
              </a:ext>
            </a:extLst>
          </p:cNvPr>
          <p:cNvSpPr>
            <a:spLocks noGrp="1"/>
          </p:cNvSpPr>
          <p:nvPr>
            <p:ph idx="1"/>
          </p:nvPr>
        </p:nvSpPr>
        <p:spPr>
          <a:xfrm>
            <a:off x="1524000" y="4159404"/>
            <a:ext cx="9144000" cy="1098395"/>
          </a:xfrm>
        </p:spPr>
        <p:txBody>
          <a:bodyPr vert="horz" lIns="91440" tIns="45720" rIns="91440" bIns="45720" rtlCol="0">
            <a:normAutofit/>
          </a:bodyPr>
          <a:lstStyle/>
          <a:p>
            <a:pPr marL="0" indent="0" algn="ctr">
              <a:buNone/>
            </a:pPr>
            <a:r>
              <a:rPr lang="en-US" sz="2400">
                <a:solidFill>
                  <a:srgbClr val="FFFFFF"/>
                </a:solidFill>
              </a:rPr>
              <a:t>Take turns to give instructions on how to make a meal that you know. </a:t>
            </a:r>
          </a:p>
        </p:txBody>
      </p:sp>
    </p:spTree>
    <p:extLst>
      <p:ext uri="{BB962C8B-B14F-4D97-AF65-F5344CB8AC3E}">
        <p14:creationId xmlns:p14="http://schemas.microsoft.com/office/powerpoint/2010/main" val="247728809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1248E0-3E1C-31E9-765D-6902E9B351DE}"/>
              </a:ext>
            </a:extLst>
          </p:cNvPr>
          <p:cNvSpPr>
            <a:spLocks noGrp="1"/>
          </p:cNvSpPr>
          <p:nvPr>
            <p:ph type="title"/>
          </p:nvPr>
        </p:nvSpPr>
        <p:spPr>
          <a:xfrm>
            <a:off x="481013" y="3752849"/>
            <a:ext cx="3290887" cy="2452687"/>
          </a:xfrm>
        </p:spPr>
        <p:txBody>
          <a:bodyPr anchor="ctr">
            <a:normAutofit/>
          </a:bodyPr>
          <a:lstStyle/>
          <a:p>
            <a:r>
              <a:rPr lang="en-GB" sz="3600">
                <a:latin typeface="Aptos Display" panose="020B0004020202020204" pitchFamily="34" charset="0"/>
              </a:rPr>
              <a:t>Comparatives and Superlatives</a:t>
            </a:r>
          </a:p>
        </p:txBody>
      </p:sp>
      <p:pic>
        <p:nvPicPr>
          <p:cNvPr id="6" name="Picture 5" descr="Small and large spheres">
            <a:extLst>
              <a:ext uri="{FF2B5EF4-FFF2-40B4-BE49-F238E27FC236}">
                <a16:creationId xmlns:a16="http://schemas.microsoft.com/office/drawing/2014/main" xmlns="" id="{220589E5-06EE-2418-4940-8EC4D397297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5093" b="20801"/>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4" name="Rectangle 1">
            <a:extLst>
              <a:ext uri="{FF2B5EF4-FFF2-40B4-BE49-F238E27FC236}">
                <a16:creationId xmlns:a16="http://schemas.microsoft.com/office/drawing/2014/main" xmlns="" id="{CD463641-8B34-E2AB-3D15-E5E756DCE4C6}"/>
              </a:ext>
            </a:extLst>
          </p:cNvPr>
          <p:cNvSpPr>
            <a:spLocks noGrp="1" noChangeArrowheads="1"/>
          </p:cNvSpPr>
          <p:nvPr>
            <p:ph idx="1"/>
          </p:nvPr>
        </p:nvSpPr>
        <p:spPr bwMode="auto">
          <a:xfrm>
            <a:off x="4223982" y="3752850"/>
            <a:ext cx="7485413" cy="24526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800" b="1" i="0" u="none" strike="noStrike" cap="none" normalizeH="0" baseline="0" dirty="0">
                <a:ln>
                  <a:noFill/>
                </a:ln>
                <a:effectLst/>
                <a:latin typeface="Aptos" panose="020B0004020202020204" pitchFamily="34" charset="0"/>
              </a:rPr>
              <a:t>Explanation:</a:t>
            </a:r>
            <a:r>
              <a:rPr kumimoji="0" lang="en-US" altLang="en-US" sz="1800" b="0" i="0" u="none" strike="noStrike" cap="none" normalizeH="0" baseline="0" dirty="0">
                <a:ln>
                  <a:noFill/>
                </a:ln>
                <a:effectLst/>
                <a:latin typeface="Aptos" panose="020B0004020202020204" pitchFamily="34" charset="0"/>
              </a:rPr>
              <a:t> Comparatives compare two items; superlatives compare three or more.</a:t>
            </a:r>
          </a:p>
          <a:p>
            <a:pPr lvl="1" eaLnBrk="0" fontAlgn="base" hangingPunct="0">
              <a:spcBef>
                <a:spcPct val="0"/>
              </a:spcBef>
              <a:spcAft>
                <a:spcPts val="600"/>
              </a:spcAft>
            </a:pPr>
            <a:r>
              <a:rPr kumimoji="0" lang="en-US" altLang="en-US" sz="1800" b="1" i="0" u="none" strike="noStrike" cap="none" normalizeH="0" baseline="0" dirty="0">
                <a:ln>
                  <a:noFill/>
                </a:ln>
                <a:effectLst/>
                <a:latin typeface="Aptos" panose="020B0004020202020204" pitchFamily="34" charset="0"/>
              </a:rPr>
              <a:t>Examples:</a:t>
            </a:r>
            <a:endParaRPr kumimoji="0" lang="en-US" altLang="en-US" sz="1800" b="0" i="0" u="none" strike="noStrike" cap="none" normalizeH="0" baseline="0" dirty="0">
              <a:ln>
                <a:noFill/>
              </a:ln>
              <a:effectLst/>
              <a:latin typeface="Aptos" panose="020B0004020202020204" pitchFamily="34" charset="0"/>
            </a:endParaRPr>
          </a:p>
          <a:p>
            <a:pPr lvl="2" eaLnBrk="0" fontAlgn="base" hangingPunct="0">
              <a:spcBef>
                <a:spcPct val="0"/>
              </a:spcBef>
              <a:spcAft>
                <a:spcPts val="600"/>
              </a:spcAft>
            </a:pPr>
            <a:r>
              <a:rPr kumimoji="0" lang="en-US" altLang="en-US" sz="1800" b="0" i="0" u="none" strike="noStrike" cap="none" normalizeH="0" baseline="0" dirty="0">
                <a:ln>
                  <a:noFill/>
                </a:ln>
                <a:effectLst/>
                <a:latin typeface="Aptos" panose="020B0004020202020204" pitchFamily="34" charset="0"/>
              </a:rPr>
              <a:t>Comparative: This dish is spicier than that one.</a:t>
            </a:r>
          </a:p>
          <a:p>
            <a:pPr lvl="2" eaLnBrk="0" fontAlgn="base" hangingPunct="0">
              <a:spcBef>
                <a:spcPct val="0"/>
              </a:spcBef>
              <a:spcAft>
                <a:spcPts val="600"/>
              </a:spcAft>
            </a:pPr>
            <a:r>
              <a:rPr kumimoji="0" lang="en-US" altLang="en-US" sz="1800" b="0" i="0" u="none" strike="noStrike" cap="none" normalizeH="0" baseline="0" dirty="0">
                <a:ln>
                  <a:noFill/>
                </a:ln>
                <a:effectLst/>
                <a:latin typeface="Aptos" panose="020B0004020202020204" pitchFamily="34" charset="0"/>
              </a:rPr>
              <a:t>Superlative: This is the most delicious pie I’ve ever tasted.</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16241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xmlns="" id="{231BF440-39FA-4087-84CC-2EEC0BBDAF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andied apples on a table">
            <a:extLst>
              <a:ext uri="{FF2B5EF4-FFF2-40B4-BE49-F238E27FC236}">
                <a16:creationId xmlns:a16="http://schemas.microsoft.com/office/drawing/2014/main" xmlns="" id="{C3E5D081-DF55-2E74-5E4B-A45A34DA6A4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9877" r="-2" b="5864"/>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8" name="Picture 7" descr="Close-up of red-green apples in a wooden bowl">
            <a:extLst>
              <a:ext uri="{FF2B5EF4-FFF2-40B4-BE49-F238E27FC236}">
                <a16:creationId xmlns:a16="http://schemas.microsoft.com/office/drawing/2014/main" xmlns="" id="{C0902124-1FE0-F616-F225-2D02833F6F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117" r="-2" b="25649"/>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5" name="Freeform: Shape 14">
            <a:extLst>
              <a:ext uri="{FF2B5EF4-FFF2-40B4-BE49-F238E27FC236}">
                <a16:creationId xmlns:a16="http://schemas.microsoft.com/office/drawing/2014/main" xmlns="" id="{F04E4CBA-303B-48BD-8451-C2701CB0EEB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xmlns="" id="{F6CA58B3-AFCC-4A40-9882-50D5080879B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xmlns="" id="{5D70A100-FBDB-87BF-1207-E209F27A5743}"/>
              </a:ext>
            </a:extLst>
          </p:cNvPr>
          <p:cNvSpPr>
            <a:spLocks noGrp="1"/>
          </p:cNvSpPr>
          <p:nvPr>
            <p:ph type="title"/>
          </p:nvPr>
        </p:nvSpPr>
        <p:spPr>
          <a:xfrm>
            <a:off x="448056" y="859536"/>
            <a:ext cx="4832802" cy="1243584"/>
          </a:xfrm>
        </p:spPr>
        <p:txBody>
          <a:bodyPr>
            <a:normAutofit/>
          </a:bodyPr>
          <a:lstStyle/>
          <a:p>
            <a:r>
              <a:rPr lang="en-GB" sz="3400">
                <a:latin typeface="Aptos Display" panose="020B0004020202020204" pitchFamily="34" charset="0"/>
              </a:rPr>
              <a:t>Comparatives</a:t>
            </a:r>
          </a:p>
        </p:txBody>
      </p:sp>
      <p:sp>
        <p:nvSpPr>
          <p:cNvPr id="19" name="Rectangle 18">
            <a:extLst>
              <a:ext uri="{FF2B5EF4-FFF2-40B4-BE49-F238E27FC236}">
                <a16:creationId xmlns:a16="http://schemas.microsoft.com/office/drawing/2014/main" xmlns="" id="{75C56826-D4E5-42ED-8529-079651CB300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1" name="Rectangle 20">
            <a:extLst>
              <a:ext uri="{FF2B5EF4-FFF2-40B4-BE49-F238E27FC236}">
                <a16:creationId xmlns:a16="http://schemas.microsoft.com/office/drawing/2014/main" xmlns="" id="{82095FCE-EF05-4443-B97A-85DEE3A5CA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xmlns="" id="{CA00AE6B-AA30-4CF8-BA6F-339B780AD7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Rectangle 1">
            <a:extLst>
              <a:ext uri="{FF2B5EF4-FFF2-40B4-BE49-F238E27FC236}">
                <a16:creationId xmlns:a16="http://schemas.microsoft.com/office/drawing/2014/main" xmlns="" id="{9184D57E-3910-44FE-FEA4-6E02DB7FBE4C}"/>
              </a:ext>
            </a:extLst>
          </p:cNvPr>
          <p:cNvSpPr>
            <a:spLocks noGrp="1" noChangeArrowheads="1"/>
          </p:cNvSpPr>
          <p:nvPr>
            <p:ph idx="1"/>
          </p:nvPr>
        </p:nvSpPr>
        <p:spPr bwMode="auto">
          <a:xfrm>
            <a:off x="448056" y="2512611"/>
            <a:ext cx="4832803" cy="366435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endParaRPr kumimoji="0" lang="en-US" altLang="en-US" sz="2000" b="0" i="0" u="none" strike="noStrike" cap="none" normalizeH="0" baseline="0" dirty="0">
              <a:ln>
                <a:noFill/>
              </a:ln>
              <a:effectLst/>
              <a:latin typeface="Aptos" panose="020B0004020202020204" pitchFamily="34" charset="0"/>
            </a:endParaRP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Used to compare two foods or cooking actions.</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Formed by adding </a:t>
            </a:r>
            <a:r>
              <a:rPr kumimoji="0" lang="en-US" altLang="en-US" sz="2000" b="1" i="0" u="none" strike="noStrike" cap="none" normalizeH="0" baseline="0" dirty="0">
                <a:ln>
                  <a:noFill/>
                </a:ln>
                <a:effectLst/>
                <a:latin typeface="Aptos" panose="020B0004020202020204" pitchFamily="34" charset="0"/>
              </a:rPr>
              <a:t>-er</a:t>
            </a:r>
            <a:r>
              <a:rPr kumimoji="0" lang="en-US" altLang="en-US" sz="2000" b="0" i="0" u="none" strike="noStrike" cap="none" normalizeH="0" baseline="0" dirty="0">
                <a:ln>
                  <a:noFill/>
                </a:ln>
                <a:effectLst/>
                <a:latin typeface="Aptos" panose="020B0004020202020204" pitchFamily="34" charset="0"/>
              </a:rPr>
              <a:t> to short adjectives, or using </a:t>
            </a:r>
            <a:r>
              <a:rPr kumimoji="0" lang="en-US" altLang="en-US" sz="2000" b="1" i="0" u="none" strike="noStrike" cap="none" normalizeH="0" baseline="0" dirty="0">
                <a:ln>
                  <a:noFill/>
                </a:ln>
                <a:effectLst/>
                <a:latin typeface="Aptos" panose="020B0004020202020204" pitchFamily="34" charset="0"/>
              </a:rPr>
              <a:t>more</a:t>
            </a:r>
            <a:r>
              <a:rPr kumimoji="0" lang="en-US" altLang="en-US" sz="2000" b="0" i="0" u="none" strike="noStrike" cap="none" normalizeH="0" baseline="0" dirty="0">
                <a:ln>
                  <a:noFill/>
                </a:ln>
                <a:effectLst/>
                <a:latin typeface="Aptos" panose="020B0004020202020204" pitchFamily="34" charset="0"/>
              </a:rPr>
              <a:t> before long adjectives.</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Examples:</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Short Adjectives: This apple is </a:t>
            </a:r>
            <a:r>
              <a:rPr kumimoji="0" lang="en-US" altLang="en-US" sz="2000" b="1" i="0" u="none" strike="noStrike" cap="none" normalizeH="0" baseline="0" dirty="0">
                <a:ln>
                  <a:noFill/>
                </a:ln>
                <a:effectLst/>
                <a:latin typeface="Aptos" panose="020B0004020202020204" pitchFamily="34" charset="0"/>
              </a:rPr>
              <a:t>sweeter than </a:t>
            </a:r>
            <a:r>
              <a:rPr kumimoji="0" lang="en-US" altLang="en-US" sz="2000" b="0" i="0" u="none" strike="noStrike" cap="none" normalizeH="0" baseline="0" dirty="0">
                <a:ln>
                  <a:noFill/>
                </a:ln>
                <a:effectLst/>
                <a:latin typeface="Aptos" panose="020B0004020202020204" pitchFamily="34" charset="0"/>
              </a:rPr>
              <a:t>that one.</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Long Adjectives: This dish is </a:t>
            </a:r>
            <a:r>
              <a:rPr kumimoji="0" lang="en-US" altLang="en-US" sz="2000" b="1" i="0" u="none" strike="noStrike" cap="none" normalizeH="0" baseline="0" dirty="0">
                <a:ln>
                  <a:noFill/>
                </a:ln>
                <a:effectLst/>
                <a:latin typeface="Aptos" panose="020B0004020202020204" pitchFamily="34" charset="0"/>
              </a:rPr>
              <a:t>more delicious </a:t>
            </a:r>
            <a:r>
              <a:rPr kumimoji="0" lang="en-US" altLang="en-US" sz="2000" b="0" i="0" u="none" strike="noStrike" cap="none" normalizeH="0" baseline="0" dirty="0">
                <a:ln>
                  <a:noFill/>
                </a:ln>
                <a:effectLst/>
                <a:latin typeface="Aptos" panose="020B0004020202020204" pitchFamily="34" charset="0"/>
              </a:rPr>
              <a:t>than the other.</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32719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B2DCF7-C9AF-8CA2-F09E-3C3DE65E93B4}"/>
              </a:ext>
            </a:extLst>
          </p:cNvPr>
          <p:cNvSpPr>
            <a:spLocks noGrp="1"/>
          </p:cNvSpPr>
          <p:nvPr>
            <p:ph type="title"/>
          </p:nvPr>
        </p:nvSpPr>
        <p:spPr>
          <a:xfrm>
            <a:off x="5980638" y="1128094"/>
            <a:ext cx="5262386" cy="1415270"/>
          </a:xfrm>
        </p:spPr>
        <p:txBody>
          <a:bodyPr anchor="t">
            <a:normAutofit/>
          </a:bodyPr>
          <a:lstStyle/>
          <a:p>
            <a:r>
              <a:rPr lang="en-GB" sz="3200">
                <a:latin typeface="Aptos Display" panose="020B0004020202020204" pitchFamily="34" charset="0"/>
              </a:rPr>
              <a:t>Superlatives</a:t>
            </a:r>
          </a:p>
        </p:txBody>
      </p:sp>
      <p:pic>
        <p:nvPicPr>
          <p:cNvPr id="6" name="Picture 5" descr="Layered fruit wedding cake">
            <a:extLst>
              <a:ext uri="{FF2B5EF4-FFF2-40B4-BE49-F238E27FC236}">
                <a16:creationId xmlns:a16="http://schemas.microsoft.com/office/drawing/2014/main" xmlns="" id="{EEC96B29-925E-CB53-BD6C-31377003E55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316" r="-1" b="-1"/>
          <a:stretch/>
        </p:blipFill>
        <p:spPr>
          <a:xfrm>
            <a:off x="1" y="1"/>
            <a:ext cx="5262386" cy="3429000"/>
          </a:xfrm>
          <a:prstGeom prst="rect">
            <a:avLst/>
          </a:prstGeom>
        </p:spPr>
      </p:pic>
      <p:cxnSp>
        <p:nvCxnSpPr>
          <p:cNvPr id="13" name="Straight Connector 12">
            <a:extLst>
              <a:ext uri="{FF2B5EF4-FFF2-40B4-BE49-F238E27FC236}">
                <a16:creationId xmlns:a16="http://schemas.microsoft.com/office/drawing/2014/main" xmlns="" id="{249EDD1B-F94D-B4E6-ACAA-566B9A26FDE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6095214"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Picture 7" descr="Close-up of apple pie">
            <a:extLst>
              <a:ext uri="{FF2B5EF4-FFF2-40B4-BE49-F238E27FC236}">
                <a16:creationId xmlns:a16="http://schemas.microsoft.com/office/drawing/2014/main" xmlns="" id="{0E681665-9E9B-80DD-500C-0F88A1486C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 b="2515"/>
          <a:stretch/>
        </p:blipFill>
        <p:spPr>
          <a:xfrm>
            <a:off x="-7252" y="3429000"/>
            <a:ext cx="5269639" cy="3429000"/>
          </a:xfrm>
          <a:prstGeom prst="rect">
            <a:avLst/>
          </a:prstGeom>
        </p:spPr>
      </p:pic>
      <p:sp>
        <p:nvSpPr>
          <p:cNvPr id="4" name="Rectangle 1">
            <a:extLst>
              <a:ext uri="{FF2B5EF4-FFF2-40B4-BE49-F238E27FC236}">
                <a16:creationId xmlns:a16="http://schemas.microsoft.com/office/drawing/2014/main" xmlns="" id="{F8E6DDAA-6730-B345-2FA0-F5635F02163C}"/>
              </a:ext>
            </a:extLst>
          </p:cNvPr>
          <p:cNvSpPr>
            <a:spLocks noGrp="1" noChangeArrowheads="1"/>
          </p:cNvSpPr>
          <p:nvPr>
            <p:ph idx="1"/>
          </p:nvPr>
        </p:nvSpPr>
        <p:spPr bwMode="auto">
          <a:xfrm>
            <a:off x="5980638" y="2543364"/>
            <a:ext cx="5262385" cy="35990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ptos" panose="020B0004020202020204" pitchFamily="34" charset="0"/>
              </a:rPr>
              <a:t>Used to compare three or more foods or cooking actions.</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ptos" panose="020B0004020202020204" pitchFamily="34" charset="0"/>
              </a:rPr>
              <a:t>Formed by adding </a:t>
            </a:r>
            <a:r>
              <a:rPr kumimoji="0" lang="en-US" altLang="en-US" sz="2000" b="1" i="0" u="none" strike="noStrike" cap="none" normalizeH="0" baseline="0" dirty="0">
                <a:ln>
                  <a:noFill/>
                </a:ln>
                <a:effectLst/>
                <a:latin typeface="Aptos" panose="020B0004020202020204" pitchFamily="34" charset="0"/>
              </a:rPr>
              <a:t>-</a:t>
            </a:r>
            <a:r>
              <a:rPr kumimoji="0" lang="en-US" altLang="en-US" sz="2000" b="1" i="0" u="none" strike="noStrike" cap="none" normalizeH="0" baseline="0" dirty="0" err="1">
                <a:ln>
                  <a:noFill/>
                </a:ln>
                <a:effectLst/>
                <a:latin typeface="Aptos" panose="020B0004020202020204" pitchFamily="34" charset="0"/>
              </a:rPr>
              <a:t>est</a:t>
            </a:r>
            <a:r>
              <a:rPr kumimoji="0" lang="en-US" altLang="en-US" sz="2000" b="0" i="0" u="none" strike="noStrike" cap="none" normalizeH="0" baseline="0" dirty="0">
                <a:ln>
                  <a:noFill/>
                </a:ln>
                <a:effectLst/>
                <a:latin typeface="Aptos" panose="020B0004020202020204" pitchFamily="34" charset="0"/>
              </a:rPr>
              <a:t> to short adjectives, or using </a:t>
            </a:r>
            <a:r>
              <a:rPr kumimoji="0" lang="en-US" altLang="en-US" sz="2000" b="1" i="0" u="none" strike="noStrike" cap="none" normalizeH="0" baseline="0" dirty="0">
                <a:ln>
                  <a:noFill/>
                </a:ln>
                <a:effectLst/>
                <a:latin typeface="Aptos" panose="020B0004020202020204" pitchFamily="34" charset="0"/>
              </a:rPr>
              <a:t>most</a:t>
            </a:r>
            <a:r>
              <a:rPr kumimoji="0" lang="en-US" altLang="en-US" sz="2000" b="0" i="0" u="none" strike="noStrike" cap="none" normalizeH="0" baseline="0" dirty="0">
                <a:ln>
                  <a:noFill/>
                </a:ln>
                <a:effectLst/>
                <a:latin typeface="Aptos" panose="020B0004020202020204" pitchFamily="34" charset="0"/>
              </a:rPr>
              <a:t> before long adjectives.</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ptos" panose="020B0004020202020204" pitchFamily="34" charset="0"/>
              </a:rPr>
              <a:t>Examples:</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ptos" panose="020B0004020202020204" pitchFamily="34" charset="0"/>
              </a:rPr>
              <a:t>Short Adjectives: She made </a:t>
            </a:r>
            <a:r>
              <a:rPr kumimoji="0" lang="en-US" altLang="en-US" sz="2000" b="1" i="0" u="none" strike="noStrike" cap="none" normalizeH="0" baseline="0" dirty="0">
                <a:ln>
                  <a:noFill/>
                </a:ln>
                <a:effectLst/>
                <a:latin typeface="Aptos" panose="020B0004020202020204" pitchFamily="34" charset="0"/>
              </a:rPr>
              <a:t>the tastiest </a:t>
            </a:r>
            <a:r>
              <a:rPr kumimoji="0" lang="en-US" altLang="en-US" sz="2000" b="0" i="0" u="none" strike="noStrike" cap="none" normalizeH="0" baseline="0" dirty="0">
                <a:ln>
                  <a:noFill/>
                </a:ln>
                <a:effectLst/>
                <a:latin typeface="Aptos" panose="020B0004020202020204" pitchFamily="34" charset="0"/>
              </a:rPr>
              <a:t>pie at the contest.</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ptos" panose="020B0004020202020204" pitchFamily="34" charset="0"/>
              </a:rPr>
              <a:t>Long Adjectives: This is </a:t>
            </a:r>
            <a:r>
              <a:rPr kumimoji="0" lang="en-US" altLang="en-US" sz="2000" b="1" i="0" u="none" strike="noStrike" cap="none" normalizeH="0" baseline="0" dirty="0">
                <a:ln>
                  <a:noFill/>
                </a:ln>
                <a:effectLst/>
                <a:latin typeface="Aptos" panose="020B0004020202020204" pitchFamily="34" charset="0"/>
              </a:rPr>
              <a:t>the most delicious </a:t>
            </a:r>
            <a:r>
              <a:rPr kumimoji="0" lang="en-US" altLang="en-US" sz="2000" b="0" i="0" u="none" strike="noStrike" cap="none" normalizeH="0" baseline="0" dirty="0">
                <a:ln>
                  <a:noFill/>
                </a:ln>
                <a:effectLst/>
                <a:latin typeface="Aptos" panose="020B0004020202020204" pitchFamily="34" charset="0"/>
              </a:rPr>
              <a:t>cake I've ever eaten.</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4045724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xmlns="" id="{99F1FFA9-D672-408C-9220-ADEEC6ABDD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E05B43E-5ED4-A9C3-AFA3-73D2AA23CA82}"/>
              </a:ext>
            </a:extLst>
          </p:cNvPr>
          <p:cNvSpPr>
            <a:spLocks noGrp="1"/>
          </p:cNvSpPr>
          <p:nvPr>
            <p:ph type="title"/>
          </p:nvPr>
        </p:nvSpPr>
        <p:spPr>
          <a:xfrm>
            <a:off x="838201" y="365125"/>
            <a:ext cx="3816095" cy="1938076"/>
          </a:xfrm>
        </p:spPr>
        <p:txBody>
          <a:bodyPr>
            <a:normAutofit fontScale="90000"/>
          </a:bodyPr>
          <a:lstStyle/>
          <a:p>
            <a:r>
              <a:rPr lang="en-GB" dirty="0">
                <a:latin typeface="Aptos Display" panose="020B0004020202020204" pitchFamily="34" charset="0"/>
              </a:rPr>
              <a:t>Comparative and Superlative Adverbs</a:t>
            </a:r>
          </a:p>
        </p:txBody>
      </p:sp>
      <p:sp>
        <p:nvSpPr>
          <p:cNvPr id="4" name="Rectangle 1">
            <a:extLst>
              <a:ext uri="{FF2B5EF4-FFF2-40B4-BE49-F238E27FC236}">
                <a16:creationId xmlns:a16="http://schemas.microsoft.com/office/drawing/2014/main" xmlns="" id="{A982CD05-6ADC-7ECE-1F90-AF8E054E2407}"/>
              </a:ext>
            </a:extLst>
          </p:cNvPr>
          <p:cNvSpPr>
            <a:spLocks noGrp="1" noChangeArrowheads="1"/>
          </p:cNvSpPr>
          <p:nvPr>
            <p:ph idx="1"/>
          </p:nvPr>
        </p:nvSpPr>
        <p:spPr bwMode="auto">
          <a:xfrm>
            <a:off x="838201" y="2482589"/>
            <a:ext cx="3816096" cy="36943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Comparatives describe how two actions differ.</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Example: He cooks</a:t>
            </a:r>
            <a:r>
              <a:rPr kumimoji="0" lang="en-US" altLang="en-US" sz="2000" b="1" i="0" u="none" strike="noStrike" cap="none" normalizeH="0" baseline="0" dirty="0">
                <a:ln>
                  <a:noFill/>
                </a:ln>
                <a:effectLst/>
                <a:latin typeface="Aptos" panose="020B0004020202020204" pitchFamily="34" charset="0"/>
              </a:rPr>
              <a:t> faster </a:t>
            </a:r>
            <a:r>
              <a:rPr kumimoji="0" lang="en-US" altLang="en-US" sz="2000" b="0" i="0" u="none" strike="noStrike" cap="none" normalizeH="0" baseline="0" dirty="0">
                <a:ln>
                  <a:noFill/>
                </a:ln>
                <a:effectLst/>
                <a:latin typeface="Aptos" panose="020B0004020202020204" pitchFamily="34" charset="0"/>
              </a:rPr>
              <a:t>than his sister.</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Superlatives describe how one action compares to all others.</a:t>
            </a:r>
          </a:p>
          <a:p>
            <a:pPr eaLnBrk="0" fontAlgn="base" hangingPunct="0">
              <a:spcBef>
                <a:spcPct val="0"/>
              </a:spcBef>
              <a:spcAft>
                <a:spcPts val="600"/>
              </a:spcAft>
            </a:pPr>
            <a:r>
              <a:rPr kumimoji="0" lang="en-US" altLang="en-US" sz="2000" b="0" i="0" u="none" strike="noStrike" cap="none" normalizeH="0" baseline="0" dirty="0">
                <a:ln>
                  <a:noFill/>
                </a:ln>
                <a:effectLst/>
                <a:latin typeface="Aptos" panose="020B0004020202020204" pitchFamily="34" charset="0"/>
              </a:rPr>
              <a:t>Example: She bakes </a:t>
            </a:r>
            <a:r>
              <a:rPr kumimoji="0" lang="en-US" altLang="en-US" sz="2000" b="1" i="0" u="none" strike="noStrike" cap="none" normalizeH="0" baseline="0" dirty="0">
                <a:ln>
                  <a:noFill/>
                </a:ln>
                <a:effectLst/>
                <a:latin typeface="Aptos" panose="020B0004020202020204" pitchFamily="34" charset="0"/>
              </a:rPr>
              <a:t>the most skillfully</a:t>
            </a:r>
            <a:r>
              <a:rPr kumimoji="0" lang="en-US" altLang="en-US" sz="2000" b="0" i="0" u="none" strike="noStrike" cap="none" normalizeH="0" baseline="0" dirty="0">
                <a:ln>
                  <a:noFill/>
                </a:ln>
                <a:effectLst/>
                <a:latin typeface="Aptos" panose="020B0004020202020204" pitchFamily="34" charset="0"/>
              </a:rPr>
              <a:t> of all the chefs.</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pic>
        <p:nvPicPr>
          <p:cNvPr id="8" name="Picture 7" descr="People baking in a kitchen">
            <a:extLst>
              <a:ext uri="{FF2B5EF4-FFF2-40B4-BE49-F238E27FC236}">
                <a16:creationId xmlns:a16="http://schemas.microsoft.com/office/drawing/2014/main" xmlns="" id="{52BDFC9F-23D2-7F85-7401-2FC05924B11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744" r="-1" b="14310"/>
          <a:stretch/>
        </p:blipFill>
        <p:spPr>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6" name="Picture 5" descr="Person making bread dough">
            <a:extLst>
              <a:ext uri="{FF2B5EF4-FFF2-40B4-BE49-F238E27FC236}">
                <a16:creationId xmlns:a16="http://schemas.microsoft.com/office/drawing/2014/main" xmlns="" id="{A1435E7D-5880-0796-CAE3-ABD76746A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6437" b="12313"/>
          <a:stretch/>
        </p:blipFill>
        <p:spPr>
          <a:xfrm>
            <a:off x="4726728" y="3802961"/>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spTree>
    <p:extLst>
      <p:ext uri="{BB962C8B-B14F-4D97-AF65-F5344CB8AC3E}">
        <p14:creationId xmlns:p14="http://schemas.microsoft.com/office/powerpoint/2010/main" val="3688110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8D71CC-826C-AA7A-F051-C604B188647B}"/>
              </a:ext>
            </a:extLst>
          </p:cNvPr>
          <p:cNvSpPr>
            <a:spLocks noGrp="1"/>
          </p:cNvSpPr>
          <p:nvPr>
            <p:ph type="title"/>
          </p:nvPr>
        </p:nvSpPr>
        <p:spPr/>
        <p:txBody>
          <a:bodyPr/>
          <a:lstStyle/>
          <a:p>
            <a:r>
              <a:rPr lang="en-GB" b="1" dirty="0">
                <a:latin typeface="Aptos Display" panose="020B0004020202020204" pitchFamily="34" charset="0"/>
              </a:rPr>
              <a:t>Key Points</a:t>
            </a:r>
            <a:endParaRPr lang="en-GB" dirty="0"/>
          </a:p>
        </p:txBody>
      </p:sp>
      <p:sp>
        <p:nvSpPr>
          <p:cNvPr id="3" name="Content Placeholder 2">
            <a:extLst>
              <a:ext uri="{FF2B5EF4-FFF2-40B4-BE49-F238E27FC236}">
                <a16:creationId xmlns:a16="http://schemas.microsoft.com/office/drawing/2014/main" xmlns="" id="{A815837C-8B06-6BA1-F65B-9EDB60209EE2}"/>
              </a:ext>
            </a:extLst>
          </p:cNvPr>
          <p:cNvSpPr>
            <a:spLocks noGrp="1"/>
          </p:cNvSpPr>
          <p:nvPr>
            <p:ph idx="1"/>
          </p:nvPr>
        </p:nvSpPr>
        <p:spPr/>
        <p:txBody>
          <a:bodyPr/>
          <a:lstStyle/>
          <a:p>
            <a:pPr>
              <a:buFont typeface="Arial" panose="020B0604020202020204" pitchFamily="34" charset="0"/>
              <a:buChar char="•"/>
            </a:pPr>
            <a:r>
              <a:rPr lang="en-GB" dirty="0">
                <a:latin typeface="Aptos" panose="020B0004020202020204" pitchFamily="34" charset="0"/>
              </a:rPr>
              <a:t>For one-syllable adjectives, add </a:t>
            </a:r>
            <a:r>
              <a:rPr lang="en-GB" b="1" dirty="0">
                <a:latin typeface="Aptos" panose="020B0004020202020204" pitchFamily="34" charset="0"/>
              </a:rPr>
              <a:t>-er</a:t>
            </a:r>
            <a:r>
              <a:rPr lang="en-GB" dirty="0">
                <a:latin typeface="Aptos" panose="020B0004020202020204" pitchFamily="34" charset="0"/>
              </a:rPr>
              <a:t> (comparative) or </a:t>
            </a:r>
            <a:r>
              <a:rPr lang="en-GB" b="1" dirty="0">
                <a:latin typeface="Aptos" panose="020B0004020202020204" pitchFamily="34" charset="0"/>
              </a:rPr>
              <a:t>-</a:t>
            </a:r>
            <a:r>
              <a:rPr lang="en-GB" b="1" dirty="0" err="1">
                <a:latin typeface="Aptos" panose="020B0004020202020204" pitchFamily="34" charset="0"/>
              </a:rPr>
              <a:t>est</a:t>
            </a:r>
            <a:r>
              <a:rPr lang="en-GB" dirty="0">
                <a:latin typeface="Aptos" panose="020B0004020202020204" pitchFamily="34" charset="0"/>
              </a:rPr>
              <a:t> (superlative).</a:t>
            </a:r>
          </a:p>
          <a:p>
            <a:pPr marL="742950" lvl="1" indent="-285750">
              <a:buFont typeface="Arial" panose="020B0604020202020204" pitchFamily="34" charset="0"/>
              <a:buChar char="•"/>
            </a:pPr>
            <a:r>
              <a:rPr lang="en-GB" dirty="0">
                <a:latin typeface="Aptos" panose="020B0004020202020204" pitchFamily="34" charset="0"/>
              </a:rPr>
              <a:t>Example: This soup is hotter than that one. / This is the hottest chili I've ever tasted.</a:t>
            </a:r>
          </a:p>
          <a:p>
            <a:pPr>
              <a:buFont typeface="Arial" panose="020B0604020202020204" pitchFamily="34" charset="0"/>
              <a:buChar char="•"/>
            </a:pPr>
            <a:r>
              <a:rPr lang="en-GB" dirty="0">
                <a:latin typeface="Aptos" panose="020B0004020202020204" pitchFamily="34" charset="0"/>
              </a:rPr>
              <a:t>For adjectives with two or more syllables, use </a:t>
            </a:r>
            <a:r>
              <a:rPr lang="en-GB" b="1" dirty="0">
                <a:latin typeface="Aptos" panose="020B0004020202020204" pitchFamily="34" charset="0"/>
              </a:rPr>
              <a:t>more</a:t>
            </a:r>
            <a:r>
              <a:rPr lang="en-GB" dirty="0">
                <a:latin typeface="Aptos" panose="020B0004020202020204" pitchFamily="34" charset="0"/>
              </a:rPr>
              <a:t> or </a:t>
            </a:r>
            <a:r>
              <a:rPr lang="en-GB" b="1" dirty="0">
                <a:latin typeface="Aptos" panose="020B0004020202020204" pitchFamily="34" charset="0"/>
              </a:rPr>
              <a:t>most.</a:t>
            </a:r>
            <a:endParaRPr lang="en-GB" dirty="0">
              <a:latin typeface="Aptos" panose="020B0004020202020204" pitchFamily="34" charset="0"/>
            </a:endParaRPr>
          </a:p>
          <a:p>
            <a:pPr marL="742950" lvl="1" indent="-285750">
              <a:buFont typeface="Arial" panose="020B0604020202020204" pitchFamily="34" charset="0"/>
              <a:buChar char="•"/>
            </a:pPr>
            <a:r>
              <a:rPr lang="en-GB" dirty="0">
                <a:latin typeface="Aptos" panose="020B0004020202020204" pitchFamily="34" charset="0"/>
              </a:rPr>
              <a:t>Example: This dish is more flavoursome than the last one. / This is the most flavoursome dish on the menu.</a:t>
            </a:r>
          </a:p>
          <a:p>
            <a:pPr>
              <a:buFont typeface="Arial" panose="020B0604020202020204" pitchFamily="34" charset="0"/>
              <a:buChar char="•"/>
            </a:pPr>
            <a:r>
              <a:rPr lang="en-GB" dirty="0">
                <a:latin typeface="Aptos" panose="020B0004020202020204" pitchFamily="34" charset="0"/>
              </a:rPr>
              <a:t>Irregular forms must be memorized (e.g., good, better, best).</a:t>
            </a:r>
          </a:p>
          <a:p>
            <a:endParaRPr lang="en-GB" dirty="0"/>
          </a:p>
        </p:txBody>
      </p:sp>
    </p:spTree>
    <p:extLst>
      <p:ext uri="{BB962C8B-B14F-4D97-AF65-F5344CB8AC3E}">
        <p14:creationId xmlns:p14="http://schemas.microsoft.com/office/powerpoint/2010/main" val="1268600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2A785343-5D24-4118-A2E4-665D196F60C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descr="Person decorating cupcakes">
            <a:extLst>
              <a:ext uri="{FF2B5EF4-FFF2-40B4-BE49-F238E27FC236}">
                <a16:creationId xmlns:a16="http://schemas.microsoft.com/office/drawing/2014/main" xmlns="" id="{6BF7DF6D-21B7-FE40-D78E-39682F42C23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98" r="-3" b="14334"/>
          <a:stretch/>
        </p:blipFill>
        <p:spPr>
          <a:xfrm>
            <a:off x="7381876" y="1"/>
            <a:ext cx="4810125" cy="2501837"/>
          </a:xfrm>
          <a:custGeom>
            <a:avLst/>
            <a:gdLst/>
            <a:ahLst/>
            <a:cxnLst/>
            <a:rect l="l" t="t" r="r" b="b"/>
            <a:pathLst>
              <a:path w="4810125" h="2501837">
                <a:moveTo>
                  <a:pt x="1159248" y="0"/>
                </a:moveTo>
                <a:lnTo>
                  <a:pt x="4810125" y="0"/>
                </a:lnTo>
                <a:lnTo>
                  <a:pt x="4810125" y="2501837"/>
                </a:lnTo>
                <a:lnTo>
                  <a:pt x="0" y="2501837"/>
                </a:lnTo>
                <a:close/>
              </a:path>
            </a:pathLst>
          </a:custGeom>
        </p:spPr>
      </p:pic>
      <p:pic>
        <p:nvPicPr>
          <p:cNvPr id="11" name="Picture 10" descr="Grilled vegetarian tacos on plate">
            <a:extLst>
              <a:ext uri="{FF2B5EF4-FFF2-40B4-BE49-F238E27FC236}">
                <a16:creationId xmlns:a16="http://schemas.microsoft.com/office/drawing/2014/main" xmlns="" id="{B229CBB2-7BA1-8A86-CA1B-CE637EF7178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8208" r="2" b="18264"/>
          <a:stretch/>
        </p:blipFill>
        <p:spPr>
          <a:xfrm>
            <a:off x="5374639" y="2663706"/>
            <a:ext cx="4626927" cy="4197911"/>
          </a:xfrm>
          <a:custGeom>
            <a:avLst/>
            <a:gdLst/>
            <a:ahLst/>
            <a:cxnLst/>
            <a:rect l="l" t="t" r="r" b="b"/>
            <a:pathLst>
              <a:path w="4626927" h="4197911">
                <a:moveTo>
                  <a:pt x="1945141" y="0"/>
                </a:moveTo>
                <a:lnTo>
                  <a:pt x="1951364" y="0"/>
                </a:lnTo>
                <a:lnTo>
                  <a:pt x="3141155" y="0"/>
                </a:lnTo>
                <a:lnTo>
                  <a:pt x="4626927" y="0"/>
                </a:lnTo>
                <a:lnTo>
                  <a:pt x="2681786" y="4197911"/>
                </a:lnTo>
                <a:lnTo>
                  <a:pt x="0" y="4197911"/>
                </a:lnTo>
                <a:close/>
              </a:path>
            </a:pathLst>
          </a:custGeom>
        </p:spPr>
      </p:pic>
      <p:sp>
        <p:nvSpPr>
          <p:cNvPr id="22" name="Freeform 11">
            <a:extLst>
              <a:ext uri="{FF2B5EF4-FFF2-40B4-BE49-F238E27FC236}">
                <a16:creationId xmlns:a16="http://schemas.microsoft.com/office/drawing/2014/main" xmlns="" id="{32F4D216-10B7-4DCA-A0A1-068E9E32F4F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1" y="2660091"/>
            <a:ext cx="7122523" cy="4197911"/>
          </a:xfrm>
          <a:custGeom>
            <a:avLst/>
            <a:gdLst>
              <a:gd name="connsiteX0" fmla="*/ 0 w 7122523"/>
              <a:gd name="connsiteY0" fmla="*/ 4197911 h 4197911"/>
              <a:gd name="connsiteX1" fmla="*/ 7122523 w 7122523"/>
              <a:gd name="connsiteY1" fmla="*/ 4197911 h 4197911"/>
              <a:gd name="connsiteX2" fmla="*/ 5177382 w 7122523"/>
              <a:gd name="connsiteY2" fmla="*/ 0 h 4197911"/>
              <a:gd name="connsiteX3" fmla="*/ 5171159 w 7122523"/>
              <a:gd name="connsiteY3" fmla="*/ 0 h 4197911"/>
              <a:gd name="connsiteX4" fmla="*/ 3981368 w 7122523"/>
              <a:gd name="connsiteY4" fmla="*/ 0 h 4197911"/>
              <a:gd name="connsiteX5" fmla="*/ 2331323 w 7122523"/>
              <a:gd name="connsiteY5" fmla="*/ 0 h 4197911"/>
              <a:gd name="connsiteX6" fmla="*/ 0 w 7122523"/>
              <a:gd name="connsiteY6" fmla="*/ 0 h 41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2523" h="4197911">
                <a:moveTo>
                  <a:pt x="0" y="4197911"/>
                </a:moveTo>
                <a:lnTo>
                  <a:pt x="7122523" y="4197911"/>
                </a:lnTo>
                <a:lnTo>
                  <a:pt x="5177382" y="0"/>
                </a:lnTo>
                <a:lnTo>
                  <a:pt x="5171159" y="0"/>
                </a:lnTo>
                <a:lnTo>
                  <a:pt x="3981368" y="0"/>
                </a:lnTo>
                <a:lnTo>
                  <a:pt x="2331323" y="0"/>
                </a:lnTo>
                <a:lnTo>
                  <a:pt x="0" y="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D85DCA7A-5D5F-A008-05F8-A4CF9E4CBE01}"/>
              </a:ext>
            </a:extLst>
          </p:cNvPr>
          <p:cNvSpPr>
            <a:spLocks noGrp="1"/>
          </p:cNvSpPr>
          <p:nvPr>
            <p:ph type="title"/>
          </p:nvPr>
        </p:nvSpPr>
        <p:spPr>
          <a:xfrm>
            <a:off x="682388" y="3098042"/>
            <a:ext cx="5308979" cy="852985"/>
          </a:xfrm>
        </p:spPr>
        <p:txBody>
          <a:bodyPr>
            <a:normAutofit/>
          </a:bodyPr>
          <a:lstStyle/>
          <a:p>
            <a:r>
              <a:rPr lang="en-GB" sz="3600">
                <a:solidFill>
                  <a:srgbClr val="FFFFFF"/>
                </a:solidFill>
                <a:latin typeface="Aptos Display" panose="020B0004020202020204" pitchFamily="34" charset="0"/>
              </a:rPr>
              <a:t>Review and Practice</a:t>
            </a:r>
          </a:p>
        </p:txBody>
      </p:sp>
      <p:pic>
        <p:nvPicPr>
          <p:cNvPr id="9" name="Picture 8" descr="Raspberry tarts">
            <a:extLst>
              <a:ext uri="{FF2B5EF4-FFF2-40B4-BE49-F238E27FC236}">
                <a16:creationId xmlns:a16="http://schemas.microsoft.com/office/drawing/2014/main" xmlns="" id="{60B76041-F150-0362-93B7-12F139681AC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2019" b="3"/>
          <a:stretch/>
        </p:blipFill>
        <p:spPr>
          <a:xfrm>
            <a:off x="4675537" y="-1"/>
            <a:ext cx="3677817" cy="2505456"/>
          </a:xfrm>
          <a:custGeom>
            <a:avLst/>
            <a:gdLst/>
            <a:ahLst/>
            <a:cxnLst/>
            <a:rect l="l" t="t" r="r" b="b"/>
            <a:pathLst>
              <a:path w="3677817" h="2505456">
                <a:moveTo>
                  <a:pt x="1160926" y="0"/>
                </a:moveTo>
                <a:lnTo>
                  <a:pt x="3677817" y="0"/>
                </a:lnTo>
                <a:lnTo>
                  <a:pt x="2516891" y="2505456"/>
                </a:lnTo>
                <a:lnTo>
                  <a:pt x="0" y="2505456"/>
                </a:lnTo>
                <a:close/>
              </a:path>
            </a:pathLst>
          </a:custGeom>
        </p:spPr>
      </p:pic>
      <p:pic>
        <p:nvPicPr>
          <p:cNvPr id="15" name="Picture 14" descr="Shamrock cookies">
            <a:extLst>
              <a:ext uri="{FF2B5EF4-FFF2-40B4-BE49-F238E27FC236}">
                <a16:creationId xmlns:a16="http://schemas.microsoft.com/office/drawing/2014/main" xmlns="" id="{05037E35-45BB-0E5D-FD79-CF65096F3B7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9485" r="1" b="1"/>
          <a:stretch/>
        </p:blipFill>
        <p:spPr>
          <a:xfrm>
            <a:off x="2280734" y="2"/>
            <a:ext cx="3393943" cy="2502843"/>
          </a:xfrm>
          <a:custGeom>
            <a:avLst/>
            <a:gdLst/>
            <a:ahLst/>
            <a:cxnLst/>
            <a:rect l="l" t="t" r="r" b="b"/>
            <a:pathLst>
              <a:path w="3393943" h="2502843">
                <a:moveTo>
                  <a:pt x="1159715" y="0"/>
                </a:moveTo>
                <a:lnTo>
                  <a:pt x="3393943" y="0"/>
                </a:lnTo>
                <a:lnTo>
                  <a:pt x="2234228" y="2502843"/>
                </a:lnTo>
                <a:lnTo>
                  <a:pt x="0" y="2502843"/>
                </a:lnTo>
                <a:close/>
              </a:path>
            </a:pathLst>
          </a:custGeom>
        </p:spPr>
      </p:pic>
      <p:pic>
        <p:nvPicPr>
          <p:cNvPr id="7" name="Picture 6" descr="Fresh ravioli on table">
            <a:extLst>
              <a:ext uri="{FF2B5EF4-FFF2-40B4-BE49-F238E27FC236}">
                <a16:creationId xmlns:a16="http://schemas.microsoft.com/office/drawing/2014/main" xmlns="" id="{03F25522-D456-84A5-31B5-73FD0A7DCB4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6731" r="4" b="21898"/>
          <a:stretch/>
        </p:blipFill>
        <p:spPr>
          <a:xfrm>
            <a:off x="3" y="-6235"/>
            <a:ext cx="3255403" cy="2505456"/>
          </a:xfrm>
          <a:custGeom>
            <a:avLst/>
            <a:gdLst/>
            <a:ahLst/>
            <a:cxnLst/>
            <a:rect l="l" t="t" r="r" b="b"/>
            <a:pathLst>
              <a:path w="3255403" h="2505456">
                <a:moveTo>
                  <a:pt x="0" y="0"/>
                </a:moveTo>
                <a:lnTo>
                  <a:pt x="3255403" y="0"/>
                </a:lnTo>
                <a:lnTo>
                  <a:pt x="2094477" y="2505456"/>
                </a:lnTo>
                <a:lnTo>
                  <a:pt x="0" y="2505456"/>
                </a:lnTo>
                <a:close/>
              </a:path>
            </a:pathLst>
          </a:custGeom>
        </p:spPr>
      </p:pic>
      <p:sp>
        <p:nvSpPr>
          <p:cNvPr id="3" name="Content Placeholder 2">
            <a:extLst>
              <a:ext uri="{FF2B5EF4-FFF2-40B4-BE49-F238E27FC236}">
                <a16:creationId xmlns:a16="http://schemas.microsoft.com/office/drawing/2014/main" xmlns="" id="{BD2BBA45-E858-4B5A-DFB5-EF000B54ACDE}"/>
              </a:ext>
            </a:extLst>
          </p:cNvPr>
          <p:cNvSpPr>
            <a:spLocks noGrp="1"/>
          </p:cNvSpPr>
          <p:nvPr>
            <p:ph idx="1"/>
          </p:nvPr>
        </p:nvSpPr>
        <p:spPr>
          <a:xfrm>
            <a:off x="682388" y="3951027"/>
            <a:ext cx="4746863" cy="2130364"/>
          </a:xfrm>
        </p:spPr>
        <p:txBody>
          <a:bodyPr anchor="ctr">
            <a:normAutofit/>
          </a:bodyPr>
          <a:lstStyle/>
          <a:p>
            <a:r>
              <a:rPr lang="en-GB" sz="1900">
                <a:solidFill>
                  <a:srgbClr val="FFFFFF"/>
                </a:solidFill>
              </a:rPr>
              <a:t>Create your own recipes using affirmative and negative imperatives, comparatives, superlatives, question tags, and intensifiers.</a:t>
            </a:r>
          </a:p>
          <a:p>
            <a:endParaRPr lang="en-GB" sz="1900">
              <a:solidFill>
                <a:srgbClr val="FFFFFF"/>
              </a:solidFill>
            </a:endParaRPr>
          </a:p>
          <a:p>
            <a:r>
              <a:rPr lang="en-GB" sz="1900">
                <a:solidFill>
                  <a:srgbClr val="FFFFFF"/>
                </a:solidFill>
              </a:rPr>
              <a:t>Share and discuss the recipes with the class.</a:t>
            </a:r>
          </a:p>
        </p:txBody>
      </p:sp>
      <p:pic>
        <p:nvPicPr>
          <p:cNvPr id="5" name="Picture 4" descr="Casserole dish with broccoli and cheese">
            <a:extLst>
              <a:ext uri="{FF2B5EF4-FFF2-40B4-BE49-F238E27FC236}">
                <a16:creationId xmlns:a16="http://schemas.microsoft.com/office/drawing/2014/main" xmlns="" id="{09966BE8-E439-5F3B-3B80-4ACC9892DF40}"/>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13510" b="15136"/>
          <a:stretch/>
        </p:blipFill>
        <p:spPr>
          <a:xfrm>
            <a:off x="8264962" y="2660089"/>
            <a:ext cx="3927039" cy="4197911"/>
          </a:xfrm>
          <a:custGeom>
            <a:avLst/>
            <a:gdLst/>
            <a:ahLst/>
            <a:cxnLst/>
            <a:rect l="l" t="t" r="r" b="b"/>
            <a:pathLst>
              <a:path w="3927039" h="4197911">
                <a:moveTo>
                  <a:pt x="1945141" y="0"/>
                </a:moveTo>
                <a:lnTo>
                  <a:pt x="1951364" y="0"/>
                </a:lnTo>
                <a:lnTo>
                  <a:pt x="3141155" y="0"/>
                </a:lnTo>
                <a:lnTo>
                  <a:pt x="3927039" y="0"/>
                </a:lnTo>
                <a:lnTo>
                  <a:pt x="3927039" y="4194293"/>
                </a:lnTo>
                <a:lnTo>
                  <a:pt x="2683462" y="4194293"/>
                </a:lnTo>
                <a:lnTo>
                  <a:pt x="2681786" y="4197911"/>
                </a:lnTo>
                <a:lnTo>
                  <a:pt x="0" y="4197911"/>
                </a:lnTo>
                <a:close/>
              </a:path>
            </a:pathLst>
          </a:custGeom>
        </p:spPr>
      </p:pic>
    </p:spTree>
    <p:extLst>
      <p:ext uri="{BB962C8B-B14F-4D97-AF65-F5344CB8AC3E}">
        <p14:creationId xmlns:p14="http://schemas.microsoft.com/office/powerpoint/2010/main" val="2630501425"/>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2F888C-B09E-B9EF-5036-B36C468518E1}"/>
              </a:ext>
            </a:extLst>
          </p:cNvPr>
          <p:cNvSpPr>
            <a:spLocks noGrp="1"/>
          </p:cNvSpPr>
          <p:nvPr>
            <p:ph type="title"/>
          </p:nvPr>
        </p:nvSpPr>
        <p:spPr/>
        <p:txBody>
          <a:bodyPr/>
          <a:lstStyle/>
          <a:p>
            <a:r>
              <a:rPr lang="en-GB" dirty="0"/>
              <a:t>Delayed Feedback</a:t>
            </a:r>
            <a:endParaRPr lang="es-ES" dirty="0"/>
          </a:p>
        </p:txBody>
      </p:sp>
      <p:sp>
        <p:nvSpPr>
          <p:cNvPr id="3" name="Content Placeholder 2">
            <a:extLst>
              <a:ext uri="{FF2B5EF4-FFF2-40B4-BE49-F238E27FC236}">
                <a16:creationId xmlns:a16="http://schemas.microsoft.com/office/drawing/2014/main" xmlns="" id="{9F280873-38CF-56F0-DBDD-05F86619E3BA}"/>
              </a:ext>
            </a:extLst>
          </p:cNvPr>
          <p:cNvSpPr>
            <a:spLocks noGrp="1"/>
          </p:cNvSpPr>
          <p:nvPr>
            <p:ph idx="1"/>
          </p:nvPr>
        </p:nvSpPr>
        <p:spPr/>
        <p:txBody>
          <a:bodyPr>
            <a:normAutofit/>
          </a:bodyPr>
          <a:lstStyle/>
          <a:p>
            <a:pPr marL="0" indent="0">
              <a:buNone/>
            </a:pPr>
            <a:endParaRPr lang="es-ES" dirty="0"/>
          </a:p>
        </p:txBody>
      </p:sp>
      <p:pic>
        <p:nvPicPr>
          <p:cNvPr id="4" name="Picture 3" descr="A blue text on a black background&#10;&#10;Description automatically generated">
            <a:extLst>
              <a:ext uri="{FF2B5EF4-FFF2-40B4-BE49-F238E27FC236}">
                <a16:creationId xmlns:a16="http://schemas.microsoft.com/office/drawing/2014/main" xmlns="" id="{F6BB5059-887C-C1B6-0EDA-861CB08C71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9610" y="253147"/>
            <a:ext cx="1636779" cy="762002"/>
          </a:xfrm>
          <a:prstGeom prst="rect">
            <a:avLst/>
          </a:prstGeom>
        </p:spPr>
      </p:pic>
    </p:spTree>
    <p:extLst>
      <p:ext uri="{BB962C8B-B14F-4D97-AF65-F5344CB8AC3E}">
        <p14:creationId xmlns:p14="http://schemas.microsoft.com/office/powerpoint/2010/main" val="3244953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666</Words>
  <Application>Microsoft Office PowerPoint</Application>
  <PresentationFormat>Panorámica</PresentationFormat>
  <Paragraphs>77</Paragraphs>
  <Slides>14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Aptos</vt:lpstr>
      <vt:lpstr>Aptos Display</vt:lpstr>
      <vt:lpstr>Arial</vt:lpstr>
      <vt:lpstr>Calibri</vt:lpstr>
      <vt:lpstr>Calibri Light</vt:lpstr>
      <vt:lpstr>Office Theme</vt:lpstr>
      <vt:lpstr>Food</vt:lpstr>
      <vt:lpstr>Warm up</vt:lpstr>
      <vt:lpstr>Affirmative Imperatives in Food Contexts</vt:lpstr>
      <vt:lpstr>Negative Imperatives in Food Contexts</vt:lpstr>
      <vt:lpstr>Let in imperatives</vt:lpstr>
      <vt:lpstr>Spanish omelette – find the imperatives </vt:lpstr>
      <vt:lpstr>Practice</vt:lpstr>
      <vt:lpstr>Comparatives and Superlatives</vt:lpstr>
      <vt:lpstr>Comparatives</vt:lpstr>
      <vt:lpstr>Superlatives</vt:lpstr>
      <vt:lpstr>Comparative and Superlative Adverbs</vt:lpstr>
      <vt:lpstr>Key Points</vt:lpstr>
      <vt:lpstr>Review and Practice</vt:lpstr>
      <vt:lpstr>Delayed Feedback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and technology</dc:title>
  <dc:creator>Theo Clarke</dc:creator>
  <cp:lastModifiedBy>JaviRo</cp:lastModifiedBy>
  <cp:revision>4</cp:revision>
  <dcterms:created xsi:type="dcterms:W3CDTF">2024-01-09T10:25:02Z</dcterms:created>
  <dcterms:modified xsi:type="dcterms:W3CDTF">2025-01-02T10:36:43Z</dcterms:modified>
</cp:coreProperties>
</file>