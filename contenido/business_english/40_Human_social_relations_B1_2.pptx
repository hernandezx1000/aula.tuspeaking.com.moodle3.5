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344E-DAFF-769D-B92F-E64C6E5B9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D1EFB-EDF5-4FBC-97E2-C13FC662A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C5B3-8D32-3C82-E7F8-35392E2E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92F87-E799-F9A9-8BB6-10361AB4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1DCDF-E09F-2B33-CA3A-CA7472EE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24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5CC7-4337-A669-777D-C467F03B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A5F28-3451-CF4B-0B17-30AB465D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2D6F9-A0C6-ECB1-86C6-B3A3DD29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AD937-E135-D84C-D683-3951D1ED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FB18F-4A92-DBA4-E22B-0756FE10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776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3078-C4BF-4277-2835-3EB0461E5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F530D-4CB6-7BA9-8CC2-E58D0B4DB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AFC5D-3BCE-C298-3BC9-255A04AA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ECA03-4D93-9B5E-6AD3-61D84834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CAA96-49D6-82CC-639D-ED8FF2E7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912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539C-D345-F290-6B60-C58559D1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EE2DF-FA3C-61D4-873B-7418B1702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89E9B-67E8-2856-CEE6-4A9BB040A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3CA4E-5A08-61C1-6B2C-2725470F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13DE6-CE61-D8FD-AC11-534701EE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AA68F-D585-7D14-A48B-EA4A0276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77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6D6E-5A5C-4E82-1ADD-A555951F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D7D67-4B1C-9B42-978F-F7317F11C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5DD6F-40E5-F721-B5FB-C86EB8131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6F3F8-D94B-34FB-099B-B8DD69CEC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246D8-13FF-4FB3-F9B2-812C7D4B5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CCC31-CF5D-666A-3587-5F04723E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38669-B9C6-A9D4-8030-8680D7F8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DE538-B961-8C38-A3EC-2AF48388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388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E8D1-6440-A1F8-7CDC-4B1A2C46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4747B-BEA1-B103-0B11-CBE5D122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7336C-6908-73B5-7877-770400A6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0D253-2ED0-BA44-155B-2056A661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74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72606-CC9B-BB5B-3FC0-6E0C6AA6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3095E-30A3-732F-9909-A85E4DA7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D295D-BE31-5F3F-8436-D7F6DC69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64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B71F-3614-B8C6-F841-C71D5041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71952-0B45-F163-9630-25C5E9B22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D8214-479F-B707-6AB4-0FF985AB1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A9143-1DDD-CBF6-03B2-9EF2D078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741E5-B64A-543B-556A-635F38A3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D8F33-4D38-481B-C68F-26278AE9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25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F7E0-060F-7DBB-969A-A77D3313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2E937-2D13-2C0A-8CB0-22E7D2068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24784-305D-83A8-915A-13D379C9B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0BCBC-FB7F-D1DD-1513-3370BD54C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B7997-C1C0-8184-3D6B-BFC260C2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9070D-BF3F-FF61-FF2E-F085FF86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958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5C76-740B-9398-7921-28383F69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3DE8B-7050-1014-E98B-86FB53619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23208-B92C-49B5-B2A1-74A17DBF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636ED-0BAA-A5FB-E85E-686AB075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AA7BC-1FA4-2B07-5D8E-FF0B9FC8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51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B4D7A7-883E-5E3C-38B9-3E59F8387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F3404-8919-FD83-142C-E10508431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3BE81-E767-3CBA-DAA7-9E285164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9562B-594D-EC47-01E0-96511F51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9D671-0BE2-5797-14E7-C35246C7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432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8D454-2D7A-6594-EDBB-46DEEF3C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F67DF-AE7A-BA47-51B3-B5B21DD0B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AA4AC-9124-2FCA-9EA8-9A6FAA2B1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C576D-C196-4773-9902-8F61432B3E0B}" type="datetimeFigureOut">
              <a:rPr lang="es-ES" smtClean="0"/>
              <a:t>08/05/2024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7702-A3F5-1DBB-CE38-8C212BAA0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92A01-0B87-E403-4B16-B1C3031DA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108DA-6ABA-4506-91A7-5A56698AF1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719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AF82-47AE-71B7-5943-5081310F1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Human and social relations 2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35A7C-E0AF-AB01-CDD8-15B22EB1C4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B1</a:t>
            </a:r>
            <a:endParaRPr lang="es-ES" dirty="0"/>
          </a:p>
        </p:txBody>
      </p:sp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9FA81D2-0BFD-4CDC-628C-317827CE1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611" y="253147"/>
            <a:ext cx="1636779" cy="762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CE57D4-7297-42B0-7026-7E5EBE6BFA01}"/>
              </a:ext>
            </a:extLst>
          </p:cNvPr>
          <p:cNvSpPr txBox="1"/>
          <p:nvPr/>
        </p:nvSpPr>
        <p:spPr>
          <a:xfrm>
            <a:off x="631597" y="5882326"/>
            <a:ext cx="416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GB" dirty="0" err="1">
                <a:solidFill>
                  <a:prstClr val="white">
                    <a:lumMod val="65000"/>
                  </a:prstClr>
                </a:solidFill>
                <a:latin typeface="Calibri" panose="020F0502020204030204"/>
              </a:rPr>
              <a:t>TuSpeaking</a:t>
            </a:r>
            <a:r>
              <a:rPr lang="en-GB" dirty="0">
                <a:solidFill>
                  <a:prstClr val="white">
                    <a:lumMod val="65000"/>
                  </a:prstClr>
                </a:solidFill>
                <a:latin typeface="Calibri" panose="020F0502020204030204"/>
              </a:rPr>
              <a:t>, 2024, all rights reserved</a:t>
            </a:r>
            <a:endParaRPr lang="es-ES" dirty="0">
              <a:solidFill>
                <a:prstClr val="white">
                  <a:lumMod val="6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60564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2CE08-5752-AED4-DEFA-7D652FDA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/>
              <a:t>Warm up 2</a:t>
            </a:r>
            <a:endParaRPr lang="es-ES" sz="54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F8D5-D6EA-6B3E-96D7-715FD8D48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/>
              <a:t>Briefly review -ed/-ing adjectives from the previous class.</a:t>
            </a:r>
          </a:p>
          <a:p>
            <a:endParaRPr lang="en-GB" sz="2200"/>
          </a:p>
          <a:p>
            <a:r>
              <a:rPr lang="en-GB" sz="2200"/>
              <a:t>Discuss any questions or challenges students faced.</a:t>
            </a:r>
            <a:endParaRPr lang="es-ES" sz="2200"/>
          </a:p>
        </p:txBody>
      </p:sp>
      <p:pic>
        <p:nvPicPr>
          <p:cNvPr id="5" name="Picture 4" descr="Hand holding piece of white puzzle on blue background">
            <a:extLst>
              <a:ext uri="{FF2B5EF4-FFF2-40B4-BE49-F238E27FC236}">
                <a16:creationId xmlns:a16="http://schemas.microsoft.com/office/drawing/2014/main" id="{BEE0584A-454C-3D23-1C69-6B8EE75B90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6505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2580-7237-81AC-4A07-F9595A73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Grammar focus – Conjunctives and disjunctives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50BD-50F7-3848-2A01-C8E68DCF1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b="1" dirty="0"/>
              <a:t>Conjunctions:</a:t>
            </a:r>
          </a:p>
          <a:p>
            <a:endParaRPr lang="en-GB" sz="2400" dirty="0"/>
          </a:p>
          <a:p>
            <a:r>
              <a:rPr lang="en-GB" sz="2400" b="1" dirty="0"/>
              <a:t>and: </a:t>
            </a:r>
            <a:r>
              <a:rPr lang="en-GB" sz="2400" i="1" dirty="0"/>
              <a:t>My sister loves to read, and she has a vast collection of books.</a:t>
            </a:r>
          </a:p>
          <a:p>
            <a:r>
              <a:rPr lang="en-GB" sz="2400" b="1" dirty="0"/>
              <a:t>but: </a:t>
            </a:r>
            <a:r>
              <a:rPr lang="en-GB" sz="2400" i="1" dirty="0"/>
              <a:t>I wanted to go to the party, but I had to finish my homework.</a:t>
            </a:r>
          </a:p>
          <a:p>
            <a:r>
              <a:rPr lang="en-GB" sz="2400" b="1" dirty="0"/>
              <a:t>or: </a:t>
            </a:r>
            <a:r>
              <a:rPr lang="en-GB" sz="2400" i="1" dirty="0"/>
              <a:t>You can have tea or coffee with your breakfast.</a:t>
            </a:r>
          </a:p>
          <a:p>
            <a:r>
              <a:rPr lang="en-GB" sz="2400" b="1" dirty="0"/>
              <a:t>so: </a:t>
            </a:r>
            <a:r>
              <a:rPr lang="en-GB" sz="2400" i="1" dirty="0"/>
              <a:t>The weather was beautiful, so we decided to have a picnic.</a:t>
            </a:r>
          </a:p>
          <a:p>
            <a:r>
              <a:rPr lang="en-GB" sz="2400" b="1" dirty="0"/>
              <a:t>because: </a:t>
            </a:r>
            <a:r>
              <a:rPr lang="en-GB" sz="2400" i="1" dirty="0"/>
              <a:t>She stayed home because she wasn't feeling well.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Disjunctions:</a:t>
            </a:r>
          </a:p>
          <a:p>
            <a:endParaRPr lang="en-GB" sz="2400" dirty="0"/>
          </a:p>
          <a:p>
            <a:r>
              <a:rPr lang="en-GB" sz="2400" b="1" dirty="0"/>
              <a:t>either...or: </a:t>
            </a:r>
            <a:r>
              <a:rPr lang="en-GB" sz="2400" i="1" dirty="0"/>
              <a:t>You can either join us for dinner, or we can meet up for coffee later.</a:t>
            </a:r>
          </a:p>
          <a:p>
            <a:r>
              <a:rPr lang="en-GB" sz="2400" b="1" dirty="0"/>
              <a:t>neither...nor: </a:t>
            </a:r>
            <a:r>
              <a:rPr lang="en-GB" sz="2400" i="1" dirty="0"/>
              <a:t>Neither the teacher nor the students were satisfied with the exam results.</a:t>
            </a:r>
          </a:p>
          <a:p>
            <a:r>
              <a:rPr lang="en-GB" sz="2400" b="1" dirty="0"/>
              <a:t>or else: </a:t>
            </a:r>
            <a:r>
              <a:rPr lang="en-GB" sz="2400" i="1" dirty="0"/>
              <a:t>Finish your chores now, or else you won't be able to go out tonight.</a:t>
            </a:r>
          </a:p>
          <a:p>
            <a:r>
              <a:rPr lang="en-GB" sz="2400" b="1" dirty="0"/>
              <a:t>whether...or not: </a:t>
            </a:r>
            <a:r>
              <a:rPr lang="en-GB" sz="2400" i="1" dirty="0"/>
              <a:t>I will attend the meeting, whether you come with me or not.</a:t>
            </a:r>
          </a:p>
          <a:p>
            <a:r>
              <a:rPr lang="en-GB" sz="2400" b="1" dirty="0"/>
              <a:t>otherwise: </a:t>
            </a:r>
            <a:r>
              <a:rPr lang="en-GB" sz="2400" i="1" dirty="0"/>
              <a:t>Submit your project by Friday; otherwise, you might lose marks.</a:t>
            </a:r>
            <a:endParaRPr lang="es-ES" sz="2400" i="1" dirty="0"/>
          </a:p>
        </p:txBody>
      </p:sp>
    </p:spTree>
    <p:extLst>
      <p:ext uri="{BB962C8B-B14F-4D97-AF65-F5344CB8AC3E}">
        <p14:creationId xmlns:p14="http://schemas.microsoft.com/office/powerpoint/2010/main" val="402819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D60C6-C67E-1699-53E1-A57BAD27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Conjunctives:</a:t>
            </a:r>
          </a:p>
        </p:txBody>
      </p:sp>
      <p:pic>
        <p:nvPicPr>
          <p:cNvPr id="5" name="Picture 4" descr="Gears">
            <a:extLst>
              <a:ext uri="{FF2B5EF4-FFF2-40B4-BE49-F238E27FC236}">
                <a16:creationId xmlns:a16="http://schemas.microsoft.com/office/drawing/2014/main" id="{F2CB2952-2E7D-A3B1-AEA9-72469EF7B7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7" r="1314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378D2-9958-65E3-64D8-2CE4A1938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1700"/>
              <a:t>Conjunctives are words or phrases used to connect ideas and show relationships between clauses. They enhance the flow of a sentence by indicating addition, contrast, cause and effect, or sequence.</a:t>
            </a:r>
          </a:p>
          <a:p>
            <a:endParaRPr lang="en-GB" sz="1700"/>
          </a:p>
          <a:p>
            <a:r>
              <a:rPr lang="en-GB" sz="1700"/>
              <a:t>Examples:</a:t>
            </a:r>
          </a:p>
          <a:p>
            <a:pPr lvl="1"/>
            <a:r>
              <a:rPr lang="en-GB" sz="1700" b="1"/>
              <a:t>And: </a:t>
            </a:r>
            <a:r>
              <a:rPr lang="en-GB" sz="1700"/>
              <a:t>I love hiking, and I go on a new trail every weekend.</a:t>
            </a:r>
          </a:p>
          <a:p>
            <a:pPr lvl="1"/>
            <a:r>
              <a:rPr lang="en-GB" sz="1700" b="1"/>
              <a:t>But: </a:t>
            </a:r>
            <a:r>
              <a:rPr lang="en-GB" sz="1700"/>
              <a:t>She studied hard, but she didn't perform well in the exam.</a:t>
            </a:r>
          </a:p>
          <a:p>
            <a:pPr lvl="1"/>
            <a:r>
              <a:rPr lang="en-GB" sz="1700" b="1"/>
              <a:t>Because: </a:t>
            </a:r>
            <a:r>
              <a:rPr lang="en-GB" sz="1700"/>
              <a:t>They stayed indoors because it was raining.</a:t>
            </a:r>
          </a:p>
          <a:p>
            <a:pPr lvl="1"/>
            <a:r>
              <a:rPr lang="en-GB" sz="1700" b="1"/>
              <a:t>However: </a:t>
            </a:r>
            <a:r>
              <a:rPr lang="en-GB" sz="1700"/>
              <a:t>I wanted to visit the museum; however, it was closed.</a:t>
            </a: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296638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F03CE-3F5F-4F47-5D28-951BFE86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ES" sz="5400"/>
              <a:t>Disjunctives:</a:t>
            </a:r>
          </a:p>
        </p:txBody>
      </p:sp>
      <p:pic>
        <p:nvPicPr>
          <p:cNvPr id="5" name="Picture 4" descr="Yellow and orange electric plug">
            <a:extLst>
              <a:ext uri="{FF2B5EF4-FFF2-40B4-BE49-F238E27FC236}">
                <a16:creationId xmlns:a16="http://schemas.microsoft.com/office/drawing/2014/main" id="{41938636-442A-DFD6-1E8A-0DEEBB0880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1" r="33167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D171B-89E4-18A0-A245-ED17E0676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1700"/>
              <a:t>Disjunctives, on the other hand, are words or phrases that express contrast, interruption, or alternative viewpoints. They often add an element of commentary or clarification to the main clause.</a:t>
            </a:r>
          </a:p>
          <a:p>
            <a:r>
              <a:rPr lang="en-GB" sz="1700"/>
              <a:t>Examples:</a:t>
            </a:r>
          </a:p>
          <a:p>
            <a:pPr lvl="1"/>
            <a:r>
              <a:rPr lang="en-GB" sz="1700" b="1"/>
              <a:t>However: </a:t>
            </a:r>
            <a:r>
              <a:rPr lang="en-GB" sz="1700"/>
              <a:t>She said she would come; however, she never showed up.</a:t>
            </a:r>
          </a:p>
          <a:p>
            <a:pPr lvl="1"/>
            <a:r>
              <a:rPr lang="en-GB" sz="1700" b="1"/>
              <a:t>Nevertheless: </a:t>
            </a:r>
            <a:r>
              <a:rPr lang="en-GB" sz="1700"/>
              <a:t>The weather was cold; nevertheless, we decided to go for a picnic.</a:t>
            </a:r>
          </a:p>
          <a:p>
            <a:pPr lvl="1"/>
            <a:r>
              <a:rPr lang="en-GB" sz="1700" b="1"/>
              <a:t>On the other hand: </a:t>
            </a:r>
            <a:r>
              <a:rPr lang="en-GB" sz="1700"/>
              <a:t>I enjoy reading; on the other hand, my sister prefers watching movies.</a:t>
            </a:r>
          </a:p>
          <a:p>
            <a:pPr lvl="1"/>
            <a:r>
              <a:rPr lang="en-GB" sz="1700" b="1"/>
              <a:t>In contrast: </a:t>
            </a:r>
            <a:r>
              <a:rPr lang="en-GB" sz="1700"/>
              <a:t>He likes summer sports. In contrast, his brother prefers winter activities.</a:t>
            </a: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135764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2198D-6A9E-106F-9047-FE54AA69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However</a:t>
            </a:r>
            <a:endParaRPr lang="es-ES" sz="5400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5FBDFBC7-5C4F-18EF-5581-3B961B4D6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573" r="2" b="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9869D-3F9E-B12A-F18C-8A72A401D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/>
              <a:t>"However" can function as both a conjunctive and a disjunctive, depending on its placement in a sentence.</a:t>
            </a:r>
          </a:p>
          <a:p>
            <a:endParaRPr lang="en-GB" sz="1200"/>
          </a:p>
          <a:p>
            <a:r>
              <a:rPr lang="en-GB" sz="1200"/>
              <a:t>As a Conjunctive:</a:t>
            </a:r>
          </a:p>
          <a:p>
            <a:pPr lvl="1"/>
            <a:r>
              <a:rPr lang="en-GB" sz="1200"/>
              <a:t>When "however" is used to connect two independent clauses within a sentence, it acts as a conjunctive, indicating a contrast or unexpected result.</a:t>
            </a:r>
          </a:p>
          <a:p>
            <a:pPr lvl="1"/>
            <a:r>
              <a:rPr lang="en-GB" sz="1200"/>
              <a:t>Example: She studied hard; </a:t>
            </a:r>
            <a:r>
              <a:rPr lang="en-GB" sz="1200" b="1"/>
              <a:t>however, </a:t>
            </a:r>
            <a:r>
              <a:rPr lang="en-GB" sz="1200"/>
              <a:t>she didn't perform well in the exam.</a:t>
            </a:r>
          </a:p>
          <a:p>
            <a:pPr lvl="1"/>
            <a:endParaRPr lang="en-GB" sz="1200"/>
          </a:p>
          <a:p>
            <a:r>
              <a:rPr lang="en-GB" sz="1200"/>
              <a:t>As a Disjunctive:</a:t>
            </a:r>
          </a:p>
          <a:p>
            <a:pPr lvl="1"/>
            <a:r>
              <a:rPr lang="en-GB" sz="1200"/>
              <a:t>When "however" is used to introduce a comment or clarification, often at the beginning or middle of a sentence, it functions as a disjunctive.</a:t>
            </a:r>
          </a:p>
          <a:p>
            <a:pPr lvl="1"/>
            <a:r>
              <a:rPr lang="en-GB" sz="1200"/>
              <a:t>Example: She said she would come. </a:t>
            </a:r>
            <a:r>
              <a:rPr lang="en-GB" sz="1200" b="1"/>
              <a:t>However, </a:t>
            </a:r>
            <a:r>
              <a:rPr lang="en-GB" sz="1200"/>
              <a:t>she never showed up.</a:t>
            </a:r>
          </a:p>
          <a:p>
            <a:pPr marL="0" indent="0">
              <a:buNone/>
            </a:pPr>
            <a:r>
              <a:rPr lang="en-GB" sz="1200" i="1"/>
              <a:t>In both cases, "however" serves the purpose of expressing contrast or a shift in thought. The key distinction lies in its position within the sentence – whether it </a:t>
            </a:r>
            <a:r>
              <a:rPr lang="en-GB" sz="1200" b="1" i="1" u="sng"/>
              <a:t>connects two clauses as a conjunctive </a:t>
            </a:r>
            <a:r>
              <a:rPr lang="en-GB" sz="1200" i="1"/>
              <a:t>or </a:t>
            </a:r>
            <a:r>
              <a:rPr lang="en-GB" sz="1200" b="1" i="1" u="sng"/>
              <a:t>introduces a comment as a disjunctive.</a:t>
            </a:r>
            <a:endParaRPr lang="es-ES" sz="1200" b="1" i="1" u="sng"/>
          </a:p>
        </p:txBody>
      </p:sp>
    </p:spTree>
    <p:extLst>
      <p:ext uri="{BB962C8B-B14F-4D97-AF65-F5344CB8AC3E}">
        <p14:creationId xmlns:p14="http://schemas.microsoft.com/office/powerpoint/2010/main" val="345496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EC2C-79CB-67AE-1F83-EC8CDDA4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Practise – Fill in the blanks (many possible answers)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2D8B-C845-067B-71EB-512232446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She wanted to join the conversation, ______, her shyness held her back.</a:t>
            </a:r>
          </a:p>
          <a:p>
            <a:endParaRPr lang="en-GB" dirty="0"/>
          </a:p>
          <a:p>
            <a:r>
              <a:rPr lang="en-GB" dirty="0"/>
              <a:t>We planned to go on a road trip; _______, unexpected car trouble forced us to cancel.</a:t>
            </a:r>
          </a:p>
          <a:p>
            <a:endParaRPr lang="en-GB" dirty="0"/>
          </a:p>
          <a:p>
            <a:r>
              <a:rPr lang="en-GB" dirty="0"/>
              <a:t>My friend suggested going to the new restaurant; _______, I preferred sticking to our usual spot.</a:t>
            </a:r>
          </a:p>
          <a:p>
            <a:endParaRPr lang="en-GB" dirty="0"/>
          </a:p>
          <a:p>
            <a:r>
              <a:rPr lang="en-GB" dirty="0"/>
              <a:t>We've been friends for years; _______, we have different opinions on many things.</a:t>
            </a:r>
          </a:p>
          <a:p>
            <a:endParaRPr lang="en-GB" dirty="0"/>
          </a:p>
          <a:p>
            <a:r>
              <a:rPr lang="en-GB" dirty="0"/>
              <a:t>I was excited to attend the event; _______, I realized it coincided with a family celebration.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639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EC2C-79CB-67AE-1F83-EC8CDDA4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Practise – Fill in the blanks (many possible answers)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2D8B-C845-067B-71EB-512232446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She apologized for the misunderstanding; ______, she explained her perspective on the situation.</a:t>
            </a:r>
          </a:p>
          <a:p>
            <a:endParaRPr lang="en-GB" dirty="0"/>
          </a:p>
          <a:p>
            <a:r>
              <a:rPr lang="en-GB" dirty="0"/>
              <a:t>We worked together on the project; _______, our teamwork resulted in a successful outcome.</a:t>
            </a:r>
          </a:p>
          <a:p>
            <a:endParaRPr lang="en-GB" dirty="0"/>
          </a:p>
          <a:p>
            <a:r>
              <a:rPr lang="en-GB" dirty="0"/>
              <a:t>I love spending time with my friends; _______, I appreciate having some alone time as well.</a:t>
            </a:r>
          </a:p>
          <a:p>
            <a:endParaRPr lang="en-GB" dirty="0"/>
          </a:p>
          <a:p>
            <a:r>
              <a:rPr lang="en-GB" dirty="0"/>
              <a:t>He wanted to attend the party; _______, he had prior commitments that evening.</a:t>
            </a:r>
          </a:p>
          <a:p>
            <a:endParaRPr lang="en-GB" dirty="0"/>
          </a:p>
          <a:p>
            <a:r>
              <a:rPr lang="en-GB" dirty="0"/>
              <a:t>They disagreed on the movie choice; _______, they compromised and watched something everyone could enjoy.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465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cks stacked on driftwood with the sea on background">
            <a:extLst>
              <a:ext uri="{FF2B5EF4-FFF2-40B4-BE49-F238E27FC236}">
                <a16:creationId xmlns:a16="http://schemas.microsoft.com/office/drawing/2014/main" id="{432658D0-A29B-837A-103B-1E97E581E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" b="14756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306DC-EF59-5F1A-472F-ECF25E32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53673"/>
            <a:ext cx="4023360" cy="5004794"/>
          </a:xfrm>
        </p:spPr>
        <p:txBody>
          <a:bodyPr>
            <a:normAutofit/>
          </a:bodyPr>
          <a:lstStyle/>
          <a:p>
            <a:r>
              <a:rPr lang="en-GB" sz="5400">
                <a:solidFill>
                  <a:schemeClr val="bg1"/>
                </a:solidFill>
              </a:rPr>
              <a:t>Choose a discussion topic</a:t>
            </a:r>
            <a:endParaRPr lang="es-ES" sz="54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25878-8576-D277-6CE4-82076EB90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083" y="853673"/>
            <a:ext cx="5715000" cy="5004794"/>
          </a:xfrm>
        </p:spPr>
        <p:txBody>
          <a:bodyPr anchor="ctr">
            <a:normAutofit/>
          </a:bodyPr>
          <a:lstStyle/>
          <a:p>
            <a:r>
              <a:rPr lang="en-GB" sz="2200">
                <a:solidFill>
                  <a:schemeClr val="bg1"/>
                </a:solidFill>
              </a:rPr>
              <a:t>Balancing Work and Social Life</a:t>
            </a:r>
          </a:p>
          <a:p>
            <a:endParaRPr lang="en-GB" sz="2200">
              <a:solidFill>
                <a:schemeClr val="bg1"/>
              </a:solidFill>
            </a:endParaRPr>
          </a:p>
          <a:p>
            <a:endParaRPr lang="en-GB" sz="2200">
              <a:solidFill>
                <a:schemeClr val="bg1"/>
              </a:solidFill>
            </a:endParaRPr>
          </a:p>
          <a:p>
            <a:r>
              <a:rPr lang="en-GB" sz="2200">
                <a:solidFill>
                  <a:schemeClr val="bg1"/>
                </a:solidFill>
              </a:rPr>
              <a:t>Choosing Between Different Social Activities</a:t>
            </a:r>
          </a:p>
          <a:p>
            <a:endParaRPr lang="en-GB" sz="2200">
              <a:solidFill>
                <a:schemeClr val="bg1"/>
              </a:solidFill>
            </a:endParaRPr>
          </a:p>
          <a:p>
            <a:endParaRPr lang="en-GB" sz="2200">
              <a:solidFill>
                <a:schemeClr val="bg1"/>
              </a:solidFill>
            </a:endParaRPr>
          </a:p>
          <a:p>
            <a:r>
              <a:rPr lang="en-GB" sz="2200">
                <a:solidFill>
                  <a:schemeClr val="bg1"/>
                </a:solidFill>
              </a:rPr>
              <a:t>Handling Disagreements with Friends.</a:t>
            </a:r>
            <a:endParaRPr lang="es-ES" sz="2200">
              <a:solidFill>
                <a:schemeClr val="bg1"/>
              </a:solidFill>
            </a:endParaRPr>
          </a:p>
        </p:txBody>
      </p:sp>
      <p:sp>
        <p:nvSpPr>
          <p:cNvPr id="12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onnsiteX0" fmla="*/ 0 w 6229604"/>
              <a:gd name="connsiteY0" fmla="*/ 0 h 5722227"/>
              <a:gd name="connsiteX1" fmla="*/ 629882 w 6229604"/>
              <a:gd name="connsiteY1" fmla="*/ 0 h 5722227"/>
              <a:gd name="connsiteX2" fmla="*/ 1135172 w 6229604"/>
              <a:gd name="connsiteY2" fmla="*/ 0 h 5722227"/>
              <a:gd name="connsiteX3" fmla="*/ 1951943 w 6229604"/>
              <a:gd name="connsiteY3" fmla="*/ 0 h 5722227"/>
              <a:gd name="connsiteX4" fmla="*/ 2581825 w 6229604"/>
              <a:gd name="connsiteY4" fmla="*/ 0 h 5722227"/>
              <a:gd name="connsiteX5" fmla="*/ 3211707 w 6229604"/>
              <a:gd name="connsiteY5" fmla="*/ 0 h 5722227"/>
              <a:gd name="connsiteX6" fmla="*/ 4028477 w 6229604"/>
              <a:gd name="connsiteY6" fmla="*/ 0 h 5722227"/>
              <a:gd name="connsiteX7" fmla="*/ 4596063 w 6229604"/>
              <a:gd name="connsiteY7" fmla="*/ 0 h 5722227"/>
              <a:gd name="connsiteX8" fmla="*/ 5412834 w 6229604"/>
              <a:gd name="connsiteY8" fmla="*/ 0 h 5722227"/>
              <a:gd name="connsiteX9" fmla="*/ 6229604 w 6229604"/>
              <a:gd name="connsiteY9" fmla="*/ 0 h 5722227"/>
              <a:gd name="connsiteX10" fmla="*/ 6229604 w 6229604"/>
              <a:gd name="connsiteY10" fmla="*/ 635803 h 5722227"/>
              <a:gd name="connsiteX11" fmla="*/ 6229604 w 6229604"/>
              <a:gd name="connsiteY11" fmla="*/ 1271606 h 5722227"/>
              <a:gd name="connsiteX12" fmla="*/ 6229604 w 6229604"/>
              <a:gd name="connsiteY12" fmla="*/ 1964631 h 5722227"/>
              <a:gd name="connsiteX13" fmla="*/ 6229604 w 6229604"/>
              <a:gd name="connsiteY13" fmla="*/ 2428767 h 5722227"/>
              <a:gd name="connsiteX14" fmla="*/ 6229604 w 6229604"/>
              <a:gd name="connsiteY14" fmla="*/ 3064570 h 5722227"/>
              <a:gd name="connsiteX15" fmla="*/ 6229604 w 6229604"/>
              <a:gd name="connsiteY15" fmla="*/ 3700373 h 5722227"/>
              <a:gd name="connsiteX16" fmla="*/ 6229604 w 6229604"/>
              <a:gd name="connsiteY16" fmla="*/ 4336176 h 5722227"/>
              <a:gd name="connsiteX17" fmla="*/ 6229604 w 6229604"/>
              <a:gd name="connsiteY17" fmla="*/ 5029202 h 5722227"/>
              <a:gd name="connsiteX18" fmla="*/ 6229604 w 6229604"/>
              <a:gd name="connsiteY18" fmla="*/ 5722227 h 5722227"/>
              <a:gd name="connsiteX19" fmla="*/ 5475130 w 6229604"/>
              <a:gd name="connsiteY19" fmla="*/ 5722227 h 5722227"/>
              <a:gd name="connsiteX20" fmla="*/ 4907544 w 6229604"/>
              <a:gd name="connsiteY20" fmla="*/ 5722227 h 5722227"/>
              <a:gd name="connsiteX21" fmla="*/ 4090773 w 6229604"/>
              <a:gd name="connsiteY21" fmla="*/ 5722227 h 5722227"/>
              <a:gd name="connsiteX22" fmla="*/ 3398595 w 6229604"/>
              <a:gd name="connsiteY22" fmla="*/ 5722227 h 5722227"/>
              <a:gd name="connsiteX23" fmla="*/ 2831009 w 6229604"/>
              <a:gd name="connsiteY23" fmla="*/ 5722227 h 5722227"/>
              <a:gd name="connsiteX24" fmla="*/ 2138831 w 6229604"/>
              <a:gd name="connsiteY24" fmla="*/ 5722227 h 5722227"/>
              <a:gd name="connsiteX25" fmla="*/ 1633541 w 6229604"/>
              <a:gd name="connsiteY25" fmla="*/ 5722227 h 5722227"/>
              <a:gd name="connsiteX26" fmla="*/ 1128251 w 6229604"/>
              <a:gd name="connsiteY26" fmla="*/ 5722227 h 5722227"/>
              <a:gd name="connsiteX27" fmla="*/ 0 w 6229604"/>
              <a:gd name="connsiteY27" fmla="*/ 5722227 h 5722227"/>
              <a:gd name="connsiteX28" fmla="*/ 0 w 6229604"/>
              <a:gd name="connsiteY28" fmla="*/ 5200869 h 5722227"/>
              <a:gd name="connsiteX29" fmla="*/ 0 w 6229604"/>
              <a:gd name="connsiteY29" fmla="*/ 4450621 h 5722227"/>
              <a:gd name="connsiteX30" fmla="*/ 0 w 6229604"/>
              <a:gd name="connsiteY30" fmla="*/ 3872040 h 5722227"/>
              <a:gd name="connsiteX31" fmla="*/ 0 w 6229604"/>
              <a:gd name="connsiteY31" fmla="*/ 3407904 h 5722227"/>
              <a:gd name="connsiteX32" fmla="*/ 0 w 6229604"/>
              <a:gd name="connsiteY32" fmla="*/ 2714879 h 5722227"/>
              <a:gd name="connsiteX33" fmla="*/ 0 w 6229604"/>
              <a:gd name="connsiteY33" fmla="*/ 2193520 h 5722227"/>
              <a:gd name="connsiteX34" fmla="*/ 0 w 6229604"/>
              <a:gd name="connsiteY34" fmla="*/ 1500495 h 5722227"/>
              <a:gd name="connsiteX35" fmla="*/ 0 w 6229604"/>
              <a:gd name="connsiteY35" fmla="*/ 750248 h 5722227"/>
              <a:gd name="connsiteX36" fmla="*/ 0 w 6229604"/>
              <a:gd name="connsiteY36" fmla="*/ 0 h 572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72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5ACEC-7211-DFF9-E24C-E8F624A79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Examples</a:t>
            </a:r>
            <a:endParaRPr lang="es-ES" sz="5400"/>
          </a:p>
        </p:txBody>
      </p:sp>
      <p:pic>
        <p:nvPicPr>
          <p:cNvPr id="5" name="Picture 4" descr="3D rendering of a sphere balancing on a pyramid">
            <a:extLst>
              <a:ext uri="{FF2B5EF4-FFF2-40B4-BE49-F238E27FC236}">
                <a16:creationId xmlns:a16="http://schemas.microsoft.com/office/drawing/2014/main" id="{57EB857A-9C69-37DD-2438-7772D3BE0D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77" r="25024" b="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4951-49E4-1138-E9D3-68145D74B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2200"/>
              <a:t>I love going out with friends, but sometimes I need a quiet evening at home.</a:t>
            </a:r>
          </a:p>
          <a:p>
            <a:endParaRPr lang="en-GB" sz="2200"/>
          </a:p>
          <a:p>
            <a:r>
              <a:rPr lang="en-GB" sz="2200"/>
              <a:t>We planned to have a picnic; however, the weather forecast isn't looking great.</a:t>
            </a:r>
          </a:p>
          <a:p>
            <a:endParaRPr lang="en-GB" sz="2200"/>
          </a:p>
          <a:p>
            <a:r>
              <a:rPr lang="en-GB" sz="2200"/>
              <a:t>I enjoy social events; on the other hand, I also value alone time for self-reflection.</a:t>
            </a: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3927561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AF90-65CA-09EB-05C1-FD5AE3BB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3354E-0505-FEFC-271D-488EFC65A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8376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837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Human and social relations 2</vt:lpstr>
      <vt:lpstr>Warm up 2</vt:lpstr>
      <vt:lpstr>Grammar focus – Conjunctives and disjunctives</vt:lpstr>
      <vt:lpstr>Conjunctives:</vt:lpstr>
      <vt:lpstr>Disjunctives:</vt:lpstr>
      <vt:lpstr>However</vt:lpstr>
      <vt:lpstr>Practise – Fill in the blanks (many possible answers)</vt:lpstr>
      <vt:lpstr>Practise – Fill in the blanks (many possible answers)</vt:lpstr>
      <vt:lpstr>Choose a discussion topic</vt:lpstr>
      <vt:lpstr>Examples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and social relations</dc:title>
  <dc:creator>Theo Clarke</dc:creator>
  <cp:lastModifiedBy>Theo Clarke</cp:lastModifiedBy>
  <cp:revision>4</cp:revision>
  <dcterms:created xsi:type="dcterms:W3CDTF">2024-01-23T10:18:38Z</dcterms:created>
  <dcterms:modified xsi:type="dcterms:W3CDTF">2024-05-08T11:52:17Z</dcterms:modified>
</cp:coreProperties>
</file>