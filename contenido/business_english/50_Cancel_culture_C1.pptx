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1"/>
    <p:sldMasterId id="2147483676" r:id="rId2"/>
  </p:sldMasterIdLst>
  <p:notesMasterIdLst>
    <p:notesMasterId r:id="rId40"/>
  </p:notesMasterIdLst>
  <p:sldIdLst>
    <p:sldId id="292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3" r:id="rId38"/>
    <p:sldId id="290" r:id="rId39"/>
  </p:sldIdLst>
  <p:sldSz cx="9144000" cy="5143500" type="screen16x9"/>
  <p:notesSz cx="6858000" cy="9144000"/>
  <p:embeddedFontLst>
    <p:embeddedFont>
      <p:font typeface="Calligraffitti" panose="020B0604020202020204" charset="0"/>
      <p:regular r:id="rId41"/>
    </p:embeddedFont>
    <p:embeddedFont>
      <p:font typeface="Century Gothic" panose="020B0502020202020204" pitchFamily="34" charset="0"/>
      <p:regular r:id="rId42"/>
      <p:bold r:id="rId43"/>
      <p:italic r:id="rId44"/>
      <p:boldItalic r:id="rId45"/>
    </p:embeddedFont>
    <p:embeddedFont>
      <p:font typeface="Raleway" pitchFamily="2" charset="0"/>
      <p:regular r:id="rId46"/>
      <p:bold r:id="rId47"/>
      <p:italic r:id="rId48"/>
      <p:boldItalic r:id="rId49"/>
    </p:embeddedFont>
    <p:embeddedFont>
      <p:font typeface="Raleway Light" pitchFamily="2" charset="0"/>
      <p:regular r:id="rId50"/>
      <p:bold r:id="rId51"/>
      <p:italic r:id="rId52"/>
      <p:boldItalic r:id="rId53"/>
    </p:embeddedFont>
    <p:embeddedFont>
      <p:font typeface="Shadows Into Light" panose="020B0604020202020204" charset="0"/>
      <p:regular r:id="rId54"/>
    </p:embeddedFont>
  </p:embeddedFont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inimized">
    <p:restoredLeft sz="0" autoAdjust="0"/>
    <p:restoredTop sz="0" autoAdjust="0"/>
  </p:normalViewPr>
  <p:slideViewPr>
    <p:cSldViewPr snapToGrid="0">
      <p:cViewPr varScale="1">
        <p:scale>
          <a:sx n="31" d="100"/>
          <a:sy n="31" d="100"/>
        </p:scale>
        <p:origin x="4626" y="4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font" Target="fonts/font2.fntdata"/><Relationship Id="rId47" Type="http://schemas.openxmlformats.org/officeDocument/2006/relationships/font" Target="fonts/font7.fntdata"/><Relationship Id="rId50" Type="http://schemas.openxmlformats.org/officeDocument/2006/relationships/font" Target="fonts/font10.fntdata"/><Relationship Id="rId55" Type="http://schemas.openxmlformats.org/officeDocument/2006/relationships/presProps" Target="pres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notesMaster" Target="notesMasters/notesMaster1.xml"/><Relationship Id="rId45" Type="http://schemas.openxmlformats.org/officeDocument/2006/relationships/font" Target="fonts/font5.fntdata"/><Relationship Id="rId53" Type="http://schemas.openxmlformats.org/officeDocument/2006/relationships/font" Target="fonts/font13.fntdata"/><Relationship Id="rId58" Type="http://schemas.openxmlformats.org/officeDocument/2006/relationships/tableStyles" Target="tableStyles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font" Target="fonts/font3.fntdata"/><Relationship Id="rId48" Type="http://schemas.openxmlformats.org/officeDocument/2006/relationships/font" Target="fonts/font8.fntdata"/><Relationship Id="rId56" Type="http://schemas.openxmlformats.org/officeDocument/2006/relationships/viewProps" Target="viewProps.xml"/><Relationship Id="rId8" Type="http://schemas.openxmlformats.org/officeDocument/2006/relationships/slide" Target="slides/slide6.xml"/><Relationship Id="rId51" Type="http://schemas.openxmlformats.org/officeDocument/2006/relationships/font" Target="fonts/font11.fntdata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font" Target="fonts/font6.fntdata"/><Relationship Id="rId20" Type="http://schemas.openxmlformats.org/officeDocument/2006/relationships/slide" Target="slides/slide18.xml"/><Relationship Id="rId41" Type="http://schemas.openxmlformats.org/officeDocument/2006/relationships/font" Target="fonts/font1.fntdata"/><Relationship Id="rId54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font" Target="fonts/font9.fntdata"/><Relationship Id="rId57" Type="http://schemas.openxmlformats.org/officeDocument/2006/relationships/theme" Target="theme/theme1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font" Target="fonts/font4.fntdata"/><Relationship Id="rId52" Type="http://schemas.openxmlformats.org/officeDocument/2006/relationships/font" Target="fonts/font1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2607d2cddb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2607d2cddb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12607d2cddb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12607d2cddb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12607d2cddb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12607d2cddb_0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12607d2cddb_0_6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12607d2cddb_0_6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12607d2cddb_0_1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12607d2cddb_0_1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12607d2cddb_0_2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12607d2cddb_0_2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12607d2cddb_0_2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12607d2cddb_0_2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12607d2cddb_0_2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12607d2cddb_0_2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12607d2cddb_0_3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12607d2cddb_0_3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12607d2cddb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12607d2cddb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12607d2cddb_0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12607d2cddb_0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12607d2cddb_0_3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12607d2cddb_0_3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12607d2cddb_0_3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12607d2cddb_0_3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12607d2cddb_0_4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12607d2cddb_0_4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12607d2cddb_0_3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12607d2cddb_0_3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12607d2cddb_0_4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12607d2cddb_0_4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12607d2cddb_0_3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12607d2cddb_0_3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12607d2cddb_0_4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12607d2cddb_0_4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12607d2cddb_0_4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12607d2cddb_0_4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12607d2cddb_0_4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12607d2cddb_0_4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12607d2cddb_0_4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12607d2cddb_0_4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2607d2cddb_0_4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12607d2cddb_0_4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12607d2cddb_0_6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12607d2cddb_0_6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2607d2cddb_0_4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2607d2cddb_0_4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12607d2cddb_0_4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12607d2cddb_0_4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12607d2cddb_0_5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12607d2cddb_0_5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12607d2cddb_0_5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12607d2cddb_0_5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12607d2cddb_0_7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12607d2cddb_0_7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12607d2cddb_0_5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12607d2cddb_0_5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12607d2cddb_0_5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12607d2cddb_0_5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12607d2cddb_0_5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12607d2cddb_0_5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12607d2cddb_0_5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12607d2cddb_0_5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12607d2cddb_0_5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12607d2cddb_0_5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12607d2cddb_0_5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12607d2cddb_0_5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12607d2cddb_0_5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12607d2cddb_0_5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A5EB6-38A7-8AA0-2CC3-3B9397569B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3B03E3-FCAD-0D5F-D2F3-B3C2CC8B6A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168A1C-5B7E-83DB-AC25-76816F298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609B8-4855-4ADF-A010-12D9ADF14125}" type="datetimeFigureOut">
              <a:rPr lang="es-ES" smtClean="0"/>
              <a:t>16/01/2024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F02C5F-4A63-7D6E-4215-910D2A347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9B4EEE-F807-4377-2CBC-BA1439A3C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21188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12978-D9FD-9601-D3F1-592A78823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E29731-15F8-4CA1-0E2D-DCB3CF5975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D32DF4-7911-FDFD-0F7D-329D96A7B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609B8-4855-4ADF-A010-12D9ADF14125}" type="datetimeFigureOut">
              <a:rPr lang="es-ES" smtClean="0"/>
              <a:t>16/01/2024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01DB26-815B-21F7-3B0F-7B3111490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366CF1-BED4-623B-D5F8-71BA51CD3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76193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39C09-C8F3-8934-AC60-509DA317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0F165F-AAB3-7943-5D82-0E063994B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B202FE-E656-5AEF-2FAE-FCC360FF8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609B8-4855-4ADF-A010-12D9ADF14125}" type="datetimeFigureOut">
              <a:rPr lang="es-ES" smtClean="0"/>
              <a:t>16/01/2024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CFB101-304F-5980-CEBE-15C406146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025CC1-3CCF-1338-24A3-8AAEC922C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71739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5D09B-2F5F-EC61-440F-CD515CD46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4C8064-3C3D-2664-3F7B-F6B939438E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857C6C-0DA0-CFCA-4791-7F9527E60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8167DB-7835-67E6-B148-24A448074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609B8-4855-4ADF-A010-12D9ADF14125}" type="datetimeFigureOut">
              <a:rPr lang="es-ES" smtClean="0"/>
              <a:t>16/01/2024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675028-0F0D-A2FC-30C4-AFE13D3C8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ADE48E-4C59-7C21-1FB6-75AA311B2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48925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803B3-2CC9-F0BA-99AE-D87EE69E3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80EB65-9C0E-6914-AF1C-52F5EFC12B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F9E75F-F302-E636-E70D-D9D0821FF5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5C610B-24BD-083A-E222-940F6ED3BE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C48FC4-AD59-797C-D411-027472A9E1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AA15E5-0470-FDA0-BBEB-9309CBB12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4D3510-3F72-6C43-5396-DDB0505BD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719AF9-AE9F-7F09-47EE-041051FAF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0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111AB-F72A-F286-A9AC-7FDA8B3EB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E30556-6A51-37EE-484C-C51E1E566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609B8-4855-4ADF-A010-12D9ADF14125}" type="datetimeFigureOut">
              <a:rPr lang="es-ES" smtClean="0"/>
              <a:t>16/01/2024</a:t>
            </a:fld>
            <a:endParaRPr lang="es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5FDE30-70E8-1FF3-1B70-3580AB0F0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9AEFC1-3E62-52C7-A9B0-35F8C5357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4480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6F038B-045A-A28E-C35E-DD0B85AAB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609B8-4855-4ADF-A010-12D9ADF14125}" type="datetimeFigureOut">
              <a:rPr lang="es-ES" smtClean="0"/>
              <a:t>16/01/2024</a:t>
            </a:fld>
            <a:endParaRPr lang="es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FA53D0-9486-740C-F62B-8A231EA67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FFBE04-E400-662F-2F6F-436BF013C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8175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B8D13-06C7-658A-B468-FEDBE1BA5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C50403-6E6F-3453-33E7-1F66FB9682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1C15A9-46DC-1D6B-1EF2-425B18936E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111495-AC8A-2611-42C5-1351A7E19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609B8-4855-4ADF-A010-12D9ADF14125}" type="datetimeFigureOut">
              <a:rPr lang="es-ES" smtClean="0"/>
              <a:t>16/01/2024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1B92B5-586B-3390-18F6-A97087AF4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4DFB5E-EEB0-2355-C4C6-C79D091C2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Slide   </a:t>
            </a:r>
          </a:p>
        </p:txBody>
      </p:sp>
    </p:spTree>
    <p:extLst>
      <p:ext uri="{BB962C8B-B14F-4D97-AF65-F5344CB8AC3E}">
        <p14:creationId xmlns:p14="http://schemas.microsoft.com/office/powerpoint/2010/main" val="17642742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0D74C-21F1-2997-C6DE-8E139E915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DF5321-BA1F-EC14-A1F0-F1FE2377BA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4F6BF6-EEFD-1458-F876-46D7D3F137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5E4937-93D8-0680-2FCC-2A0A08A34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609B8-4855-4ADF-A010-12D9ADF14125}" type="datetimeFigureOut">
              <a:rPr lang="es-ES" smtClean="0"/>
              <a:t>16/01/2024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C42A88-B5DE-3402-D5D0-71DFE4CE2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D50980-ADB6-4FF4-DE1F-D20072F86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Slide 1</a:t>
            </a:r>
            <a:endParaRPr lang="en-GB" sz="11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259054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C66A4-61A8-79F1-613F-FCCF5EE61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553077-57BB-4BD6-168E-2751036C30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C5EFEA-E8A8-FEC0-B3D9-D0FD1CAA8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0202C1-4CE1-A01A-767A-361450D39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137EF1-EC83-0315-7928-E1400701C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87799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5C805B-2C1C-A7CA-D368-50E6C44AA2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171CEA-1AD2-D4C1-BA5B-33F444D196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3CA2C1-FDCF-8B3A-2A7A-58D536C7C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8B1519-DEC3-22C1-92FE-8ECA11EC3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7A97D4-7761-4613-2040-572858663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17548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Subtitle">
    <p:bg>
      <p:bgPr>
        <a:solidFill>
          <a:srgbClr val="FF5C5C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3"/>
          <p:cNvSpPr txBox="1">
            <a:spLocks noGrp="1"/>
          </p:cNvSpPr>
          <p:nvPr>
            <p:ph type="ctrTitle"/>
          </p:nvPr>
        </p:nvSpPr>
        <p:spPr>
          <a:xfrm>
            <a:off x="685800" y="2726342"/>
            <a:ext cx="7772400" cy="11598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Font typeface="Century Gothic"/>
              <a:buNone/>
              <a:defRPr sz="4800" b="1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71" name="Google Shape;71;p13"/>
          <p:cNvSpPr txBox="1">
            <a:spLocks noGrp="1"/>
          </p:cNvSpPr>
          <p:nvPr>
            <p:ph type="subTitle" idx="1"/>
          </p:nvPr>
        </p:nvSpPr>
        <p:spPr>
          <a:xfrm>
            <a:off x="685800" y="3830653"/>
            <a:ext cx="7772400" cy="7848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entury Gothic"/>
              <a:buNone/>
              <a:defRPr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519321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>
  <p:cSld name="Title">
    <p:bg>
      <p:bgPr>
        <a:solidFill>
          <a:srgbClr val="FF5C5C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 txBox="1">
            <a:spLocks noGrp="1"/>
          </p:cNvSpPr>
          <p:nvPr>
            <p:ph type="ctrTitle"/>
          </p:nvPr>
        </p:nvSpPr>
        <p:spPr>
          <a:xfrm>
            <a:off x="685800" y="3287213"/>
            <a:ext cx="7772400" cy="11598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Century Gothic"/>
              <a:buNone/>
              <a:defRPr sz="56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928496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97672-C49F-2146-E272-8639613202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F2F0C0-0BB1-D643-4A48-1CA979C1B0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C0EA95-F30D-15AF-903C-656A97D2E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176AB-B33A-4CB5-B54D-6C2B98E1C289}" type="datetimeFigureOut">
              <a:rPr lang="es-ES" smtClean="0"/>
              <a:t>16/01/2024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EFA2D6-F255-6876-4F9A-ACF283952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7C03BB-BAD8-EC3A-7015-A2D5287F7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9050A-96E4-41EF-ADE9-9DFFA7612FB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967335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527B4-7922-DBA0-A09C-3E3ABA22B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A70DB3-C4A7-EABC-C748-CA4BB682CB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9A19E0-70B7-18B0-E4C0-D3BD13C97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176AB-B33A-4CB5-B54D-6C2B98E1C289}" type="datetimeFigureOut">
              <a:rPr lang="es-ES" smtClean="0"/>
              <a:t>16/01/2024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8C9D4C-B784-9845-BC33-7A38DD8EB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D24327-FF1A-0228-A652-F173B6F0A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9050A-96E4-41EF-ADE9-9DFFA7612FB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549122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6EEE8-E589-14C4-87CF-B76D2FB65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73A84A-2F03-4850-0453-FECA61D03D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3F4930-E128-D22B-DFF4-56B7A3753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176AB-B33A-4CB5-B54D-6C2B98E1C289}" type="datetimeFigureOut">
              <a:rPr lang="es-ES" smtClean="0"/>
              <a:t>16/01/2024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00B86A-1A66-E656-1EDD-C99CE1BA3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801CF0-9F71-0CE8-79F8-519CD530B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9050A-96E4-41EF-ADE9-9DFFA7612FB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658734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7A17F-CC55-BB60-E9C5-B76FC953A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01BF8B-2075-BA6F-1C43-194A4676FE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0BD44B-5991-1F2D-F37F-FCCD4AFB5F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49D7C1-5BB7-49FA-F392-A1CB04765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176AB-B33A-4CB5-B54D-6C2B98E1C289}" type="datetimeFigureOut">
              <a:rPr lang="es-ES" smtClean="0"/>
              <a:t>16/01/2024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82AD49-24B1-D187-C9C8-B0D2A6BE2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406BFB-0A7D-C1F6-AF40-8D1A19FA4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9050A-96E4-41EF-ADE9-9DFFA7612FB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7262863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FAE18-A9D3-2312-C91F-9594BA49C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043F2B-56E6-67FE-C55A-597AD5D571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B1F33F-0098-2388-B642-86882B20DC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A0FEAD-A86A-160C-CBB0-CAB8C1C992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E478F2-2C4E-21BE-33AC-149E284888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239A9B-F4F2-0AC8-0E79-0CE6F5DB9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176AB-B33A-4CB5-B54D-6C2B98E1C289}" type="datetimeFigureOut">
              <a:rPr lang="es-ES" smtClean="0"/>
              <a:t>16/01/2024</a:t>
            </a:fld>
            <a:endParaRPr lang="es-E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A8D355-9F89-F72A-ABB6-835FC0B37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0FC6B5-3180-56E0-C1EC-70FCBF94C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9050A-96E4-41EF-ADE9-9DFFA7612FB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5430342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B4779-3795-E551-519D-68BD45657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F6F5A6-2277-784C-40D9-3F8986914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176AB-B33A-4CB5-B54D-6C2B98E1C289}" type="datetimeFigureOut">
              <a:rPr lang="es-ES" smtClean="0"/>
              <a:t>16/01/2024</a:t>
            </a:fld>
            <a:endParaRPr lang="es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AA910A-CD3C-E645-4F7E-EBAFC34DF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3704A5-5558-FF85-1293-7697F0C66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9050A-96E4-41EF-ADE9-9DFFA7612FB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2346967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B4F709-0500-359C-9988-979E80BAD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176AB-B33A-4CB5-B54D-6C2B98E1C289}" type="datetimeFigureOut">
              <a:rPr lang="es-ES" smtClean="0"/>
              <a:t>16/01/2024</a:t>
            </a:fld>
            <a:endParaRPr lang="es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AB015F-080C-2CCB-0580-73BF569AA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9D1A81-3E01-F190-3AB9-F528E1C7B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9050A-96E4-41EF-ADE9-9DFFA7612FB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4274144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19858-1C53-4F4E-9E1F-E332E197E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F3580B-0035-F5FF-9780-F7C867F1A6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E97CDD-5B74-6D26-18AC-B1E9D9D432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E86219-0035-ADDE-CBA1-5E0C276B8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176AB-B33A-4CB5-B54D-6C2B98E1C289}" type="datetimeFigureOut">
              <a:rPr lang="es-ES" smtClean="0"/>
              <a:t>16/01/2024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358F6E-0BBB-3FF9-4F80-63539BFED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C24522-2921-7F11-07C1-291F06A29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9050A-96E4-41EF-ADE9-9DFFA7612FB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950002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0A8B6-90B0-1117-02C3-710029E89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28D60A-05DB-7709-E374-45DA23539F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856FAD-6E69-F36B-26D6-168527ECE8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422058-D322-8105-8C07-2E70AAD76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176AB-B33A-4CB5-B54D-6C2B98E1C289}" type="datetimeFigureOut">
              <a:rPr lang="es-ES" smtClean="0"/>
              <a:t>16/01/2024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C58C27-3BF6-D2D1-2F5F-0865532A5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9E4C99-E90E-0A54-30DE-E6C226D10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9050A-96E4-41EF-ADE9-9DFFA7612FB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4500971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7B0A5-C5FC-D04F-7E2B-819592A86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339797-8FDE-29DB-9B62-E929780110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E83B82-A9D8-A91E-1BD8-8EC382F25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176AB-B33A-4CB5-B54D-6C2B98E1C289}" type="datetimeFigureOut">
              <a:rPr lang="es-ES" smtClean="0"/>
              <a:t>16/01/2024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C5FC47-B4E7-77B4-A899-779A7DF99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FD4901-65E9-9FA7-800F-DF5D7F5A2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9050A-96E4-41EF-ADE9-9DFFA7612FB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2092867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365EEF-0549-D519-8F56-B1CDFFB184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8B9AE4-0F7D-1B7F-08EE-85D7FDCECB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EEB710-B90B-C8C5-4277-B05D51737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176AB-B33A-4CB5-B54D-6C2B98E1C289}" type="datetimeFigureOut">
              <a:rPr lang="es-ES" smtClean="0"/>
              <a:t>16/01/2024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290B3C-FBF9-03F2-3629-86D802BE6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4382F7-F7FB-6D9B-3D00-550077C3E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9050A-96E4-41EF-ADE9-9DFFA7612FB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083299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7807EC-DCF3-A770-07A9-B918358DA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656C0B-8FB2-0686-05A6-B8CEEAADB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56DA9D-F4C1-555B-77E1-6D1910A069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E609B8-4855-4ADF-A010-12D9ADF14125}" type="datetimeFigureOut">
              <a:rPr lang="es-ES" smtClean="0"/>
              <a:t>16/01/2024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333BB1-937A-AF40-DA5F-014519A436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7A73D2-7C70-5CED-D4BE-DF170ECCCC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Slide 1</a:t>
            </a:r>
            <a:endParaRPr lang="en-GB" sz="11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02092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939329-4E9C-8A9C-4FE1-2BDAD90EE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D12FE2-EFEE-2ADA-9E77-53303B933B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71EACB-4EF3-36B3-9E04-AE9CD3B2C3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2176AB-B33A-4CB5-B54D-6C2B98E1C289}" type="datetimeFigureOut">
              <a:rPr lang="es-ES" smtClean="0"/>
              <a:t>16/01/2024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90D254-2F59-9418-7F46-ACADF99CF8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FADD2F-7155-2E7E-A8FB-D96C2E6B01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29050A-96E4-41EF-ADE9-9DFFA7612FB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02295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youtube.com/watch?v=90KFHqx-1Ho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youtube.com/watch?v=90KFHqx-1Ho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7AF82-47AE-71B7-5943-5081310F11A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Human and social relations</a:t>
            </a:r>
            <a:endParaRPr lang="es-E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C35A7C-E0AF-AB01-CDD8-15B22EB1C4A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/>
              <a:t>English C1</a:t>
            </a:r>
            <a:endParaRPr lang="es-ES" dirty="0"/>
          </a:p>
        </p:txBody>
      </p:sp>
      <p:pic>
        <p:nvPicPr>
          <p:cNvPr id="5" name="Picture 4" descr="A blue text on a black background&#10;&#10;Description automatically generated">
            <a:extLst>
              <a:ext uri="{FF2B5EF4-FFF2-40B4-BE49-F238E27FC236}">
                <a16:creationId xmlns:a16="http://schemas.microsoft.com/office/drawing/2014/main" id="{F9FA81D2-0BFD-4CDC-628C-317827CE1B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7208" y="189860"/>
            <a:ext cx="1227584" cy="57150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6CE57D4-7297-42B0-7026-7E5EBE6BFA01}"/>
              </a:ext>
            </a:extLst>
          </p:cNvPr>
          <p:cNvSpPr txBox="1"/>
          <p:nvPr/>
        </p:nvSpPr>
        <p:spPr>
          <a:xfrm>
            <a:off x="473697" y="4411744"/>
            <a:ext cx="3124985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GB" sz="1350" dirty="0" err="1">
                <a:solidFill>
                  <a:prstClr val="white">
                    <a:lumMod val="65000"/>
                  </a:prstClr>
                </a:solidFill>
                <a:latin typeface="Calibri" panose="020F0502020204030204"/>
              </a:rPr>
              <a:t>TuSpeaking</a:t>
            </a:r>
            <a:r>
              <a:rPr lang="en-GB" sz="1350" dirty="0">
                <a:solidFill>
                  <a:prstClr val="white">
                    <a:lumMod val="65000"/>
                  </a:prstClr>
                </a:solidFill>
                <a:latin typeface="Calibri" panose="020F0502020204030204"/>
              </a:rPr>
              <a:t>, 2024, all rights reserved</a:t>
            </a:r>
            <a:endParaRPr lang="es-ES" sz="1350" dirty="0">
              <a:solidFill>
                <a:prstClr val="white">
                  <a:lumMod val="65000"/>
                </a:prstClr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960564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 sz="90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900">
              <a:solidFill>
                <a:srgbClr val="1F386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5"/>
          <p:cNvSpPr txBox="1">
            <a:spLocks noGrp="1"/>
          </p:cNvSpPr>
          <p:nvPr>
            <p:ph type="title" idx="4294967295"/>
          </p:nvPr>
        </p:nvSpPr>
        <p:spPr>
          <a:xfrm>
            <a:off x="4203700" y="1998663"/>
            <a:ext cx="4940300" cy="1204912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100"/>
              <a:t>Has cancel culture gone too far?</a:t>
            </a:r>
            <a:endParaRPr sz="4100"/>
          </a:p>
        </p:txBody>
      </p:sp>
      <p:pic>
        <p:nvPicPr>
          <p:cNvPr id="81" name="Google Shape;81;p15"/>
          <p:cNvPicPr preferRelativeResize="0"/>
          <p:nvPr/>
        </p:nvPicPr>
        <p:blipFill rotWithShape="1">
          <a:blip r:embed="rId3">
            <a:alphaModFix/>
          </a:blip>
          <a:srcRect l="21738" r="21738"/>
          <a:stretch/>
        </p:blipFill>
        <p:spPr>
          <a:xfrm>
            <a:off x="336475" y="1041375"/>
            <a:ext cx="3360300" cy="3360300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7B7B7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>
            <a:spLocks noGrp="1"/>
          </p:cNvSpPr>
          <p:nvPr>
            <p:ph type="ctrTitle"/>
          </p:nvPr>
        </p:nvSpPr>
        <p:spPr>
          <a:xfrm>
            <a:off x="536945" y="252500"/>
            <a:ext cx="7772400" cy="11598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lt1"/>
                </a:solidFill>
              </a:rPr>
              <a:t>Let’s get started</a:t>
            </a:r>
            <a:r>
              <a:rPr lang="en-GB" dirty="0"/>
              <a:t> </a:t>
            </a:r>
            <a:endParaRPr dirty="0"/>
          </a:p>
        </p:txBody>
      </p:sp>
      <p:sp>
        <p:nvSpPr>
          <p:cNvPr id="88" name="Google Shape;88;p16"/>
          <p:cNvSpPr txBox="1">
            <a:spLocks noGrp="1"/>
          </p:cNvSpPr>
          <p:nvPr>
            <p:ph type="subTitle" idx="1"/>
          </p:nvPr>
        </p:nvSpPr>
        <p:spPr>
          <a:xfrm>
            <a:off x="1061483" y="1519844"/>
            <a:ext cx="7772400" cy="7848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with a warm-up 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6D19B13-4CC0-2A39-F13F-846A54FEC88E}"/>
              </a:ext>
            </a:extLst>
          </p:cNvPr>
          <p:cNvSpPr txBox="1"/>
          <p:nvPr/>
        </p:nvSpPr>
        <p:spPr>
          <a:xfrm>
            <a:off x="701750" y="3536307"/>
            <a:ext cx="49973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I</a:t>
            </a:r>
            <a:r>
              <a:rPr lang="en-GB" dirty="0"/>
              <a:t>’m offended:</a:t>
            </a:r>
            <a:endParaRPr lang="es-ES" dirty="0"/>
          </a:p>
          <a:p>
            <a:endParaRPr lang="es-ES" dirty="0"/>
          </a:p>
          <a:p>
            <a:r>
              <a:rPr lang="es-ES" dirty="0"/>
              <a:t>https://www.youtube.com/watch?v=NzdpxKqEUAw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0CD1BE-003E-2F23-8449-BB0ECE5A75E6}"/>
              </a:ext>
            </a:extLst>
          </p:cNvPr>
          <p:cNvSpPr txBox="1"/>
          <p:nvPr/>
        </p:nvSpPr>
        <p:spPr>
          <a:xfrm>
            <a:off x="758455" y="2643963"/>
            <a:ext cx="4997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Listen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this</a:t>
            </a:r>
            <a:r>
              <a:rPr lang="es-ES" dirty="0"/>
              <a:t> short </a:t>
            </a:r>
            <a:r>
              <a:rPr lang="es-ES" dirty="0" err="1"/>
              <a:t>quote</a:t>
            </a:r>
            <a:r>
              <a:rPr lang="es-ES" dirty="0"/>
              <a:t> </a:t>
            </a:r>
            <a:r>
              <a:rPr lang="es-ES" dirty="0" err="1"/>
              <a:t>by</a:t>
            </a:r>
            <a:r>
              <a:rPr lang="es-ES" dirty="0"/>
              <a:t> Steven Fry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 sz="90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900">
              <a:solidFill>
                <a:srgbClr val="1F386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7"/>
          <p:cNvSpPr txBox="1"/>
          <p:nvPr/>
        </p:nvSpPr>
        <p:spPr>
          <a:xfrm>
            <a:off x="1499616" y="510750"/>
            <a:ext cx="64638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Raleway"/>
                <a:ea typeface="Raleway"/>
                <a:cs typeface="Raleway"/>
                <a:sym typeface="Raleway"/>
              </a:rPr>
              <a:t>Brainstorm words you associate with the word ‘freedom’ and compare with a partner.</a:t>
            </a:r>
            <a:endParaRPr sz="1800" b="1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96" name="Google Shape;96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8912" y="475488"/>
            <a:ext cx="896112" cy="896112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7"/>
          <p:cNvSpPr/>
          <p:nvPr/>
        </p:nvSpPr>
        <p:spPr>
          <a:xfrm>
            <a:off x="3124650" y="2160725"/>
            <a:ext cx="2894700" cy="919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2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GB" sz="1800" b="1" dirty="0">
                <a:latin typeface="Raleway"/>
                <a:ea typeface="Raleway"/>
                <a:cs typeface="Raleway"/>
                <a:sym typeface="Raleway"/>
              </a:rPr>
              <a:t>FREEDOM</a:t>
            </a:r>
            <a:endParaRPr sz="1800" b="1" dirty="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5C5C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8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400">
                <a:solidFill>
                  <a:schemeClr val="lt1"/>
                </a:solidFill>
              </a:rPr>
              <a:t>Let’s discuss some quotes!</a:t>
            </a:r>
            <a:endParaRPr sz="4400">
              <a:solidFill>
                <a:schemeClr val="lt1"/>
              </a:solidFill>
            </a:endParaRPr>
          </a:p>
        </p:txBody>
      </p:sp>
      <p:pic>
        <p:nvPicPr>
          <p:cNvPr id="103" name="Google Shape;103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33225" y="1218700"/>
            <a:ext cx="886968" cy="8869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 sz="900">
                <a:solidFill>
                  <a:srgbClr val="1F3864"/>
                </a:solidFill>
                <a:ea typeface="Shadows Into Light"/>
                <a:cs typeface="Shadows Into Light"/>
                <a:sym typeface="Shadows Into Light"/>
              </a:rPr>
              <a:t>6</a:t>
            </a:fld>
            <a:endParaRPr sz="900">
              <a:solidFill>
                <a:srgbClr val="1F3864"/>
              </a:solidFill>
              <a:ea typeface="Shadows Into Light"/>
              <a:cs typeface="Shadows Into Light"/>
              <a:sym typeface="Shadows Into Light"/>
            </a:endParaRPr>
          </a:p>
        </p:txBody>
      </p:sp>
      <p:sp>
        <p:nvSpPr>
          <p:cNvPr id="109" name="Google Shape;109;p19"/>
          <p:cNvSpPr txBox="1"/>
          <p:nvPr/>
        </p:nvSpPr>
        <p:spPr>
          <a:xfrm>
            <a:off x="393192" y="310896"/>
            <a:ext cx="6980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ea typeface="Shadows Into Light"/>
                <a:cs typeface="Shadows Into Light"/>
                <a:sym typeface="Shadows Into Light"/>
              </a:rPr>
              <a:t>Match the halves of the quotations.</a:t>
            </a:r>
            <a:endParaRPr sz="1800" b="1">
              <a:ea typeface="Shadows Into Light"/>
              <a:cs typeface="Shadows Into Light"/>
              <a:sym typeface="Shadows Into Light"/>
            </a:endParaRPr>
          </a:p>
        </p:txBody>
      </p:sp>
      <p:sp>
        <p:nvSpPr>
          <p:cNvPr id="110" name="Google Shape;110;p19"/>
          <p:cNvSpPr txBox="1"/>
          <p:nvPr/>
        </p:nvSpPr>
        <p:spPr>
          <a:xfrm>
            <a:off x="893475" y="866475"/>
            <a:ext cx="2454600" cy="2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ea typeface="Shadows Into Light"/>
              <a:cs typeface="Shadows Into Light"/>
              <a:sym typeface="Shadows Into Light"/>
            </a:endParaRPr>
          </a:p>
        </p:txBody>
      </p:sp>
      <p:sp>
        <p:nvSpPr>
          <p:cNvPr id="111" name="Google Shape;111;p19"/>
          <p:cNvSpPr txBox="1"/>
          <p:nvPr/>
        </p:nvSpPr>
        <p:spPr>
          <a:xfrm>
            <a:off x="393200" y="866475"/>
            <a:ext cx="2917800" cy="3806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02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Shadows Into Light"/>
              <a:buAutoNum type="alphaUcPeriod"/>
            </a:pPr>
            <a:r>
              <a:rPr lang="en-GB" sz="1600">
                <a:solidFill>
                  <a:schemeClr val="dk1"/>
                </a:solidFill>
                <a:ea typeface="Shadows Into Light"/>
                <a:cs typeface="Shadows Into Light"/>
                <a:sym typeface="Shadows Into Light"/>
              </a:rPr>
              <a:t>“</a:t>
            </a:r>
            <a:r>
              <a:rPr lang="en-GB" sz="1600" i="1">
                <a:solidFill>
                  <a:schemeClr val="dk1"/>
                </a:solidFill>
                <a:ea typeface="Shadows Into Light"/>
                <a:cs typeface="Shadows Into Light"/>
                <a:sym typeface="Shadows Into Light"/>
              </a:rPr>
              <a:t>I disapprove of what you say,…</a:t>
            </a:r>
            <a:endParaRPr sz="1600" i="1">
              <a:solidFill>
                <a:schemeClr val="dk1"/>
              </a:solidFill>
              <a:ea typeface="Shadows Into Light"/>
              <a:cs typeface="Shadows Into Light"/>
              <a:sym typeface="Shadows Into Light"/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Shadows Into Light"/>
              <a:buAutoNum type="alphaUcPeriod"/>
            </a:pPr>
            <a:r>
              <a:rPr lang="en-GB" sz="1600">
                <a:solidFill>
                  <a:schemeClr val="dk1"/>
                </a:solidFill>
                <a:ea typeface="Shadows Into Light"/>
                <a:cs typeface="Shadows Into Light"/>
                <a:sym typeface="Shadows Into Light"/>
              </a:rPr>
              <a:t>“</a:t>
            </a:r>
            <a:r>
              <a:rPr lang="en-GB" sz="1600" i="1">
                <a:solidFill>
                  <a:schemeClr val="dk1"/>
                </a:solidFill>
                <a:ea typeface="Shadows Into Light"/>
                <a:cs typeface="Shadows Into Light"/>
                <a:sym typeface="Shadows Into Light"/>
              </a:rPr>
              <a:t>What is freedom of expression?</a:t>
            </a:r>
            <a:endParaRPr sz="1600" i="1">
              <a:solidFill>
                <a:schemeClr val="dk1"/>
              </a:solidFill>
              <a:ea typeface="Shadows Into Light"/>
              <a:cs typeface="Shadows Into Light"/>
              <a:sym typeface="Shadows Into Light"/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Shadows Into Light"/>
              <a:buAutoNum type="alphaUcPeriod"/>
            </a:pPr>
            <a:r>
              <a:rPr lang="en-GB" sz="1600">
                <a:solidFill>
                  <a:schemeClr val="dk1"/>
                </a:solidFill>
                <a:ea typeface="Shadows Into Light"/>
                <a:cs typeface="Shadows Into Light"/>
                <a:sym typeface="Shadows Into Light"/>
              </a:rPr>
              <a:t>“</a:t>
            </a:r>
            <a:r>
              <a:rPr lang="en-GB" sz="1600" i="1">
                <a:solidFill>
                  <a:schemeClr val="dk1"/>
                </a:solidFill>
                <a:ea typeface="Shadows Into Light"/>
                <a:cs typeface="Shadows Into Light"/>
                <a:sym typeface="Shadows Into Light"/>
              </a:rPr>
              <a:t>If liberty means anything at all, it means</a:t>
            </a:r>
            <a:r>
              <a:rPr lang="en-GB" sz="1600">
                <a:solidFill>
                  <a:schemeClr val="dk1"/>
                </a:solidFill>
                <a:ea typeface="Shadows Into Light"/>
                <a:cs typeface="Shadows Into Light"/>
                <a:sym typeface="Shadows Into Light"/>
              </a:rPr>
              <a:t>…</a:t>
            </a:r>
            <a:endParaRPr sz="1600">
              <a:solidFill>
                <a:schemeClr val="dk1"/>
              </a:solidFill>
              <a:ea typeface="Shadows Into Light"/>
              <a:cs typeface="Shadows Into Light"/>
              <a:sym typeface="Shadows Into Light"/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600"/>
              <a:buFont typeface="Shadows Into Light"/>
              <a:buAutoNum type="alphaUcPeriod"/>
            </a:pPr>
            <a:r>
              <a:rPr lang="en-GB" sz="1600">
                <a:solidFill>
                  <a:schemeClr val="dk1"/>
                </a:solidFill>
                <a:ea typeface="Shadows Into Light"/>
                <a:cs typeface="Shadows Into Light"/>
                <a:sym typeface="Shadows Into Light"/>
              </a:rPr>
              <a:t>“</a:t>
            </a:r>
            <a:r>
              <a:rPr lang="en-GB" sz="1600" i="1">
                <a:solidFill>
                  <a:schemeClr val="dk1"/>
                </a:solidFill>
                <a:ea typeface="Shadows Into Light"/>
                <a:cs typeface="Shadows Into Light"/>
                <a:sym typeface="Shadows Into Light"/>
              </a:rPr>
              <a:t>Freedom of speech does not</a:t>
            </a:r>
            <a:r>
              <a:rPr lang="en-GB" sz="1600">
                <a:solidFill>
                  <a:schemeClr val="dk1"/>
                </a:solidFill>
                <a:ea typeface="Shadows Into Light"/>
                <a:cs typeface="Shadows Into Light"/>
                <a:sym typeface="Shadows Into Light"/>
              </a:rPr>
              <a:t>… </a:t>
            </a:r>
            <a:endParaRPr sz="1600">
              <a:solidFill>
                <a:schemeClr val="dk1"/>
              </a:solidFill>
              <a:ea typeface="Shadows Into Light"/>
              <a:cs typeface="Shadows Into Light"/>
              <a:sym typeface="Shadows Into Light"/>
            </a:endParaRPr>
          </a:p>
        </p:txBody>
      </p:sp>
      <p:sp>
        <p:nvSpPr>
          <p:cNvPr id="112" name="Google Shape;112;p19"/>
          <p:cNvSpPr txBox="1"/>
          <p:nvPr/>
        </p:nvSpPr>
        <p:spPr>
          <a:xfrm>
            <a:off x="4209875" y="870900"/>
            <a:ext cx="4011300" cy="3806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02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Shadows Into Light"/>
              <a:buAutoNum type="arabicPeriod"/>
            </a:pPr>
            <a:r>
              <a:rPr lang="en-GB" sz="1600" i="1" dirty="0">
                <a:solidFill>
                  <a:schemeClr val="dk1"/>
                </a:solidFill>
                <a:ea typeface="Shadows Into Light"/>
                <a:cs typeface="Shadows Into Light"/>
                <a:sym typeface="Shadows Into Light"/>
              </a:rPr>
              <a:t>protect you from the consequences of saying stupid [stuff]</a:t>
            </a:r>
            <a:r>
              <a:rPr lang="en-GB" sz="1600" dirty="0">
                <a:solidFill>
                  <a:schemeClr val="dk1"/>
                </a:solidFill>
                <a:ea typeface="Shadows Into Light"/>
                <a:cs typeface="Shadows Into Light"/>
                <a:sym typeface="Shadows Into Light"/>
              </a:rPr>
              <a:t>.” </a:t>
            </a:r>
            <a:r>
              <a:rPr lang="en-GB" sz="1400" i="1" dirty="0">
                <a:solidFill>
                  <a:schemeClr val="dk1"/>
                </a:solidFill>
                <a:ea typeface="Shadows Into Light"/>
                <a:cs typeface="Shadows Into Light"/>
                <a:sym typeface="Shadows Into Light"/>
              </a:rPr>
              <a:t>Jim C. Hines</a:t>
            </a:r>
            <a:endParaRPr sz="1400" i="1" dirty="0">
              <a:solidFill>
                <a:schemeClr val="dk1"/>
              </a:solidFill>
              <a:ea typeface="Shadows Into Light"/>
              <a:cs typeface="Shadows Into Light"/>
              <a:sym typeface="Shadows Into Light"/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Shadows Into Light"/>
              <a:buAutoNum type="arabicPeriod"/>
            </a:pPr>
            <a:r>
              <a:rPr lang="en-GB" sz="1600" i="1" dirty="0">
                <a:solidFill>
                  <a:schemeClr val="dk1"/>
                </a:solidFill>
                <a:ea typeface="Shadows Into Light"/>
                <a:cs typeface="Shadows Into Light"/>
                <a:sym typeface="Shadows Into Light"/>
              </a:rPr>
              <a:t>the right to tell people what they do not want to hear</a:t>
            </a:r>
            <a:r>
              <a:rPr lang="en-GB" sz="1600" dirty="0">
                <a:solidFill>
                  <a:schemeClr val="dk1"/>
                </a:solidFill>
                <a:ea typeface="Shadows Into Light"/>
                <a:cs typeface="Shadows Into Light"/>
                <a:sym typeface="Shadows Into Light"/>
              </a:rPr>
              <a:t>.” </a:t>
            </a:r>
            <a:r>
              <a:rPr lang="en-GB" sz="1400" i="1" dirty="0">
                <a:solidFill>
                  <a:schemeClr val="dk1"/>
                </a:solidFill>
                <a:ea typeface="Shadows Into Light"/>
                <a:cs typeface="Shadows Into Light"/>
                <a:sym typeface="Shadows Into Light"/>
              </a:rPr>
              <a:t>George Orwell</a:t>
            </a:r>
            <a:endParaRPr sz="1400" i="1" dirty="0">
              <a:solidFill>
                <a:schemeClr val="dk1"/>
              </a:solidFill>
              <a:ea typeface="Shadows Into Light"/>
              <a:cs typeface="Shadows Into Light"/>
              <a:sym typeface="Shadows Into Light"/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Shadows Into Light"/>
              <a:buAutoNum type="arabicPeriod"/>
            </a:pPr>
            <a:r>
              <a:rPr lang="en-GB" sz="1600" i="1" dirty="0">
                <a:solidFill>
                  <a:schemeClr val="dk1"/>
                </a:solidFill>
                <a:ea typeface="Shadows Into Light"/>
                <a:cs typeface="Shadows Into Light"/>
                <a:sym typeface="Shadows Into Light"/>
              </a:rPr>
              <a:t>but I will defend to the death your right to say it</a:t>
            </a:r>
            <a:r>
              <a:rPr lang="en-GB" sz="1600" dirty="0">
                <a:solidFill>
                  <a:schemeClr val="dk1"/>
                </a:solidFill>
                <a:ea typeface="Shadows Into Light"/>
                <a:cs typeface="Shadows Into Light"/>
                <a:sym typeface="Shadows Into Light"/>
              </a:rPr>
              <a:t>.” </a:t>
            </a:r>
            <a:r>
              <a:rPr lang="en-GB" sz="1400" i="1" dirty="0">
                <a:solidFill>
                  <a:schemeClr val="dk1"/>
                </a:solidFill>
                <a:ea typeface="Shadows Into Light"/>
                <a:cs typeface="Shadows Into Light"/>
                <a:sym typeface="Shadows Into Light"/>
              </a:rPr>
              <a:t>S.G. </a:t>
            </a:r>
            <a:r>
              <a:rPr lang="en-GB" sz="1400" i="1" dirty="0" err="1">
                <a:solidFill>
                  <a:schemeClr val="dk1"/>
                </a:solidFill>
                <a:ea typeface="Shadows Into Light"/>
                <a:cs typeface="Shadows Into Light"/>
                <a:sym typeface="Shadows Into Light"/>
              </a:rPr>
              <a:t>Tallentyre</a:t>
            </a:r>
            <a:endParaRPr sz="1400" i="1" dirty="0">
              <a:solidFill>
                <a:schemeClr val="dk1"/>
              </a:solidFill>
              <a:ea typeface="Shadows Into Light"/>
              <a:cs typeface="Shadows Into Light"/>
              <a:sym typeface="Shadows Into Light"/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600"/>
              <a:buFont typeface="Shadows Into Light"/>
              <a:buAutoNum type="arabicPeriod"/>
            </a:pPr>
            <a:r>
              <a:rPr lang="en-GB" sz="1600" i="1" dirty="0">
                <a:solidFill>
                  <a:schemeClr val="dk1"/>
                </a:solidFill>
                <a:ea typeface="Shadows Into Light"/>
                <a:cs typeface="Shadows Into Light"/>
                <a:sym typeface="Shadows Into Light"/>
              </a:rPr>
              <a:t>Without the freedom to offend, it ceases to exist</a:t>
            </a:r>
            <a:r>
              <a:rPr lang="en-GB" sz="1600" dirty="0">
                <a:solidFill>
                  <a:schemeClr val="dk1"/>
                </a:solidFill>
                <a:ea typeface="Shadows Into Light"/>
                <a:cs typeface="Shadows Into Light"/>
                <a:sym typeface="Shadows Into Light"/>
              </a:rPr>
              <a:t>.” </a:t>
            </a:r>
            <a:r>
              <a:rPr lang="en-GB" sz="1400" i="1" dirty="0">
                <a:solidFill>
                  <a:schemeClr val="dk1"/>
                </a:solidFill>
                <a:ea typeface="Shadows Into Light"/>
                <a:cs typeface="Shadows Into Light"/>
                <a:sym typeface="Shadows Into Light"/>
              </a:rPr>
              <a:t>Salman Rushdie </a:t>
            </a:r>
            <a:endParaRPr sz="1600" i="1" dirty="0">
              <a:solidFill>
                <a:schemeClr val="dk1"/>
              </a:solidFill>
              <a:ea typeface="Shadows Into Light"/>
              <a:cs typeface="Shadows Into Light"/>
              <a:sym typeface="Shadows Into Ligh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 sz="90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900">
              <a:solidFill>
                <a:srgbClr val="1F386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20"/>
          <p:cNvSpPr txBox="1"/>
          <p:nvPr/>
        </p:nvSpPr>
        <p:spPr>
          <a:xfrm>
            <a:off x="393192" y="310896"/>
            <a:ext cx="6980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Raleway"/>
                <a:ea typeface="Raleway"/>
                <a:cs typeface="Raleway"/>
                <a:sym typeface="Raleway"/>
              </a:rPr>
              <a:t>Let’s check your answers.</a:t>
            </a:r>
            <a:endParaRPr sz="1800" b="1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19" name="Google Shape;119;p20"/>
          <p:cNvSpPr txBox="1"/>
          <p:nvPr/>
        </p:nvSpPr>
        <p:spPr>
          <a:xfrm>
            <a:off x="893475" y="866475"/>
            <a:ext cx="2454600" cy="2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aleway Light"/>
              <a:ea typeface="Raleway Light"/>
              <a:cs typeface="Raleway Light"/>
              <a:sym typeface="Raleway Light"/>
            </a:endParaRPr>
          </a:p>
        </p:txBody>
      </p:sp>
      <p:sp>
        <p:nvSpPr>
          <p:cNvPr id="120" name="Google Shape;120;p20"/>
          <p:cNvSpPr txBox="1"/>
          <p:nvPr/>
        </p:nvSpPr>
        <p:spPr>
          <a:xfrm>
            <a:off x="393200" y="866475"/>
            <a:ext cx="2917800" cy="3806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02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 Light"/>
              <a:buAutoNum type="alphaUcPeriod"/>
            </a:pPr>
            <a:r>
              <a:rPr lang="en-GB" sz="1600" dirty="0">
                <a:solidFill>
                  <a:schemeClr val="dk1"/>
                </a:solidFill>
                <a:ea typeface="Raleway Light"/>
                <a:cs typeface="Raleway Light"/>
                <a:sym typeface="Raleway Light"/>
              </a:rPr>
              <a:t>“</a:t>
            </a:r>
            <a:r>
              <a:rPr lang="en-GB" sz="1600" i="1" dirty="0">
                <a:solidFill>
                  <a:schemeClr val="dk1"/>
                </a:solidFill>
                <a:ea typeface="Raleway Light"/>
                <a:cs typeface="Raleway Light"/>
                <a:sym typeface="Raleway Light"/>
              </a:rPr>
              <a:t>I disapprove of what you say,…</a:t>
            </a:r>
            <a:endParaRPr sz="1600" i="1" dirty="0">
              <a:solidFill>
                <a:schemeClr val="dk1"/>
              </a:solidFill>
              <a:ea typeface="Raleway Light"/>
              <a:cs typeface="Raleway Light"/>
              <a:sym typeface="Raleway Light"/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 Light"/>
              <a:buAutoNum type="alphaUcPeriod"/>
            </a:pPr>
            <a:r>
              <a:rPr lang="en-GB" sz="1600" dirty="0">
                <a:solidFill>
                  <a:schemeClr val="dk1"/>
                </a:solidFill>
                <a:ea typeface="Raleway Light"/>
                <a:cs typeface="Raleway Light"/>
                <a:sym typeface="Raleway Light"/>
              </a:rPr>
              <a:t>“</a:t>
            </a:r>
            <a:r>
              <a:rPr lang="en-GB" sz="1600" i="1" dirty="0">
                <a:solidFill>
                  <a:schemeClr val="dk1"/>
                </a:solidFill>
                <a:ea typeface="Raleway Light"/>
                <a:cs typeface="Raleway Light"/>
                <a:sym typeface="Raleway Light"/>
              </a:rPr>
              <a:t>What is freedom of expression?</a:t>
            </a:r>
            <a:endParaRPr sz="1600" i="1" dirty="0">
              <a:solidFill>
                <a:schemeClr val="dk1"/>
              </a:solidFill>
              <a:ea typeface="Raleway Light"/>
              <a:cs typeface="Raleway Light"/>
              <a:sym typeface="Raleway Light"/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 Light"/>
              <a:buAutoNum type="alphaUcPeriod"/>
            </a:pPr>
            <a:r>
              <a:rPr lang="en-GB" sz="1600" dirty="0">
                <a:solidFill>
                  <a:schemeClr val="dk1"/>
                </a:solidFill>
                <a:ea typeface="Raleway Light"/>
                <a:cs typeface="Raleway Light"/>
                <a:sym typeface="Raleway Light"/>
              </a:rPr>
              <a:t>“</a:t>
            </a:r>
            <a:r>
              <a:rPr lang="en-GB" sz="1600" i="1" dirty="0">
                <a:solidFill>
                  <a:schemeClr val="dk1"/>
                </a:solidFill>
                <a:ea typeface="Raleway Light"/>
                <a:cs typeface="Raleway Light"/>
                <a:sym typeface="Raleway Light"/>
              </a:rPr>
              <a:t>If liberty means anything at all, it means</a:t>
            </a:r>
            <a:r>
              <a:rPr lang="en-GB" sz="1600" dirty="0">
                <a:solidFill>
                  <a:schemeClr val="dk1"/>
                </a:solidFill>
                <a:ea typeface="Raleway Light"/>
                <a:cs typeface="Raleway Light"/>
                <a:sym typeface="Raleway Light"/>
              </a:rPr>
              <a:t>…</a:t>
            </a:r>
            <a:endParaRPr sz="1600" dirty="0">
              <a:solidFill>
                <a:schemeClr val="dk1"/>
              </a:solidFill>
              <a:ea typeface="Raleway Light"/>
              <a:cs typeface="Raleway Light"/>
              <a:sym typeface="Raleway Light"/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600"/>
              <a:buFont typeface="Raleway Light"/>
              <a:buAutoNum type="alphaUcPeriod"/>
            </a:pPr>
            <a:r>
              <a:rPr lang="en-GB" sz="1600" dirty="0">
                <a:solidFill>
                  <a:schemeClr val="dk1"/>
                </a:solidFill>
                <a:ea typeface="Raleway Light"/>
                <a:cs typeface="Raleway Light"/>
                <a:sym typeface="Raleway Light"/>
              </a:rPr>
              <a:t>“</a:t>
            </a:r>
            <a:r>
              <a:rPr lang="en-GB" sz="1600" i="1" dirty="0">
                <a:solidFill>
                  <a:schemeClr val="dk1"/>
                </a:solidFill>
                <a:ea typeface="Raleway Light"/>
                <a:cs typeface="Raleway Light"/>
                <a:sym typeface="Raleway Light"/>
              </a:rPr>
              <a:t>Freedom of speech does not</a:t>
            </a:r>
            <a:r>
              <a:rPr lang="en-GB" sz="1600" dirty="0">
                <a:solidFill>
                  <a:schemeClr val="dk1"/>
                </a:solidFill>
                <a:ea typeface="Raleway Light"/>
                <a:cs typeface="Raleway Light"/>
                <a:sym typeface="Raleway Light"/>
              </a:rPr>
              <a:t>… </a:t>
            </a:r>
            <a:endParaRPr sz="1600" dirty="0">
              <a:solidFill>
                <a:schemeClr val="dk1"/>
              </a:solidFill>
              <a:ea typeface="Raleway Light"/>
              <a:cs typeface="Raleway Light"/>
              <a:sym typeface="Raleway Light"/>
            </a:endParaRPr>
          </a:p>
        </p:txBody>
      </p:sp>
      <p:sp>
        <p:nvSpPr>
          <p:cNvPr id="121" name="Google Shape;121;p20"/>
          <p:cNvSpPr txBox="1"/>
          <p:nvPr/>
        </p:nvSpPr>
        <p:spPr>
          <a:xfrm>
            <a:off x="4209875" y="866475"/>
            <a:ext cx="4011300" cy="3806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02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 Light"/>
              <a:buAutoNum type="arabicPeriod"/>
            </a:pPr>
            <a:r>
              <a:rPr lang="en-GB" sz="1600" i="1" dirty="0">
                <a:solidFill>
                  <a:schemeClr val="dk1"/>
                </a:solidFill>
                <a:ea typeface="Raleway Light"/>
                <a:cs typeface="Raleway Light"/>
                <a:sym typeface="Raleway Light"/>
              </a:rPr>
              <a:t>protect you from the consequences of saying stupid [stuff]</a:t>
            </a:r>
            <a:r>
              <a:rPr lang="en-GB" sz="1600" dirty="0">
                <a:solidFill>
                  <a:schemeClr val="dk1"/>
                </a:solidFill>
                <a:ea typeface="Raleway Light"/>
                <a:cs typeface="Raleway Light"/>
                <a:sym typeface="Raleway Light"/>
              </a:rPr>
              <a:t>.” </a:t>
            </a:r>
            <a:r>
              <a:rPr lang="en-GB" sz="1200" dirty="0">
                <a:solidFill>
                  <a:schemeClr val="dk1"/>
                </a:solidFill>
                <a:ea typeface="Raleway Light"/>
                <a:cs typeface="Raleway Light"/>
                <a:sym typeface="Raleway Light"/>
              </a:rPr>
              <a:t>Jim C. Hines</a:t>
            </a:r>
            <a:endParaRPr sz="1200" dirty="0">
              <a:solidFill>
                <a:schemeClr val="dk1"/>
              </a:solidFill>
              <a:ea typeface="Raleway Light"/>
              <a:cs typeface="Raleway Light"/>
              <a:sym typeface="Raleway Light"/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 Light"/>
              <a:buAutoNum type="arabicPeriod"/>
            </a:pPr>
            <a:r>
              <a:rPr lang="en-GB" sz="1600" i="1" dirty="0">
                <a:solidFill>
                  <a:schemeClr val="dk1"/>
                </a:solidFill>
                <a:ea typeface="Raleway Light"/>
                <a:cs typeface="Raleway Light"/>
                <a:sym typeface="Raleway Light"/>
              </a:rPr>
              <a:t>the right to tell people what they do not want to hear</a:t>
            </a:r>
            <a:r>
              <a:rPr lang="en-GB" sz="1600" dirty="0">
                <a:solidFill>
                  <a:schemeClr val="dk1"/>
                </a:solidFill>
                <a:ea typeface="Raleway Light"/>
                <a:cs typeface="Raleway Light"/>
                <a:sym typeface="Raleway Light"/>
              </a:rPr>
              <a:t>.” </a:t>
            </a:r>
            <a:r>
              <a:rPr lang="en-GB" sz="1200" dirty="0">
                <a:solidFill>
                  <a:schemeClr val="dk1"/>
                </a:solidFill>
                <a:ea typeface="Raleway Light"/>
                <a:cs typeface="Raleway Light"/>
                <a:sym typeface="Raleway Light"/>
              </a:rPr>
              <a:t>George Orwell</a:t>
            </a:r>
            <a:endParaRPr sz="1200" dirty="0">
              <a:solidFill>
                <a:schemeClr val="dk1"/>
              </a:solidFill>
              <a:ea typeface="Raleway Light"/>
              <a:cs typeface="Raleway Light"/>
              <a:sym typeface="Raleway Light"/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 Light"/>
              <a:buAutoNum type="arabicPeriod"/>
            </a:pPr>
            <a:r>
              <a:rPr lang="en-GB" sz="1600" i="1" dirty="0">
                <a:solidFill>
                  <a:schemeClr val="dk1"/>
                </a:solidFill>
                <a:ea typeface="Raleway Light"/>
                <a:cs typeface="Raleway Light"/>
                <a:sym typeface="Raleway Light"/>
              </a:rPr>
              <a:t>but I will defend to the death your right to say it</a:t>
            </a:r>
            <a:r>
              <a:rPr lang="en-GB" sz="1600" dirty="0">
                <a:solidFill>
                  <a:schemeClr val="dk1"/>
                </a:solidFill>
                <a:ea typeface="Raleway Light"/>
                <a:cs typeface="Raleway Light"/>
                <a:sym typeface="Raleway Light"/>
              </a:rPr>
              <a:t>.” </a:t>
            </a:r>
            <a:r>
              <a:rPr lang="en-GB" sz="1200" dirty="0">
                <a:solidFill>
                  <a:schemeClr val="dk1"/>
                </a:solidFill>
                <a:ea typeface="Raleway Light"/>
                <a:cs typeface="Raleway Light"/>
                <a:sym typeface="Raleway Light"/>
              </a:rPr>
              <a:t>S.G. </a:t>
            </a:r>
            <a:r>
              <a:rPr lang="en-GB" sz="1200" dirty="0" err="1">
                <a:solidFill>
                  <a:schemeClr val="dk1"/>
                </a:solidFill>
                <a:ea typeface="Raleway Light"/>
                <a:cs typeface="Raleway Light"/>
                <a:sym typeface="Raleway Light"/>
              </a:rPr>
              <a:t>Tallentyre</a:t>
            </a:r>
            <a:endParaRPr sz="1200" dirty="0">
              <a:solidFill>
                <a:schemeClr val="dk1"/>
              </a:solidFill>
              <a:ea typeface="Raleway Light"/>
              <a:cs typeface="Raleway Light"/>
              <a:sym typeface="Raleway Light"/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600"/>
              <a:buFont typeface="Raleway Light"/>
              <a:buAutoNum type="arabicPeriod"/>
            </a:pPr>
            <a:r>
              <a:rPr lang="en-GB" sz="1600" i="1" dirty="0">
                <a:solidFill>
                  <a:schemeClr val="dk1"/>
                </a:solidFill>
                <a:ea typeface="Raleway Light"/>
                <a:cs typeface="Raleway Light"/>
                <a:sym typeface="Raleway Light"/>
              </a:rPr>
              <a:t>Without the freedom to offend, it ceases to exist</a:t>
            </a:r>
            <a:r>
              <a:rPr lang="en-GB" sz="1600" dirty="0">
                <a:solidFill>
                  <a:schemeClr val="dk1"/>
                </a:solidFill>
                <a:ea typeface="Raleway Light"/>
                <a:cs typeface="Raleway Light"/>
                <a:sym typeface="Raleway Light"/>
              </a:rPr>
              <a:t>.” </a:t>
            </a:r>
            <a:r>
              <a:rPr lang="en-GB" sz="1200" dirty="0">
                <a:solidFill>
                  <a:schemeClr val="dk1"/>
                </a:solidFill>
                <a:ea typeface="Raleway Light"/>
                <a:cs typeface="Raleway Light"/>
                <a:sym typeface="Raleway Light"/>
              </a:rPr>
              <a:t>Salman Rushdie </a:t>
            </a:r>
            <a:endParaRPr sz="1600" dirty="0">
              <a:solidFill>
                <a:schemeClr val="dk1"/>
              </a:solidFill>
              <a:ea typeface="Raleway Light"/>
              <a:cs typeface="Raleway Light"/>
              <a:sym typeface="Raleway Light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7E77B82-A5E2-833B-E3CF-6891EDBE76D8}"/>
              </a:ext>
            </a:extLst>
          </p:cNvPr>
          <p:cNvCxnSpPr>
            <a:cxnSpLocks/>
          </p:cNvCxnSpPr>
          <p:nvPr/>
        </p:nvCxnSpPr>
        <p:spPr>
          <a:xfrm flipV="1">
            <a:off x="3055088" y="1488558"/>
            <a:ext cx="1319087" cy="24619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FFD42B1-1312-6B66-3955-D22CEFAC6353}"/>
              </a:ext>
            </a:extLst>
          </p:cNvPr>
          <p:cNvCxnSpPr>
            <a:cxnSpLocks/>
          </p:cNvCxnSpPr>
          <p:nvPr/>
        </p:nvCxnSpPr>
        <p:spPr>
          <a:xfrm>
            <a:off x="2806995" y="1594884"/>
            <a:ext cx="1567180" cy="13964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8FE0B7B-F05C-81EC-7499-C511EA52AE5F}"/>
              </a:ext>
            </a:extLst>
          </p:cNvPr>
          <p:cNvCxnSpPr/>
          <p:nvPr/>
        </p:nvCxnSpPr>
        <p:spPr>
          <a:xfrm flipV="1">
            <a:off x="3197875" y="2296633"/>
            <a:ext cx="1445009" cy="7868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D0B2924-71A5-C0AC-41F0-1012AC237B05}"/>
              </a:ext>
            </a:extLst>
          </p:cNvPr>
          <p:cNvCxnSpPr/>
          <p:nvPr/>
        </p:nvCxnSpPr>
        <p:spPr>
          <a:xfrm>
            <a:off x="2806995" y="2374605"/>
            <a:ext cx="1567180" cy="14460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 sz="90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900">
              <a:solidFill>
                <a:srgbClr val="1F386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1" name="Google Shape;13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4950" y="479200"/>
            <a:ext cx="899550" cy="89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1"/>
          <p:cNvSpPr txBox="1"/>
          <p:nvPr/>
        </p:nvSpPr>
        <p:spPr>
          <a:xfrm>
            <a:off x="1073550" y="1378750"/>
            <a:ext cx="6574200" cy="36491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9250" algn="l" rtl="0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ts val="1900"/>
              <a:buFont typeface="Raleway Light"/>
              <a:buChar char="➔"/>
            </a:pPr>
            <a:r>
              <a:rPr lang="en-GB" sz="1700" dirty="0">
                <a:solidFill>
                  <a:schemeClr val="dk1"/>
                </a:solidFill>
                <a:ea typeface="Raleway Light"/>
                <a:cs typeface="Raleway Light"/>
                <a:sym typeface="Raleway Light"/>
              </a:rPr>
              <a:t>“</a:t>
            </a:r>
            <a:r>
              <a:rPr lang="en-GB" sz="1700" i="1" dirty="0">
                <a:solidFill>
                  <a:schemeClr val="dk1"/>
                </a:solidFill>
                <a:ea typeface="Raleway Light"/>
                <a:cs typeface="Raleway Light"/>
                <a:sym typeface="Raleway Light"/>
              </a:rPr>
              <a:t>I disapprove of what you say, but I will defend to the death your right to say it</a:t>
            </a:r>
            <a:r>
              <a:rPr lang="en-GB" sz="1700" dirty="0">
                <a:solidFill>
                  <a:schemeClr val="dk1"/>
                </a:solidFill>
                <a:ea typeface="Raleway Light"/>
                <a:cs typeface="Raleway Light"/>
                <a:sym typeface="Raleway Light"/>
              </a:rPr>
              <a:t>.” </a:t>
            </a:r>
            <a:r>
              <a:rPr lang="en-GB" sz="1400" i="1" dirty="0">
                <a:solidFill>
                  <a:schemeClr val="dk1"/>
                </a:solidFill>
                <a:ea typeface="Raleway Light"/>
                <a:cs typeface="Raleway Light"/>
                <a:sym typeface="Raleway Light"/>
              </a:rPr>
              <a:t>S.G. </a:t>
            </a:r>
            <a:r>
              <a:rPr lang="en-GB" sz="1400" i="1" dirty="0" err="1">
                <a:solidFill>
                  <a:schemeClr val="dk1"/>
                </a:solidFill>
                <a:ea typeface="Raleway Light"/>
                <a:cs typeface="Raleway Light"/>
                <a:sym typeface="Raleway Light"/>
              </a:rPr>
              <a:t>Tallentyre</a:t>
            </a:r>
            <a:endParaRPr sz="1400" i="1" dirty="0">
              <a:solidFill>
                <a:schemeClr val="dk1"/>
              </a:solidFill>
              <a:ea typeface="Raleway Light"/>
              <a:cs typeface="Raleway Light"/>
              <a:sym typeface="Raleway Light"/>
            </a:endParaRPr>
          </a:p>
          <a:p>
            <a:pPr marL="457200" lvl="0" indent="-336550" algn="l" rtl="0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aleway Light"/>
              <a:buChar char="➔"/>
            </a:pPr>
            <a:r>
              <a:rPr lang="en-GB" sz="1700" dirty="0">
                <a:solidFill>
                  <a:schemeClr val="dk1"/>
                </a:solidFill>
                <a:ea typeface="Raleway Light"/>
                <a:cs typeface="Raleway Light"/>
                <a:sym typeface="Raleway Light"/>
              </a:rPr>
              <a:t>“</a:t>
            </a:r>
            <a:r>
              <a:rPr lang="en-GB" sz="1700" i="1" dirty="0">
                <a:solidFill>
                  <a:schemeClr val="dk1"/>
                </a:solidFill>
                <a:ea typeface="Raleway Light"/>
                <a:cs typeface="Raleway Light"/>
                <a:sym typeface="Raleway Light"/>
              </a:rPr>
              <a:t>What is freedom of expression? Without the freedom to offend, it ceases to exist</a:t>
            </a:r>
            <a:r>
              <a:rPr lang="en-GB" sz="1700" dirty="0">
                <a:solidFill>
                  <a:schemeClr val="dk1"/>
                </a:solidFill>
                <a:ea typeface="Raleway Light"/>
                <a:cs typeface="Raleway Light"/>
                <a:sym typeface="Raleway Light"/>
              </a:rPr>
              <a:t>.” </a:t>
            </a:r>
            <a:r>
              <a:rPr lang="en-GB" sz="1400" i="1" dirty="0">
                <a:solidFill>
                  <a:schemeClr val="dk1"/>
                </a:solidFill>
                <a:ea typeface="Raleway Light"/>
                <a:cs typeface="Raleway Light"/>
                <a:sym typeface="Raleway Light"/>
              </a:rPr>
              <a:t>Salman Rushdie </a:t>
            </a:r>
            <a:endParaRPr sz="1700" i="1" dirty="0">
              <a:solidFill>
                <a:schemeClr val="dk1"/>
              </a:solidFill>
              <a:ea typeface="Raleway Light"/>
              <a:cs typeface="Raleway Light"/>
              <a:sym typeface="Raleway Light"/>
            </a:endParaRPr>
          </a:p>
          <a:p>
            <a:pPr marL="457200" lvl="0" indent="-336550" algn="l" rtl="0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aleway Light"/>
              <a:buChar char="➔"/>
            </a:pPr>
            <a:r>
              <a:rPr lang="en-GB" sz="1700" dirty="0">
                <a:solidFill>
                  <a:schemeClr val="dk1"/>
                </a:solidFill>
                <a:ea typeface="Raleway Light"/>
                <a:cs typeface="Raleway Light"/>
                <a:sym typeface="Raleway Light"/>
              </a:rPr>
              <a:t>“</a:t>
            </a:r>
            <a:r>
              <a:rPr lang="en-GB" sz="1700" i="1" dirty="0">
                <a:solidFill>
                  <a:schemeClr val="dk1"/>
                </a:solidFill>
                <a:ea typeface="Raleway Light"/>
                <a:cs typeface="Raleway Light"/>
                <a:sym typeface="Raleway Light"/>
              </a:rPr>
              <a:t>If liberty means anything at all, it means</a:t>
            </a:r>
            <a:r>
              <a:rPr lang="en-GB" sz="1700" dirty="0">
                <a:solidFill>
                  <a:schemeClr val="dk1"/>
                </a:solidFill>
                <a:ea typeface="Raleway Light"/>
                <a:cs typeface="Raleway Light"/>
                <a:sym typeface="Raleway Light"/>
              </a:rPr>
              <a:t> </a:t>
            </a:r>
            <a:r>
              <a:rPr lang="en-GB" sz="1700" i="1" dirty="0">
                <a:solidFill>
                  <a:schemeClr val="dk1"/>
                </a:solidFill>
                <a:ea typeface="Raleway Light"/>
                <a:cs typeface="Raleway Light"/>
                <a:sym typeface="Raleway Light"/>
              </a:rPr>
              <a:t>the right to tell people what they do not want to hear</a:t>
            </a:r>
            <a:r>
              <a:rPr lang="en-GB" sz="1700" dirty="0">
                <a:solidFill>
                  <a:schemeClr val="dk1"/>
                </a:solidFill>
                <a:ea typeface="Raleway Light"/>
                <a:cs typeface="Raleway Light"/>
                <a:sym typeface="Raleway Light"/>
              </a:rPr>
              <a:t>.” </a:t>
            </a:r>
            <a:r>
              <a:rPr lang="en-GB" sz="1400" i="1" dirty="0">
                <a:solidFill>
                  <a:schemeClr val="dk1"/>
                </a:solidFill>
                <a:ea typeface="Raleway Light"/>
                <a:cs typeface="Raleway Light"/>
                <a:sym typeface="Raleway Light"/>
              </a:rPr>
              <a:t>George Orwell</a:t>
            </a:r>
            <a:endParaRPr sz="1400" i="1" dirty="0">
              <a:solidFill>
                <a:schemeClr val="dk1"/>
              </a:solidFill>
              <a:ea typeface="Raleway Light"/>
              <a:cs typeface="Raleway Light"/>
              <a:sym typeface="Raleway Light"/>
            </a:endParaRPr>
          </a:p>
          <a:p>
            <a:pPr marL="457200" lvl="0" indent="-336550" algn="l" rtl="0">
              <a:lnSpc>
                <a:spcPct val="130000"/>
              </a:lnSpc>
              <a:spcBef>
                <a:spcPts val="1200"/>
              </a:spcBef>
              <a:spcAft>
                <a:spcPts val="1000"/>
              </a:spcAft>
              <a:buClr>
                <a:schemeClr val="dk1"/>
              </a:buClr>
              <a:buSzPts val="1700"/>
              <a:buFont typeface="Raleway Light"/>
              <a:buChar char="➔"/>
            </a:pPr>
            <a:r>
              <a:rPr lang="en-GB" sz="1700" dirty="0">
                <a:solidFill>
                  <a:schemeClr val="dk1"/>
                </a:solidFill>
                <a:ea typeface="Raleway Light"/>
                <a:cs typeface="Raleway Light"/>
                <a:sym typeface="Raleway Light"/>
              </a:rPr>
              <a:t>“</a:t>
            </a:r>
            <a:r>
              <a:rPr lang="en-GB" sz="1700" i="1" dirty="0">
                <a:solidFill>
                  <a:schemeClr val="dk1"/>
                </a:solidFill>
                <a:ea typeface="Raleway Light"/>
                <a:cs typeface="Raleway Light"/>
                <a:sym typeface="Raleway Light"/>
              </a:rPr>
              <a:t>Freedom of speech does not</a:t>
            </a:r>
            <a:r>
              <a:rPr lang="en-GB" sz="1700" dirty="0">
                <a:solidFill>
                  <a:schemeClr val="dk1"/>
                </a:solidFill>
                <a:ea typeface="Raleway Light"/>
                <a:cs typeface="Raleway Light"/>
                <a:sym typeface="Raleway Light"/>
              </a:rPr>
              <a:t> </a:t>
            </a:r>
            <a:r>
              <a:rPr lang="en-GB" sz="1700" i="1" dirty="0">
                <a:solidFill>
                  <a:schemeClr val="dk1"/>
                </a:solidFill>
                <a:ea typeface="Raleway Light"/>
                <a:cs typeface="Raleway Light"/>
                <a:sym typeface="Raleway Light"/>
              </a:rPr>
              <a:t>protect you from the consequences of saying stupid [stuff]</a:t>
            </a:r>
            <a:r>
              <a:rPr lang="en-GB" sz="1700" dirty="0">
                <a:solidFill>
                  <a:schemeClr val="dk1"/>
                </a:solidFill>
                <a:ea typeface="Raleway Light"/>
                <a:cs typeface="Raleway Light"/>
                <a:sym typeface="Raleway Light"/>
              </a:rPr>
              <a:t>.” </a:t>
            </a:r>
            <a:r>
              <a:rPr lang="en-GB" sz="1400" i="1" dirty="0">
                <a:solidFill>
                  <a:schemeClr val="dk1"/>
                </a:solidFill>
                <a:ea typeface="Raleway Light"/>
                <a:cs typeface="Raleway Light"/>
                <a:sym typeface="Raleway Light"/>
              </a:rPr>
              <a:t>Jim C. Hines</a:t>
            </a:r>
            <a:endParaRPr sz="1500" i="1" dirty="0">
              <a:ea typeface="Raleway Light"/>
              <a:cs typeface="Raleway Light"/>
              <a:sym typeface="Raleway Light"/>
            </a:endParaRPr>
          </a:p>
        </p:txBody>
      </p:sp>
      <p:sp>
        <p:nvSpPr>
          <p:cNvPr id="133" name="Google Shape;133;p21"/>
          <p:cNvSpPr txBox="1"/>
          <p:nvPr/>
        </p:nvSpPr>
        <p:spPr>
          <a:xfrm>
            <a:off x="1496250" y="658368"/>
            <a:ext cx="6151500" cy="3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Raleway"/>
                <a:ea typeface="Raleway"/>
                <a:cs typeface="Raleway"/>
                <a:sym typeface="Raleway"/>
              </a:rPr>
              <a:t>Say whether you agree with the quotations. Give reasons for your answers.</a:t>
            </a:r>
            <a:endParaRPr sz="1800" b="1">
              <a:latin typeface="Raleway"/>
              <a:ea typeface="Raleway"/>
              <a:cs typeface="Raleway"/>
              <a:sym typeface="Raleway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5C5C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2"/>
          <p:cNvSpPr txBox="1">
            <a:spLocks noGrp="1"/>
          </p:cNvSpPr>
          <p:nvPr>
            <p:ph type="ctrTitle"/>
          </p:nvPr>
        </p:nvSpPr>
        <p:spPr>
          <a:xfrm>
            <a:off x="649700" y="3574373"/>
            <a:ext cx="7772400" cy="8451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400"/>
              <a:t>CBSN explores cancel culture and the culture wars</a:t>
            </a:r>
            <a:endParaRPr sz="4400"/>
          </a:p>
        </p:txBody>
      </p:sp>
      <p:sp>
        <p:nvSpPr>
          <p:cNvPr id="139" name="Google Shape;139;p22"/>
          <p:cNvSpPr txBox="1">
            <a:spLocks noGrp="1"/>
          </p:cNvSpPr>
          <p:nvPr>
            <p:ph type="subTitle" idx="1"/>
          </p:nvPr>
        </p:nvSpPr>
        <p:spPr>
          <a:xfrm>
            <a:off x="649700" y="2508775"/>
            <a:ext cx="7884600" cy="4545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 a moment, you’ll watch a video titled:</a:t>
            </a:r>
            <a:endParaRPr/>
          </a:p>
        </p:txBody>
      </p:sp>
      <p:pic>
        <p:nvPicPr>
          <p:cNvPr id="140" name="Google Shape;14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27175" y="137250"/>
            <a:ext cx="884150" cy="88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 sz="90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900">
              <a:solidFill>
                <a:srgbClr val="1F386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23"/>
          <p:cNvSpPr txBox="1"/>
          <p:nvPr/>
        </p:nvSpPr>
        <p:spPr>
          <a:xfrm>
            <a:off x="893475" y="866475"/>
            <a:ext cx="2454600" cy="2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aleway Light"/>
              <a:ea typeface="Raleway Light"/>
              <a:cs typeface="Raleway Light"/>
              <a:sym typeface="Raleway Light"/>
            </a:endParaRPr>
          </a:p>
        </p:txBody>
      </p:sp>
      <p:sp>
        <p:nvSpPr>
          <p:cNvPr id="147" name="Google Shape;147;p23"/>
          <p:cNvSpPr txBox="1"/>
          <p:nvPr/>
        </p:nvSpPr>
        <p:spPr>
          <a:xfrm>
            <a:off x="393192" y="310896"/>
            <a:ext cx="69804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Raleway"/>
                <a:ea typeface="Raleway"/>
                <a:cs typeface="Raleway"/>
                <a:sym typeface="Raleway"/>
              </a:rPr>
              <a:t>Watch the introduction to the video (to 00:30) and answer the questions.</a:t>
            </a:r>
            <a:endParaRPr sz="1800" b="1" dirty="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48" name="Google Shape;148;p23" descr="CBSN Originals executive producer Adam Yamaguchi discusses the latest episode of &quot;Speaking Frankly.&quot;" title="CBSN explores cancel culture and the culture wars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81550" y="1110325"/>
            <a:ext cx="4572000" cy="3429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3"/>
          <p:cNvSpPr txBox="1"/>
          <p:nvPr/>
        </p:nvSpPr>
        <p:spPr>
          <a:xfrm>
            <a:off x="393200" y="1561075"/>
            <a:ext cx="2727600" cy="25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 Light"/>
              <a:buChar char="●"/>
            </a:pPr>
            <a:r>
              <a:rPr lang="en-GB" sz="1800" dirty="0">
                <a:solidFill>
                  <a:schemeClr val="dk1"/>
                </a:solidFill>
                <a:ea typeface="Raleway Light"/>
                <a:cs typeface="Raleway Light"/>
                <a:sym typeface="Raleway Light"/>
              </a:rPr>
              <a:t>What is cancel culture?</a:t>
            </a:r>
            <a:endParaRPr sz="1800" dirty="0">
              <a:solidFill>
                <a:srgbClr val="FF0000"/>
              </a:solidFill>
              <a:ea typeface="Raleway Light"/>
              <a:cs typeface="Raleway Light"/>
              <a:sym typeface="Raleway Light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Clr>
                <a:schemeClr val="dk1"/>
              </a:buClr>
              <a:buSzPts val="1600"/>
              <a:buFont typeface="Raleway Light"/>
              <a:buChar char="●"/>
            </a:pPr>
            <a:r>
              <a:rPr lang="en-GB" sz="1800" dirty="0">
                <a:solidFill>
                  <a:schemeClr val="dk1"/>
                </a:solidFill>
                <a:ea typeface="Raleway Light"/>
                <a:cs typeface="Raleway Light"/>
                <a:sym typeface="Raleway Light"/>
              </a:rPr>
              <a:t>Can you think of any examples of cancel culture you have heard about recently?</a:t>
            </a:r>
            <a:endParaRPr sz="1800" dirty="0">
              <a:solidFill>
                <a:schemeClr val="dk1"/>
              </a:solidFill>
              <a:ea typeface="Raleway Light"/>
              <a:cs typeface="Raleway Light"/>
              <a:sym typeface="Raleway Ligh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 sz="90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900">
              <a:solidFill>
                <a:srgbClr val="1F386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4"/>
          <p:cNvSpPr txBox="1"/>
          <p:nvPr/>
        </p:nvSpPr>
        <p:spPr>
          <a:xfrm>
            <a:off x="893475" y="866475"/>
            <a:ext cx="2454600" cy="2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aleway Light"/>
              <a:ea typeface="Raleway Light"/>
              <a:cs typeface="Raleway Light"/>
              <a:sym typeface="Raleway Light"/>
            </a:endParaRPr>
          </a:p>
        </p:txBody>
      </p:sp>
      <p:sp>
        <p:nvSpPr>
          <p:cNvPr id="156" name="Google Shape;156;p24"/>
          <p:cNvSpPr txBox="1"/>
          <p:nvPr/>
        </p:nvSpPr>
        <p:spPr>
          <a:xfrm>
            <a:off x="393192" y="310896"/>
            <a:ext cx="6980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Raleway"/>
                <a:ea typeface="Raleway"/>
                <a:cs typeface="Raleway"/>
                <a:sym typeface="Raleway"/>
              </a:rPr>
              <a:t>Let’s check your answer.</a:t>
            </a:r>
            <a:endParaRPr sz="1800" b="1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57" name="Google Shape;157;p24"/>
          <p:cNvSpPr txBox="1"/>
          <p:nvPr/>
        </p:nvSpPr>
        <p:spPr>
          <a:xfrm>
            <a:off x="393200" y="1077000"/>
            <a:ext cx="7191300" cy="12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rPr>
              <a:t>What is cancel culture?</a:t>
            </a:r>
            <a:endParaRPr sz="1800" dirty="0">
              <a:solidFill>
                <a:srgbClr val="FF0000"/>
              </a:solidFill>
              <a:latin typeface="Raleway Light"/>
              <a:ea typeface="Raleway Light"/>
              <a:cs typeface="Raleway Light"/>
              <a:sym typeface="Raleway Ligh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None/>
            </a:pPr>
            <a:r>
              <a:rPr lang="en-GB" sz="1800" dirty="0">
                <a:solidFill>
                  <a:schemeClr val="dk1"/>
                </a:solidFill>
                <a:highlight>
                  <a:schemeClr val="accent2"/>
                </a:highlight>
                <a:latin typeface="Raleway Light"/>
                <a:ea typeface="Raleway Light"/>
                <a:cs typeface="Raleway Light"/>
                <a:sym typeface="Raleway Light"/>
              </a:rPr>
              <a:t>withdrawing support for public figures and companies after they have done or said something considered objectionable or offensive </a:t>
            </a:r>
            <a:endParaRPr sz="1800" dirty="0">
              <a:solidFill>
                <a:schemeClr val="dk1"/>
              </a:solidFill>
              <a:highlight>
                <a:schemeClr val="accent2"/>
              </a:highlight>
              <a:latin typeface="Raleway Light"/>
              <a:ea typeface="Raleway Light"/>
              <a:cs typeface="Raleway Light"/>
              <a:sym typeface="Raleway Ligh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 sz="90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900">
              <a:solidFill>
                <a:srgbClr val="1F386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25"/>
          <p:cNvSpPr txBox="1"/>
          <p:nvPr/>
        </p:nvSpPr>
        <p:spPr>
          <a:xfrm>
            <a:off x="893475" y="866475"/>
            <a:ext cx="2454600" cy="2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aleway Light"/>
              <a:ea typeface="Raleway Light"/>
              <a:cs typeface="Raleway Light"/>
              <a:sym typeface="Raleway Light"/>
            </a:endParaRPr>
          </a:p>
        </p:txBody>
      </p:sp>
      <p:sp>
        <p:nvSpPr>
          <p:cNvPr id="164" name="Google Shape;164;p25"/>
          <p:cNvSpPr txBox="1"/>
          <p:nvPr/>
        </p:nvSpPr>
        <p:spPr>
          <a:xfrm>
            <a:off x="393200" y="729377"/>
            <a:ext cx="7438800" cy="215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 Light"/>
              <a:buAutoNum type="alphaUcPeriod"/>
            </a:pPr>
            <a:r>
              <a:rPr lang="en-GB" sz="16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rPr>
              <a:t>After it was discovered that his wife was not paying her taxes, the finance minister faced a huge …………… from the public.</a:t>
            </a:r>
            <a:endParaRPr sz="1600">
              <a:solidFill>
                <a:schemeClr val="dk1"/>
              </a:solidFill>
              <a:latin typeface="Raleway Light"/>
              <a:ea typeface="Raleway Light"/>
              <a:cs typeface="Raleway Light"/>
              <a:sym typeface="Raleway Light"/>
            </a:endParaRPr>
          </a:p>
          <a:p>
            <a:pPr marL="914400" marR="0" lvl="0" indent="-3302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 Light"/>
              <a:buAutoNum type="arabicPeriod"/>
            </a:pPr>
            <a:r>
              <a:rPr lang="en-GB" sz="16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rPr>
              <a:t>backup</a:t>
            </a:r>
            <a:endParaRPr sz="1600">
              <a:solidFill>
                <a:schemeClr val="dk1"/>
              </a:solidFill>
              <a:latin typeface="Raleway Light"/>
              <a:ea typeface="Raleway Light"/>
              <a:cs typeface="Raleway Light"/>
              <a:sym typeface="Raleway Light"/>
            </a:endParaRPr>
          </a:p>
          <a:p>
            <a:pPr marL="914400" marR="0" lvl="0" indent="-3302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 Light"/>
              <a:buAutoNum type="arabicPeriod"/>
            </a:pPr>
            <a:r>
              <a:rPr lang="en-GB" sz="16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rPr>
              <a:t>whiplash</a:t>
            </a:r>
            <a:endParaRPr sz="1600">
              <a:solidFill>
                <a:schemeClr val="dk1"/>
              </a:solidFill>
              <a:latin typeface="Raleway Light"/>
              <a:ea typeface="Raleway Light"/>
              <a:cs typeface="Raleway Light"/>
              <a:sym typeface="Raleway Light"/>
            </a:endParaRPr>
          </a:p>
          <a:p>
            <a:pPr marL="914400" marR="0" lvl="0" indent="-3302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 Light"/>
              <a:buAutoNum type="arabicPeriod"/>
            </a:pPr>
            <a:r>
              <a:rPr lang="en-GB" sz="16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rPr>
              <a:t>backlash</a:t>
            </a:r>
            <a:endParaRPr sz="1600">
              <a:solidFill>
                <a:schemeClr val="dk1"/>
              </a:solidFill>
              <a:latin typeface="Raleway Light"/>
              <a:ea typeface="Raleway Light"/>
              <a:cs typeface="Raleway Light"/>
              <a:sym typeface="Raleway Light"/>
            </a:endParaRPr>
          </a:p>
          <a:p>
            <a:pPr marL="914400" marR="0" lvl="0" indent="-330200" algn="l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600"/>
              <a:buFont typeface="Raleway Light"/>
              <a:buAutoNum type="arabicPeriod"/>
            </a:pPr>
            <a:r>
              <a:rPr lang="en-GB" sz="16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rPr>
              <a:t>pileup</a:t>
            </a:r>
            <a:endParaRPr sz="1600">
              <a:solidFill>
                <a:schemeClr val="dk1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  <p:sp>
        <p:nvSpPr>
          <p:cNvPr id="165" name="Google Shape;165;p25"/>
          <p:cNvSpPr txBox="1"/>
          <p:nvPr/>
        </p:nvSpPr>
        <p:spPr>
          <a:xfrm>
            <a:off x="393192" y="310896"/>
            <a:ext cx="6980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Raleway"/>
                <a:ea typeface="Raleway"/>
                <a:cs typeface="Raleway"/>
                <a:sym typeface="Raleway"/>
              </a:rPr>
              <a:t>Read the sentences and choose the correct option. [part 1/4]</a:t>
            </a:r>
            <a:endParaRPr sz="1800" b="1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66" name="Google Shape;166;p25"/>
          <p:cNvSpPr txBox="1"/>
          <p:nvPr/>
        </p:nvSpPr>
        <p:spPr>
          <a:xfrm>
            <a:off x="393200" y="2884277"/>
            <a:ext cx="7438800" cy="187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 Light"/>
              <a:buAutoNum type="alphaUcPeriod" startAt="2"/>
            </a:pPr>
            <a:r>
              <a:rPr lang="en-GB" sz="16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rPr>
              <a:t>Panic buying during the pandemic was a perfect example of …………… .</a:t>
            </a:r>
            <a:endParaRPr sz="1600">
              <a:solidFill>
                <a:schemeClr val="dk1"/>
              </a:solidFill>
              <a:latin typeface="Raleway Light"/>
              <a:ea typeface="Raleway Light"/>
              <a:cs typeface="Raleway Light"/>
              <a:sym typeface="Raleway Light"/>
            </a:endParaRPr>
          </a:p>
          <a:p>
            <a:pPr marL="914400" marR="0" lvl="0" indent="-3302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 Light"/>
              <a:buAutoNum type="arabicPeriod"/>
            </a:pPr>
            <a:r>
              <a:rPr lang="en-GB" sz="16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rPr>
              <a:t>mob mindset</a:t>
            </a:r>
            <a:endParaRPr sz="1600">
              <a:solidFill>
                <a:schemeClr val="dk1"/>
              </a:solidFill>
              <a:latin typeface="Raleway Light"/>
              <a:ea typeface="Raleway Light"/>
              <a:cs typeface="Raleway Light"/>
              <a:sym typeface="Raleway Light"/>
            </a:endParaRPr>
          </a:p>
          <a:p>
            <a:pPr marL="914400" marR="0" lvl="0" indent="-3302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 Light"/>
              <a:buAutoNum type="arabicPeriod"/>
            </a:pPr>
            <a:r>
              <a:rPr lang="en-GB" sz="16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rPr>
              <a:t>mob mentality</a:t>
            </a:r>
            <a:endParaRPr sz="1600">
              <a:solidFill>
                <a:schemeClr val="dk1"/>
              </a:solidFill>
              <a:latin typeface="Raleway Light"/>
              <a:ea typeface="Raleway Light"/>
              <a:cs typeface="Raleway Light"/>
              <a:sym typeface="Raleway Light"/>
            </a:endParaRPr>
          </a:p>
          <a:p>
            <a:pPr marL="914400" marR="0" lvl="0" indent="-3302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 Light"/>
              <a:buAutoNum type="arabicPeriod"/>
            </a:pPr>
            <a:r>
              <a:rPr lang="en-GB" sz="16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rPr>
              <a:t>gang culture</a:t>
            </a:r>
            <a:endParaRPr sz="1600">
              <a:solidFill>
                <a:schemeClr val="dk1"/>
              </a:solidFill>
              <a:latin typeface="Raleway Light"/>
              <a:ea typeface="Raleway Light"/>
              <a:cs typeface="Raleway Light"/>
              <a:sym typeface="Raleway Light"/>
            </a:endParaRPr>
          </a:p>
          <a:p>
            <a:pPr marL="914400" marR="0" lvl="0" indent="-330200" algn="l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600"/>
              <a:buFont typeface="Raleway Light"/>
              <a:buAutoNum type="arabicPeriod"/>
            </a:pPr>
            <a:r>
              <a:rPr lang="en-GB" sz="16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rPr>
              <a:t>group therapy</a:t>
            </a:r>
            <a:endParaRPr sz="1600">
              <a:solidFill>
                <a:schemeClr val="dk1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 sz="90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900">
              <a:solidFill>
                <a:srgbClr val="1F386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26"/>
          <p:cNvSpPr txBox="1"/>
          <p:nvPr/>
        </p:nvSpPr>
        <p:spPr>
          <a:xfrm>
            <a:off x="893475" y="866475"/>
            <a:ext cx="2454600" cy="2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aleway Light"/>
              <a:ea typeface="Raleway Light"/>
              <a:cs typeface="Raleway Light"/>
              <a:sym typeface="Raleway Light"/>
            </a:endParaRPr>
          </a:p>
        </p:txBody>
      </p:sp>
      <p:sp>
        <p:nvSpPr>
          <p:cNvPr id="173" name="Google Shape;173;p26"/>
          <p:cNvSpPr txBox="1"/>
          <p:nvPr/>
        </p:nvSpPr>
        <p:spPr>
          <a:xfrm>
            <a:off x="393200" y="729377"/>
            <a:ext cx="7438800" cy="215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 Light"/>
              <a:buAutoNum type="alphaUcPeriod"/>
            </a:pPr>
            <a:r>
              <a:rPr lang="en-GB" sz="16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rPr>
              <a:t>After it was discovered that his wife was not paying her taxes, the finance minister faced a huge …………… from the public.</a:t>
            </a:r>
            <a:endParaRPr sz="1600">
              <a:solidFill>
                <a:schemeClr val="dk1"/>
              </a:solidFill>
              <a:latin typeface="Raleway Light"/>
              <a:ea typeface="Raleway Light"/>
              <a:cs typeface="Raleway Light"/>
              <a:sym typeface="Raleway Light"/>
            </a:endParaRPr>
          </a:p>
          <a:p>
            <a:pPr marL="914400" marR="0" lvl="0" indent="-3302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 Light"/>
              <a:buAutoNum type="arabicPeriod"/>
            </a:pPr>
            <a:r>
              <a:rPr lang="en-GB" sz="16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rPr>
              <a:t>backup</a:t>
            </a:r>
            <a:endParaRPr sz="1600">
              <a:solidFill>
                <a:schemeClr val="dk1"/>
              </a:solidFill>
              <a:latin typeface="Raleway Light"/>
              <a:ea typeface="Raleway Light"/>
              <a:cs typeface="Raleway Light"/>
              <a:sym typeface="Raleway Light"/>
            </a:endParaRPr>
          </a:p>
          <a:p>
            <a:pPr marL="914400" marR="0" lvl="0" indent="-3302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 Light"/>
              <a:buAutoNum type="arabicPeriod"/>
            </a:pPr>
            <a:r>
              <a:rPr lang="en-GB" sz="16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rPr>
              <a:t>whiplash</a:t>
            </a:r>
            <a:endParaRPr sz="1600">
              <a:solidFill>
                <a:schemeClr val="dk1"/>
              </a:solidFill>
              <a:latin typeface="Raleway Light"/>
              <a:ea typeface="Raleway Light"/>
              <a:cs typeface="Raleway Light"/>
              <a:sym typeface="Raleway Light"/>
            </a:endParaRPr>
          </a:p>
          <a:p>
            <a:pPr marL="914400" marR="0" lvl="0" indent="-3302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 Light"/>
              <a:buAutoNum type="arabicPeriod"/>
            </a:pPr>
            <a:r>
              <a:rPr lang="en-GB" sz="16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rPr>
              <a:t>backlash</a:t>
            </a:r>
            <a:endParaRPr sz="1600">
              <a:solidFill>
                <a:schemeClr val="dk1"/>
              </a:solidFill>
              <a:latin typeface="Raleway Light"/>
              <a:ea typeface="Raleway Light"/>
              <a:cs typeface="Raleway Light"/>
              <a:sym typeface="Raleway Light"/>
            </a:endParaRPr>
          </a:p>
          <a:p>
            <a:pPr marL="914400" marR="0" lvl="0" indent="-330200" algn="l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600"/>
              <a:buFont typeface="Raleway Light"/>
              <a:buAutoNum type="arabicPeriod"/>
            </a:pPr>
            <a:r>
              <a:rPr lang="en-GB" sz="16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rPr>
              <a:t>pileup</a:t>
            </a:r>
            <a:endParaRPr sz="1600">
              <a:solidFill>
                <a:schemeClr val="dk1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  <p:sp>
        <p:nvSpPr>
          <p:cNvPr id="174" name="Google Shape;174;p26"/>
          <p:cNvSpPr txBox="1"/>
          <p:nvPr/>
        </p:nvSpPr>
        <p:spPr>
          <a:xfrm>
            <a:off x="393192" y="310896"/>
            <a:ext cx="6980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Raleway"/>
                <a:ea typeface="Raleway"/>
                <a:cs typeface="Raleway"/>
                <a:sym typeface="Raleway"/>
              </a:rPr>
              <a:t>Let’s check your answers. [part 1/4]</a:t>
            </a:r>
            <a:endParaRPr sz="1800" b="1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75" name="Google Shape;175;p26"/>
          <p:cNvSpPr txBox="1"/>
          <p:nvPr/>
        </p:nvSpPr>
        <p:spPr>
          <a:xfrm>
            <a:off x="393200" y="2884277"/>
            <a:ext cx="7438800" cy="187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 Light"/>
              <a:buAutoNum type="alphaUcPeriod" startAt="2"/>
            </a:pPr>
            <a:r>
              <a:rPr lang="en-GB" sz="16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rPr>
              <a:t>Panic buying during the pandemic was a perfect example of …………… .</a:t>
            </a:r>
            <a:endParaRPr sz="1600">
              <a:solidFill>
                <a:schemeClr val="dk1"/>
              </a:solidFill>
              <a:latin typeface="Raleway Light"/>
              <a:ea typeface="Raleway Light"/>
              <a:cs typeface="Raleway Light"/>
              <a:sym typeface="Raleway Light"/>
            </a:endParaRPr>
          </a:p>
          <a:p>
            <a:pPr marL="914400" marR="0" lvl="0" indent="-3302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 Light"/>
              <a:buAutoNum type="arabicPeriod"/>
            </a:pPr>
            <a:r>
              <a:rPr lang="en-GB" sz="16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rPr>
              <a:t>mob mindset</a:t>
            </a:r>
            <a:endParaRPr sz="1600">
              <a:solidFill>
                <a:schemeClr val="dk1"/>
              </a:solidFill>
              <a:latin typeface="Raleway Light"/>
              <a:ea typeface="Raleway Light"/>
              <a:cs typeface="Raleway Light"/>
              <a:sym typeface="Raleway Light"/>
            </a:endParaRPr>
          </a:p>
          <a:p>
            <a:pPr marL="914400" marR="0" lvl="0" indent="-3302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 Light"/>
              <a:buAutoNum type="arabicPeriod"/>
            </a:pPr>
            <a:r>
              <a:rPr lang="en-GB" sz="16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rPr>
              <a:t>mob mentality</a:t>
            </a:r>
            <a:endParaRPr sz="1600">
              <a:solidFill>
                <a:schemeClr val="dk1"/>
              </a:solidFill>
              <a:latin typeface="Raleway Light"/>
              <a:ea typeface="Raleway Light"/>
              <a:cs typeface="Raleway Light"/>
              <a:sym typeface="Raleway Light"/>
            </a:endParaRPr>
          </a:p>
          <a:p>
            <a:pPr marL="914400" marR="0" lvl="0" indent="-3302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 Light"/>
              <a:buAutoNum type="arabicPeriod"/>
            </a:pPr>
            <a:r>
              <a:rPr lang="en-GB" sz="16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rPr>
              <a:t>gang culture</a:t>
            </a:r>
            <a:endParaRPr sz="1600">
              <a:solidFill>
                <a:schemeClr val="dk1"/>
              </a:solidFill>
              <a:latin typeface="Raleway Light"/>
              <a:ea typeface="Raleway Light"/>
              <a:cs typeface="Raleway Light"/>
              <a:sym typeface="Raleway Light"/>
            </a:endParaRPr>
          </a:p>
          <a:p>
            <a:pPr marL="914400" marR="0" lvl="0" indent="-330200" algn="l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600"/>
              <a:buFont typeface="Raleway Light"/>
              <a:buAutoNum type="arabicPeriod"/>
            </a:pPr>
            <a:r>
              <a:rPr lang="en-GB" sz="16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rPr>
              <a:t>group therapy</a:t>
            </a:r>
            <a:endParaRPr sz="1600">
              <a:solidFill>
                <a:schemeClr val="dk1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  <p:sp>
        <p:nvSpPr>
          <p:cNvPr id="176" name="Google Shape;176;p26"/>
          <p:cNvSpPr txBox="1"/>
          <p:nvPr/>
        </p:nvSpPr>
        <p:spPr>
          <a:xfrm>
            <a:off x="1321225" y="2151600"/>
            <a:ext cx="952200" cy="306300"/>
          </a:xfrm>
          <a:prstGeom prst="rect">
            <a:avLst/>
          </a:prstGeom>
          <a:solidFill>
            <a:srgbClr val="FFCD00">
              <a:alpha val="54189"/>
            </a:srgb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aleway Light"/>
              <a:ea typeface="Raleway Light"/>
              <a:cs typeface="Raleway Light"/>
              <a:sym typeface="Raleway Light"/>
            </a:endParaRPr>
          </a:p>
        </p:txBody>
      </p:sp>
      <p:sp>
        <p:nvSpPr>
          <p:cNvPr id="177" name="Google Shape;177;p26"/>
          <p:cNvSpPr txBox="1"/>
          <p:nvPr/>
        </p:nvSpPr>
        <p:spPr>
          <a:xfrm>
            <a:off x="1352591" y="3666975"/>
            <a:ext cx="1439700" cy="306300"/>
          </a:xfrm>
          <a:prstGeom prst="rect">
            <a:avLst/>
          </a:prstGeom>
          <a:solidFill>
            <a:srgbClr val="FFCD00">
              <a:alpha val="54189"/>
            </a:srgb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aleway Light"/>
              <a:ea typeface="Raleway Light"/>
              <a:cs typeface="Raleway Light"/>
              <a:sym typeface="Raleway Ligh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 sz="90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900">
              <a:solidFill>
                <a:srgbClr val="1F386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7"/>
          <p:cNvSpPr txBox="1"/>
          <p:nvPr/>
        </p:nvSpPr>
        <p:spPr>
          <a:xfrm>
            <a:off x="893475" y="866475"/>
            <a:ext cx="2454600" cy="2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aleway Light"/>
              <a:ea typeface="Raleway Light"/>
              <a:cs typeface="Raleway Light"/>
              <a:sym typeface="Raleway Light"/>
            </a:endParaRPr>
          </a:p>
        </p:txBody>
      </p:sp>
      <p:sp>
        <p:nvSpPr>
          <p:cNvPr id="184" name="Google Shape;184;p27"/>
          <p:cNvSpPr txBox="1"/>
          <p:nvPr/>
        </p:nvSpPr>
        <p:spPr>
          <a:xfrm>
            <a:off x="393192" y="310896"/>
            <a:ext cx="6980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Raleway"/>
                <a:ea typeface="Raleway"/>
                <a:cs typeface="Raleway"/>
                <a:sym typeface="Raleway"/>
              </a:rPr>
              <a:t>Read the sentences and choose the correct option. [part 2/4]</a:t>
            </a:r>
            <a:endParaRPr sz="1800" b="1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85" name="Google Shape;185;p27"/>
          <p:cNvSpPr txBox="1"/>
          <p:nvPr/>
        </p:nvSpPr>
        <p:spPr>
          <a:xfrm>
            <a:off x="393200" y="2841055"/>
            <a:ext cx="7438800" cy="215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 Light"/>
              <a:buAutoNum type="alphaUcPeriod" startAt="4"/>
            </a:pPr>
            <a:r>
              <a:rPr lang="en-GB" sz="16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rPr>
              <a:t>What she said was offensive, but it was embarrassing to call her …………… in front of everybody.</a:t>
            </a:r>
            <a:endParaRPr sz="1600">
              <a:solidFill>
                <a:schemeClr val="dk1"/>
              </a:solidFill>
              <a:latin typeface="Raleway Light"/>
              <a:ea typeface="Raleway Light"/>
              <a:cs typeface="Raleway Light"/>
              <a:sym typeface="Raleway Light"/>
            </a:endParaRPr>
          </a:p>
          <a:p>
            <a:pPr marL="914400" marR="0" lvl="0" indent="-3302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 Light"/>
              <a:buAutoNum type="arabicPeriod"/>
            </a:pPr>
            <a:r>
              <a:rPr lang="en-GB" sz="16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rPr>
              <a:t>up</a:t>
            </a:r>
            <a:endParaRPr sz="1600">
              <a:solidFill>
                <a:schemeClr val="dk1"/>
              </a:solidFill>
              <a:latin typeface="Raleway Light"/>
              <a:ea typeface="Raleway Light"/>
              <a:cs typeface="Raleway Light"/>
              <a:sym typeface="Raleway Light"/>
            </a:endParaRPr>
          </a:p>
          <a:p>
            <a:pPr marL="914400" marR="0" lvl="0" indent="-3302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 Light"/>
              <a:buAutoNum type="arabicPeriod"/>
            </a:pPr>
            <a:r>
              <a:rPr lang="en-GB" sz="16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rPr>
              <a:t>out</a:t>
            </a:r>
            <a:endParaRPr sz="1600">
              <a:solidFill>
                <a:schemeClr val="dk1"/>
              </a:solidFill>
              <a:latin typeface="Raleway Light"/>
              <a:ea typeface="Raleway Light"/>
              <a:cs typeface="Raleway Light"/>
              <a:sym typeface="Raleway Light"/>
            </a:endParaRPr>
          </a:p>
          <a:p>
            <a:pPr marL="914400" marR="0" lvl="0" indent="-3302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 Light"/>
              <a:buAutoNum type="arabicPeriod"/>
            </a:pPr>
            <a:r>
              <a:rPr lang="en-GB" sz="16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rPr>
              <a:t>back</a:t>
            </a:r>
            <a:endParaRPr sz="1600">
              <a:solidFill>
                <a:schemeClr val="dk1"/>
              </a:solidFill>
              <a:latin typeface="Raleway Light"/>
              <a:ea typeface="Raleway Light"/>
              <a:cs typeface="Raleway Light"/>
              <a:sym typeface="Raleway Light"/>
            </a:endParaRPr>
          </a:p>
          <a:p>
            <a:pPr marL="914400" marR="0" lvl="0" indent="-330200" algn="l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600"/>
              <a:buFont typeface="Raleway Light"/>
              <a:buAutoNum type="arabicPeriod"/>
            </a:pPr>
            <a:r>
              <a:rPr lang="en-GB" sz="16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rPr>
              <a:t>off</a:t>
            </a:r>
            <a:endParaRPr sz="1600">
              <a:solidFill>
                <a:schemeClr val="dk1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  <p:sp>
        <p:nvSpPr>
          <p:cNvPr id="186" name="Google Shape;186;p27"/>
          <p:cNvSpPr txBox="1"/>
          <p:nvPr/>
        </p:nvSpPr>
        <p:spPr>
          <a:xfrm>
            <a:off x="393200" y="729377"/>
            <a:ext cx="7438800" cy="215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 Light"/>
              <a:buAutoNum type="alphaUcPeriod" startAt="3"/>
            </a:pPr>
            <a:r>
              <a:rPr lang="en-GB" sz="16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rPr>
              <a:t>If a journalist wants to …………… a celebrity for sexual harassment, they had better make sure they have evidence.</a:t>
            </a:r>
            <a:endParaRPr sz="1600">
              <a:solidFill>
                <a:schemeClr val="dk1"/>
              </a:solidFill>
              <a:latin typeface="Raleway Light"/>
              <a:ea typeface="Raleway Light"/>
              <a:cs typeface="Raleway Light"/>
              <a:sym typeface="Raleway Light"/>
            </a:endParaRPr>
          </a:p>
          <a:p>
            <a:pPr marL="914400" marR="0" lvl="0" indent="-3302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 Light"/>
              <a:buAutoNum type="arabicPeriod"/>
            </a:pPr>
            <a:r>
              <a:rPr lang="en-GB" sz="16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rPr>
              <a:t>set about</a:t>
            </a:r>
            <a:endParaRPr sz="1600">
              <a:solidFill>
                <a:schemeClr val="dk1"/>
              </a:solidFill>
              <a:latin typeface="Raleway Light"/>
              <a:ea typeface="Raleway Light"/>
              <a:cs typeface="Raleway Light"/>
              <a:sym typeface="Raleway Light"/>
            </a:endParaRPr>
          </a:p>
          <a:p>
            <a:pPr marL="914400" marR="0" lvl="0" indent="-3302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 Light"/>
              <a:buAutoNum type="arabicPeriod"/>
            </a:pPr>
            <a:r>
              <a:rPr lang="en-GB" sz="16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rPr>
              <a:t>rip off</a:t>
            </a:r>
            <a:endParaRPr sz="1600">
              <a:solidFill>
                <a:schemeClr val="dk1"/>
              </a:solidFill>
              <a:latin typeface="Raleway Light"/>
              <a:ea typeface="Raleway Light"/>
              <a:cs typeface="Raleway Light"/>
              <a:sym typeface="Raleway Light"/>
            </a:endParaRPr>
          </a:p>
          <a:p>
            <a:pPr marL="914400" marR="0" lvl="0" indent="-3302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 Light"/>
              <a:buAutoNum type="arabicPeriod"/>
            </a:pPr>
            <a:r>
              <a:rPr lang="en-GB" sz="16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rPr>
              <a:t>wind up</a:t>
            </a:r>
            <a:endParaRPr sz="1600">
              <a:solidFill>
                <a:schemeClr val="dk1"/>
              </a:solidFill>
              <a:latin typeface="Raleway Light"/>
              <a:ea typeface="Raleway Light"/>
              <a:cs typeface="Raleway Light"/>
              <a:sym typeface="Raleway Light"/>
            </a:endParaRPr>
          </a:p>
          <a:p>
            <a:pPr marL="914400" marR="0" lvl="0" indent="-3302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 Light"/>
              <a:buAutoNum type="arabicPeriod"/>
            </a:pPr>
            <a:r>
              <a:rPr lang="en-GB" sz="16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rPr>
              <a:t>go after</a:t>
            </a:r>
            <a:endParaRPr sz="1600">
              <a:solidFill>
                <a:schemeClr val="dk1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 sz="90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900">
              <a:solidFill>
                <a:srgbClr val="1F386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28"/>
          <p:cNvSpPr txBox="1"/>
          <p:nvPr/>
        </p:nvSpPr>
        <p:spPr>
          <a:xfrm>
            <a:off x="893475" y="866475"/>
            <a:ext cx="2454600" cy="2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aleway Light"/>
              <a:ea typeface="Raleway Light"/>
              <a:cs typeface="Raleway Light"/>
              <a:sym typeface="Raleway Light"/>
            </a:endParaRPr>
          </a:p>
        </p:txBody>
      </p:sp>
      <p:sp>
        <p:nvSpPr>
          <p:cNvPr id="193" name="Google Shape;193;p28"/>
          <p:cNvSpPr txBox="1"/>
          <p:nvPr/>
        </p:nvSpPr>
        <p:spPr>
          <a:xfrm>
            <a:off x="393192" y="310896"/>
            <a:ext cx="6980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Raleway"/>
                <a:ea typeface="Raleway"/>
                <a:cs typeface="Raleway"/>
                <a:sym typeface="Raleway"/>
              </a:rPr>
              <a:t>Let’s check your answers. [part 2/4]</a:t>
            </a:r>
            <a:endParaRPr sz="1800" b="1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94" name="Google Shape;194;p28"/>
          <p:cNvSpPr txBox="1"/>
          <p:nvPr/>
        </p:nvSpPr>
        <p:spPr>
          <a:xfrm>
            <a:off x="393200" y="2841055"/>
            <a:ext cx="7438800" cy="215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 Light"/>
              <a:buAutoNum type="alphaUcPeriod" startAt="4"/>
            </a:pPr>
            <a:r>
              <a:rPr lang="en-GB" sz="16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rPr>
              <a:t>What she said was offensive, but it was embarrassing to call her …………… in front of everybody.</a:t>
            </a:r>
            <a:endParaRPr sz="1600">
              <a:solidFill>
                <a:schemeClr val="dk1"/>
              </a:solidFill>
              <a:latin typeface="Raleway Light"/>
              <a:ea typeface="Raleway Light"/>
              <a:cs typeface="Raleway Light"/>
              <a:sym typeface="Raleway Light"/>
            </a:endParaRPr>
          </a:p>
          <a:p>
            <a:pPr marL="914400" marR="0" lvl="0" indent="-3302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 Light"/>
              <a:buAutoNum type="arabicPeriod"/>
            </a:pPr>
            <a:r>
              <a:rPr lang="en-GB" sz="16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rPr>
              <a:t>up</a:t>
            </a:r>
            <a:endParaRPr sz="1600">
              <a:solidFill>
                <a:schemeClr val="dk1"/>
              </a:solidFill>
              <a:latin typeface="Raleway Light"/>
              <a:ea typeface="Raleway Light"/>
              <a:cs typeface="Raleway Light"/>
              <a:sym typeface="Raleway Light"/>
            </a:endParaRPr>
          </a:p>
          <a:p>
            <a:pPr marL="914400" marR="0" lvl="0" indent="-3302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 Light"/>
              <a:buAutoNum type="arabicPeriod"/>
            </a:pPr>
            <a:r>
              <a:rPr lang="en-GB" sz="16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rPr>
              <a:t>out</a:t>
            </a:r>
            <a:endParaRPr sz="1600">
              <a:solidFill>
                <a:schemeClr val="dk1"/>
              </a:solidFill>
              <a:latin typeface="Raleway Light"/>
              <a:ea typeface="Raleway Light"/>
              <a:cs typeface="Raleway Light"/>
              <a:sym typeface="Raleway Light"/>
            </a:endParaRPr>
          </a:p>
          <a:p>
            <a:pPr marL="914400" marR="0" lvl="0" indent="-3302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 Light"/>
              <a:buAutoNum type="arabicPeriod"/>
            </a:pPr>
            <a:r>
              <a:rPr lang="en-GB" sz="16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rPr>
              <a:t>back</a:t>
            </a:r>
            <a:endParaRPr sz="1600">
              <a:solidFill>
                <a:schemeClr val="dk1"/>
              </a:solidFill>
              <a:latin typeface="Raleway Light"/>
              <a:ea typeface="Raleway Light"/>
              <a:cs typeface="Raleway Light"/>
              <a:sym typeface="Raleway Light"/>
            </a:endParaRPr>
          </a:p>
          <a:p>
            <a:pPr marL="914400" marR="0" lvl="0" indent="-330200" algn="l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600"/>
              <a:buFont typeface="Raleway Light"/>
              <a:buAutoNum type="arabicPeriod"/>
            </a:pPr>
            <a:r>
              <a:rPr lang="en-GB" sz="16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rPr>
              <a:t>off</a:t>
            </a:r>
            <a:endParaRPr sz="1600">
              <a:solidFill>
                <a:schemeClr val="dk1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  <p:sp>
        <p:nvSpPr>
          <p:cNvPr id="195" name="Google Shape;195;p28"/>
          <p:cNvSpPr txBox="1"/>
          <p:nvPr/>
        </p:nvSpPr>
        <p:spPr>
          <a:xfrm>
            <a:off x="393200" y="729377"/>
            <a:ext cx="7438800" cy="215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 Light"/>
              <a:buAutoNum type="alphaUcPeriod" startAt="3"/>
            </a:pPr>
            <a:r>
              <a:rPr lang="en-GB" sz="16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rPr>
              <a:t>If a journalist wants to …………… a celebrity for sexual harassment, they had better make sure they have evidence.</a:t>
            </a:r>
            <a:endParaRPr sz="1600">
              <a:solidFill>
                <a:schemeClr val="dk1"/>
              </a:solidFill>
              <a:latin typeface="Raleway Light"/>
              <a:ea typeface="Raleway Light"/>
              <a:cs typeface="Raleway Light"/>
              <a:sym typeface="Raleway Light"/>
            </a:endParaRPr>
          </a:p>
          <a:p>
            <a:pPr marL="914400" marR="0" lvl="0" indent="-3302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 Light"/>
              <a:buAutoNum type="arabicPeriod"/>
            </a:pPr>
            <a:r>
              <a:rPr lang="en-GB" sz="16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rPr>
              <a:t>set about</a:t>
            </a:r>
            <a:endParaRPr sz="1600">
              <a:solidFill>
                <a:schemeClr val="dk1"/>
              </a:solidFill>
              <a:latin typeface="Raleway Light"/>
              <a:ea typeface="Raleway Light"/>
              <a:cs typeface="Raleway Light"/>
              <a:sym typeface="Raleway Light"/>
            </a:endParaRPr>
          </a:p>
          <a:p>
            <a:pPr marL="914400" marR="0" lvl="0" indent="-3302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 Light"/>
              <a:buAutoNum type="arabicPeriod"/>
            </a:pPr>
            <a:r>
              <a:rPr lang="en-GB" sz="16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rPr>
              <a:t>rip off</a:t>
            </a:r>
            <a:endParaRPr sz="1600">
              <a:solidFill>
                <a:schemeClr val="dk1"/>
              </a:solidFill>
              <a:latin typeface="Raleway Light"/>
              <a:ea typeface="Raleway Light"/>
              <a:cs typeface="Raleway Light"/>
              <a:sym typeface="Raleway Light"/>
            </a:endParaRPr>
          </a:p>
          <a:p>
            <a:pPr marL="914400" marR="0" lvl="0" indent="-3302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 Light"/>
              <a:buAutoNum type="arabicPeriod"/>
            </a:pPr>
            <a:r>
              <a:rPr lang="en-GB" sz="16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rPr>
              <a:t>wind up</a:t>
            </a:r>
            <a:endParaRPr sz="1600">
              <a:solidFill>
                <a:schemeClr val="dk1"/>
              </a:solidFill>
              <a:latin typeface="Raleway Light"/>
              <a:ea typeface="Raleway Light"/>
              <a:cs typeface="Raleway Light"/>
              <a:sym typeface="Raleway Light"/>
            </a:endParaRPr>
          </a:p>
          <a:p>
            <a:pPr marL="914400" marR="0" lvl="0" indent="-3302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 Light"/>
              <a:buAutoNum type="arabicPeriod"/>
            </a:pPr>
            <a:r>
              <a:rPr lang="en-GB" sz="16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rPr>
              <a:t>go after</a:t>
            </a:r>
            <a:endParaRPr sz="1600">
              <a:solidFill>
                <a:schemeClr val="dk1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  <p:sp>
        <p:nvSpPr>
          <p:cNvPr id="196" name="Google Shape;196;p28"/>
          <p:cNvSpPr txBox="1"/>
          <p:nvPr/>
        </p:nvSpPr>
        <p:spPr>
          <a:xfrm>
            <a:off x="1295300" y="2497375"/>
            <a:ext cx="952200" cy="306300"/>
          </a:xfrm>
          <a:prstGeom prst="rect">
            <a:avLst/>
          </a:prstGeom>
          <a:solidFill>
            <a:srgbClr val="FFCD00">
              <a:alpha val="54189"/>
            </a:srgb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aleway Light"/>
              <a:ea typeface="Raleway Light"/>
              <a:cs typeface="Raleway Light"/>
              <a:sym typeface="Raleway Light"/>
            </a:endParaRPr>
          </a:p>
        </p:txBody>
      </p:sp>
      <p:sp>
        <p:nvSpPr>
          <p:cNvPr id="197" name="Google Shape;197;p28"/>
          <p:cNvSpPr txBox="1"/>
          <p:nvPr/>
        </p:nvSpPr>
        <p:spPr>
          <a:xfrm>
            <a:off x="1352595" y="3903250"/>
            <a:ext cx="402300" cy="306300"/>
          </a:xfrm>
          <a:prstGeom prst="rect">
            <a:avLst/>
          </a:prstGeom>
          <a:solidFill>
            <a:srgbClr val="FFCD00">
              <a:alpha val="54189"/>
            </a:srgb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aleway Light"/>
              <a:ea typeface="Raleway Light"/>
              <a:cs typeface="Raleway Light"/>
              <a:sym typeface="Raleway Ligh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 sz="90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900">
              <a:solidFill>
                <a:srgbClr val="1F386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9"/>
          <p:cNvSpPr txBox="1"/>
          <p:nvPr/>
        </p:nvSpPr>
        <p:spPr>
          <a:xfrm>
            <a:off x="893475" y="866475"/>
            <a:ext cx="2454600" cy="2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aleway Light"/>
              <a:ea typeface="Raleway Light"/>
              <a:cs typeface="Raleway Light"/>
              <a:sym typeface="Raleway Light"/>
            </a:endParaRPr>
          </a:p>
        </p:txBody>
      </p:sp>
      <p:sp>
        <p:nvSpPr>
          <p:cNvPr id="204" name="Google Shape;204;p29"/>
          <p:cNvSpPr txBox="1"/>
          <p:nvPr/>
        </p:nvSpPr>
        <p:spPr>
          <a:xfrm>
            <a:off x="393192" y="310896"/>
            <a:ext cx="6980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Raleway"/>
                <a:ea typeface="Raleway"/>
                <a:cs typeface="Raleway"/>
                <a:sym typeface="Raleway"/>
              </a:rPr>
              <a:t>Read the sentences and choose the correct option. [part 3/4]</a:t>
            </a:r>
            <a:endParaRPr sz="1800" b="1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05" name="Google Shape;205;p29"/>
          <p:cNvSpPr txBox="1"/>
          <p:nvPr/>
        </p:nvSpPr>
        <p:spPr>
          <a:xfrm>
            <a:off x="393200" y="729377"/>
            <a:ext cx="7438800" cy="187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 Light"/>
              <a:buAutoNum type="alphaUcPeriod" startAt="5"/>
            </a:pPr>
            <a:r>
              <a:rPr lang="en-GB" sz="16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rPr>
              <a:t>If these students fail their exam, I will hold you …………… for that.</a:t>
            </a:r>
            <a:endParaRPr sz="1600">
              <a:solidFill>
                <a:schemeClr val="dk1"/>
              </a:solidFill>
              <a:latin typeface="Raleway Light"/>
              <a:ea typeface="Raleway Light"/>
              <a:cs typeface="Raleway Light"/>
              <a:sym typeface="Raleway Light"/>
            </a:endParaRPr>
          </a:p>
          <a:p>
            <a:pPr marL="914400" marR="0" lvl="0" indent="-3302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 Light"/>
              <a:buAutoNum type="arabicPeriod"/>
            </a:pPr>
            <a:r>
              <a:rPr lang="en-GB" sz="16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rPr>
              <a:t>chargeable</a:t>
            </a:r>
            <a:endParaRPr sz="1600">
              <a:solidFill>
                <a:schemeClr val="dk1"/>
              </a:solidFill>
              <a:latin typeface="Raleway Light"/>
              <a:ea typeface="Raleway Light"/>
              <a:cs typeface="Raleway Light"/>
              <a:sym typeface="Raleway Light"/>
            </a:endParaRPr>
          </a:p>
          <a:p>
            <a:pPr marL="914400" marR="0" lvl="0" indent="-3302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 Light"/>
              <a:buAutoNum type="arabicPeriod"/>
            </a:pPr>
            <a:r>
              <a:rPr lang="en-GB" sz="16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rPr>
              <a:t>answerable</a:t>
            </a:r>
            <a:endParaRPr sz="1600">
              <a:solidFill>
                <a:schemeClr val="dk1"/>
              </a:solidFill>
              <a:latin typeface="Raleway Light"/>
              <a:ea typeface="Raleway Light"/>
              <a:cs typeface="Raleway Light"/>
              <a:sym typeface="Raleway Light"/>
            </a:endParaRPr>
          </a:p>
          <a:p>
            <a:pPr marL="914400" marR="0" lvl="0" indent="-3302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 Light"/>
              <a:buAutoNum type="arabicPeriod"/>
            </a:pPr>
            <a:r>
              <a:rPr lang="en-GB" sz="16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rPr>
              <a:t>understandable</a:t>
            </a:r>
            <a:endParaRPr sz="1600">
              <a:solidFill>
                <a:schemeClr val="dk1"/>
              </a:solidFill>
              <a:latin typeface="Raleway Light"/>
              <a:ea typeface="Raleway Light"/>
              <a:cs typeface="Raleway Light"/>
              <a:sym typeface="Raleway Light"/>
            </a:endParaRPr>
          </a:p>
          <a:p>
            <a:pPr marL="914400" marR="0" lvl="0" indent="-330200" algn="l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600"/>
              <a:buFont typeface="Raleway Light"/>
              <a:buAutoNum type="arabicPeriod"/>
            </a:pPr>
            <a:r>
              <a:rPr lang="en-GB" sz="16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rPr>
              <a:t>accountable</a:t>
            </a:r>
            <a:endParaRPr sz="1600">
              <a:solidFill>
                <a:schemeClr val="dk1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  <p:sp>
        <p:nvSpPr>
          <p:cNvPr id="206" name="Google Shape;206;p29"/>
          <p:cNvSpPr txBox="1"/>
          <p:nvPr/>
        </p:nvSpPr>
        <p:spPr>
          <a:xfrm>
            <a:off x="393200" y="2694102"/>
            <a:ext cx="7438800" cy="187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 Light"/>
              <a:buAutoNum type="alphaUcPeriod" startAt="6"/>
            </a:pPr>
            <a:r>
              <a:rPr lang="en-GB" sz="16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rPr>
              <a:t>Most of the staff were …………… by the tone of his email.</a:t>
            </a:r>
            <a:endParaRPr sz="1600">
              <a:solidFill>
                <a:schemeClr val="dk1"/>
              </a:solidFill>
              <a:latin typeface="Raleway Light"/>
              <a:ea typeface="Raleway Light"/>
              <a:cs typeface="Raleway Light"/>
              <a:sym typeface="Raleway Light"/>
            </a:endParaRPr>
          </a:p>
          <a:p>
            <a:pPr marL="914400" marR="0" lvl="0" indent="-3302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 Light"/>
              <a:buAutoNum type="arabicPeriod"/>
            </a:pPr>
            <a:r>
              <a:rPr lang="en-GB" sz="16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rPr>
              <a:t>adjusted</a:t>
            </a:r>
            <a:endParaRPr sz="1600">
              <a:solidFill>
                <a:schemeClr val="dk1"/>
              </a:solidFill>
              <a:latin typeface="Raleway Light"/>
              <a:ea typeface="Raleway Light"/>
              <a:cs typeface="Raleway Light"/>
              <a:sym typeface="Raleway Light"/>
            </a:endParaRPr>
          </a:p>
          <a:p>
            <a:pPr marL="914400" marR="0" lvl="0" indent="-3302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 Light"/>
              <a:buAutoNum type="arabicPeriod"/>
            </a:pPr>
            <a:r>
              <a:rPr lang="en-GB" sz="16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rPr>
              <a:t>suspected</a:t>
            </a:r>
            <a:endParaRPr sz="1600">
              <a:solidFill>
                <a:schemeClr val="dk1"/>
              </a:solidFill>
              <a:latin typeface="Raleway Light"/>
              <a:ea typeface="Raleway Light"/>
              <a:cs typeface="Raleway Light"/>
              <a:sym typeface="Raleway Light"/>
            </a:endParaRPr>
          </a:p>
          <a:p>
            <a:pPr marL="914400" marR="0" lvl="0" indent="-3302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 Light"/>
              <a:buAutoNum type="arabicPeriod"/>
            </a:pPr>
            <a:r>
              <a:rPr lang="en-GB" sz="16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rPr>
              <a:t>offended</a:t>
            </a:r>
            <a:endParaRPr sz="1600">
              <a:solidFill>
                <a:schemeClr val="dk1"/>
              </a:solidFill>
              <a:latin typeface="Raleway Light"/>
              <a:ea typeface="Raleway Light"/>
              <a:cs typeface="Raleway Light"/>
              <a:sym typeface="Raleway Light"/>
            </a:endParaRPr>
          </a:p>
          <a:p>
            <a:pPr marL="914400" marR="0" lvl="0" indent="-330200" algn="l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600"/>
              <a:buFont typeface="Raleway Light"/>
              <a:buAutoNum type="arabicPeriod"/>
            </a:pPr>
            <a:r>
              <a:rPr lang="en-GB" sz="16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rPr>
              <a:t>disrespected </a:t>
            </a:r>
            <a:endParaRPr sz="1600">
              <a:solidFill>
                <a:schemeClr val="dk1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 sz="90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900">
              <a:solidFill>
                <a:srgbClr val="1F386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30"/>
          <p:cNvSpPr txBox="1"/>
          <p:nvPr/>
        </p:nvSpPr>
        <p:spPr>
          <a:xfrm>
            <a:off x="893475" y="866475"/>
            <a:ext cx="2454600" cy="2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aleway Light"/>
              <a:ea typeface="Raleway Light"/>
              <a:cs typeface="Raleway Light"/>
              <a:sym typeface="Raleway Light"/>
            </a:endParaRPr>
          </a:p>
        </p:txBody>
      </p:sp>
      <p:sp>
        <p:nvSpPr>
          <p:cNvPr id="213" name="Google Shape;213;p30"/>
          <p:cNvSpPr txBox="1"/>
          <p:nvPr/>
        </p:nvSpPr>
        <p:spPr>
          <a:xfrm>
            <a:off x="393192" y="310896"/>
            <a:ext cx="6980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Raleway"/>
                <a:ea typeface="Raleway"/>
                <a:cs typeface="Raleway"/>
                <a:sym typeface="Raleway"/>
              </a:rPr>
              <a:t>Let’s check your answers. [part 3/4]</a:t>
            </a:r>
            <a:endParaRPr sz="1800" b="1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14" name="Google Shape;214;p30"/>
          <p:cNvSpPr txBox="1"/>
          <p:nvPr/>
        </p:nvSpPr>
        <p:spPr>
          <a:xfrm>
            <a:off x="393200" y="729377"/>
            <a:ext cx="7438800" cy="187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 Light"/>
              <a:buAutoNum type="alphaUcPeriod" startAt="5"/>
            </a:pPr>
            <a:r>
              <a:rPr lang="en-GB" sz="16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rPr>
              <a:t>If these students fail their exam, I will hold you …………… for that.</a:t>
            </a:r>
            <a:endParaRPr sz="1600">
              <a:solidFill>
                <a:schemeClr val="dk1"/>
              </a:solidFill>
              <a:latin typeface="Raleway Light"/>
              <a:ea typeface="Raleway Light"/>
              <a:cs typeface="Raleway Light"/>
              <a:sym typeface="Raleway Light"/>
            </a:endParaRPr>
          </a:p>
          <a:p>
            <a:pPr marL="914400" marR="0" lvl="0" indent="-3302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 Light"/>
              <a:buAutoNum type="arabicPeriod"/>
            </a:pPr>
            <a:r>
              <a:rPr lang="en-GB" sz="16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rPr>
              <a:t>chargeable</a:t>
            </a:r>
            <a:endParaRPr sz="1600">
              <a:solidFill>
                <a:schemeClr val="dk1"/>
              </a:solidFill>
              <a:latin typeface="Raleway Light"/>
              <a:ea typeface="Raleway Light"/>
              <a:cs typeface="Raleway Light"/>
              <a:sym typeface="Raleway Light"/>
            </a:endParaRPr>
          </a:p>
          <a:p>
            <a:pPr marL="914400" marR="0" lvl="0" indent="-3302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 Light"/>
              <a:buAutoNum type="arabicPeriod"/>
            </a:pPr>
            <a:r>
              <a:rPr lang="en-GB" sz="16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rPr>
              <a:t>answerable</a:t>
            </a:r>
            <a:endParaRPr sz="1600">
              <a:solidFill>
                <a:schemeClr val="dk1"/>
              </a:solidFill>
              <a:latin typeface="Raleway Light"/>
              <a:ea typeface="Raleway Light"/>
              <a:cs typeface="Raleway Light"/>
              <a:sym typeface="Raleway Light"/>
            </a:endParaRPr>
          </a:p>
          <a:p>
            <a:pPr marL="914400" marR="0" lvl="0" indent="-3302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 Light"/>
              <a:buAutoNum type="arabicPeriod"/>
            </a:pPr>
            <a:r>
              <a:rPr lang="en-GB" sz="16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rPr>
              <a:t>understandable</a:t>
            </a:r>
            <a:endParaRPr sz="1600">
              <a:solidFill>
                <a:schemeClr val="dk1"/>
              </a:solidFill>
              <a:latin typeface="Raleway Light"/>
              <a:ea typeface="Raleway Light"/>
              <a:cs typeface="Raleway Light"/>
              <a:sym typeface="Raleway Light"/>
            </a:endParaRPr>
          </a:p>
          <a:p>
            <a:pPr marL="914400" marR="0" lvl="0" indent="-330200" algn="l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600"/>
              <a:buFont typeface="Raleway Light"/>
              <a:buAutoNum type="arabicPeriod"/>
            </a:pPr>
            <a:r>
              <a:rPr lang="en-GB" sz="16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rPr>
              <a:t>accountable</a:t>
            </a:r>
            <a:endParaRPr sz="1600">
              <a:solidFill>
                <a:schemeClr val="dk1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  <p:sp>
        <p:nvSpPr>
          <p:cNvPr id="215" name="Google Shape;215;p30"/>
          <p:cNvSpPr txBox="1"/>
          <p:nvPr/>
        </p:nvSpPr>
        <p:spPr>
          <a:xfrm>
            <a:off x="393200" y="2694102"/>
            <a:ext cx="7438800" cy="187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 Light"/>
              <a:buAutoNum type="alphaUcPeriod" startAt="6"/>
            </a:pPr>
            <a:r>
              <a:rPr lang="en-GB" sz="16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rPr>
              <a:t>Most of the staff were …………… by the tone of his email.</a:t>
            </a:r>
            <a:endParaRPr sz="1600">
              <a:solidFill>
                <a:schemeClr val="dk1"/>
              </a:solidFill>
              <a:latin typeface="Raleway Light"/>
              <a:ea typeface="Raleway Light"/>
              <a:cs typeface="Raleway Light"/>
              <a:sym typeface="Raleway Light"/>
            </a:endParaRPr>
          </a:p>
          <a:p>
            <a:pPr marL="914400" marR="0" lvl="0" indent="-3302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 Light"/>
              <a:buAutoNum type="arabicPeriod"/>
            </a:pPr>
            <a:r>
              <a:rPr lang="en-GB" sz="16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rPr>
              <a:t>adjusted</a:t>
            </a:r>
            <a:endParaRPr sz="1600">
              <a:solidFill>
                <a:schemeClr val="dk1"/>
              </a:solidFill>
              <a:latin typeface="Raleway Light"/>
              <a:ea typeface="Raleway Light"/>
              <a:cs typeface="Raleway Light"/>
              <a:sym typeface="Raleway Light"/>
            </a:endParaRPr>
          </a:p>
          <a:p>
            <a:pPr marL="914400" marR="0" lvl="0" indent="-3302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 Light"/>
              <a:buAutoNum type="arabicPeriod"/>
            </a:pPr>
            <a:r>
              <a:rPr lang="en-GB" sz="16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rPr>
              <a:t>suspected</a:t>
            </a:r>
            <a:endParaRPr sz="1600">
              <a:solidFill>
                <a:schemeClr val="dk1"/>
              </a:solidFill>
              <a:latin typeface="Raleway Light"/>
              <a:ea typeface="Raleway Light"/>
              <a:cs typeface="Raleway Light"/>
              <a:sym typeface="Raleway Light"/>
            </a:endParaRPr>
          </a:p>
          <a:p>
            <a:pPr marL="914400" marR="0" lvl="0" indent="-3302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 Light"/>
              <a:buAutoNum type="arabicPeriod"/>
            </a:pPr>
            <a:r>
              <a:rPr lang="en-GB" sz="16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rPr>
              <a:t>offended</a:t>
            </a:r>
            <a:endParaRPr sz="1600">
              <a:solidFill>
                <a:schemeClr val="dk1"/>
              </a:solidFill>
              <a:latin typeface="Raleway Light"/>
              <a:ea typeface="Raleway Light"/>
              <a:cs typeface="Raleway Light"/>
              <a:sym typeface="Raleway Light"/>
            </a:endParaRPr>
          </a:p>
          <a:p>
            <a:pPr marL="914400" marR="0" lvl="0" indent="-330200" algn="l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600"/>
              <a:buFont typeface="Raleway Light"/>
              <a:buAutoNum type="arabicPeriod"/>
            </a:pPr>
            <a:r>
              <a:rPr lang="en-GB" sz="16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rPr>
              <a:t>disrespected </a:t>
            </a:r>
            <a:endParaRPr sz="1600">
              <a:solidFill>
                <a:schemeClr val="dk1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  <p:sp>
        <p:nvSpPr>
          <p:cNvPr id="216" name="Google Shape;216;p30"/>
          <p:cNvSpPr txBox="1"/>
          <p:nvPr/>
        </p:nvSpPr>
        <p:spPr>
          <a:xfrm>
            <a:off x="1355800" y="2229375"/>
            <a:ext cx="1228800" cy="306300"/>
          </a:xfrm>
          <a:prstGeom prst="rect">
            <a:avLst/>
          </a:prstGeom>
          <a:solidFill>
            <a:srgbClr val="FFCD00">
              <a:alpha val="54189"/>
            </a:srgb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aleway Light"/>
              <a:ea typeface="Raleway Light"/>
              <a:cs typeface="Raleway Light"/>
              <a:sym typeface="Raleway Light"/>
            </a:endParaRPr>
          </a:p>
        </p:txBody>
      </p:sp>
      <p:sp>
        <p:nvSpPr>
          <p:cNvPr id="217" name="Google Shape;217;p30"/>
          <p:cNvSpPr txBox="1"/>
          <p:nvPr/>
        </p:nvSpPr>
        <p:spPr>
          <a:xfrm>
            <a:off x="1355800" y="3834050"/>
            <a:ext cx="935100" cy="306300"/>
          </a:xfrm>
          <a:prstGeom prst="rect">
            <a:avLst/>
          </a:prstGeom>
          <a:solidFill>
            <a:srgbClr val="FFCD00">
              <a:alpha val="54189"/>
            </a:srgb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aleway Light"/>
              <a:ea typeface="Raleway Light"/>
              <a:cs typeface="Raleway Light"/>
              <a:sym typeface="Raleway Ligh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 sz="90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18</a:t>
            </a:fld>
            <a:endParaRPr sz="900">
              <a:solidFill>
                <a:srgbClr val="1F386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31"/>
          <p:cNvSpPr txBox="1"/>
          <p:nvPr/>
        </p:nvSpPr>
        <p:spPr>
          <a:xfrm>
            <a:off x="893475" y="866475"/>
            <a:ext cx="2454600" cy="2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aleway Light"/>
              <a:ea typeface="Raleway Light"/>
              <a:cs typeface="Raleway Light"/>
              <a:sym typeface="Raleway Light"/>
            </a:endParaRPr>
          </a:p>
        </p:txBody>
      </p:sp>
      <p:sp>
        <p:nvSpPr>
          <p:cNvPr id="224" name="Google Shape;224;p31"/>
          <p:cNvSpPr txBox="1"/>
          <p:nvPr/>
        </p:nvSpPr>
        <p:spPr>
          <a:xfrm>
            <a:off x="393192" y="310896"/>
            <a:ext cx="6980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Raleway"/>
                <a:ea typeface="Raleway"/>
                <a:cs typeface="Raleway"/>
                <a:sym typeface="Raleway"/>
              </a:rPr>
              <a:t>Read the sentences and choose the correct option. [part 4/4]</a:t>
            </a:r>
            <a:endParaRPr sz="1800" b="1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25" name="Google Shape;225;p31"/>
          <p:cNvSpPr txBox="1"/>
          <p:nvPr/>
        </p:nvSpPr>
        <p:spPr>
          <a:xfrm>
            <a:off x="393200" y="729377"/>
            <a:ext cx="7438800" cy="187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 Light"/>
              <a:buAutoNum type="alphaUcPeriod" startAt="7"/>
            </a:pPr>
            <a:r>
              <a:rPr lang="en-GB" sz="16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rPr>
              <a:t>Fireman, firefighter! Who cares? It’s …………… gone mad!</a:t>
            </a:r>
            <a:endParaRPr sz="1600">
              <a:solidFill>
                <a:schemeClr val="dk1"/>
              </a:solidFill>
              <a:latin typeface="Raleway Light"/>
              <a:ea typeface="Raleway Light"/>
              <a:cs typeface="Raleway Light"/>
              <a:sym typeface="Raleway Light"/>
            </a:endParaRPr>
          </a:p>
          <a:p>
            <a:pPr marL="914400" marR="0" lvl="0" indent="-3302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 Light"/>
              <a:buAutoNum type="arabicPeriod"/>
            </a:pPr>
            <a:r>
              <a:rPr lang="en-GB" sz="16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rPr>
              <a:t>fundamental rights</a:t>
            </a:r>
            <a:endParaRPr sz="1600">
              <a:solidFill>
                <a:schemeClr val="dk1"/>
              </a:solidFill>
              <a:latin typeface="Raleway Light"/>
              <a:ea typeface="Raleway Light"/>
              <a:cs typeface="Raleway Light"/>
              <a:sym typeface="Raleway Light"/>
            </a:endParaRPr>
          </a:p>
          <a:p>
            <a:pPr marL="914400" marR="0" lvl="0" indent="-3302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 Light"/>
              <a:buAutoNum type="arabicPeriod"/>
            </a:pPr>
            <a:r>
              <a:rPr lang="en-GB" sz="16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rPr>
              <a:t>diplomatic rights</a:t>
            </a:r>
            <a:endParaRPr sz="1600">
              <a:solidFill>
                <a:schemeClr val="dk1"/>
              </a:solidFill>
              <a:latin typeface="Raleway Light"/>
              <a:ea typeface="Raleway Light"/>
              <a:cs typeface="Raleway Light"/>
              <a:sym typeface="Raleway Light"/>
            </a:endParaRPr>
          </a:p>
          <a:p>
            <a:pPr marL="914400" marR="0" lvl="0" indent="-3302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 Light"/>
              <a:buAutoNum type="arabicPeriod"/>
            </a:pPr>
            <a:r>
              <a:rPr lang="en-GB" sz="16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rPr>
              <a:t>political correctness</a:t>
            </a:r>
            <a:endParaRPr sz="1600">
              <a:solidFill>
                <a:schemeClr val="dk1"/>
              </a:solidFill>
              <a:latin typeface="Raleway Light"/>
              <a:ea typeface="Raleway Light"/>
              <a:cs typeface="Raleway Light"/>
              <a:sym typeface="Raleway Light"/>
            </a:endParaRPr>
          </a:p>
          <a:p>
            <a:pPr marL="914400" marR="0" lvl="0" indent="-330200" algn="l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600"/>
              <a:buFont typeface="Raleway Light"/>
              <a:buAutoNum type="arabicPeriod"/>
            </a:pPr>
            <a:r>
              <a:rPr lang="en-GB" sz="16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rPr>
              <a:t>political mindfulness</a:t>
            </a:r>
            <a:endParaRPr sz="1600">
              <a:solidFill>
                <a:schemeClr val="dk1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  <p:sp>
        <p:nvSpPr>
          <p:cNvPr id="226" name="Google Shape;226;p31"/>
          <p:cNvSpPr txBox="1"/>
          <p:nvPr/>
        </p:nvSpPr>
        <p:spPr>
          <a:xfrm>
            <a:off x="393200" y="2694100"/>
            <a:ext cx="7776000" cy="187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 Light"/>
              <a:buAutoNum type="alphaUcPeriod" startAt="8"/>
            </a:pPr>
            <a:r>
              <a:rPr lang="en-GB" sz="16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rPr>
              <a:t> She took one African American history class and now she thinks she’s …………… !</a:t>
            </a:r>
            <a:endParaRPr sz="1600">
              <a:solidFill>
                <a:schemeClr val="dk1"/>
              </a:solidFill>
              <a:latin typeface="Raleway Light"/>
              <a:ea typeface="Raleway Light"/>
              <a:cs typeface="Raleway Light"/>
              <a:sym typeface="Raleway Light"/>
            </a:endParaRPr>
          </a:p>
          <a:p>
            <a:pPr marL="914400" marR="0" lvl="0" indent="-3302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 Light"/>
              <a:buAutoNum type="arabicPeriod"/>
            </a:pPr>
            <a:r>
              <a:rPr lang="en-GB" sz="16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rPr>
              <a:t>awake</a:t>
            </a:r>
            <a:endParaRPr sz="1600">
              <a:solidFill>
                <a:schemeClr val="dk1"/>
              </a:solidFill>
              <a:latin typeface="Raleway Light"/>
              <a:ea typeface="Raleway Light"/>
              <a:cs typeface="Raleway Light"/>
              <a:sym typeface="Raleway Light"/>
            </a:endParaRPr>
          </a:p>
          <a:p>
            <a:pPr marL="914400" marR="0" lvl="0" indent="-3302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 Light"/>
              <a:buAutoNum type="arabicPeriod"/>
            </a:pPr>
            <a:r>
              <a:rPr lang="en-GB" sz="16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rPr>
              <a:t>awakened</a:t>
            </a:r>
            <a:endParaRPr sz="1600">
              <a:solidFill>
                <a:schemeClr val="dk1"/>
              </a:solidFill>
              <a:latin typeface="Raleway Light"/>
              <a:ea typeface="Raleway Light"/>
              <a:cs typeface="Raleway Light"/>
              <a:sym typeface="Raleway Light"/>
            </a:endParaRPr>
          </a:p>
          <a:p>
            <a:pPr marL="914400" marR="0" lvl="0" indent="-3302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 Light"/>
              <a:buAutoNum type="arabicPeriod"/>
            </a:pPr>
            <a:r>
              <a:rPr lang="en-GB" sz="16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rPr>
              <a:t>woken up</a:t>
            </a:r>
            <a:endParaRPr sz="1600">
              <a:solidFill>
                <a:schemeClr val="dk1"/>
              </a:solidFill>
              <a:latin typeface="Raleway Light"/>
              <a:ea typeface="Raleway Light"/>
              <a:cs typeface="Raleway Light"/>
              <a:sym typeface="Raleway Light"/>
            </a:endParaRPr>
          </a:p>
          <a:p>
            <a:pPr marL="914400" marR="0" lvl="0" indent="-330200" algn="l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600"/>
              <a:buFont typeface="Raleway Light"/>
              <a:buAutoNum type="arabicPeriod"/>
            </a:pPr>
            <a:r>
              <a:rPr lang="en-GB" sz="16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rPr>
              <a:t>woke</a:t>
            </a:r>
            <a:endParaRPr sz="1600">
              <a:solidFill>
                <a:schemeClr val="dk1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2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 sz="90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19</a:t>
            </a:fld>
            <a:endParaRPr sz="900">
              <a:solidFill>
                <a:srgbClr val="1F386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32"/>
          <p:cNvSpPr txBox="1"/>
          <p:nvPr/>
        </p:nvSpPr>
        <p:spPr>
          <a:xfrm>
            <a:off x="893475" y="866475"/>
            <a:ext cx="2454600" cy="2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aleway Light"/>
              <a:ea typeface="Raleway Light"/>
              <a:cs typeface="Raleway Light"/>
              <a:sym typeface="Raleway Light"/>
            </a:endParaRPr>
          </a:p>
        </p:txBody>
      </p:sp>
      <p:sp>
        <p:nvSpPr>
          <p:cNvPr id="233" name="Google Shape;233;p32"/>
          <p:cNvSpPr txBox="1"/>
          <p:nvPr/>
        </p:nvSpPr>
        <p:spPr>
          <a:xfrm>
            <a:off x="393192" y="310896"/>
            <a:ext cx="6980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Raleway"/>
                <a:ea typeface="Raleway"/>
                <a:cs typeface="Raleway"/>
                <a:sym typeface="Raleway"/>
              </a:rPr>
              <a:t>Let’s check your answers. [part 4/4]</a:t>
            </a:r>
            <a:endParaRPr sz="1800" b="1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34" name="Google Shape;234;p32"/>
          <p:cNvSpPr txBox="1"/>
          <p:nvPr/>
        </p:nvSpPr>
        <p:spPr>
          <a:xfrm>
            <a:off x="393200" y="729377"/>
            <a:ext cx="7438800" cy="187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 Light"/>
              <a:buAutoNum type="alphaUcPeriod" startAt="7"/>
            </a:pPr>
            <a:r>
              <a:rPr lang="en-GB" sz="16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rPr>
              <a:t>Fireman, firefighter! Who cares? It’s …………… gone mad!</a:t>
            </a:r>
            <a:endParaRPr sz="1600">
              <a:solidFill>
                <a:schemeClr val="dk1"/>
              </a:solidFill>
              <a:latin typeface="Raleway Light"/>
              <a:ea typeface="Raleway Light"/>
              <a:cs typeface="Raleway Light"/>
              <a:sym typeface="Raleway Light"/>
            </a:endParaRPr>
          </a:p>
          <a:p>
            <a:pPr marL="914400" marR="0" lvl="0" indent="-3302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 Light"/>
              <a:buAutoNum type="arabicPeriod"/>
            </a:pPr>
            <a:r>
              <a:rPr lang="en-GB" sz="16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rPr>
              <a:t>fundamental rights</a:t>
            </a:r>
            <a:endParaRPr sz="1600">
              <a:solidFill>
                <a:schemeClr val="dk1"/>
              </a:solidFill>
              <a:latin typeface="Raleway Light"/>
              <a:ea typeface="Raleway Light"/>
              <a:cs typeface="Raleway Light"/>
              <a:sym typeface="Raleway Light"/>
            </a:endParaRPr>
          </a:p>
          <a:p>
            <a:pPr marL="914400" marR="0" lvl="0" indent="-3302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 Light"/>
              <a:buAutoNum type="arabicPeriod"/>
            </a:pPr>
            <a:r>
              <a:rPr lang="en-GB" sz="16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rPr>
              <a:t>diplomatic rights</a:t>
            </a:r>
            <a:endParaRPr sz="1600">
              <a:solidFill>
                <a:schemeClr val="dk1"/>
              </a:solidFill>
              <a:latin typeface="Raleway Light"/>
              <a:ea typeface="Raleway Light"/>
              <a:cs typeface="Raleway Light"/>
              <a:sym typeface="Raleway Light"/>
            </a:endParaRPr>
          </a:p>
          <a:p>
            <a:pPr marL="914400" marR="0" lvl="0" indent="-3302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 Light"/>
              <a:buAutoNum type="arabicPeriod"/>
            </a:pPr>
            <a:r>
              <a:rPr lang="en-GB" sz="16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rPr>
              <a:t>political correctness</a:t>
            </a:r>
            <a:endParaRPr sz="1600">
              <a:solidFill>
                <a:schemeClr val="dk1"/>
              </a:solidFill>
              <a:latin typeface="Raleway Light"/>
              <a:ea typeface="Raleway Light"/>
              <a:cs typeface="Raleway Light"/>
              <a:sym typeface="Raleway Light"/>
            </a:endParaRPr>
          </a:p>
          <a:p>
            <a:pPr marL="914400" marR="0" lvl="0" indent="-330200" algn="l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600"/>
              <a:buFont typeface="Raleway Light"/>
              <a:buAutoNum type="arabicPeriod"/>
            </a:pPr>
            <a:r>
              <a:rPr lang="en-GB" sz="16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rPr>
              <a:t>political mindfulness</a:t>
            </a:r>
            <a:endParaRPr sz="1600">
              <a:solidFill>
                <a:schemeClr val="dk1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  <p:sp>
        <p:nvSpPr>
          <p:cNvPr id="235" name="Google Shape;235;p32"/>
          <p:cNvSpPr txBox="1"/>
          <p:nvPr/>
        </p:nvSpPr>
        <p:spPr>
          <a:xfrm>
            <a:off x="393200" y="2694100"/>
            <a:ext cx="7776000" cy="187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 Light"/>
              <a:buAutoNum type="alphaUcPeriod" startAt="8"/>
            </a:pPr>
            <a:r>
              <a:rPr lang="en-GB" sz="16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rPr>
              <a:t> She took one African American history class and now she thinks she’s …………… !</a:t>
            </a:r>
            <a:endParaRPr sz="1600">
              <a:solidFill>
                <a:schemeClr val="dk1"/>
              </a:solidFill>
              <a:latin typeface="Raleway Light"/>
              <a:ea typeface="Raleway Light"/>
              <a:cs typeface="Raleway Light"/>
              <a:sym typeface="Raleway Light"/>
            </a:endParaRPr>
          </a:p>
          <a:p>
            <a:pPr marL="914400" marR="0" lvl="0" indent="-3302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 Light"/>
              <a:buAutoNum type="arabicPeriod"/>
            </a:pPr>
            <a:r>
              <a:rPr lang="en-GB" sz="16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rPr>
              <a:t>awake</a:t>
            </a:r>
            <a:endParaRPr sz="1600">
              <a:solidFill>
                <a:schemeClr val="dk1"/>
              </a:solidFill>
              <a:latin typeface="Raleway Light"/>
              <a:ea typeface="Raleway Light"/>
              <a:cs typeface="Raleway Light"/>
              <a:sym typeface="Raleway Light"/>
            </a:endParaRPr>
          </a:p>
          <a:p>
            <a:pPr marL="914400" marR="0" lvl="0" indent="-3302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 Light"/>
              <a:buAutoNum type="arabicPeriod"/>
            </a:pPr>
            <a:r>
              <a:rPr lang="en-GB" sz="16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rPr>
              <a:t>awakened</a:t>
            </a:r>
            <a:endParaRPr sz="1600">
              <a:solidFill>
                <a:schemeClr val="dk1"/>
              </a:solidFill>
              <a:latin typeface="Raleway Light"/>
              <a:ea typeface="Raleway Light"/>
              <a:cs typeface="Raleway Light"/>
              <a:sym typeface="Raleway Light"/>
            </a:endParaRPr>
          </a:p>
          <a:p>
            <a:pPr marL="914400" marR="0" lvl="0" indent="-3302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 Light"/>
              <a:buAutoNum type="arabicPeriod"/>
            </a:pPr>
            <a:r>
              <a:rPr lang="en-GB" sz="16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rPr>
              <a:t>woken up</a:t>
            </a:r>
            <a:endParaRPr sz="1600">
              <a:solidFill>
                <a:schemeClr val="dk1"/>
              </a:solidFill>
              <a:latin typeface="Raleway Light"/>
              <a:ea typeface="Raleway Light"/>
              <a:cs typeface="Raleway Light"/>
              <a:sym typeface="Raleway Light"/>
            </a:endParaRPr>
          </a:p>
          <a:p>
            <a:pPr marL="914400" marR="0" lvl="0" indent="-330200" algn="l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600"/>
              <a:buFont typeface="Raleway Light"/>
              <a:buAutoNum type="arabicPeriod"/>
            </a:pPr>
            <a:r>
              <a:rPr lang="en-GB" sz="16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rPr>
              <a:t>woke</a:t>
            </a:r>
            <a:endParaRPr sz="1600">
              <a:solidFill>
                <a:schemeClr val="dk1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  <p:sp>
        <p:nvSpPr>
          <p:cNvPr id="236" name="Google Shape;236;p32"/>
          <p:cNvSpPr txBox="1"/>
          <p:nvPr/>
        </p:nvSpPr>
        <p:spPr>
          <a:xfrm>
            <a:off x="1364450" y="1866300"/>
            <a:ext cx="1929000" cy="306300"/>
          </a:xfrm>
          <a:prstGeom prst="rect">
            <a:avLst/>
          </a:prstGeom>
          <a:solidFill>
            <a:srgbClr val="FFCD00">
              <a:alpha val="54189"/>
            </a:srgb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aleway Light"/>
              <a:ea typeface="Raleway Light"/>
              <a:cs typeface="Raleway Light"/>
              <a:sym typeface="Raleway Light"/>
            </a:endParaRPr>
          </a:p>
        </p:txBody>
      </p:sp>
      <p:sp>
        <p:nvSpPr>
          <p:cNvPr id="237" name="Google Shape;237;p32"/>
          <p:cNvSpPr txBox="1"/>
          <p:nvPr/>
        </p:nvSpPr>
        <p:spPr>
          <a:xfrm>
            <a:off x="1355805" y="4171200"/>
            <a:ext cx="597900" cy="306300"/>
          </a:xfrm>
          <a:prstGeom prst="rect">
            <a:avLst/>
          </a:prstGeom>
          <a:solidFill>
            <a:srgbClr val="FFCD00">
              <a:alpha val="54189"/>
            </a:srgb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aleway Light"/>
              <a:ea typeface="Raleway Light"/>
              <a:cs typeface="Raleway Light"/>
              <a:sym typeface="Raleway Ligh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 sz="90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20</a:t>
            </a:fld>
            <a:endParaRPr sz="900">
              <a:solidFill>
                <a:srgbClr val="1F386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33"/>
          <p:cNvSpPr txBox="1"/>
          <p:nvPr/>
        </p:nvSpPr>
        <p:spPr>
          <a:xfrm>
            <a:off x="893475" y="866475"/>
            <a:ext cx="2454600" cy="2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aleway Light"/>
              <a:ea typeface="Raleway Light"/>
              <a:cs typeface="Raleway Light"/>
              <a:sym typeface="Raleway Light"/>
            </a:endParaRPr>
          </a:p>
        </p:txBody>
      </p:sp>
      <p:sp>
        <p:nvSpPr>
          <p:cNvPr id="244" name="Google Shape;244;p33"/>
          <p:cNvSpPr txBox="1"/>
          <p:nvPr/>
        </p:nvSpPr>
        <p:spPr>
          <a:xfrm>
            <a:off x="393200" y="1049800"/>
            <a:ext cx="7438800" cy="3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aleway Light"/>
              <a:buChar char="●"/>
            </a:pPr>
            <a:r>
              <a:rPr lang="en-GB" sz="15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rPr>
              <a:t>After it was discovered that his wife was not paying her taxes, the finance minister faced a huge </a:t>
            </a:r>
            <a:r>
              <a:rPr lang="en-GB" sz="1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backlash </a:t>
            </a:r>
            <a:r>
              <a:rPr lang="en-GB" sz="15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rPr>
              <a:t>from the public.</a:t>
            </a:r>
            <a:endParaRPr sz="1500">
              <a:solidFill>
                <a:schemeClr val="dk1"/>
              </a:solidFill>
              <a:latin typeface="Raleway Light"/>
              <a:ea typeface="Raleway Light"/>
              <a:cs typeface="Raleway Light"/>
              <a:sym typeface="Raleway Light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aleway Light"/>
              <a:buChar char="●"/>
            </a:pPr>
            <a:r>
              <a:rPr lang="en-GB" sz="15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rPr>
              <a:t>Panic buying during the pandemic was a perfect example of </a:t>
            </a:r>
            <a:r>
              <a:rPr lang="en-GB" sz="1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mob mentality</a:t>
            </a:r>
            <a:r>
              <a:rPr lang="en-GB" sz="15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rPr>
              <a:t>.</a:t>
            </a:r>
            <a:endParaRPr sz="1500">
              <a:solidFill>
                <a:schemeClr val="dk1"/>
              </a:solidFill>
              <a:latin typeface="Raleway Light"/>
              <a:ea typeface="Raleway Light"/>
              <a:cs typeface="Raleway Light"/>
              <a:sym typeface="Raleway Light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aleway Light"/>
              <a:buChar char="●"/>
            </a:pPr>
            <a:r>
              <a:rPr lang="en-GB" sz="15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rPr>
              <a:t>If a journalist wants to </a:t>
            </a:r>
            <a:r>
              <a:rPr lang="en-GB" sz="1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go after</a:t>
            </a:r>
            <a:r>
              <a:rPr lang="en-GB" sz="15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rPr>
              <a:t> a celebrity for sexual harassment, they had better make sure they have evidence.</a:t>
            </a:r>
            <a:endParaRPr sz="1500">
              <a:solidFill>
                <a:schemeClr val="dk1"/>
              </a:solidFill>
              <a:latin typeface="Raleway Light"/>
              <a:ea typeface="Raleway Light"/>
              <a:cs typeface="Raleway Light"/>
              <a:sym typeface="Raleway Light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aleway Light"/>
              <a:buChar char="●"/>
            </a:pPr>
            <a:r>
              <a:rPr lang="en-GB" sz="15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rPr>
              <a:t>What she said was offensive, but it was embarrassing to </a:t>
            </a:r>
            <a:r>
              <a:rPr lang="en-GB" sz="1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call </a:t>
            </a:r>
            <a:r>
              <a:rPr lang="en-GB" sz="15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rPr>
              <a:t>her </a:t>
            </a:r>
            <a:r>
              <a:rPr lang="en-GB" sz="1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out </a:t>
            </a:r>
            <a:r>
              <a:rPr lang="en-GB" sz="15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rPr>
              <a:t>in front of everybody.</a:t>
            </a:r>
            <a:endParaRPr sz="1500">
              <a:solidFill>
                <a:schemeClr val="dk1"/>
              </a:solidFill>
              <a:latin typeface="Raleway Light"/>
              <a:ea typeface="Raleway Light"/>
              <a:cs typeface="Raleway Light"/>
              <a:sym typeface="Raleway Light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aleway Light"/>
              <a:buChar char="●"/>
            </a:pPr>
            <a:r>
              <a:rPr lang="en-GB" sz="15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rPr>
              <a:t>If these students fail their exam, I will hold you </a:t>
            </a:r>
            <a:r>
              <a:rPr lang="en-GB" sz="1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accountable </a:t>
            </a:r>
            <a:r>
              <a:rPr lang="en-GB" sz="15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rPr>
              <a:t>for that.</a:t>
            </a:r>
            <a:endParaRPr sz="1500">
              <a:solidFill>
                <a:schemeClr val="dk1"/>
              </a:solidFill>
              <a:latin typeface="Raleway Light"/>
              <a:ea typeface="Raleway Light"/>
              <a:cs typeface="Raleway Light"/>
              <a:sym typeface="Raleway Light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aleway Light"/>
              <a:buChar char="●"/>
            </a:pPr>
            <a:r>
              <a:rPr lang="en-GB" sz="15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rPr>
              <a:t>Most of the staff were </a:t>
            </a:r>
            <a:r>
              <a:rPr lang="en-GB" sz="1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offended </a:t>
            </a:r>
            <a:r>
              <a:rPr lang="en-GB" sz="15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rPr>
              <a:t>by the tone of his email.</a:t>
            </a:r>
            <a:endParaRPr sz="1500">
              <a:solidFill>
                <a:schemeClr val="dk1"/>
              </a:solidFill>
              <a:latin typeface="Raleway Light"/>
              <a:ea typeface="Raleway Light"/>
              <a:cs typeface="Raleway Light"/>
              <a:sym typeface="Raleway Light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aleway Light"/>
              <a:buChar char="●"/>
            </a:pPr>
            <a:r>
              <a:rPr lang="en-GB" sz="15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rPr>
              <a:t>Fireman, firefighter! Who cares? It’s </a:t>
            </a:r>
            <a:r>
              <a:rPr lang="en-GB" sz="1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political correctness</a:t>
            </a:r>
            <a:r>
              <a:rPr lang="en-GB" sz="15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rPr>
              <a:t> gone mad!</a:t>
            </a:r>
            <a:endParaRPr sz="1500">
              <a:solidFill>
                <a:schemeClr val="dk1"/>
              </a:solidFill>
              <a:latin typeface="Raleway Light"/>
              <a:ea typeface="Raleway Light"/>
              <a:cs typeface="Raleway Light"/>
              <a:sym typeface="Raleway Light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300"/>
              <a:buFont typeface="Raleway Light"/>
              <a:buChar char="●"/>
            </a:pPr>
            <a:r>
              <a:rPr lang="en-GB" sz="15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rPr>
              <a:t>She took one African American history class and now she thinks she’s </a:t>
            </a:r>
            <a:r>
              <a:rPr lang="en-GB" sz="1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woke</a:t>
            </a:r>
            <a:r>
              <a:rPr lang="en-GB" sz="15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rPr>
              <a:t>!</a:t>
            </a:r>
            <a:endParaRPr sz="1500">
              <a:solidFill>
                <a:schemeClr val="dk1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  <p:sp>
        <p:nvSpPr>
          <p:cNvPr id="245" name="Google Shape;245;p33"/>
          <p:cNvSpPr txBox="1"/>
          <p:nvPr/>
        </p:nvSpPr>
        <p:spPr>
          <a:xfrm>
            <a:off x="393192" y="310896"/>
            <a:ext cx="69804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Raleway"/>
                <a:ea typeface="Raleway"/>
                <a:cs typeface="Raleway"/>
                <a:sym typeface="Raleway"/>
              </a:rPr>
              <a:t>Choose three words in bold that you think are connected to cancel culture and say why. </a:t>
            </a:r>
            <a:endParaRPr sz="1800" b="1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 sz="90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21</a:t>
            </a:fld>
            <a:endParaRPr sz="900">
              <a:solidFill>
                <a:srgbClr val="1F386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34"/>
          <p:cNvSpPr txBox="1"/>
          <p:nvPr/>
        </p:nvSpPr>
        <p:spPr>
          <a:xfrm>
            <a:off x="893475" y="866475"/>
            <a:ext cx="2454600" cy="2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aleway Light"/>
              <a:ea typeface="Raleway Light"/>
              <a:cs typeface="Raleway Light"/>
              <a:sym typeface="Raleway Light"/>
            </a:endParaRPr>
          </a:p>
        </p:txBody>
      </p:sp>
      <p:sp>
        <p:nvSpPr>
          <p:cNvPr id="252" name="Google Shape;252;p34"/>
          <p:cNvSpPr/>
          <p:nvPr/>
        </p:nvSpPr>
        <p:spPr>
          <a:xfrm>
            <a:off x="1822500" y="1682700"/>
            <a:ext cx="5499000" cy="1778100"/>
          </a:xfrm>
          <a:prstGeom prst="roundRect">
            <a:avLst>
              <a:gd name="adj" fmla="val 16667"/>
            </a:avLst>
          </a:prstGeom>
          <a:solidFill>
            <a:srgbClr val="FF5C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solidFill>
                  <a:srgbClr val="FFFFFF"/>
                </a:solidFill>
                <a:latin typeface="Raleway Light"/>
                <a:ea typeface="Raleway Light"/>
                <a:cs typeface="Raleway Light"/>
                <a:sym typeface="Raleway Light"/>
              </a:rPr>
              <a:t>Before watching the rest of the video, </a:t>
            </a:r>
            <a:endParaRPr sz="2000">
              <a:solidFill>
                <a:srgbClr val="FFFFFF"/>
              </a:solidFill>
              <a:latin typeface="Raleway Light"/>
              <a:ea typeface="Raleway Light"/>
              <a:cs typeface="Raleway Light"/>
              <a:sym typeface="Raleway Ligh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solidFill>
                  <a:srgbClr val="FFFFFF"/>
                </a:solidFill>
                <a:latin typeface="Raleway Light"/>
                <a:ea typeface="Raleway Light"/>
                <a:cs typeface="Raleway Light"/>
                <a:sym typeface="Raleway Light"/>
              </a:rPr>
              <a:t>think about why some people think that cancel culture has gone too far.</a:t>
            </a:r>
            <a:endParaRPr sz="2000">
              <a:solidFill>
                <a:srgbClr val="FFFFFF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 sz="90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sz="900">
              <a:solidFill>
                <a:srgbClr val="1F386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35"/>
          <p:cNvSpPr txBox="1"/>
          <p:nvPr/>
        </p:nvSpPr>
        <p:spPr>
          <a:xfrm>
            <a:off x="393192" y="310896"/>
            <a:ext cx="6980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Raleway"/>
                <a:ea typeface="Raleway"/>
                <a:cs typeface="Raleway"/>
                <a:sym typeface="Raleway"/>
              </a:rPr>
              <a:t>Watch the rest of the video (to 04:05) and check your answers.</a:t>
            </a:r>
            <a:endParaRPr sz="1800" b="1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259" name="Google Shape;259;p35" descr="CBSN Originals executive producer Adam Yamaguchi discusses the latest episode of &quot;Speaking Frankly.&quot;" title="CBSN explores cancel culture and the culture wars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86000" y="1049800"/>
            <a:ext cx="4572000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 sz="90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23</a:t>
            </a:fld>
            <a:endParaRPr sz="900">
              <a:solidFill>
                <a:srgbClr val="1F386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36"/>
          <p:cNvSpPr txBox="1"/>
          <p:nvPr/>
        </p:nvSpPr>
        <p:spPr>
          <a:xfrm>
            <a:off x="393192" y="310896"/>
            <a:ext cx="6980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Raleway"/>
                <a:ea typeface="Raleway"/>
                <a:cs typeface="Raleway"/>
                <a:sym typeface="Raleway"/>
              </a:rPr>
              <a:t>Let’s check your answers.</a:t>
            </a:r>
            <a:endParaRPr sz="1800" b="1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66" name="Google Shape;266;p36"/>
          <p:cNvSpPr txBox="1"/>
          <p:nvPr/>
        </p:nvSpPr>
        <p:spPr>
          <a:xfrm>
            <a:off x="393200" y="1218875"/>
            <a:ext cx="6669300" cy="10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800">
                <a:solidFill>
                  <a:schemeClr val="dk1"/>
                </a:solidFill>
                <a:highlight>
                  <a:srgbClr val="FFCD00"/>
                </a:highlight>
                <a:latin typeface="Raleway Light"/>
                <a:ea typeface="Raleway Light"/>
                <a:cs typeface="Raleway Light"/>
                <a:sym typeface="Raleway Light"/>
              </a:rPr>
              <a:t>Some people think cancel culture has gone too far because now people are offended by anything and everything. Society has become far too sensitive about the words we use. </a:t>
            </a:r>
            <a:endParaRPr sz="1800">
              <a:solidFill>
                <a:schemeClr val="dk1"/>
              </a:solidFill>
              <a:highlight>
                <a:srgbClr val="FFCD00"/>
              </a:highlight>
              <a:latin typeface="Raleway Light"/>
              <a:ea typeface="Raleway Light"/>
              <a:cs typeface="Raleway Light"/>
              <a:sym typeface="Raleway Ligh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5C5C"/>
        </a:solidFill>
        <a:effectLst/>
      </p:bgPr>
    </p:bg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52025" y="153075"/>
            <a:ext cx="886968" cy="886968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37"/>
          <p:cNvSpPr txBox="1">
            <a:spLocks noGrp="1"/>
          </p:cNvSpPr>
          <p:nvPr>
            <p:ph type="ctrTitle"/>
          </p:nvPr>
        </p:nvSpPr>
        <p:spPr>
          <a:xfrm>
            <a:off x="685800" y="2726342"/>
            <a:ext cx="7772400" cy="12882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400">
                <a:solidFill>
                  <a:schemeClr val="lt1"/>
                </a:solidFill>
              </a:rPr>
              <a:t>Let’s practise </a:t>
            </a:r>
            <a:br>
              <a:rPr lang="en-GB" sz="4400">
                <a:solidFill>
                  <a:schemeClr val="lt1"/>
                </a:solidFill>
              </a:rPr>
            </a:br>
            <a:r>
              <a:rPr lang="en-GB" sz="4400">
                <a:solidFill>
                  <a:schemeClr val="lt1"/>
                </a:solidFill>
              </a:rPr>
              <a:t>the vocabulary!</a:t>
            </a:r>
            <a:endParaRPr sz="44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 sz="90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25</a:t>
            </a:fld>
            <a:endParaRPr sz="900">
              <a:solidFill>
                <a:srgbClr val="1F386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38"/>
          <p:cNvSpPr txBox="1"/>
          <p:nvPr/>
        </p:nvSpPr>
        <p:spPr>
          <a:xfrm>
            <a:off x="393192" y="310896"/>
            <a:ext cx="69804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Raleway"/>
                <a:ea typeface="Raleway"/>
                <a:cs typeface="Raleway"/>
                <a:sym typeface="Raleway"/>
              </a:rPr>
              <a:t>Complete the sentences with the vocabulary in the box in the correct form. [part 1/2]</a:t>
            </a:r>
            <a:endParaRPr sz="1800" b="1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79" name="Google Shape;279;p38"/>
          <p:cNvSpPr txBox="1"/>
          <p:nvPr/>
        </p:nvSpPr>
        <p:spPr>
          <a:xfrm>
            <a:off x="393200" y="1754850"/>
            <a:ext cx="7421400" cy="32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 Light"/>
              <a:buAutoNum type="alphaUcPeriod"/>
            </a:pPr>
            <a:r>
              <a:rPr lang="en-GB" sz="16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rPr>
              <a:t>“It’s one thing to ………………………………………………………..….…. a celebrity who has said a terrible thing, and it’s another thing to ………………………………………………………..….…. a private citizen who happened to get caught on film in a really bad moment. Those are not equivalent!”  </a:t>
            </a:r>
            <a:endParaRPr sz="1600">
              <a:solidFill>
                <a:schemeClr val="dk1"/>
              </a:solidFill>
              <a:latin typeface="Raleway Light"/>
              <a:ea typeface="Raleway Light"/>
              <a:cs typeface="Raleway Light"/>
              <a:sym typeface="Raleway Light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 Light"/>
              <a:buAutoNum type="alphaUcPeriod"/>
            </a:pPr>
            <a:r>
              <a:rPr lang="en-GB" sz="16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rPr>
              <a:t>“People are ………………………………………………………..….…. by anything and everything. We as a society have become far too sensitive about the words that we use.”</a:t>
            </a:r>
            <a:endParaRPr sz="1600">
              <a:solidFill>
                <a:schemeClr val="dk1"/>
              </a:solidFill>
              <a:latin typeface="Raleway Light"/>
              <a:ea typeface="Raleway Light"/>
              <a:cs typeface="Raleway Light"/>
              <a:sym typeface="Raleway Light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600"/>
              <a:buFont typeface="Raleway Light"/>
              <a:buAutoNum type="alphaUcPeriod"/>
            </a:pPr>
            <a:r>
              <a:rPr lang="en-GB" sz="16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rPr>
              <a:t>“There has been a real ………………………………………………………..….…. against cancel culture. In the name of ………………………………………………………..….…. people are being punished for words and actions that were said far long ago at a time when those words or ideas were deemed acceptable.”</a:t>
            </a:r>
            <a:endParaRPr sz="1600">
              <a:solidFill>
                <a:schemeClr val="dk1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  <p:sp>
        <p:nvSpPr>
          <p:cNvPr id="280" name="Google Shape;280;p38"/>
          <p:cNvSpPr/>
          <p:nvPr/>
        </p:nvSpPr>
        <p:spPr>
          <a:xfrm>
            <a:off x="462750" y="1049800"/>
            <a:ext cx="7291500" cy="68610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FFFFFF"/>
                </a:solidFill>
                <a:latin typeface="Raleway Light"/>
                <a:ea typeface="Raleway Light"/>
                <a:cs typeface="Raleway Light"/>
                <a:sym typeface="Raleway Light"/>
              </a:rPr>
              <a:t>backlash		  call out	    go after	      hold accountable</a:t>
            </a:r>
            <a:endParaRPr sz="1600" dirty="0">
              <a:solidFill>
                <a:srgbClr val="FFFFFF"/>
              </a:solidFill>
              <a:latin typeface="Raleway Light"/>
              <a:ea typeface="Raleway Light"/>
              <a:cs typeface="Raleway Light"/>
              <a:sym typeface="Raleway Light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FFFFFF"/>
                </a:solidFill>
                <a:latin typeface="Raleway Light"/>
                <a:ea typeface="Raleway Light"/>
                <a:cs typeface="Raleway Light"/>
                <a:sym typeface="Raleway Light"/>
              </a:rPr>
              <a:t>mob mentality		offend	political correctness</a:t>
            </a:r>
            <a:endParaRPr sz="1600" dirty="0">
              <a:solidFill>
                <a:srgbClr val="FFFFFF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 sz="90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26</a:t>
            </a:fld>
            <a:endParaRPr sz="900">
              <a:solidFill>
                <a:srgbClr val="1F386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39"/>
          <p:cNvSpPr txBox="1"/>
          <p:nvPr/>
        </p:nvSpPr>
        <p:spPr>
          <a:xfrm>
            <a:off x="393192" y="310896"/>
            <a:ext cx="69804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Raleway"/>
                <a:ea typeface="Raleway"/>
                <a:cs typeface="Raleway"/>
                <a:sym typeface="Raleway"/>
              </a:rPr>
              <a:t>Complete the sentences with the vocabulary in the box in the correct form. [part 2/2]</a:t>
            </a:r>
            <a:endParaRPr sz="1800" b="1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87" name="Google Shape;287;p39"/>
          <p:cNvSpPr txBox="1"/>
          <p:nvPr/>
        </p:nvSpPr>
        <p:spPr>
          <a:xfrm>
            <a:off x="393200" y="1894500"/>
            <a:ext cx="7538100" cy="26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 Light"/>
              <a:buAutoNum type="alphaUcPeriod" startAt="4"/>
            </a:pPr>
            <a:r>
              <a:rPr lang="en-GB" sz="16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rPr>
              <a:t>“People are being ………………………………………………………..….…. on video for experiencing a particularly bad moment when they may have said something that was off-colour.”</a:t>
            </a:r>
            <a:endParaRPr sz="1600">
              <a:solidFill>
                <a:schemeClr val="dk1"/>
              </a:solidFill>
              <a:latin typeface="Raleway Light"/>
              <a:ea typeface="Raleway Light"/>
              <a:cs typeface="Raleway Light"/>
              <a:sym typeface="Raleway Light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 Light"/>
              <a:buAutoNum type="alphaUcPeriod" startAt="4"/>
            </a:pPr>
            <a:r>
              <a:rPr lang="en-GB" sz="16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rPr>
              <a:t>“What’s sort of scary in the social media aspect of this is it can happen so swiftly, and you can develop almost kind of a ………………………………………………………..….…. and end up discouraging a deep debate on certain issues.”</a:t>
            </a:r>
            <a:endParaRPr sz="1600">
              <a:solidFill>
                <a:schemeClr val="dk1"/>
              </a:solidFill>
              <a:latin typeface="Raleway Light"/>
              <a:ea typeface="Raleway Light"/>
              <a:cs typeface="Raleway Light"/>
              <a:sym typeface="Raleway Light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Clr>
                <a:schemeClr val="dk1"/>
              </a:buClr>
              <a:buSzPts val="1600"/>
              <a:buFont typeface="Raleway Light"/>
              <a:buAutoNum type="alphaUcPeriod" startAt="4"/>
            </a:pPr>
            <a:r>
              <a:rPr lang="en-GB" sz="16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rPr>
              <a:t>Cancel culture helps to make sure that celebrities and organizations who behave offensively are ………………………………………………………..….…. for their behaviour.</a:t>
            </a:r>
            <a:endParaRPr sz="1600">
              <a:solidFill>
                <a:schemeClr val="dk1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  <p:sp>
        <p:nvSpPr>
          <p:cNvPr id="288" name="Google Shape;288;p39"/>
          <p:cNvSpPr/>
          <p:nvPr/>
        </p:nvSpPr>
        <p:spPr>
          <a:xfrm>
            <a:off x="462750" y="1049800"/>
            <a:ext cx="7291500" cy="68610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FFFFFF"/>
                </a:solidFill>
                <a:latin typeface="Raleway Light"/>
                <a:ea typeface="Raleway Light"/>
                <a:cs typeface="Raleway Light"/>
                <a:sym typeface="Raleway Light"/>
              </a:rPr>
              <a:t>backlash		   call out	    go after	      hold accountable</a:t>
            </a:r>
            <a:endParaRPr sz="1600" dirty="0">
              <a:solidFill>
                <a:srgbClr val="FFFFFF"/>
              </a:solidFill>
              <a:latin typeface="Raleway Light"/>
              <a:ea typeface="Raleway Light"/>
              <a:cs typeface="Raleway Light"/>
              <a:sym typeface="Raleway Light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FFFFFF"/>
                </a:solidFill>
                <a:latin typeface="Raleway Light"/>
                <a:ea typeface="Raleway Light"/>
                <a:cs typeface="Raleway Light"/>
                <a:sym typeface="Raleway Light"/>
              </a:rPr>
              <a:t>mob mentality	offend		political correctness</a:t>
            </a:r>
            <a:endParaRPr sz="1600" dirty="0">
              <a:solidFill>
                <a:srgbClr val="FFFFFF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 sz="90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27</a:t>
            </a:fld>
            <a:endParaRPr sz="900">
              <a:solidFill>
                <a:srgbClr val="1F386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40"/>
          <p:cNvSpPr txBox="1"/>
          <p:nvPr/>
        </p:nvSpPr>
        <p:spPr>
          <a:xfrm>
            <a:off x="393192" y="310896"/>
            <a:ext cx="6980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Raleway"/>
                <a:ea typeface="Raleway"/>
                <a:cs typeface="Raleway"/>
                <a:sym typeface="Raleway"/>
              </a:rPr>
              <a:t>Let’s check your answers. [part 1/2]</a:t>
            </a:r>
            <a:endParaRPr sz="1800" b="1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95" name="Google Shape;295;p40"/>
          <p:cNvSpPr txBox="1"/>
          <p:nvPr/>
        </p:nvSpPr>
        <p:spPr>
          <a:xfrm>
            <a:off x="393200" y="1602450"/>
            <a:ext cx="7421400" cy="32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 Light"/>
              <a:buAutoNum type="alphaUcPeriod"/>
            </a:pPr>
            <a:r>
              <a:rPr lang="en-GB" sz="16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rPr>
              <a:t>“It’s one thing to ………………………………………………………..….   a celebrity who has said a terrible thing, and it’s another thing to ………………………………………………………..….…  a private citizen who happened to get caught on film in a really bad moment. Those are not equivalent!”  </a:t>
            </a:r>
            <a:endParaRPr sz="1600">
              <a:solidFill>
                <a:schemeClr val="dk1"/>
              </a:solidFill>
              <a:latin typeface="Raleway Light"/>
              <a:ea typeface="Raleway Light"/>
              <a:cs typeface="Raleway Light"/>
              <a:sym typeface="Raleway Light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 Light"/>
              <a:buAutoNum type="alphaUcPeriod"/>
            </a:pPr>
            <a:r>
              <a:rPr lang="en-GB" sz="16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rPr>
              <a:t>“People are ………………………………………………………..….   by anything and everything. We as a society have become far too sensitive about the words that we use.”</a:t>
            </a:r>
            <a:endParaRPr sz="1600">
              <a:solidFill>
                <a:schemeClr val="dk1"/>
              </a:solidFill>
              <a:latin typeface="Raleway Light"/>
              <a:ea typeface="Raleway Light"/>
              <a:cs typeface="Raleway Light"/>
              <a:sym typeface="Raleway Light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600"/>
              <a:buFont typeface="Raleway Light"/>
              <a:buAutoNum type="alphaUcPeriod"/>
            </a:pPr>
            <a:r>
              <a:rPr lang="en-GB" sz="16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rPr>
              <a:t>“There has been a real ………………………………………………………..….   against cancel culture. In the name of ………………………………………………………..….….  people are being punished for words and actions that were said far long ago at a time when those words or ideas were deemed acceptable.”</a:t>
            </a:r>
            <a:endParaRPr sz="1600">
              <a:solidFill>
                <a:schemeClr val="dk1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  <p:sp>
        <p:nvSpPr>
          <p:cNvPr id="296" name="Google Shape;296;p40"/>
          <p:cNvSpPr/>
          <p:nvPr/>
        </p:nvSpPr>
        <p:spPr>
          <a:xfrm>
            <a:off x="2100625" y="3904100"/>
            <a:ext cx="2118000" cy="246300"/>
          </a:xfrm>
          <a:prstGeom prst="roundRect">
            <a:avLst>
              <a:gd name="adj" fmla="val 16667"/>
            </a:avLst>
          </a:prstGeom>
          <a:solidFill>
            <a:srgbClr val="60AE9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Raleway Light"/>
                <a:ea typeface="Raleway Light"/>
                <a:cs typeface="Raleway Light"/>
                <a:sym typeface="Raleway Light"/>
              </a:rPr>
              <a:t>political correctness</a:t>
            </a:r>
            <a:endParaRPr sz="1600">
              <a:solidFill>
                <a:srgbClr val="FFFFFF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  <p:sp>
        <p:nvSpPr>
          <p:cNvPr id="297" name="Google Shape;297;p40"/>
          <p:cNvSpPr/>
          <p:nvPr/>
        </p:nvSpPr>
        <p:spPr>
          <a:xfrm>
            <a:off x="462750" y="897400"/>
            <a:ext cx="7291500" cy="68610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FFFFFF"/>
                </a:solidFill>
                <a:latin typeface="Raleway Light"/>
                <a:ea typeface="Raleway Light"/>
                <a:cs typeface="Raleway Light"/>
                <a:sym typeface="Raleway Light"/>
              </a:rPr>
              <a:t>backlash		   call out		   go after	      hold accountable</a:t>
            </a:r>
            <a:endParaRPr sz="1600" dirty="0">
              <a:solidFill>
                <a:srgbClr val="FFFFFF"/>
              </a:solidFill>
              <a:latin typeface="Raleway Light"/>
              <a:ea typeface="Raleway Light"/>
              <a:cs typeface="Raleway Light"/>
              <a:sym typeface="Raleway Light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FFFFFF"/>
                </a:solidFill>
                <a:latin typeface="Raleway Light"/>
                <a:ea typeface="Raleway Light"/>
                <a:cs typeface="Raleway Light"/>
                <a:sym typeface="Raleway Light"/>
              </a:rPr>
              <a:t>mob mentality	offend		political correctness</a:t>
            </a:r>
            <a:endParaRPr sz="1600" dirty="0">
              <a:solidFill>
                <a:srgbClr val="FFFFFF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  <p:sp>
        <p:nvSpPr>
          <p:cNvPr id="298" name="Google Shape;298;p40"/>
          <p:cNvSpPr/>
          <p:nvPr/>
        </p:nvSpPr>
        <p:spPr>
          <a:xfrm>
            <a:off x="2428075" y="1679275"/>
            <a:ext cx="2045700" cy="246300"/>
          </a:xfrm>
          <a:prstGeom prst="roundRect">
            <a:avLst>
              <a:gd name="adj" fmla="val 16667"/>
            </a:avLst>
          </a:prstGeom>
          <a:solidFill>
            <a:srgbClr val="60AE9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Raleway Light"/>
                <a:ea typeface="Raleway Light"/>
                <a:cs typeface="Raleway Light"/>
                <a:sym typeface="Raleway Light"/>
              </a:rPr>
              <a:t>go after</a:t>
            </a:r>
            <a:endParaRPr sz="1600">
              <a:solidFill>
                <a:srgbClr val="FFFFFF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  <p:sp>
        <p:nvSpPr>
          <p:cNvPr id="299" name="Google Shape;299;p40"/>
          <p:cNvSpPr/>
          <p:nvPr/>
        </p:nvSpPr>
        <p:spPr>
          <a:xfrm>
            <a:off x="3704275" y="1961350"/>
            <a:ext cx="2045700" cy="246300"/>
          </a:xfrm>
          <a:prstGeom prst="roundRect">
            <a:avLst>
              <a:gd name="adj" fmla="val 16667"/>
            </a:avLst>
          </a:prstGeom>
          <a:solidFill>
            <a:srgbClr val="60AE9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Raleway Light"/>
                <a:ea typeface="Raleway Light"/>
                <a:cs typeface="Raleway Light"/>
                <a:sym typeface="Raleway Light"/>
              </a:rPr>
              <a:t>go after</a:t>
            </a:r>
            <a:endParaRPr sz="1600">
              <a:solidFill>
                <a:srgbClr val="FFFFFF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  <p:sp>
        <p:nvSpPr>
          <p:cNvPr id="300" name="Google Shape;300;p40"/>
          <p:cNvSpPr/>
          <p:nvPr/>
        </p:nvSpPr>
        <p:spPr>
          <a:xfrm>
            <a:off x="2032675" y="2932725"/>
            <a:ext cx="2045700" cy="246300"/>
          </a:xfrm>
          <a:prstGeom prst="roundRect">
            <a:avLst>
              <a:gd name="adj" fmla="val 16667"/>
            </a:avLst>
          </a:prstGeom>
          <a:solidFill>
            <a:srgbClr val="60AE9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Raleway Light"/>
                <a:ea typeface="Raleway Light"/>
                <a:cs typeface="Raleway Light"/>
                <a:sym typeface="Raleway Light"/>
              </a:rPr>
              <a:t>offended</a:t>
            </a:r>
            <a:endParaRPr sz="1600">
              <a:solidFill>
                <a:srgbClr val="FFFFFF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  <p:sp>
        <p:nvSpPr>
          <p:cNvPr id="301" name="Google Shape;301;p40"/>
          <p:cNvSpPr/>
          <p:nvPr/>
        </p:nvSpPr>
        <p:spPr>
          <a:xfrm>
            <a:off x="3044900" y="3614675"/>
            <a:ext cx="2045700" cy="246300"/>
          </a:xfrm>
          <a:prstGeom prst="roundRect">
            <a:avLst>
              <a:gd name="adj" fmla="val 16667"/>
            </a:avLst>
          </a:prstGeom>
          <a:solidFill>
            <a:srgbClr val="60AE9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Raleway Light"/>
                <a:ea typeface="Raleway Light"/>
                <a:cs typeface="Raleway Light"/>
                <a:sym typeface="Raleway Light"/>
              </a:rPr>
              <a:t>backlash</a:t>
            </a:r>
            <a:endParaRPr sz="1600">
              <a:solidFill>
                <a:srgbClr val="FFFFFF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 sz="90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28</a:t>
            </a:fld>
            <a:endParaRPr sz="900">
              <a:solidFill>
                <a:srgbClr val="1F386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41"/>
          <p:cNvSpPr txBox="1"/>
          <p:nvPr/>
        </p:nvSpPr>
        <p:spPr>
          <a:xfrm>
            <a:off x="393192" y="310896"/>
            <a:ext cx="6980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Let’s check your answers.</a:t>
            </a:r>
            <a:r>
              <a:rPr lang="en-GB" sz="1800" b="1">
                <a:latin typeface="Raleway"/>
                <a:ea typeface="Raleway"/>
                <a:cs typeface="Raleway"/>
                <a:sym typeface="Raleway"/>
              </a:rPr>
              <a:t> [part 2/2]</a:t>
            </a:r>
            <a:endParaRPr sz="1800" b="1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08" name="Google Shape;308;p41"/>
          <p:cNvSpPr txBox="1"/>
          <p:nvPr/>
        </p:nvSpPr>
        <p:spPr>
          <a:xfrm>
            <a:off x="393200" y="1849925"/>
            <a:ext cx="7538100" cy="26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 Light"/>
              <a:buAutoNum type="alphaUcPeriod" startAt="4"/>
            </a:pPr>
            <a:r>
              <a:rPr lang="en-GB" sz="16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rPr>
              <a:t>“People are being ………………………………………………………..….… on video for experiencing a particularly bad moment when they may have said something that was off-colour.”</a:t>
            </a:r>
            <a:endParaRPr sz="1600">
              <a:solidFill>
                <a:schemeClr val="dk1"/>
              </a:solidFill>
              <a:latin typeface="Raleway Light"/>
              <a:ea typeface="Raleway Light"/>
              <a:cs typeface="Raleway Light"/>
              <a:sym typeface="Raleway Light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 Light"/>
              <a:buAutoNum type="alphaUcPeriod" startAt="4"/>
            </a:pPr>
            <a:r>
              <a:rPr lang="en-GB" sz="16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rPr>
              <a:t>“What’s sort of scary in the social media aspect of this is it can happen so swiftly, and you can develop almost kind of a ………………………………………………………..….   and end up discouraging a deep debate on certain issues.”</a:t>
            </a:r>
            <a:endParaRPr sz="1600">
              <a:solidFill>
                <a:schemeClr val="dk1"/>
              </a:solidFill>
              <a:latin typeface="Raleway Light"/>
              <a:ea typeface="Raleway Light"/>
              <a:cs typeface="Raleway Light"/>
              <a:sym typeface="Raleway Light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Clr>
                <a:schemeClr val="dk1"/>
              </a:buClr>
              <a:buSzPts val="1600"/>
              <a:buFont typeface="Raleway Light"/>
              <a:buAutoNum type="alphaUcPeriod" startAt="4"/>
            </a:pPr>
            <a:r>
              <a:rPr lang="en-GB" sz="16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rPr>
              <a:t>Cancel culture helps to make sure that celebrities and organizations who behave offensively are ………………………………………………………..….…. for their behaviour.</a:t>
            </a:r>
            <a:endParaRPr sz="1600">
              <a:solidFill>
                <a:schemeClr val="dk1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  <p:sp>
        <p:nvSpPr>
          <p:cNvPr id="309" name="Google Shape;309;p41"/>
          <p:cNvSpPr/>
          <p:nvPr/>
        </p:nvSpPr>
        <p:spPr>
          <a:xfrm>
            <a:off x="462750" y="897400"/>
            <a:ext cx="7291500" cy="68610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FFFFFF"/>
                </a:solidFill>
                <a:latin typeface="Raleway Light"/>
                <a:ea typeface="Raleway Light"/>
                <a:cs typeface="Raleway Light"/>
                <a:sym typeface="Raleway Light"/>
              </a:rPr>
              <a:t>backlash		   call out	    go after	      hold accountable</a:t>
            </a:r>
            <a:endParaRPr sz="1600" dirty="0">
              <a:solidFill>
                <a:srgbClr val="FFFFFF"/>
              </a:solidFill>
              <a:latin typeface="Raleway Light"/>
              <a:ea typeface="Raleway Light"/>
              <a:cs typeface="Raleway Light"/>
              <a:sym typeface="Raleway Light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FFFFFF"/>
                </a:solidFill>
                <a:latin typeface="Raleway Light"/>
                <a:ea typeface="Raleway Light"/>
                <a:cs typeface="Raleway Light"/>
                <a:sym typeface="Raleway Light"/>
              </a:rPr>
              <a:t>mob mentality	offend		political correctness</a:t>
            </a:r>
            <a:endParaRPr sz="1600" dirty="0">
              <a:solidFill>
                <a:srgbClr val="FFFFFF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  <p:sp>
        <p:nvSpPr>
          <p:cNvPr id="310" name="Google Shape;310;p41"/>
          <p:cNvSpPr/>
          <p:nvPr/>
        </p:nvSpPr>
        <p:spPr>
          <a:xfrm>
            <a:off x="2631075" y="1921325"/>
            <a:ext cx="2039400" cy="246300"/>
          </a:xfrm>
          <a:prstGeom prst="roundRect">
            <a:avLst>
              <a:gd name="adj" fmla="val 16667"/>
            </a:avLst>
          </a:prstGeom>
          <a:solidFill>
            <a:srgbClr val="60AE9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Raleway Light"/>
                <a:ea typeface="Raleway Light"/>
                <a:cs typeface="Raleway Light"/>
                <a:sym typeface="Raleway Light"/>
              </a:rPr>
              <a:t>called out</a:t>
            </a:r>
            <a:endParaRPr sz="1600">
              <a:solidFill>
                <a:srgbClr val="FFFFFF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  <p:sp>
        <p:nvSpPr>
          <p:cNvPr id="311" name="Google Shape;311;p41"/>
          <p:cNvSpPr/>
          <p:nvPr/>
        </p:nvSpPr>
        <p:spPr>
          <a:xfrm>
            <a:off x="5126150" y="3180225"/>
            <a:ext cx="2039400" cy="246300"/>
          </a:xfrm>
          <a:prstGeom prst="roundRect">
            <a:avLst>
              <a:gd name="adj" fmla="val 16667"/>
            </a:avLst>
          </a:prstGeom>
          <a:solidFill>
            <a:srgbClr val="60AE9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Raleway Light"/>
                <a:ea typeface="Raleway Light"/>
                <a:cs typeface="Raleway Light"/>
                <a:sym typeface="Raleway Light"/>
              </a:rPr>
              <a:t>mob mentality</a:t>
            </a:r>
            <a:endParaRPr sz="1600">
              <a:solidFill>
                <a:srgbClr val="FFFFFF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  <p:sp>
        <p:nvSpPr>
          <p:cNvPr id="312" name="Google Shape;312;p41"/>
          <p:cNvSpPr/>
          <p:nvPr/>
        </p:nvSpPr>
        <p:spPr>
          <a:xfrm>
            <a:off x="3056891" y="4171114"/>
            <a:ext cx="2118000" cy="246300"/>
          </a:xfrm>
          <a:prstGeom prst="roundRect">
            <a:avLst>
              <a:gd name="adj" fmla="val 16667"/>
            </a:avLst>
          </a:prstGeom>
          <a:solidFill>
            <a:srgbClr val="60AE9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Raleway Light"/>
                <a:ea typeface="Raleway Light"/>
                <a:cs typeface="Raleway Light"/>
                <a:sym typeface="Raleway Light"/>
              </a:rPr>
              <a:t>held accountable</a:t>
            </a:r>
            <a:endParaRPr sz="1600">
              <a:solidFill>
                <a:srgbClr val="FFFFFF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5C5C"/>
        </a:solidFill>
        <a:effectLst/>
      </p:bgPr>
    </p:bg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400">
                <a:solidFill>
                  <a:schemeClr val="lt1"/>
                </a:solidFill>
              </a:rPr>
              <a:t>Let’s discuss cancel culture!</a:t>
            </a:r>
            <a:endParaRPr sz="4400">
              <a:solidFill>
                <a:schemeClr val="lt1"/>
              </a:solidFill>
            </a:endParaRPr>
          </a:p>
        </p:txBody>
      </p:sp>
      <p:pic>
        <p:nvPicPr>
          <p:cNvPr id="318" name="Google Shape;318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62750" y="135850"/>
            <a:ext cx="886968" cy="8869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 sz="90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30</a:t>
            </a:fld>
            <a:endParaRPr sz="900">
              <a:solidFill>
                <a:srgbClr val="1F386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4" name="Google Shape;324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4950" y="479200"/>
            <a:ext cx="899550" cy="89955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43"/>
          <p:cNvSpPr txBox="1"/>
          <p:nvPr/>
        </p:nvSpPr>
        <p:spPr>
          <a:xfrm>
            <a:off x="1073550" y="1378750"/>
            <a:ext cx="6819000" cy="283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 Light"/>
              <a:buChar char="➔"/>
            </a:pPr>
            <a:r>
              <a:rPr lang="en-GB" sz="16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rPr>
              <a:t>“It’s one thing to go after a celebrity who has said a terrible thing, and it’s another thing to go after a private citizen who happened to get caught on film in a really bad moment. Those are not equivalent!”  </a:t>
            </a:r>
            <a:endParaRPr sz="1600">
              <a:solidFill>
                <a:schemeClr val="dk1"/>
              </a:solidFill>
              <a:latin typeface="Raleway Light"/>
              <a:ea typeface="Raleway Light"/>
              <a:cs typeface="Raleway Light"/>
              <a:sym typeface="Raleway Light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 Light"/>
              <a:buChar char="➔"/>
            </a:pPr>
            <a:r>
              <a:rPr lang="en-GB" sz="16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rPr>
              <a:t>“People are offended by anything and everything. We as a society have become far too sensitive about the words that we use.”</a:t>
            </a:r>
            <a:endParaRPr sz="1600">
              <a:solidFill>
                <a:schemeClr val="dk1"/>
              </a:solidFill>
              <a:latin typeface="Raleway Light"/>
              <a:ea typeface="Raleway Light"/>
              <a:cs typeface="Raleway Light"/>
              <a:sym typeface="Raleway Light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600"/>
              <a:buFont typeface="Raleway Light"/>
              <a:buChar char="➔"/>
            </a:pPr>
            <a:r>
              <a:rPr lang="en-GB" sz="16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rPr>
              <a:t>“There has been a real backlash against cancel culture. In the name of political correctness people are being punished for words and actions that were said far long ago at a time when those words or ideas were deemed acceptable.”</a:t>
            </a:r>
            <a:endParaRPr sz="1600">
              <a:solidFill>
                <a:schemeClr val="dk1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  <p:sp>
        <p:nvSpPr>
          <p:cNvPr id="326" name="Google Shape;326;p43"/>
          <p:cNvSpPr txBox="1"/>
          <p:nvPr/>
        </p:nvSpPr>
        <p:spPr>
          <a:xfrm>
            <a:off x="1496250" y="658375"/>
            <a:ext cx="63498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Raleway"/>
                <a:ea typeface="Raleway"/>
                <a:cs typeface="Raleway"/>
                <a:sym typeface="Raleway"/>
              </a:rPr>
              <a:t>Say whether you agree with the sentences. Give reasons for your answers. [part 1/2] </a:t>
            </a:r>
            <a:endParaRPr sz="1800" b="1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 sz="90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31</a:t>
            </a:fld>
            <a:endParaRPr sz="900">
              <a:solidFill>
                <a:srgbClr val="1F386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2" name="Google Shape;332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4950" y="479200"/>
            <a:ext cx="899550" cy="89955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44"/>
          <p:cNvSpPr txBox="1"/>
          <p:nvPr/>
        </p:nvSpPr>
        <p:spPr>
          <a:xfrm>
            <a:off x="1073550" y="1378750"/>
            <a:ext cx="6574200" cy="283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 Light"/>
              <a:buChar char="➔"/>
            </a:pPr>
            <a:r>
              <a:rPr lang="en-GB" sz="16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rPr>
              <a:t>“People are being called out on video for experiencing a particularly bad moment when they may have said something that was off-colour.”</a:t>
            </a:r>
            <a:endParaRPr sz="1600">
              <a:solidFill>
                <a:schemeClr val="dk1"/>
              </a:solidFill>
              <a:latin typeface="Raleway Light"/>
              <a:ea typeface="Raleway Light"/>
              <a:cs typeface="Raleway Light"/>
              <a:sym typeface="Raleway Light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 Light"/>
              <a:buChar char="➔"/>
            </a:pPr>
            <a:r>
              <a:rPr lang="en-GB" sz="16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rPr>
              <a:t>“What’s sort of scary in the social media aspect of this is it can happen so swiftly, and you can develop almost kind of a mob mentality and end up discouraging a deep debate on certain issues.”</a:t>
            </a:r>
            <a:endParaRPr sz="1600">
              <a:solidFill>
                <a:schemeClr val="dk1"/>
              </a:solidFill>
              <a:latin typeface="Raleway Light"/>
              <a:ea typeface="Raleway Light"/>
              <a:cs typeface="Raleway Light"/>
              <a:sym typeface="Raleway Light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600"/>
              <a:buFont typeface="Raleway Light"/>
              <a:buChar char="➔"/>
            </a:pPr>
            <a:r>
              <a:rPr lang="en-GB" sz="16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rPr>
              <a:t>Cancel culture helps to make sure that celebrities and organizations who behave offensively are held accountable for their behaviour.</a:t>
            </a:r>
            <a:endParaRPr sz="1600">
              <a:solidFill>
                <a:schemeClr val="dk1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  <p:sp>
        <p:nvSpPr>
          <p:cNvPr id="334" name="Google Shape;334;p44"/>
          <p:cNvSpPr txBox="1"/>
          <p:nvPr/>
        </p:nvSpPr>
        <p:spPr>
          <a:xfrm>
            <a:off x="1496250" y="658375"/>
            <a:ext cx="65742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Raleway"/>
                <a:ea typeface="Raleway"/>
                <a:cs typeface="Raleway"/>
                <a:sym typeface="Raleway"/>
              </a:rPr>
              <a:t>Say whether you agree with the sentences. Give reasons for your answers. [part 2/2] </a:t>
            </a:r>
            <a:endParaRPr sz="1800" b="1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4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 sz="90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32</a:t>
            </a:fld>
            <a:endParaRPr sz="900">
              <a:solidFill>
                <a:srgbClr val="1F386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0" name="Google Shape;340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4950" y="479200"/>
            <a:ext cx="899550" cy="899550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45"/>
          <p:cNvSpPr txBox="1"/>
          <p:nvPr/>
        </p:nvSpPr>
        <p:spPr>
          <a:xfrm>
            <a:off x="1073550" y="1555625"/>
            <a:ext cx="6574200" cy="250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65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aleway Light"/>
              <a:buChar char="➔"/>
            </a:pPr>
            <a:r>
              <a:rPr lang="en-GB" sz="17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rPr>
              <a:t>What is the difference between free speech and hate speech?</a:t>
            </a:r>
            <a:endParaRPr sz="1700">
              <a:solidFill>
                <a:schemeClr val="dk1"/>
              </a:solidFill>
              <a:latin typeface="Raleway Light"/>
              <a:ea typeface="Raleway Light"/>
              <a:cs typeface="Raleway Light"/>
              <a:sym typeface="Raleway Light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aleway Light"/>
              <a:buChar char="➔"/>
            </a:pPr>
            <a:r>
              <a:rPr lang="en-GB" sz="17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rPr>
              <a:t>What music, films or books by people who have been ‘cancelled’ do you still enjoy?</a:t>
            </a:r>
            <a:endParaRPr sz="1700">
              <a:solidFill>
                <a:schemeClr val="dk1"/>
              </a:solidFill>
              <a:latin typeface="Raleway Light"/>
              <a:ea typeface="Raleway Light"/>
              <a:cs typeface="Raleway Light"/>
              <a:sym typeface="Raleway Light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700"/>
              <a:buFont typeface="Raleway Light"/>
              <a:buChar char="➔"/>
            </a:pPr>
            <a:r>
              <a:rPr lang="en-GB" sz="17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rPr>
              <a:t>Which big companies or celebrities do you think still deserve to be held accountable for past behaviour, but have not?</a:t>
            </a:r>
            <a:endParaRPr sz="1700">
              <a:solidFill>
                <a:schemeClr val="dk1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  <p:sp>
        <p:nvSpPr>
          <p:cNvPr id="342" name="Google Shape;342;p45"/>
          <p:cNvSpPr txBox="1"/>
          <p:nvPr/>
        </p:nvSpPr>
        <p:spPr>
          <a:xfrm>
            <a:off x="1496250" y="658368"/>
            <a:ext cx="6151500" cy="3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Raleway"/>
                <a:ea typeface="Raleway"/>
                <a:cs typeface="Raleway"/>
                <a:sym typeface="Raleway"/>
              </a:rPr>
              <a:t>Discuss the questions. Give reasons for your answers. [part 1/2]</a:t>
            </a:r>
            <a:endParaRPr sz="1800" b="1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 sz="90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33</a:t>
            </a:fld>
            <a:endParaRPr sz="900">
              <a:solidFill>
                <a:srgbClr val="1F386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8" name="Google Shape;348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4950" y="479200"/>
            <a:ext cx="899550" cy="899550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46"/>
          <p:cNvSpPr txBox="1"/>
          <p:nvPr/>
        </p:nvSpPr>
        <p:spPr>
          <a:xfrm>
            <a:off x="1073550" y="1601400"/>
            <a:ext cx="6574200" cy="29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65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aleway Light"/>
              <a:buChar char="➔"/>
            </a:pPr>
            <a:r>
              <a:rPr lang="en-GB" sz="17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rPr>
              <a:t>Have you ever felt ostracized for an opinion you hold or something you have said?</a:t>
            </a:r>
            <a:endParaRPr sz="1700">
              <a:solidFill>
                <a:schemeClr val="dk1"/>
              </a:solidFill>
              <a:latin typeface="Raleway Light"/>
              <a:ea typeface="Raleway Light"/>
              <a:cs typeface="Raleway Light"/>
              <a:sym typeface="Raleway Light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aleway Light"/>
              <a:buChar char="➔"/>
            </a:pPr>
            <a:r>
              <a:rPr lang="en-GB" sz="17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rPr>
              <a:t>Have you ever called out a family member, friend or colleague for behaviour you deem offensive?</a:t>
            </a:r>
            <a:endParaRPr sz="1700">
              <a:solidFill>
                <a:schemeClr val="dk1"/>
              </a:solidFill>
              <a:latin typeface="Raleway Light"/>
              <a:ea typeface="Raleway Light"/>
              <a:cs typeface="Raleway Light"/>
              <a:sym typeface="Raleway Light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aleway Light"/>
              <a:buChar char="➔"/>
            </a:pPr>
            <a:r>
              <a:rPr lang="en-GB" sz="17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rPr>
              <a:t>What is the difference between boycotting a company or country’s products because of bad practices, and cancel culture?</a:t>
            </a:r>
            <a:endParaRPr sz="1700">
              <a:solidFill>
                <a:schemeClr val="dk1"/>
              </a:solidFill>
              <a:latin typeface="Raleway Light"/>
              <a:ea typeface="Raleway Light"/>
              <a:cs typeface="Raleway Light"/>
              <a:sym typeface="Raleway Light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Clr>
                <a:schemeClr val="dk1"/>
              </a:buClr>
              <a:buSzPts val="1700"/>
              <a:buFont typeface="Raleway Light"/>
              <a:buChar char="➔"/>
            </a:pPr>
            <a:r>
              <a:rPr lang="en-GB" sz="17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rPr>
              <a:t>Does anybody ever really get cancelled?</a:t>
            </a:r>
            <a:endParaRPr sz="1700">
              <a:solidFill>
                <a:schemeClr val="dk1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  <p:sp>
        <p:nvSpPr>
          <p:cNvPr id="350" name="Google Shape;350;p46"/>
          <p:cNvSpPr txBox="1"/>
          <p:nvPr/>
        </p:nvSpPr>
        <p:spPr>
          <a:xfrm>
            <a:off x="1496250" y="658368"/>
            <a:ext cx="6151500" cy="3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Raleway"/>
                <a:ea typeface="Raleway"/>
                <a:cs typeface="Raleway"/>
                <a:sym typeface="Raleway"/>
              </a:rPr>
              <a:t>Discuss the questions. Give reasons for your answers. [part 2/2]</a:t>
            </a:r>
            <a:endParaRPr sz="1800" b="1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4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 sz="90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34</a:t>
            </a:fld>
            <a:endParaRPr sz="900">
              <a:solidFill>
                <a:srgbClr val="1F386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6" name="Google Shape;356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4950" y="479200"/>
            <a:ext cx="899550" cy="899550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47"/>
          <p:cNvSpPr txBox="1"/>
          <p:nvPr/>
        </p:nvSpPr>
        <p:spPr>
          <a:xfrm>
            <a:off x="1073550" y="2064550"/>
            <a:ext cx="6574200" cy="18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aleway Light"/>
              <a:buChar char="➔"/>
            </a:pPr>
            <a:r>
              <a:rPr lang="en-GB" sz="17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rPr>
              <a:t>A famous actor hits a comedian live on television for making a joke about his wife.</a:t>
            </a:r>
            <a:endParaRPr sz="1700">
              <a:solidFill>
                <a:schemeClr val="dk1"/>
              </a:solidFill>
              <a:latin typeface="Raleway Light"/>
              <a:ea typeface="Raleway Light"/>
              <a:cs typeface="Raleway Light"/>
              <a:sym typeface="Raleway Light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aleway Light"/>
              <a:buChar char="➔"/>
            </a:pPr>
            <a:r>
              <a:rPr lang="en-GB" sz="17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rPr>
              <a:t>A famous author tweets about her fears that transgender rights will ultimately endanger women’s rights.</a:t>
            </a:r>
            <a:endParaRPr sz="1700">
              <a:solidFill>
                <a:schemeClr val="dk1"/>
              </a:solidFill>
              <a:latin typeface="Raleway Light"/>
              <a:ea typeface="Raleway Light"/>
              <a:cs typeface="Raleway Light"/>
              <a:sym typeface="Raleway Light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Clr>
                <a:schemeClr val="dk1"/>
              </a:buClr>
              <a:buSzPts val="1700"/>
              <a:buFont typeface="Raleway Light"/>
              <a:buChar char="➔"/>
            </a:pPr>
            <a:r>
              <a:rPr lang="en-GB" sz="17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rPr>
              <a:t>A member of a royal family wears a Nazi uniform to a fancy dress party.</a:t>
            </a:r>
            <a:endParaRPr sz="1700">
              <a:solidFill>
                <a:schemeClr val="dk1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  <p:sp>
        <p:nvSpPr>
          <p:cNvPr id="358" name="Google Shape;358;p47"/>
          <p:cNvSpPr txBox="1"/>
          <p:nvPr/>
        </p:nvSpPr>
        <p:spPr>
          <a:xfrm>
            <a:off x="1496250" y="658368"/>
            <a:ext cx="6151500" cy="3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Raleway"/>
                <a:ea typeface="Raleway"/>
                <a:cs typeface="Raleway"/>
                <a:sym typeface="Raleway"/>
              </a:rPr>
              <a:t>Read the following scenarios and discuss whether the people involved deserve to be ‘cancelled’. Give reasons for your answers. Think what possible consequences of being cancelled they could encounter. [part 1/2]</a:t>
            </a:r>
            <a:endParaRPr sz="1800" b="1">
              <a:latin typeface="Raleway"/>
              <a:ea typeface="Raleway"/>
              <a:cs typeface="Raleway"/>
              <a:sym typeface="Raleway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4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 sz="90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35</a:t>
            </a:fld>
            <a:endParaRPr sz="900">
              <a:solidFill>
                <a:srgbClr val="1F386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4" name="Google Shape;364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4950" y="479200"/>
            <a:ext cx="899550" cy="899550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48"/>
          <p:cNvSpPr txBox="1"/>
          <p:nvPr/>
        </p:nvSpPr>
        <p:spPr>
          <a:xfrm>
            <a:off x="1073550" y="2064550"/>
            <a:ext cx="6574200" cy="18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Shadows Into Light"/>
              <a:buChar char="➔"/>
            </a:pPr>
            <a:r>
              <a:rPr lang="en-GB" sz="1700" dirty="0">
                <a:solidFill>
                  <a:schemeClr val="dk1"/>
                </a:solidFill>
                <a:ea typeface="Shadows Into Light"/>
                <a:cs typeface="Shadows Into Light"/>
                <a:sym typeface="Shadows Into Light"/>
              </a:rPr>
              <a:t>A member of the public is filmed verbally abusing a homeless person. The video goes viral.</a:t>
            </a:r>
            <a:endParaRPr sz="1700" dirty="0">
              <a:solidFill>
                <a:schemeClr val="dk1"/>
              </a:solidFill>
              <a:ea typeface="Shadows Into Light"/>
              <a:cs typeface="Shadows Into Light"/>
              <a:sym typeface="Shadows Into Light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Shadows Into Light"/>
              <a:buChar char="➔"/>
            </a:pPr>
            <a:r>
              <a:rPr lang="en-GB" sz="1700" dirty="0">
                <a:solidFill>
                  <a:schemeClr val="dk1"/>
                </a:solidFill>
                <a:ea typeface="Shadows Into Light"/>
                <a:cs typeface="Shadows Into Light"/>
                <a:sym typeface="Shadows Into Light"/>
              </a:rPr>
              <a:t>A famous comedian included a racist joke in their show thirty years ago.</a:t>
            </a:r>
            <a:endParaRPr sz="1700" dirty="0">
              <a:solidFill>
                <a:schemeClr val="dk1"/>
              </a:solidFill>
              <a:ea typeface="Shadows Into Light"/>
              <a:cs typeface="Shadows Into Light"/>
              <a:sym typeface="Shadows Into Light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Clr>
                <a:schemeClr val="dk1"/>
              </a:buClr>
              <a:buSzPts val="1700"/>
              <a:buFont typeface="Shadows Into Light"/>
              <a:buChar char="➔"/>
            </a:pPr>
            <a:r>
              <a:rPr lang="en-GB" sz="1700" dirty="0">
                <a:solidFill>
                  <a:schemeClr val="dk1"/>
                </a:solidFill>
                <a:ea typeface="Shadows Into Light"/>
                <a:cs typeface="Shadows Into Light"/>
                <a:sym typeface="Shadows Into Light"/>
              </a:rPr>
              <a:t>A long-established brand of cereal has a mascot which stereotypes a race.</a:t>
            </a:r>
            <a:endParaRPr sz="1700" dirty="0">
              <a:solidFill>
                <a:schemeClr val="dk1"/>
              </a:solidFill>
              <a:ea typeface="Shadows Into Light"/>
              <a:cs typeface="Shadows Into Light"/>
              <a:sym typeface="Shadows Into Light"/>
            </a:endParaRPr>
          </a:p>
        </p:txBody>
      </p:sp>
      <p:sp>
        <p:nvSpPr>
          <p:cNvPr id="366" name="Google Shape;366;p48"/>
          <p:cNvSpPr txBox="1"/>
          <p:nvPr/>
        </p:nvSpPr>
        <p:spPr>
          <a:xfrm>
            <a:off x="1496250" y="658368"/>
            <a:ext cx="6151500" cy="3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ea typeface="Shadows Into Light"/>
                <a:cs typeface="Shadows Into Light"/>
                <a:sym typeface="Shadows Into Light"/>
              </a:rPr>
              <a:t>Read the following scenarios and discuss whether the people involved deserve to be ‘cancelled’. Give reasons for your answers. Think what possible consequences of being cancelled they could encounter. [part 2/2]</a:t>
            </a:r>
            <a:endParaRPr sz="1800" b="1" dirty="0">
              <a:ea typeface="Shadows Into Light"/>
              <a:cs typeface="Shadows Into Light"/>
              <a:sym typeface="Shadows Into Ligh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ea typeface="Shadows Into Light"/>
              <a:cs typeface="Shadows Into Light"/>
              <a:sym typeface="Shadows Into Light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13F43D3-9C62-AD15-98A7-8F4EFF37C2CF}"/>
              </a:ext>
            </a:extLst>
          </p:cNvPr>
          <p:cNvSpPr txBox="1"/>
          <p:nvPr/>
        </p:nvSpPr>
        <p:spPr>
          <a:xfrm>
            <a:off x="460744" y="311888"/>
            <a:ext cx="48697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Delayed Feedback</a:t>
            </a:r>
            <a:endParaRPr lang="es-ES" sz="2800" dirty="0"/>
          </a:p>
        </p:txBody>
      </p:sp>
    </p:spTree>
    <p:extLst>
      <p:ext uri="{BB962C8B-B14F-4D97-AF65-F5344CB8AC3E}">
        <p14:creationId xmlns:p14="http://schemas.microsoft.com/office/powerpoint/2010/main" val="336888878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49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lligraffitti"/>
                <a:ea typeface="Calligraffitti"/>
                <a:cs typeface="Calligraffitti"/>
                <a:sym typeface="Calligraffitti"/>
              </a:rPr>
              <a:t>Thank you!</a:t>
            </a:r>
            <a:endParaRPr>
              <a:latin typeface="Calligraffitti"/>
              <a:ea typeface="Calligraffitti"/>
              <a:cs typeface="Calligraffitti"/>
              <a:sym typeface="Calligraffitt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2246</Words>
  <Application>Microsoft Office PowerPoint</Application>
  <PresentationFormat>On-screen Show (16:9)</PresentationFormat>
  <Paragraphs>236</Paragraphs>
  <Slides>37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37</vt:i4>
      </vt:variant>
    </vt:vector>
  </HeadingPairs>
  <TitlesOfParts>
    <vt:vector size="47" baseType="lpstr">
      <vt:lpstr>Arial</vt:lpstr>
      <vt:lpstr>Calibri Light</vt:lpstr>
      <vt:lpstr>Calibri</vt:lpstr>
      <vt:lpstr>Raleway Light</vt:lpstr>
      <vt:lpstr>Raleway</vt:lpstr>
      <vt:lpstr>Century Gothic</vt:lpstr>
      <vt:lpstr>Calligraffitti</vt:lpstr>
      <vt:lpstr>Shadows Into Light</vt:lpstr>
      <vt:lpstr>Office Theme</vt:lpstr>
      <vt:lpstr>1_Office Theme</vt:lpstr>
      <vt:lpstr>Human and social relations</vt:lpstr>
      <vt:lpstr>Has cancel culture gone too far?</vt:lpstr>
      <vt:lpstr>Let’s get started </vt:lpstr>
      <vt:lpstr>PowerPoint Presentation</vt:lpstr>
      <vt:lpstr>Let’s discuss some quotes!</vt:lpstr>
      <vt:lpstr>PowerPoint Presentation</vt:lpstr>
      <vt:lpstr>PowerPoint Presentation</vt:lpstr>
      <vt:lpstr>PowerPoint Presentation</vt:lpstr>
      <vt:lpstr>CBSN explores cancel culture and the culture wars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Let’s practise  the vocabulary!</vt:lpstr>
      <vt:lpstr>PowerPoint Presentation</vt:lpstr>
      <vt:lpstr>PowerPoint Presentation</vt:lpstr>
      <vt:lpstr>PowerPoint Presentation</vt:lpstr>
      <vt:lpstr>PowerPoint Presentation</vt:lpstr>
      <vt:lpstr>Let’s discuss cancel culture!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Human and social relations</dc:title>
  <cp:lastModifiedBy>Theo Clarke</cp:lastModifiedBy>
  <cp:revision>2</cp:revision>
  <dcterms:modified xsi:type="dcterms:W3CDTF">2024-01-16T12:04:29Z</dcterms:modified>
</cp:coreProperties>
</file>