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65" r:id="rId2"/>
    <p:sldId id="256" r:id="rId3"/>
    <p:sldId id="257" r:id="rId4"/>
    <p:sldId id="258" r:id="rId5"/>
    <p:sldId id="263" r:id="rId6"/>
    <p:sldId id="264" r:id="rId7"/>
    <p:sldId id="259" r:id="rId8"/>
    <p:sldId id="260" r:id="rId9"/>
    <p:sldId id="261" r:id="rId10"/>
    <p:sldId id="270" r:id="rId11"/>
    <p:sldId id="271" r:id="rId12"/>
    <p:sldId id="272" r:id="rId13"/>
    <p:sldId id="262" r:id="rId14"/>
    <p:sldId id="268" r:id="rId15"/>
    <p:sldId id="269" r:id="rId16"/>
    <p:sldId id="266" r:id="rId17"/>
    <p:sldId id="267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84A34-C418-4C9B-A967-7E73982CF59B}" v="14" dt="2023-09-06T11:27:29.4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7FC28-CA36-FF42-82BC-89FAFE9E1B3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33F11-279D-F54C-A929-5F0D5D331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5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4800600" y="1304884"/>
            <a:ext cx="9829800" cy="692471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487489" y="220719"/>
            <a:ext cx="0" cy="1917250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6350818" y="2"/>
            <a:ext cx="2735690" cy="1521342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12250434" y="2"/>
            <a:ext cx="1362079" cy="573596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882854" y="617878"/>
            <a:ext cx="2872021" cy="27941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3539688"/>
            <a:ext cx="1423741" cy="212598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1847620" y="5044113"/>
            <a:ext cx="4900120" cy="4900120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850" y="3291840"/>
            <a:ext cx="7911389" cy="2863901"/>
          </a:xfrm>
        </p:spPr>
        <p:txBody>
          <a:bodyPr anchor="b"/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50" y="6265469"/>
            <a:ext cx="7911389" cy="1196035"/>
          </a:xfrm>
        </p:spPr>
        <p:txBody>
          <a:bodyPr/>
          <a:lstStyle>
            <a:lvl1pPr marL="0" indent="0" algn="r">
              <a:buNone/>
              <a:defRPr sz="288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793975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587027" y="1342837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10420465" y="1129378"/>
            <a:ext cx="3585479" cy="358547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1092058" y="5737190"/>
            <a:ext cx="655320" cy="6553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9" y="167883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783" y="1832458"/>
            <a:ext cx="6133795" cy="4718304"/>
          </a:xfrm>
        </p:spPr>
        <p:txBody>
          <a:bodyPr anchor="ctr"/>
          <a:lstStyle>
            <a:lvl1pPr marL="0" indent="0">
              <a:buNone/>
              <a:defRPr/>
            </a:lvl1pPr>
            <a:lvl2pPr marL="274320">
              <a:defRPr/>
            </a:lvl2pPr>
            <a:lvl3pPr marL="54864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404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40575" y="1380252"/>
            <a:ext cx="2648455" cy="264501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33559" y="3095620"/>
            <a:ext cx="3716168" cy="3716168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12299544" y="1866081"/>
            <a:ext cx="983164" cy="9564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9108107" y="4841272"/>
            <a:ext cx="1052045" cy="1052045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76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505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3379115" y="178715"/>
            <a:ext cx="7872170" cy="78721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2992943" y="-34202"/>
            <a:ext cx="8179514" cy="8179514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9798501" y="6290386"/>
            <a:ext cx="911284" cy="886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127" y="1656893"/>
            <a:ext cx="6671462" cy="3017520"/>
          </a:xfrm>
        </p:spPr>
        <p:txBody>
          <a:bodyPr anchor="b"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3127" y="4893869"/>
            <a:ext cx="6671462" cy="1843430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bg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863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91" y="2293315"/>
            <a:ext cx="1179576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48244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34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293315"/>
            <a:ext cx="1261872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92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6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44720"/>
            <a:ext cx="7108610" cy="7108610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0365" y="5255971"/>
            <a:ext cx="6046013" cy="855878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TuSpeaking 2023,  All rights reserved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Personal information 1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white"/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0374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279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6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3754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43754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78010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78010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864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81511" y="3273276"/>
            <a:ext cx="5148888" cy="4956325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13932" y="1"/>
            <a:ext cx="4223173" cy="3609491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12504683" y="1637679"/>
            <a:ext cx="1136986" cy="1106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7240966" y="-807768"/>
            <a:ext cx="4825432" cy="48254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98" y="438912"/>
            <a:ext cx="614476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97" y="2194560"/>
            <a:ext cx="6111850" cy="5223053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/>
            </a:lvl2pPr>
            <a:lvl3pPr marL="548640">
              <a:defRPr/>
            </a:lvl3pPr>
            <a:lvl4pPr marL="82296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250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848871" y="1017120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636635" y="1"/>
            <a:ext cx="1386170" cy="709211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4753814" y="-1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1" y="3524197"/>
            <a:ext cx="191689" cy="663595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7002780"/>
            <a:ext cx="1857816" cy="122682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4086068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4959566" y="7510507"/>
            <a:ext cx="1879128" cy="71909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866" y="148132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18995" y="7627621"/>
            <a:ext cx="1854403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8858" y="7627621"/>
            <a:ext cx="4937760" cy="438150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07747" y="7627621"/>
            <a:ext cx="1020470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9171" y="3061411"/>
            <a:ext cx="5650992" cy="2106778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 sz="2160"/>
            </a:lvl2pPr>
            <a:lvl3pPr marL="548640">
              <a:defRPr sz="216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558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129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6978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3672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2779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07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29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6056-6EC0-4903-5B82-CCCFB7E8C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Business English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78176-93B3-A384-5DAB-9DD2AFB8F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err="1"/>
              <a:t>Tuspeaking</a:t>
            </a:r>
            <a:r>
              <a:rPr lang="en-ZA" dirty="0"/>
              <a:t> </a:t>
            </a:r>
          </a:p>
        </p:txBody>
      </p:sp>
      <p:pic>
        <p:nvPicPr>
          <p:cNvPr id="4" name="Picture 3" descr="Icon  Description automatically generated">
            <a:extLst>
              <a:ext uri="{FF2B5EF4-FFF2-40B4-BE49-F238E27FC236}">
                <a16:creationId xmlns:a16="http://schemas.microsoft.com/office/drawing/2014/main" id="{E3B0E60A-1D53-D799-755A-27703967B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2" y="1321777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49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74132" y="1198061"/>
            <a:ext cx="8296809" cy="4135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b="1" kern="0" spc="-157" dirty="0">
                <a:latin typeface="Inter" pitchFamily="34" charset="0"/>
                <a:ea typeface="Inter" pitchFamily="34" charset="-122"/>
                <a:cs typeface="Inter" pitchFamily="34" charset="-120"/>
              </a:rPr>
              <a:t>Breaking Down Communication Barriers in Teams and Cross-Departmental Communication</a:t>
            </a:r>
            <a:endParaRPr lang="en-US" sz="5249" dirty="0"/>
          </a:p>
        </p:txBody>
      </p:sp>
      <p:sp>
        <p:nvSpPr>
          <p:cNvPr id="5" name="Text 3"/>
          <p:cNvSpPr/>
          <p:nvPr/>
        </p:nvSpPr>
        <p:spPr>
          <a:xfrm>
            <a:off x="5474132" y="5719425"/>
            <a:ext cx="7477601" cy="1058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ea typeface="Inter" pitchFamily="34" charset="-122"/>
                <a:cs typeface="Inter" pitchFamily="34" charset="-120"/>
              </a:rPr>
              <a:t>Effective communication plays a vital role in achieving success for any team or organization. Let's explore the importance of cross-department communication and common communication barriers in teams.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786086" y="6777790"/>
            <a:ext cx="2362914" cy="3859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endParaRPr lang="en-US" sz="2187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C15794D9-0D0C-ABD0-9DD2-0157B5755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13" y="1018239"/>
            <a:ext cx="3512741" cy="52303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33199" y="791380"/>
            <a:ext cx="12964001" cy="1378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131" dirty="0">
                <a:ea typeface="Inter" pitchFamily="34" charset="-122"/>
                <a:cs typeface="Inter" pitchFamily="34" charset="-120"/>
              </a:rPr>
              <a:t>Importance of Cross-Departmental Communication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99" y="2610988"/>
            <a:ext cx="4099084" cy="2514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199" y="5401384"/>
            <a:ext cx="222194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ea typeface="Inter" pitchFamily="34" charset="-122"/>
                <a:cs typeface="Inter" pitchFamily="34" charset="-120"/>
              </a:rPr>
              <a:t>Teamwork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833199" y="5966555"/>
            <a:ext cx="4099084" cy="1058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ea typeface="Inter" pitchFamily="34" charset="-122"/>
                <a:cs typeface="Inter" pitchFamily="34" charset="-120"/>
              </a:rPr>
              <a:t>Collaboration, sharing of knowledge and skills, and working synergistically are critical to achieving a common goal.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539" y="2610988"/>
            <a:ext cx="4099203" cy="25147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65539" y="5401384"/>
            <a:ext cx="222194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ea typeface="Inter" pitchFamily="34" charset="-122"/>
                <a:cs typeface="Inter" pitchFamily="34" charset="-120"/>
              </a:rPr>
              <a:t>Partnership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265539" y="5966555"/>
            <a:ext cx="4099203" cy="1411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ea typeface="Inter" pitchFamily="34" charset="-122"/>
                <a:cs typeface="Inter" pitchFamily="34" charset="-120"/>
              </a:rPr>
              <a:t>Effective communication methods build a mutually beneficial relationship with partners, creating opportunities for growth and profitability.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998" y="2610988"/>
            <a:ext cx="4099203" cy="25147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7998" y="5401384"/>
            <a:ext cx="222194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ea typeface="Inter" pitchFamily="34" charset="-122"/>
                <a:cs typeface="Inter" pitchFamily="34" charset="-120"/>
              </a:rPr>
              <a:t>Networking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697998" y="5966555"/>
            <a:ext cx="4099203" cy="1411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ea typeface="Inter" pitchFamily="34" charset="-122"/>
                <a:cs typeface="Inter" pitchFamily="34" charset="-120"/>
              </a:rPr>
              <a:t>Facilitating networking amongst various departments of an organization fosters better collaboration, creates trust, and enhances productivity.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33199" y="1329368"/>
            <a:ext cx="11139726" cy="6892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131" dirty="0">
                <a:ea typeface="Inter" pitchFamily="34" charset="-122"/>
                <a:cs typeface="Inter" pitchFamily="34" charset="-120"/>
              </a:rPr>
              <a:t>Common Communication Barriers in Teams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833199" y="2459709"/>
            <a:ext cx="6370915" cy="2079737"/>
          </a:xfrm>
          <a:prstGeom prst="roundRect">
            <a:avLst>
              <a:gd name="adj" fmla="val 2638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1062990" y="2687810"/>
            <a:ext cx="2591157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Ineffective Listening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1062990" y="3252980"/>
            <a:ext cx="5911334" cy="70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Most communication breakdowns stem from a lack of active listening, whether intentional or unintentional.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459709"/>
            <a:ext cx="6370915" cy="2079737"/>
          </a:xfrm>
          <a:prstGeom prst="roundRect">
            <a:avLst>
              <a:gd name="adj" fmla="val 2638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656076" y="2687810"/>
            <a:ext cx="222194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Lack of Clarity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3252980"/>
            <a:ext cx="5911334" cy="1058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Using unclear language, jargon, or unfamiliar technical terms can cause communication breakdowns, leading to confusion and misunderstandings.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33199" y="4759983"/>
            <a:ext cx="6370915" cy="2079737"/>
          </a:xfrm>
          <a:prstGeom prst="roundRect">
            <a:avLst>
              <a:gd name="adj" fmla="val 2638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1062990" y="4988084"/>
            <a:ext cx="2327315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Language Barriers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1062990" y="5553254"/>
            <a:ext cx="5911334" cy="1058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Language barriers and cultural differences can have a significant impact on how messages are conveyed and understood, leading to misinterpretations.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759983"/>
            <a:ext cx="6370915" cy="2079737"/>
          </a:xfrm>
          <a:prstGeom prst="roundRect">
            <a:avLst>
              <a:gd name="adj" fmla="val 2638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7656076" y="4988084"/>
            <a:ext cx="2803803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Emotional Intelligence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5553254"/>
            <a:ext cx="5911334" cy="1058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The inability to understand the emotional context of a conversation, and respond appropriately, can contribute to ineffective communication and poor team dynamics.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28BE-7AE6-3831-2121-E3B3741F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Discuss the questions below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81CE1-D0CD-7C74-0E64-5BBCD7FCD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Google Sans"/>
              </a:rPr>
              <a:t>Language differences:</a:t>
            </a:r>
          </a:p>
          <a:p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E3852-F0A9-C88F-5BF0-249F2445D3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ensure that everyone involved in a cross-department project understands each other, even if they speak different languages?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What are some strategies for translating jargon and technical terms into plain language?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create a welcoming and inclusive environment for people from different cultures?</a:t>
            </a:r>
          </a:p>
          <a:p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3BE79-6FFC-8DAC-7404-2301DF3BD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Google Sans"/>
              </a:rPr>
              <a:t>Jargon:</a:t>
            </a:r>
          </a:p>
          <a:p>
            <a:endParaRPr lang="en-Z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8BD663-E1F2-3532-3419-634AE62BAA5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What are some ways to identify and define jargon that is specific to your organization?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create a glossary of terms that everyone can reference?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encourage people to use plain language instead of jargon?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237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AF29-3900-C3D6-B990-7BF5C950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Discussion continued…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285F5-EE5F-3001-D25D-D99722C0B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417" y="1523049"/>
            <a:ext cx="6189344" cy="988694"/>
          </a:xfrm>
        </p:spPr>
        <p:txBody>
          <a:bodyPr/>
          <a:lstStyle/>
          <a:p>
            <a:r>
              <a:rPr lang="en-ZA" b="0" i="0" dirty="0">
                <a:effectLst/>
                <a:latin typeface="Google Sans"/>
              </a:rPr>
              <a:t>Cultural nuances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D1FC3-C8FC-EF2F-BB2D-6A684DFFA9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What are some cultural norms and expectations that you should be aware of when communicating with people from other cultures?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avoid making assumptions about someone's culture?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build trust and rapport with people from other cultures?</a:t>
            </a:r>
          </a:p>
          <a:p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BB5124-DAEA-F670-01B8-62EF67F5A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Google Sans"/>
              </a:rPr>
              <a:t>Hierarchical structures:</a:t>
            </a:r>
          </a:p>
          <a:p>
            <a:endParaRPr lang="en-Z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63F19-6B50-E78C-A1FC-CD51856760C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create a sense of equality and collaboration between departments, even if there is a clear hierarchy?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encourage people from different departments to share ideas and feedback?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Google Sans"/>
              </a:rPr>
              <a:t>How can you resolve conflicts between departments?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85880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89980" y="740678"/>
            <a:ext cx="13050441" cy="1307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184"/>
              </a:lnSpc>
              <a:buNone/>
            </a:pPr>
            <a:r>
              <a:rPr lang="en-US" sz="4147" b="1" kern="0" spc="-124" dirty="0">
                <a:latin typeface="Inter" pitchFamily="34" charset="0"/>
                <a:ea typeface="Inter" pitchFamily="34" charset="-122"/>
                <a:cs typeface="Inter" pitchFamily="34" charset="-120"/>
              </a:rPr>
              <a:t>Tips for Effective Cross-Departmental Communication</a:t>
            </a:r>
            <a:endParaRPr lang="en-US" sz="4147" dirty="0"/>
          </a:p>
        </p:txBody>
      </p:sp>
      <p:sp>
        <p:nvSpPr>
          <p:cNvPr id="5" name="Shape 3"/>
          <p:cNvSpPr/>
          <p:nvPr/>
        </p:nvSpPr>
        <p:spPr>
          <a:xfrm>
            <a:off x="789980" y="4947191"/>
            <a:ext cx="13050441" cy="417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978890" y="4947191"/>
            <a:ext cx="42029" cy="731932"/>
          </a:xfrm>
          <a:prstGeom prst="rect">
            <a:avLst/>
          </a:prstGeom>
          <a:solidFill>
            <a:srgbClr val="14009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762970" y="4711999"/>
            <a:ext cx="473988" cy="470503"/>
          </a:xfrm>
          <a:prstGeom prst="roundRect">
            <a:avLst>
              <a:gd name="adj" fmla="val 11661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928467" y="4751237"/>
            <a:ext cx="142994" cy="3920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11"/>
              </a:lnSpc>
              <a:buNone/>
            </a:pPr>
            <a:r>
              <a:rPr lang="en-US" sz="2488" b="1" kern="0" spc="-75" dirty="0"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88" dirty="0"/>
          </a:p>
        </p:txBody>
      </p:sp>
      <p:sp>
        <p:nvSpPr>
          <p:cNvPr id="9" name="Text 7"/>
          <p:cNvSpPr/>
          <p:nvPr/>
        </p:nvSpPr>
        <p:spPr>
          <a:xfrm>
            <a:off x="1988582" y="5888315"/>
            <a:ext cx="4022646" cy="3267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92"/>
              </a:lnSpc>
              <a:buNone/>
            </a:pPr>
            <a:r>
              <a:rPr lang="en-US" sz="2074" b="1" kern="0" spc="-62" dirty="0">
                <a:latin typeface="Inter" pitchFamily="34" charset="0"/>
                <a:ea typeface="Inter" pitchFamily="34" charset="-122"/>
                <a:cs typeface="Inter" pitchFamily="34" charset="-120"/>
              </a:rPr>
              <a:t>Implement a Communication Plan</a:t>
            </a:r>
            <a:endParaRPr lang="en-US" sz="2074" dirty="0"/>
          </a:p>
        </p:txBody>
      </p:sp>
      <p:sp>
        <p:nvSpPr>
          <p:cNvPr id="10" name="Text 8"/>
          <p:cNvSpPr/>
          <p:nvPr/>
        </p:nvSpPr>
        <p:spPr>
          <a:xfrm>
            <a:off x="1000601" y="6424175"/>
            <a:ext cx="5998607" cy="1004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54"/>
              </a:lnSpc>
              <a:buNone/>
            </a:pPr>
            <a:r>
              <a:rPr lang="en-US" sz="1659" kern="0" spc="-33" dirty="0">
                <a:latin typeface="Inter" pitchFamily="34" charset="0"/>
                <a:ea typeface="Inter" pitchFamily="34" charset="-122"/>
                <a:cs typeface="Inter" pitchFamily="34" charset="-120"/>
              </a:rPr>
              <a:t>A communication strategy that includes instructions and protocols for sharing information, setting goals, and reporting progress can help align departments towards a common goal.</a:t>
            </a:r>
            <a:endParaRPr lang="en-US" sz="1659" dirty="0"/>
          </a:p>
        </p:txBody>
      </p:sp>
      <p:sp>
        <p:nvSpPr>
          <p:cNvPr id="11" name="Shape 9"/>
          <p:cNvSpPr/>
          <p:nvPr/>
        </p:nvSpPr>
        <p:spPr>
          <a:xfrm>
            <a:off x="7294066" y="4215259"/>
            <a:ext cx="42029" cy="731932"/>
          </a:xfrm>
          <a:prstGeom prst="rect">
            <a:avLst/>
          </a:prstGeom>
          <a:solidFill>
            <a:srgbClr val="14009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7078147" y="4711999"/>
            <a:ext cx="473988" cy="470503"/>
          </a:xfrm>
          <a:prstGeom prst="roundRect">
            <a:avLst>
              <a:gd name="adj" fmla="val 11661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220783" y="4751237"/>
            <a:ext cx="188714" cy="3920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11"/>
              </a:lnSpc>
              <a:buNone/>
            </a:pPr>
            <a:r>
              <a:rPr lang="en-US" sz="2488" b="1" kern="0" spc="-75" dirty="0"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88" dirty="0"/>
          </a:p>
        </p:txBody>
      </p:sp>
      <p:sp>
        <p:nvSpPr>
          <p:cNvPr id="14" name="Text 12"/>
          <p:cNvSpPr/>
          <p:nvPr/>
        </p:nvSpPr>
        <p:spPr>
          <a:xfrm>
            <a:off x="5950148" y="2466091"/>
            <a:ext cx="2729984" cy="3267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92"/>
              </a:lnSpc>
              <a:buNone/>
            </a:pPr>
            <a:r>
              <a:rPr lang="en-US" sz="2074" b="1" kern="0" spc="-62" dirty="0">
                <a:latin typeface="Inter" pitchFamily="34" charset="0"/>
                <a:ea typeface="Inter" pitchFamily="34" charset="-122"/>
                <a:cs typeface="Inter" pitchFamily="34" charset="-120"/>
              </a:rPr>
              <a:t>Assess Your Audience</a:t>
            </a:r>
            <a:endParaRPr lang="en-US" sz="2074" dirty="0"/>
          </a:p>
        </p:txBody>
      </p:sp>
      <p:sp>
        <p:nvSpPr>
          <p:cNvPr id="15" name="Text 13"/>
          <p:cNvSpPr/>
          <p:nvPr/>
        </p:nvSpPr>
        <p:spPr>
          <a:xfrm>
            <a:off x="4315778" y="3001951"/>
            <a:ext cx="5998726" cy="1004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54"/>
              </a:lnSpc>
              <a:buNone/>
            </a:pPr>
            <a:r>
              <a:rPr lang="en-US" sz="1659" kern="0" spc="-33" dirty="0">
                <a:latin typeface="Inter" pitchFamily="34" charset="0"/>
                <a:ea typeface="Inter" pitchFamily="34" charset="-122"/>
                <a:cs typeface="Inter" pitchFamily="34" charset="-120"/>
              </a:rPr>
              <a:t>Enable clear communication that is tailored to the specific need of a department, instead of using generic content or strategies that will not resonate with a particular group.</a:t>
            </a:r>
            <a:endParaRPr lang="en-US" sz="1659" dirty="0"/>
          </a:p>
        </p:txBody>
      </p:sp>
      <p:sp>
        <p:nvSpPr>
          <p:cNvPr id="16" name="Shape 14"/>
          <p:cNvSpPr/>
          <p:nvPr/>
        </p:nvSpPr>
        <p:spPr>
          <a:xfrm>
            <a:off x="10609362" y="4947191"/>
            <a:ext cx="42029" cy="731932"/>
          </a:xfrm>
          <a:prstGeom prst="rect">
            <a:avLst/>
          </a:prstGeom>
          <a:solidFill>
            <a:srgbClr val="14009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10393442" y="4711999"/>
            <a:ext cx="473988" cy="470503"/>
          </a:xfrm>
          <a:prstGeom prst="roundRect">
            <a:avLst>
              <a:gd name="adj" fmla="val 11661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10532269" y="4751237"/>
            <a:ext cx="196334" cy="3920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11"/>
              </a:lnSpc>
              <a:buNone/>
            </a:pPr>
            <a:r>
              <a:rPr lang="en-US" sz="2488" b="1" kern="0" spc="-75" dirty="0"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88" dirty="0"/>
          </a:p>
        </p:txBody>
      </p:sp>
      <p:sp>
        <p:nvSpPr>
          <p:cNvPr id="19" name="Text 17"/>
          <p:cNvSpPr/>
          <p:nvPr/>
        </p:nvSpPr>
        <p:spPr>
          <a:xfrm>
            <a:off x="9276993" y="5888315"/>
            <a:ext cx="2706886" cy="3267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92"/>
              </a:lnSpc>
              <a:buNone/>
            </a:pPr>
            <a:r>
              <a:rPr lang="en-US" sz="2074" b="1" kern="0" spc="-62" dirty="0">
                <a:latin typeface="Inter" pitchFamily="34" charset="0"/>
                <a:ea typeface="Inter" pitchFamily="34" charset="-122"/>
                <a:cs typeface="Inter" pitchFamily="34" charset="-120"/>
              </a:rPr>
              <a:t>Use Multiple Channels</a:t>
            </a:r>
            <a:endParaRPr lang="en-US" sz="2074" dirty="0"/>
          </a:p>
        </p:txBody>
      </p:sp>
      <p:sp>
        <p:nvSpPr>
          <p:cNvPr id="20" name="Text 18"/>
          <p:cNvSpPr/>
          <p:nvPr/>
        </p:nvSpPr>
        <p:spPr>
          <a:xfrm>
            <a:off x="7631073" y="6424175"/>
            <a:ext cx="5998726" cy="1004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54"/>
              </a:lnSpc>
              <a:buNone/>
            </a:pPr>
            <a:r>
              <a:rPr lang="en-US" sz="1659" kern="0" spc="-33" dirty="0">
                <a:latin typeface="Inter" pitchFamily="34" charset="0"/>
                <a:ea typeface="Inter" pitchFamily="34" charset="-122"/>
                <a:cs typeface="Inter" pitchFamily="34" charset="-120"/>
              </a:rPr>
              <a:t>Use a variety of channels to communicate across departments, including email, chat apps, video conferencing, and face-to-face meetings.</a:t>
            </a:r>
            <a:endParaRPr lang="en-US" sz="165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33199" y="614927"/>
            <a:ext cx="12964001" cy="1378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131" dirty="0">
                <a:latin typeface="Inter" pitchFamily="34" charset="0"/>
                <a:ea typeface="Inter" pitchFamily="34" charset="-122"/>
                <a:cs typeface="Inter" pitchFamily="34" charset="-120"/>
              </a:rPr>
              <a:t>Strategies for Successful Communication in Teams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99" y="2434535"/>
            <a:ext cx="4099084" cy="2514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199" y="5224931"/>
            <a:ext cx="2380655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Celebrate Success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833199" y="5790101"/>
            <a:ext cx="4099084" cy="1411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Publicly acknowledge and celebrate team success to continue building relationships, and instil values of collaboration and transparency.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539" y="2434535"/>
            <a:ext cx="4099203" cy="25147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65539" y="5224931"/>
            <a:ext cx="3237428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Encourage Brainstorming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265539" y="5790101"/>
            <a:ext cx="4099203" cy="1058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Brainstorming enables team members to express their ideas, collaborate and come up with better solutions.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998" y="2434535"/>
            <a:ext cx="4099203" cy="25147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7998" y="5224931"/>
            <a:ext cx="303859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Team Building Activities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697998" y="5790101"/>
            <a:ext cx="4099203" cy="17639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Team-building activities encourage bonding, and help highlight individual strengths and weaknesses to foster better communication and trust, thus improving team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33199" y="722832"/>
            <a:ext cx="7477601" cy="1378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131" dirty="0">
                <a:latin typeface="Inter" pitchFamily="34" charset="0"/>
                <a:ea typeface="Inter" pitchFamily="34" charset="-122"/>
                <a:cs typeface="Inter" pitchFamily="34" charset="-120"/>
              </a:rPr>
              <a:t>Best Practices for Improving Communication Skills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833199" y="2604488"/>
            <a:ext cx="499943" cy="496267"/>
          </a:xfrm>
          <a:prstGeom prst="roundRect">
            <a:avLst>
              <a:gd name="adj" fmla="val 11055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1004292" y="2645853"/>
            <a:ext cx="157758" cy="413418"/>
          </a:xfrm>
          <a:prstGeom prst="rect">
            <a:avLst/>
          </a:prstGeom>
          <a:solidFill>
            <a:schemeClr val="accent2"/>
          </a:solidFill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79" dirty="0"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1555313" y="2680246"/>
            <a:ext cx="2905601" cy="689267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Practice Active Listening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1555313" y="3590050"/>
            <a:ext cx="2905601" cy="211673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Listen attentively to others, communicating an interest, and making them feel valued. Also, avoid interruptions, and ask follow up questions.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683085" y="2604488"/>
            <a:ext cx="499943" cy="496267"/>
          </a:xfrm>
          <a:prstGeom prst="roundRect">
            <a:avLst>
              <a:gd name="adj" fmla="val 11055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835128" y="2645853"/>
            <a:ext cx="195858" cy="413418"/>
          </a:xfrm>
          <a:prstGeom prst="rect">
            <a:avLst/>
          </a:prstGeom>
          <a:solidFill>
            <a:schemeClr val="accent2"/>
          </a:solidFill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79" dirty="0"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5405199" y="2680246"/>
            <a:ext cx="2905601" cy="689267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Use Constructive Criticism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5405199" y="3590050"/>
            <a:ext cx="2905601" cy="211673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Provide feedback in a clear, compassionate, constructive, and actionable way by separating individuals from their actions and suggesting alternative behaviour.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33199" y="6099633"/>
            <a:ext cx="499943" cy="496267"/>
          </a:xfrm>
          <a:prstGeom prst="roundRect">
            <a:avLst>
              <a:gd name="adj" fmla="val 11055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981432" y="6140999"/>
            <a:ext cx="203478" cy="413418"/>
          </a:xfrm>
          <a:prstGeom prst="rect">
            <a:avLst/>
          </a:prstGeom>
          <a:solidFill>
            <a:schemeClr val="accent2"/>
          </a:solidFill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79" dirty="0"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1555313" y="6175391"/>
            <a:ext cx="2221944" cy="344633"/>
          </a:xfrm>
          <a:prstGeom prst="rect">
            <a:avLst/>
          </a:prstGeom>
          <a:solidFill>
            <a:schemeClr val="accent2"/>
          </a:solidFill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Invest in Yourself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1555313" y="6740561"/>
            <a:ext cx="6755487" cy="705577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Develop excellent communication skills by investing in training, reading, writing, and practicing various communication strategies.</a:t>
            </a:r>
            <a:endParaRPr lang="en-US" sz="1750" dirty="0"/>
          </a:p>
        </p:txBody>
      </p:sp>
      <p:pic>
        <p:nvPicPr>
          <p:cNvPr id="19" name="Picture 18" descr="Thin geometric plinth in a graph">
            <a:extLst>
              <a:ext uri="{FF2B5EF4-FFF2-40B4-BE49-F238E27FC236}">
                <a16:creationId xmlns:a16="http://schemas.microsoft.com/office/drawing/2014/main" id="{D4F621AC-1CE5-0F45-413A-0965D7009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851" y="2852562"/>
            <a:ext cx="4715257" cy="31496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53C3-6F43-ADAF-3444-952973DC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>
            <a:normAutofit/>
          </a:bodyPr>
          <a:lstStyle/>
          <a:p>
            <a:r>
              <a:rPr lang="en-ZA" dirty="0"/>
              <a:t>Let’s put your skills to the test.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70E7905-7CB1-7CAD-262B-2432EF977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>
            <a:normAutofit/>
          </a:bodyPr>
          <a:lstStyle/>
          <a:p>
            <a:r>
              <a:rPr lang="en-US" dirty="0"/>
              <a:t>The following games are effective ways to improve your communication skills. The table to your right explains the skills each game helps to improve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63EBE2E-1118-79CD-1F31-8716C61936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8243948"/>
              </p:ext>
            </p:extLst>
          </p:nvPr>
        </p:nvGraphicFramePr>
        <p:xfrm>
          <a:off x="6219826" y="1220279"/>
          <a:ext cx="7406642" cy="57776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32439">
                  <a:extLst>
                    <a:ext uri="{9D8B030D-6E8A-4147-A177-3AD203B41FA5}">
                      <a16:colId xmlns:a16="http://schemas.microsoft.com/office/drawing/2014/main" val="2538225449"/>
                    </a:ext>
                  </a:extLst>
                </a:gridCol>
                <a:gridCol w="2595680">
                  <a:extLst>
                    <a:ext uri="{9D8B030D-6E8A-4147-A177-3AD203B41FA5}">
                      <a16:colId xmlns:a16="http://schemas.microsoft.com/office/drawing/2014/main" val="2992223907"/>
                    </a:ext>
                  </a:extLst>
                </a:gridCol>
                <a:gridCol w="2778523">
                  <a:extLst>
                    <a:ext uri="{9D8B030D-6E8A-4147-A177-3AD203B41FA5}">
                      <a16:colId xmlns:a16="http://schemas.microsoft.com/office/drawing/2014/main" val="3853047774"/>
                    </a:ext>
                  </a:extLst>
                </a:gridCol>
              </a:tblGrid>
              <a:tr h="1444404"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Mime It Out Activity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Nonverbal communication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Observational skills, attention to detail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348652"/>
                  </a:ext>
                </a:extLst>
              </a:tr>
              <a:tr h="1444404"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Sound Recognition Activity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Listening concentration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Focus, present moment awareness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15833"/>
                  </a:ext>
                </a:extLst>
              </a:tr>
              <a:tr h="1444404"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Omit the Obvious Activity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Information filtering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Irrelevant information identification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723974"/>
                  </a:ext>
                </a:extLst>
              </a:tr>
              <a:tr h="1444404"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Paraphrase Challenge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Comprehension, summarization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sz="2500" b="0" cap="none" spc="0">
                          <a:solidFill>
                            <a:schemeClr val="tx1"/>
                          </a:solidFill>
                          <a:effectLst/>
                          <a:latin typeface="Google Sans"/>
                        </a:rPr>
                        <a:t>Listening comprehension, accuracy</a:t>
                      </a:r>
                    </a:p>
                  </a:txBody>
                  <a:tcPr marL="0" marR="291854" marT="56760" marB="1892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432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972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3EDBDA-58FB-DEC8-6256-B1EA2E831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Possible Mime it out topics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B4505-2640-83FA-D13F-6586F9167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Everyday activities: brushing your teeth, making breakfast, getting dressed, driving a car,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Professions: doctor, lawyer, teacher, firefighter,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Animals: dog, cat, horse, bird,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Objects: phone, computer, book, ball,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Emotions: happy, sad, angry, scared,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Scenes: cooking dinner, going to the park, shopping,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Tasks: playing an instrument, solving a puzzle, building a house,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Stories: The Three Little Pigs, Cinderella, The Wizard of Oz,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Jokes: knock-knock jokes, riddles, puns,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ZA" b="0" i="0" dirty="0">
                <a:effectLst/>
                <a:latin typeface="Google Sans"/>
              </a:rPr>
              <a:t>Songs: popular songs, children's songs, etc.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3450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285C-A1A9-E795-4CFC-55FCA820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Paraphrase challenge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59049-2A49-AD85-073B-B4FA24B35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GB" b="0" i="0" dirty="0">
                <a:effectLst/>
              </a:rPr>
              <a:t>The Importance of Listening Skills</a:t>
            </a:r>
          </a:p>
          <a:p>
            <a:pPr marL="0" indent="0" algn="l">
              <a:buNone/>
            </a:pPr>
            <a:r>
              <a:rPr lang="en-GB" b="0" i="0" dirty="0">
                <a:effectLst/>
              </a:rPr>
              <a:t>Listening is a critical skill that is essential for success in school, work, and relationships. It involves paying attention to what someone is saying, understanding their message, and responding appropriately.</a:t>
            </a:r>
          </a:p>
          <a:p>
            <a:pPr marL="0" indent="0" algn="l">
              <a:buNone/>
            </a:pPr>
            <a:r>
              <a:rPr lang="en-GB" b="0" i="0" dirty="0">
                <a:effectLst/>
              </a:rPr>
              <a:t>Good listeners are able to:</a:t>
            </a:r>
          </a:p>
          <a:p>
            <a:pPr marL="0" indent="0" algn="l">
              <a:buNone/>
            </a:pPr>
            <a:r>
              <a:rPr lang="en-GB" b="0" i="0" dirty="0">
                <a:effectLst/>
              </a:rPr>
              <a:t>Pay attention to the speaker's verbal and nonverbal cues.</a:t>
            </a:r>
          </a:p>
          <a:p>
            <a:pPr marL="0" indent="0" algn="l">
              <a:buNone/>
            </a:pPr>
            <a:r>
              <a:rPr lang="en-GB" b="0" i="0" dirty="0">
                <a:effectLst/>
              </a:rPr>
              <a:t>Understand the speaker's message, even if it is not explicitly stated.</a:t>
            </a:r>
          </a:p>
          <a:p>
            <a:pPr marL="0" indent="0" algn="l">
              <a:buNone/>
            </a:pPr>
            <a:r>
              <a:rPr lang="en-GB" b="0" i="0" dirty="0">
                <a:effectLst/>
              </a:rPr>
              <a:t>Ask clarifying questions to ensure that they understand the message.</a:t>
            </a:r>
          </a:p>
          <a:p>
            <a:pPr marL="0" indent="0" algn="l">
              <a:buNone/>
            </a:pPr>
            <a:r>
              <a:rPr lang="en-GB" b="0" i="0" dirty="0">
                <a:effectLst/>
              </a:rPr>
              <a:t>Respond appropriately to the speaker's message.</a:t>
            </a:r>
          </a:p>
          <a:p>
            <a:pPr marL="0" indent="0" algn="l">
              <a:buNone/>
            </a:pPr>
            <a:r>
              <a:rPr lang="en-GB" b="0" i="0" dirty="0">
                <a:effectLst/>
              </a:rPr>
              <a:t>Poor listening skills can lead to misunderstandings, missed opportunities, and damaged relationships.</a:t>
            </a:r>
          </a:p>
          <a:p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54E97-0DEE-1176-186C-FD620E38577F}"/>
              </a:ext>
            </a:extLst>
          </p:cNvPr>
          <p:cNvSpPr txBox="1"/>
          <p:nvPr/>
        </p:nvSpPr>
        <p:spPr>
          <a:xfrm>
            <a:off x="844062" y="1714472"/>
            <a:ext cx="1157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Teacher will read the passage once and students will be required to paraphrase this as accurately as possible</a:t>
            </a:r>
          </a:p>
        </p:txBody>
      </p:sp>
    </p:spTree>
    <p:extLst>
      <p:ext uri="{BB962C8B-B14F-4D97-AF65-F5344CB8AC3E}">
        <p14:creationId xmlns:p14="http://schemas.microsoft.com/office/powerpoint/2010/main" val="450441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319599" y="2144031"/>
            <a:ext cx="4443889" cy="6892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131" dirty="0"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6652855" y="3412178"/>
            <a:ext cx="7144345" cy="70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"Effective communication is the cornerstone of excellent teamwork and successful cross-departmental collaboration.“</a:t>
            </a:r>
          </a:p>
          <a:p>
            <a:pPr marL="0" indent="0">
              <a:lnSpc>
                <a:spcPts val="2799"/>
              </a:lnSpc>
              <a:buNone/>
            </a:pPr>
            <a:endParaRPr lang="en-US" sz="1750" kern="0" spc="-35" dirty="0">
              <a:latin typeface="Inter" pitchFamily="34" charset="0"/>
              <a:ea typeface="Inter" pitchFamily="34" charset="-122"/>
            </a:endParaRPr>
          </a:p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</a:rPr>
              <a:t>Do you agree? Why/why not. Provide an example for your answer.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319599" y="3164103"/>
            <a:ext cx="44410" cy="1201726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Picture 9" descr="Five square speech bubbles in color">
            <a:extLst>
              <a:ext uri="{FF2B5EF4-FFF2-40B4-BE49-F238E27FC236}">
                <a16:creationId xmlns:a16="http://schemas.microsoft.com/office/drawing/2014/main" id="{F5FCDECA-CE72-B1A9-8E7E-D7C19C4FD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83" y="1652954"/>
            <a:ext cx="5636870" cy="39455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3E344C-BAB2-47B2-95DD-1CDCE93B81BF}"/>
              </a:ext>
            </a:extLst>
          </p:cNvPr>
          <p:cNvSpPr txBox="1">
            <a:spLocks/>
          </p:cNvSpPr>
          <p:nvPr/>
        </p:nvSpPr>
        <p:spPr>
          <a:xfrm>
            <a:off x="1404519" y="1678838"/>
            <a:ext cx="3884371" cy="4882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>
                <a:latin typeface="+mj-lt"/>
                <a:ea typeface="+mj-ea"/>
                <a:cs typeface="+mj-cs"/>
              </a:rPr>
              <a:t>Disclaimer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A37B90-8510-FE43-226D-135A9D49950A}"/>
              </a:ext>
            </a:extLst>
          </p:cNvPr>
          <p:cNvSpPr txBox="1">
            <a:spLocks/>
          </p:cNvSpPr>
          <p:nvPr/>
        </p:nvSpPr>
        <p:spPr>
          <a:xfrm>
            <a:off x="6945783" y="1832458"/>
            <a:ext cx="6133795" cy="4718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60"/>
              <a:t>The content of this slide show was in part generated using AI technology and was formatted and reviewed by Learning Like a Lioness.</a:t>
            </a:r>
          </a:p>
        </p:txBody>
      </p:sp>
    </p:spTree>
    <p:extLst>
      <p:ext uri="{BB962C8B-B14F-4D97-AF65-F5344CB8AC3E}">
        <p14:creationId xmlns:p14="http://schemas.microsoft.com/office/powerpoint/2010/main" val="2487073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EA1B-A089-58EA-0BC8-473BFCBB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683E-7A7C-2B86-9556-54839CAA5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Be an active listener. This means paying attention to what the other person is saying, both verbally and nonverbally.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Ask questions. If you are not sure what the other person is saying, ask them to clarify.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Be patient. It may take time for the other person to understand your message.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Be willing to compromise. Sometimes, you may need to adjust your message or approach to meet the needs of the other person.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55408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A5157CB-BF22-34B7-E0AE-8D9A814B3245}"/>
              </a:ext>
            </a:extLst>
          </p:cNvPr>
          <p:cNvSpPr txBox="1">
            <a:spLocks/>
          </p:cNvSpPr>
          <p:nvPr/>
        </p:nvSpPr>
        <p:spPr>
          <a:xfrm>
            <a:off x="1457196" y="578703"/>
            <a:ext cx="5120640" cy="1325880"/>
          </a:xfrm>
          <a:prstGeom prst="rect">
            <a:avLst/>
          </a:prstGeom>
        </p:spPr>
        <p:txBody>
          <a:bodyPr/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Delayed feedback</a:t>
            </a:r>
            <a:endParaRPr lang="es-E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098E3EE-2A19-417E-661E-CBDEDEF6CE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1872" y="7020230"/>
            <a:ext cx="2743200" cy="365125"/>
          </a:xfrm>
        </p:spPr>
        <p:txBody>
          <a:bodyPr/>
          <a:lstStyle/>
          <a:p>
            <a:pPr>
              <a:defRPr/>
            </a:pPr>
            <a:r>
              <a:rPr lang="en-GB" dirty="0" err="1">
                <a:solidFill>
                  <a:prstClr val="black">
                    <a:tint val="75000"/>
                  </a:prstClr>
                </a:solidFill>
              </a:rPr>
              <a:t>TuSpeaking</a:t>
            </a: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 2023,  All rights reserved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D4B3A-109D-0670-4F84-088D23ED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378" y="6821792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6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098345-A2C2-E384-EDB5-EA8590A798CF}"/>
              </a:ext>
            </a:extLst>
          </p:cNvPr>
          <p:cNvSpPr txBox="1">
            <a:spLocks/>
          </p:cNvSpPr>
          <p:nvPr/>
        </p:nvSpPr>
        <p:spPr>
          <a:xfrm>
            <a:off x="1404519" y="1678838"/>
            <a:ext cx="3884371" cy="4882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11" name="Graphic 10" descr="Handshake">
            <a:extLst>
              <a:ext uri="{FF2B5EF4-FFF2-40B4-BE49-F238E27FC236}">
                <a16:creationId xmlns:a16="http://schemas.microsoft.com/office/drawing/2014/main" id="{432FC48F-9954-0663-FA75-C16383EA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3528" y="1832458"/>
            <a:ext cx="4718304" cy="4718304"/>
          </a:xfrm>
          <a:prstGeom prst="rect">
            <a:avLst/>
          </a:prstGeom>
        </p:spPr>
      </p:pic>
      <p:sp>
        <p:nvSpPr>
          <p:cNvPr id="8" name="Date Placeholder 3" hidden="1">
            <a:extLst>
              <a:ext uri="{FF2B5EF4-FFF2-40B4-BE49-F238E27FC236}">
                <a16:creationId xmlns:a16="http://schemas.microsoft.com/office/drawing/2014/main" id="{8B8B395B-8E3A-5F89-D655-A68432D7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sz="1100" noProof="0" err="1">
                <a:solidFill>
                  <a:prstClr val="black">
                    <a:tint val="75000"/>
                  </a:prstClr>
                </a:solidFill>
              </a:rPr>
              <a:t>TuSpeaking</a:t>
            </a:r>
            <a:r>
              <a:rPr lang="en-US" sz="1100" noProof="0">
                <a:solidFill>
                  <a:prstClr val="black">
                    <a:tint val="75000"/>
                  </a:prstClr>
                </a:solidFill>
              </a:rPr>
              <a:t> 2023,  All rights reserved</a:t>
            </a:r>
          </a:p>
        </p:txBody>
      </p:sp>
      <p:sp>
        <p:nvSpPr>
          <p:cNvPr id="10" name="Slide Number Placeholder 5" hidden="1">
            <a:extLst>
              <a:ext uri="{FF2B5EF4-FFF2-40B4-BE49-F238E27FC236}">
                <a16:creationId xmlns:a16="http://schemas.microsoft.com/office/drawing/2014/main" id="{B9FFBB3A-5660-41C5-9050-82B52087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Aft>
                <a:spcPts val="600"/>
              </a:spcAft>
            </a:pPr>
            <a:fld id="{D76B855D-E9CC-4FF8-AD85-6CDC7B89A0DE}" type="slidenum">
              <a:rPr lang="en-US" noProof="0">
                <a:solidFill>
                  <a:prstClr val="black">
                    <a:tint val="75000"/>
                  </a:prstClr>
                </a:solidFill>
              </a:rPr>
              <a:pPr lvl="0">
                <a:spcAft>
                  <a:spcPts val="600"/>
                </a:spcAft>
              </a:pPr>
              <a:t>17</a:t>
            </a:fld>
            <a:endParaRPr lang="en-US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61073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1156</Words>
  <Application>Microsoft Office PowerPoint</Application>
  <PresentationFormat>Custom</PresentationFormat>
  <Paragraphs>123</Paragraphs>
  <Slides>17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Theme2. Tuspeaking</vt:lpstr>
      <vt:lpstr>Business English</vt:lpstr>
      <vt:lpstr>PowerPoint Presentation</vt:lpstr>
      <vt:lpstr>PowerPoint Presentation</vt:lpstr>
      <vt:lpstr>PowerPoint Presentation</vt:lpstr>
      <vt:lpstr>Discuss the questions below</vt:lpstr>
      <vt:lpstr>Discussion continued…</vt:lpstr>
      <vt:lpstr>PowerPoint Presentation</vt:lpstr>
      <vt:lpstr>PowerPoint Presentation</vt:lpstr>
      <vt:lpstr>PowerPoint Presentation</vt:lpstr>
      <vt:lpstr>Let’s put your skills to the test.</vt:lpstr>
      <vt:lpstr>Possible Mime it out topics</vt:lpstr>
      <vt:lpstr>Paraphrase challenge </vt:lpstr>
      <vt:lpstr>PowerPoint Presentation</vt:lpstr>
      <vt:lpstr>PowerPoint Presentation</vt:lpstr>
      <vt:lpstr>Summary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Kiara Johnston</cp:lastModifiedBy>
  <cp:revision>4</cp:revision>
  <dcterms:created xsi:type="dcterms:W3CDTF">2023-08-02T12:36:24Z</dcterms:created>
  <dcterms:modified xsi:type="dcterms:W3CDTF">2023-09-06T11:35:35Z</dcterms:modified>
</cp:coreProperties>
</file>