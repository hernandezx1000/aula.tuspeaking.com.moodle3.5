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68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C5FC-6D57-EAD2-8799-552932480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5887-BC2F-96B5-E0D1-E5252ABEE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F410-7337-82C9-88F8-5F17EE8B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7B87-53D7-252F-4AF0-CF0AD2E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CE54-71C6-31B7-9E95-34267674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2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B008-9E4F-36F6-D294-6AF94FDF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8C4B-DEA8-2E3A-3F7E-DD9CD888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7020-DE41-0A20-EE92-52D23BBB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8B44-4F93-B5E2-6BAB-55FE347A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4AF1C-C3BC-F099-DFDC-031DB9FB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30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AFD-0292-28B4-48DA-D107C737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2F66-64DB-D05F-3ABE-1FFA1CED7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5945-D0AE-C218-03A1-405DC62F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9971-6FEB-4A8E-C938-F7302E55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5198-91C3-6DF4-DCF0-243B2162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13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49EB-721E-C6C6-9D4B-B09F8FA6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596C-9790-E9BD-9050-EB95278E1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0D3BF-FB6C-9529-757D-E20211803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6868C-DD44-3263-4071-1918EFDA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58E7F-F95A-E6A0-E0B8-E93A0EA5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48FF-596A-DF5A-0B2C-0BF1CA49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97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48D5-9A81-DEAB-A169-84E78B32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F521-EA80-2656-2F66-4AD70D763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F3964-06E8-2E3B-AB65-E3DDE898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9C99-E63A-967A-3674-4CB0AE9B4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9F22-BD08-0C75-9009-BA33EEC47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6AA5-EF9E-3FDC-803E-FF493E79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4DB0A-1585-FD08-48A9-0F91640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6CFAC-66D4-CC1A-19F3-673EEE5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92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CFD-6C85-A085-2B9C-F0AF1F2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2A5D8-E869-5F1D-F2E2-3A9B45C1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ED394-FB2E-AB8A-66AF-9A18C754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89CFB-613A-452F-F2E0-E9E9482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2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9AFA8-4BD5-9AF7-90FC-D092015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1FBB6-55C6-5CDF-88F4-BEADA55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D2F0-4E2B-253B-0E96-FE21246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9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69F-EC5F-6C94-76B2-10353D91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1ED8-4CA0-D97B-9CF2-8B86C7971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C3B98-0869-7929-0FE8-8925C955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735C-B59E-4258-2702-AA53CC3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5DF63-0EC3-825A-F064-0F29E6A9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E9DC-6ED1-169F-70A4-EA38E7D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E59-8AC1-96B1-3CE9-A0D4FF8A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950F2-2490-EF61-CA26-C5F653E5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8F227-703C-02E6-CDDF-D6567CAEB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63A0D-7EBE-1900-4D51-9A7B80F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8129-1A0F-0D1F-B870-7727C0C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5AECA-2992-78AF-A203-F141049B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12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B840-CAEA-43E5-8F5E-7CB281AA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C93EA-34AF-D6C4-2670-579262778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AB165-20EB-662C-404E-2FC1323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380B-65DE-8A73-54D6-8381181C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2BD4-2F42-4113-26A0-EF778D38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68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EFDA2-845E-31D1-8644-DEFEC3C27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52BE0-D511-7735-B08F-CC6883E50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79C4-C794-1BC7-3CA1-585E4DA4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0537-4CEF-52FC-DF64-83FE9237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24C2-0389-AAC3-D7EF-0CF3DC21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9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F6258-59DB-D502-2310-F5E6CA95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B25F-05D3-5D68-F41D-C4C4489F3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5EA1-D7AB-395B-7E38-9FD252650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D22DC-40B1-4861-85E6-44F945E42327}" type="datetimeFigureOut">
              <a:rPr lang="es-ES" smtClean="0"/>
              <a:t>12/08/2024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AC8-E278-AC78-7372-2A9B61DB5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BD0F-3768-2266-1A60-90767DC1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3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9F8A-3458-0384-D3DE-6A953FEF5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Remote work and virtual teams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1C2AD-45C1-9E0A-1F74-60E9AAD10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Business English B1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8ECA0-33E9-141C-6226-3CEEEEA0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691" y="360363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BF2F2-9290-F3AC-390E-225DA13AEF5D}"/>
              </a:ext>
            </a:extLst>
          </p:cNvPr>
          <p:cNvSpPr txBox="1"/>
          <p:nvPr/>
        </p:nvSpPr>
        <p:spPr>
          <a:xfrm>
            <a:off x="585369" y="5963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s-E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199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228E4-7771-0877-8F6D-F5228B01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00" y="-10886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Warm 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C48C8D-A0A0-2979-D85E-2DAE9C03D6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1256144"/>
            <a:ext cx="5334197" cy="49839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Can you tell me what 'telecommuting' means?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Have you ever had a virtual meeting? What was it like?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What are some tools you can use to work with a team online?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Do you know anyone who works from home? What do they do?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How do you think people stay connected with their team when working remotely?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What are some advantages of working from home?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What do you think could be difficult about working with a team online?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How do you think people communicate when they’re not in the same office?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What equipment do you think you need to work from home?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Why do you think remote work has become more popular? </a:t>
            </a:r>
          </a:p>
        </p:txBody>
      </p:sp>
      <p:pic>
        <p:nvPicPr>
          <p:cNvPr id="6" name="Picture 5" descr="Working space background">
            <a:extLst>
              <a:ext uri="{FF2B5EF4-FFF2-40B4-BE49-F238E27FC236}">
                <a16:creationId xmlns:a16="http://schemas.microsoft.com/office/drawing/2014/main" id="{98C90930-42D7-85E4-CF6C-0776EDE40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64" r="-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65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8852B-346C-89BC-5F6A-02ACC0D2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Vocabulary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D4357-AB59-FF52-5E42-F68EF372D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Telecommuting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1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Working from home or another location outside the office, using the internet and a computer to stay connected with your job.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Virtual Meeting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1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A meeting that takes place online, where people can see and talk to each other using video conferencing tools like Zoom, Teams, or Google Meet.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Collaboration Tools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1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Software or apps that help people work together even when they are in different places. Examples include Slack for messaging and Trello for organizing tasks.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Asynchronous Communication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1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Communication that does not happen in real-time, meaning people can respond at different times. Common examples include emails and recorded messages.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464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7F8B8-7D48-6DB4-C4B3-F22FED39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4000"/>
              <a:t>Vocabulary in context – fill in the blanks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21987294-82B9-065F-537B-510430BB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24" r="4630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4AE5-2E0D-0162-5333-12D7E84C3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r>
              <a:rPr lang="en-US" sz="16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We have a </a:t>
            </a:r>
            <a:r>
              <a:rPr lang="es-E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______________</a:t>
            </a:r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every Monday to discuss our weekly goals.</a:t>
            </a:r>
            <a:endParaRPr lang="en-GB" sz="1600">
              <a:effectLst/>
            </a:endParaRPr>
          </a:p>
          <a:p>
            <a:r>
              <a:rPr lang="en-US" sz="16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____________________ allows us to send emails and respond whenever we are available, even if we are in different time zones.</a:t>
            </a:r>
            <a:endParaRPr lang="en-GB" sz="1600">
              <a:effectLst/>
            </a:endParaRPr>
          </a:p>
          <a:p>
            <a:r>
              <a:rPr lang="en-US" sz="16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We use ______________ like Slack to keep in touch with our team throughout the day.</a:t>
            </a:r>
            <a:endParaRPr lang="en-GB" sz="1600">
              <a:effectLst/>
            </a:endParaRPr>
          </a:p>
          <a:p>
            <a:r>
              <a:rPr lang="en-US" sz="16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1600" b="0" i="0" kern="1200" baseline="0">
                <a:ln>
                  <a:noFill/>
                </a:ln>
                <a:effectLst/>
                <a:ea typeface="+mn-ea"/>
                <a:cs typeface="+mn-cs"/>
              </a:rPr>
              <a:t>Many people are _________________ nowadays to avoid long commutes to the office.</a:t>
            </a:r>
            <a:endParaRPr lang="en-GB" sz="1600">
              <a:effectLst/>
            </a:endParaRPr>
          </a:p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60024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7F8B8-7D48-6DB4-C4B3-F22FED39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Vocabulary in context</a:t>
            </a:r>
            <a:br>
              <a:rPr lang="en-GB" sz="4000" dirty="0">
                <a:solidFill>
                  <a:srgbClr val="FFFFFF"/>
                </a:solidFill>
              </a:rPr>
            </a:br>
            <a:br>
              <a:rPr lang="en-GB" sz="4000" dirty="0">
                <a:solidFill>
                  <a:srgbClr val="FFFFFF"/>
                </a:solidFill>
              </a:rPr>
            </a:br>
            <a:r>
              <a:rPr lang="en-GB" sz="4000" dirty="0">
                <a:solidFill>
                  <a:srgbClr val="FFFFFF"/>
                </a:solidFill>
              </a:rPr>
              <a:t> 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4AE5-2E0D-0162-5333-12D7E84C3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We have a </a:t>
            </a:r>
            <a:r>
              <a:rPr lang="en-US" sz="2000" b="1" i="0" kern="1200" baseline="0">
                <a:ln>
                  <a:noFill/>
                </a:ln>
                <a:effectLst/>
                <a:ea typeface="+mn-ea"/>
                <a:cs typeface="+mn-cs"/>
              </a:rPr>
              <a:t>virtual meeting 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every Monday to discuss our weekly goals.</a:t>
            </a:r>
            <a:endParaRPr lang="en-GB" sz="2000">
              <a:effectLst/>
            </a:endParaRPr>
          </a:p>
          <a:p>
            <a:r>
              <a:rPr lang="en-US" sz="20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2000" b="1" i="0" kern="1200" baseline="0">
                <a:ln>
                  <a:noFill/>
                </a:ln>
                <a:effectLst/>
                <a:ea typeface="+mn-ea"/>
                <a:cs typeface="+mn-cs"/>
              </a:rPr>
              <a:t>Asynchronous communication 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allows us to send emails and respond whenever we are available, even if we are in different time zones.</a:t>
            </a:r>
            <a:endParaRPr lang="en-GB" sz="2000">
              <a:effectLst/>
            </a:endParaRPr>
          </a:p>
          <a:p>
            <a:r>
              <a:rPr lang="en-US" sz="20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We use </a:t>
            </a:r>
            <a:r>
              <a:rPr lang="en-US" sz="2000" b="1" i="0" kern="1200" baseline="0">
                <a:ln>
                  <a:noFill/>
                </a:ln>
                <a:effectLst/>
                <a:ea typeface="+mn-ea"/>
                <a:cs typeface="+mn-cs"/>
              </a:rPr>
              <a:t>collaboration tools 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like Slack to keep in touch with our team throughout the day.</a:t>
            </a:r>
            <a:endParaRPr lang="en-GB" sz="2000">
              <a:effectLst/>
            </a:endParaRPr>
          </a:p>
          <a:p>
            <a:r>
              <a:rPr lang="en-US" sz="2000" b="0" i="1" kern="1200" baseline="0">
                <a:ln>
                  <a:noFill/>
                </a:ln>
                <a:effectLst/>
                <a:ea typeface="+mn-ea"/>
                <a:cs typeface="+mn-cs"/>
              </a:rPr>
              <a:t>Example: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 </a:t>
            </a:r>
          </a:p>
          <a:p>
            <a:pPr lvl="1"/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Many people are </a:t>
            </a:r>
            <a:r>
              <a:rPr lang="en-US" sz="2000" b="1" i="0" kern="1200" baseline="0">
                <a:ln>
                  <a:noFill/>
                </a:ln>
                <a:effectLst/>
                <a:ea typeface="+mn-ea"/>
                <a:cs typeface="+mn-cs"/>
              </a:rPr>
              <a:t>telecommuting</a:t>
            </a:r>
            <a:r>
              <a:rPr lang="en-US" sz="2000" b="0" i="0" kern="1200" baseline="0">
                <a:ln>
                  <a:noFill/>
                </a:ln>
                <a:effectLst/>
                <a:ea typeface="+mn-ea"/>
                <a:cs typeface="+mn-cs"/>
              </a:rPr>
              <a:t> nowadays to avoid long commutes to the office.</a:t>
            </a:r>
            <a:endParaRPr lang="en-GB" sz="2000">
              <a:effectLst/>
            </a:endParaRP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94798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0B8BF-5F7F-770B-0E5F-4E7C8660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Communication skills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55DEA-DA28-9750-5085-30436606B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Start with a greeting: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Use "Hi," "Hello," or "Dear" followed by the recipient’s name.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Be clear and concise: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Keep your message simple and to the point.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End with a polite closing: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Use phrases like "Best," "Thank you," or "Regards" before signing your name.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When writing an email or message, it’s important to be polite and direct.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For example, instead of writing, 'Hey, let’s chat tomorrow,' you should write, 'Hi Sarah, Can we have a virtual meeting tomorrow at 10 AM? Best, John.'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853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5F698-A9C5-470A-EB15-E7295398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Writing Exercise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886A3654-CA51-1328-91B0-F66519F95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66B3-A565-8347-A3BC-1CC279D7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700" dirty="0">
                <a:solidFill>
                  <a:schemeClr val="tx2"/>
                </a:solidFill>
              </a:rPr>
              <a:t>Practise writing short emails to each other using the meeting chat. </a:t>
            </a:r>
          </a:p>
          <a:p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dirty="0">
                <a:solidFill>
                  <a:schemeClr val="tx2"/>
                </a:solidFill>
              </a:rPr>
              <a:t>Try to be polite and concise.</a:t>
            </a:r>
          </a:p>
          <a:p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b="1" dirty="0">
                <a:solidFill>
                  <a:schemeClr val="tx2"/>
                </a:solidFill>
              </a:rPr>
              <a:t>Example:</a:t>
            </a:r>
            <a:r>
              <a:rPr lang="en-GB" sz="1700" dirty="0">
                <a:solidFill>
                  <a:schemeClr val="tx2"/>
                </a:solidFill>
              </a:rPr>
              <a:t> </a:t>
            </a:r>
          </a:p>
          <a:p>
            <a:r>
              <a:rPr lang="en-GB" sz="1700" dirty="0">
                <a:solidFill>
                  <a:schemeClr val="tx2"/>
                </a:solidFill>
              </a:rPr>
              <a:t>"Hi Maria, Can we have a virtual meeting on Wednesday at 3 PM? Best, Alex.“</a:t>
            </a:r>
          </a:p>
          <a:p>
            <a:r>
              <a:rPr lang="en-GB" sz="1700" b="1" dirty="0">
                <a:solidFill>
                  <a:schemeClr val="tx2"/>
                </a:solidFill>
              </a:rPr>
              <a:t>Response Example:</a:t>
            </a:r>
            <a:r>
              <a:rPr lang="en-GB" sz="1700" dirty="0">
                <a:solidFill>
                  <a:schemeClr val="tx2"/>
                </a:solidFill>
              </a:rPr>
              <a:t> </a:t>
            </a:r>
          </a:p>
          <a:p>
            <a:r>
              <a:rPr lang="en-GB" sz="1700" dirty="0">
                <a:solidFill>
                  <a:schemeClr val="tx2"/>
                </a:solidFill>
              </a:rPr>
              <a:t>"Hi Alex, Wednesday at 3 PM works for me. See you then! Best, Maria."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613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281B-340F-3F51-BC19-3949AEBD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GB" sz="4000" dirty="0"/>
              <a:t>Role play  Virtual meetings</a:t>
            </a:r>
          </a:p>
        </p:txBody>
      </p:sp>
      <p:pic>
        <p:nvPicPr>
          <p:cNvPr id="7" name="Graphic 6" descr="Meeting">
            <a:extLst>
              <a:ext uri="{FF2B5EF4-FFF2-40B4-BE49-F238E27FC236}">
                <a16:creationId xmlns:a16="http://schemas.microsoft.com/office/drawing/2014/main" id="{653F56F4-97C6-2F1F-8D9A-7D1E4E9B6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75A7-8AE4-D704-76E4-A5BB8B13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r>
              <a:rPr lang="en-GB" sz="1800" b="1" dirty="0"/>
              <a:t>Choose role play scenarios and carry out the conversations:</a:t>
            </a:r>
          </a:p>
          <a:p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Role-Play Scenario 1: Scheduling a Virtual Meeting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Context:</a:t>
            </a:r>
            <a:r>
              <a:rPr lang="en-GB" sz="1800" dirty="0"/>
              <a:t> You need to set up a virtual meeting with a colleague to discuss a new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Prompt: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Decide on a day and time for the meeting.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Discuss any necessary preparations for the meeting.</a:t>
            </a:r>
          </a:p>
          <a:p>
            <a:pPr marL="0" indent="0">
              <a:buNone/>
            </a:pPr>
            <a:r>
              <a:rPr lang="en-GB" sz="1800" b="1" dirty="0"/>
              <a:t>Role-Play Scenario 2: Discussing Project Progress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Context:</a:t>
            </a:r>
            <a:r>
              <a:rPr lang="en-GB" sz="1800" dirty="0"/>
              <a:t> You are a team member providing a project update to your manager during a video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Prompt: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Share the progress of the project.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Mention any challenges you’re facing and ask for advice.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6500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281B-340F-3F51-BC19-3949AEBD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/>
              <a:t>Role play – Virtual meetings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0E775A7-8AE4-D704-76E4-A5BB8B13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SzPts val="1800"/>
              <a:buNone/>
            </a:pPr>
            <a:r>
              <a:rPr lang="en-GB" sz="1000" b="1" kern="1200">
                <a:effectLst/>
                <a:latin typeface="Aptos" panose="020B0004020202020204" pitchFamily="34" charset="0"/>
                <a:ea typeface="+mn-ea"/>
                <a:cs typeface="+mn-cs"/>
              </a:rPr>
              <a:t>Role-Play Scenario 3: Resolving a Technical Issue</a:t>
            </a:r>
            <a:endParaRPr lang="en-GB" sz="1000">
              <a:effectLst/>
            </a:endParaRPr>
          </a:p>
          <a:p>
            <a:pPr marL="228600" indent="-228600" rtl="0" eaLnBrk="1" latinLnBrk="0" hangingPunct="1">
              <a:spcBef>
                <a:spcPts val="1000"/>
              </a:spcBef>
              <a:spcAft>
                <a:spcPts val="0"/>
              </a:spcAft>
            </a:pPr>
            <a:r>
              <a:rPr lang="en-GB" sz="1000" b="1" kern="1200">
                <a:effectLst/>
                <a:latin typeface="Aptos" panose="020B0004020202020204" pitchFamily="34" charset="0"/>
                <a:ea typeface="+mn-ea"/>
                <a:cs typeface="+mn-cs"/>
              </a:rPr>
              <a:t>Context:</a:t>
            </a:r>
            <a:r>
              <a:rPr lang="en-GB" sz="1000" kern="1200">
                <a:effectLst/>
                <a:latin typeface="Aptos" panose="020B0004020202020204" pitchFamily="34" charset="0"/>
                <a:ea typeface="+mn-ea"/>
                <a:cs typeface="+mn-cs"/>
              </a:rPr>
              <a:t> You’re having trouble with your video conferencing tool and need to contact IT support.</a:t>
            </a:r>
            <a:endParaRPr lang="en-GB" sz="1000">
              <a:effectLst/>
            </a:endParaRPr>
          </a:p>
          <a:p>
            <a:pPr marL="228600" indent="-228600" rtl="0" eaLnBrk="1" latinLnBrk="0" hangingPunct="1">
              <a:spcBef>
                <a:spcPts val="1000"/>
              </a:spcBef>
              <a:spcAft>
                <a:spcPts val="0"/>
              </a:spcAft>
            </a:pPr>
            <a:r>
              <a:rPr lang="en-GB" sz="1000" b="1" kern="1200">
                <a:effectLst/>
                <a:latin typeface="Aptos" panose="020B0004020202020204" pitchFamily="34" charset="0"/>
                <a:ea typeface="+mn-ea"/>
                <a:cs typeface="+mn-cs"/>
              </a:rPr>
              <a:t>Prompt:</a:t>
            </a:r>
            <a:endParaRPr lang="en-GB" sz="1000">
              <a:effectLst/>
            </a:endParaRPr>
          </a:p>
          <a:p>
            <a:pPr marL="740664" indent="-283464" rtl="0" eaLnBrk="1" latinLnBrk="0" hangingPunct="1">
              <a:spcBef>
                <a:spcPts val="500"/>
              </a:spcBef>
              <a:spcAft>
                <a:spcPts val="0"/>
              </a:spcAft>
            </a:pPr>
            <a:r>
              <a:rPr lang="en-GB" sz="1000" kern="1200">
                <a:effectLst/>
                <a:latin typeface="Aptos" panose="020B0004020202020204" pitchFamily="34" charset="0"/>
                <a:ea typeface="+mn-ea"/>
                <a:cs typeface="+mn-cs"/>
              </a:rPr>
              <a:t>Describe the technical issue you’re experiencing.</a:t>
            </a:r>
            <a:endParaRPr lang="en-GB" sz="1000">
              <a:effectLst/>
            </a:endParaRPr>
          </a:p>
          <a:p>
            <a:pPr marL="740664" indent="-283464" rtl="0" eaLnBrk="1" latinLnBrk="0" hangingPunct="1">
              <a:spcBef>
                <a:spcPts val="500"/>
              </a:spcBef>
              <a:spcAft>
                <a:spcPts val="0"/>
              </a:spcAft>
            </a:pPr>
            <a:r>
              <a:rPr lang="en-GB" sz="1000" kern="1200">
                <a:effectLst/>
                <a:latin typeface="Aptos" panose="020B0004020202020204" pitchFamily="34" charset="0"/>
                <a:ea typeface="+mn-ea"/>
                <a:cs typeface="+mn-cs"/>
              </a:rPr>
              <a:t>Follow the instructions provided by the IT support person.</a:t>
            </a:r>
            <a:endParaRPr lang="en-GB" sz="1000">
              <a:effectLst/>
            </a:endParaRPr>
          </a:p>
          <a:p>
            <a:r>
              <a:rPr lang="en-GB" sz="1000" b="1"/>
              <a:t>Role-Play Scenario 4: Giving Feedback After a Meeting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00" b="1"/>
              <a:t>Context:</a:t>
            </a:r>
            <a:r>
              <a:rPr lang="en-GB" sz="1000"/>
              <a:t> After a virtual team meeting, you need to give feedback to a colleague on their presentation.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00" b="1"/>
              <a:t>Prompt:</a:t>
            </a:r>
            <a:endParaRPr lang="en-GB" sz="1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/>
              <a:t>Share what you thought went well.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/>
              <a:t>Offer constructive suggestions for improvement.</a:t>
            </a:r>
          </a:p>
          <a:p>
            <a:r>
              <a:rPr lang="en-GB" sz="1000" b="1"/>
              <a:t>Role-Play Scenario 5: Requesting Time Off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00" b="1"/>
              <a:t>Context:</a:t>
            </a:r>
            <a:r>
              <a:rPr lang="en-GB" sz="1000"/>
              <a:t> You need to request time off from your manager during a video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00" b="1"/>
              <a:t>Prompt:</a:t>
            </a:r>
            <a:endParaRPr lang="en-GB" sz="1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/>
              <a:t>Explain why you need time off and suggest 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/>
              <a:t>Discuss how your work will be managed while you’re away.</a:t>
            </a:r>
          </a:p>
          <a:p>
            <a:endParaRPr lang="en-GB" sz="1000"/>
          </a:p>
        </p:txBody>
      </p:sp>
      <p:pic>
        <p:nvPicPr>
          <p:cNvPr id="5" name="Picture 4" descr="Colourful pins linked with threads">
            <a:extLst>
              <a:ext uri="{FF2B5EF4-FFF2-40B4-BE49-F238E27FC236}">
                <a16:creationId xmlns:a16="http://schemas.microsoft.com/office/drawing/2014/main" id="{0B02D155-449E-4816-E37F-07082D8C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26" r="1855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55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219200"/>
            <a:ext cx="451083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281B-340F-3F51-BC19-3949AEBD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44" y="2090114"/>
            <a:ext cx="3382890" cy="248188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Role play – Virtual meetings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75A7-8AE4-D704-76E4-A5BB8B13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anchor="ctr">
            <a:normAutofit/>
          </a:bodyPr>
          <a:lstStyle/>
          <a:p>
            <a:pPr marL="0" indent="0" rtl="0" eaLnBrk="1" latinLnBrk="0" hangingPunct="1"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r>
              <a:rPr lang="en-GB" sz="1300" b="1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Role-Play Scenario 6: Coordinating Across Time Zones</a:t>
            </a:r>
            <a:endParaRPr lang="en-GB" sz="1300" dirty="0">
              <a:effectLst/>
            </a:endParaRPr>
          </a:p>
          <a:p>
            <a:pPr marL="228600" indent="-228600" rtl="0" eaLnBrk="1" latinLnBrk="0" hangingPunct="1">
              <a:spcBef>
                <a:spcPts val="1000"/>
              </a:spcBef>
              <a:spcAft>
                <a:spcPts val="0"/>
              </a:spcAft>
            </a:pPr>
            <a:r>
              <a:rPr lang="en-GB" sz="1300" b="1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Context:</a:t>
            </a:r>
            <a:r>
              <a:rPr lang="en-GB" sz="1300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 You are working with a colleague in a different time zone and need to coordinate a meeting time.</a:t>
            </a:r>
            <a:endParaRPr lang="en-GB" sz="1300" dirty="0">
              <a:effectLst/>
            </a:endParaRPr>
          </a:p>
          <a:p>
            <a:pPr marL="228600" indent="-228600" rtl="0" eaLnBrk="1" latinLnBrk="0" hangingPunct="1">
              <a:spcBef>
                <a:spcPts val="1000"/>
              </a:spcBef>
              <a:spcAft>
                <a:spcPts val="0"/>
              </a:spcAft>
            </a:pPr>
            <a:r>
              <a:rPr lang="en-GB" sz="1300" b="1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Prompt:</a:t>
            </a:r>
            <a:endParaRPr lang="en-GB" sz="1300" dirty="0">
              <a:effectLst/>
            </a:endParaRPr>
          </a:p>
          <a:p>
            <a:pPr marL="740664" indent="-283464" rtl="0" eaLnBrk="1" latinLnBrk="0" hangingPunct="1">
              <a:spcBef>
                <a:spcPts val="500"/>
              </a:spcBef>
              <a:spcAft>
                <a:spcPts val="0"/>
              </a:spcAft>
            </a:pPr>
            <a:r>
              <a:rPr lang="en-GB" sz="1300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Discuss possible meeting times that work for both of you.</a:t>
            </a:r>
            <a:endParaRPr lang="en-GB" sz="1300" dirty="0">
              <a:effectLst/>
            </a:endParaRPr>
          </a:p>
          <a:p>
            <a:pPr marL="740664" indent="-283464" rtl="0" eaLnBrk="1" latinLnBrk="0" hangingPunct="1">
              <a:spcBef>
                <a:spcPts val="500"/>
              </a:spcBef>
              <a:spcAft>
                <a:spcPts val="0"/>
              </a:spcAft>
            </a:pPr>
            <a:r>
              <a:rPr lang="en-GB" sz="1300" kern="1200" dirty="0">
                <a:effectLst/>
                <a:latin typeface="Aptos" panose="020B0004020202020204" pitchFamily="34" charset="0"/>
                <a:ea typeface="+mn-ea"/>
                <a:cs typeface="+mn-cs"/>
              </a:rPr>
              <a:t>Consider any challenges related to time zone differences.</a:t>
            </a:r>
            <a:endParaRPr lang="en-GB" sz="1300" dirty="0">
              <a:effectLst/>
            </a:endParaRPr>
          </a:p>
          <a:p>
            <a:pPr marL="0" indent="0">
              <a:buNone/>
            </a:pPr>
            <a:r>
              <a:rPr lang="en-GB" sz="1300" b="1" dirty="0"/>
              <a:t>Role-Play Scenario 7: Handling a Client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Context:</a:t>
            </a:r>
            <a:r>
              <a:rPr lang="en-GB" sz="1300" dirty="0"/>
              <a:t> You are on a video call with a client to discuss their requirements for a new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Prompt:</a:t>
            </a:r>
            <a:endParaRPr lang="en-GB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Ask the client for details about their needs.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Clarify any points to ensure you fully understand their expectations.</a:t>
            </a:r>
          </a:p>
          <a:p>
            <a:pPr marL="0" indent="0">
              <a:buNone/>
            </a:pPr>
            <a:r>
              <a:rPr lang="en-GB" sz="1300" b="1" dirty="0"/>
              <a:t>Role-Play Scenario 8: Following Up on a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Context:</a:t>
            </a:r>
            <a:r>
              <a:rPr lang="en-GB" sz="1300" dirty="0"/>
              <a:t> You need to follow up with a colleague about the status of a task they were assigned.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Prompt:</a:t>
            </a:r>
            <a:endParaRPr lang="en-GB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Politely ask for an update on the task.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300" dirty="0"/>
              <a:t>Offer assistance if they are facing difficulties completing it.</a:t>
            </a:r>
          </a:p>
          <a:p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313912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C526-9C89-01BE-A1ED-2CD0D17E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Delayed feedback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9F1-FA1F-8085-B0AF-C47D4070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48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1001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Remote work and virtual teams</vt:lpstr>
      <vt:lpstr>Warm up</vt:lpstr>
      <vt:lpstr>Vocabulary</vt:lpstr>
      <vt:lpstr>Vocabulary in context – fill in the blanks</vt:lpstr>
      <vt:lpstr>Vocabulary in context    Answers</vt:lpstr>
      <vt:lpstr>Communication skills</vt:lpstr>
      <vt:lpstr>Writing Exercise</vt:lpstr>
      <vt:lpstr>Role play  Virtual meetings</vt:lpstr>
      <vt:lpstr>Role play – Virtual meetings</vt:lpstr>
      <vt:lpstr>Role play – Virtual meetings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Theo Clarke</dc:creator>
  <cp:lastModifiedBy>Clarke, Theodore James Dalgliesh</cp:lastModifiedBy>
  <cp:revision>10</cp:revision>
  <dcterms:created xsi:type="dcterms:W3CDTF">2024-03-22T11:49:07Z</dcterms:created>
  <dcterms:modified xsi:type="dcterms:W3CDTF">2024-08-12T11:10:32Z</dcterms:modified>
</cp:coreProperties>
</file>