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 id="270" r:id="rId9"/>
    <p:sldId id="271" r:id="rId10"/>
    <p:sldId id="263" r:id="rId11"/>
    <p:sldId id="264" r:id="rId12"/>
    <p:sldId id="272" r:id="rId13"/>
    <p:sldId id="265" r:id="rId14"/>
    <p:sldId id="266" r:id="rId15"/>
    <p:sldId id="267" r:id="rId16"/>
    <p:sldId id="269" r:id="rId17"/>
    <p:sldId id="268" r:id="rId18"/>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2BCFE1A-98D5-7B29-819C-7C68201F92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ES"/>
          </a:p>
        </p:txBody>
      </p:sp>
      <p:sp>
        <p:nvSpPr>
          <p:cNvPr id="3" name="Subtitle 2">
            <a:extLst>
              <a:ext uri="{FF2B5EF4-FFF2-40B4-BE49-F238E27FC236}">
                <a16:creationId xmlns:a16="http://schemas.microsoft.com/office/drawing/2014/main" xmlns="" id="{A5C8BF39-95CF-5472-A34B-AEB2CC8761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ES"/>
          </a:p>
        </p:txBody>
      </p:sp>
      <p:sp>
        <p:nvSpPr>
          <p:cNvPr id="4" name="Date Placeholder 3">
            <a:extLst>
              <a:ext uri="{FF2B5EF4-FFF2-40B4-BE49-F238E27FC236}">
                <a16:creationId xmlns:a16="http://schemas.microsoft.com/office/drawing/2014/main" xmlns="" id="{90FEDF85-DD1A-1EAD-88B5-F5087A204991}"/>
              </a:ext>
            </a:extLst>
          </p:cNvPr>
          <p:cNvSpPr>
            <a:spLocks noGrp="1"/>
          </p:cNvSpPr>
          <p:nvPr>
            <p:ph type="dt" sz="half" idx="10"/>
          </p:nvPr>
        </p:nvSpPr>
        <p:spPr/>
        <p:txBody>
          <a:bodyPr/>
          <a:lstStyle/>
          <a:p>
            <a:fld id="{DD7DB6D9-05DC-475C-93F2-9CACAD7B97E8}" type="datetimeFigureOut">
              <a:rPr lang="es-ES" smtClean="0"/>
              <a:t>02/01/2025</a:t>
            </a:fld>
            <a:endParaRPr lang="es-ES"/>
          </a:p>
        </p:txBody>
      </p:sp>
      <p:sp>
        <p:nvSpPr>
          <p:cNvPr id="5" name="Footer Placeholder 4">
            <a:extLst>
              <a:ext uri="{FF2B5EF4-FFF2-40B4-BE49-F238E27FC236}">
                <a16:creationId xmlns:a16="http://schemas.microsoft.com/office/drawing/2014/main" xmlns="" id="{6A5C77A0-6CB8-BFC7-A227-8612B68302FF}"/>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xmlns="" id="{4B61313E-743F-CD27-E31E-29CEC0DC0F61}"/>
              </a:ext>
            </a:extLst>
          </p:cNvPr>
          <p:cNvSpPr>
            <a:spLocks noGrp="1"/>
          </p:cNvSpPr>
          <p:nvPr>
            <p:ph type="sldNum" sz="quarter" idx="12"/>
          </p:nvPr>
        </p:nvSpPr>
        <p:spPr/>
        <p:txBody>
          <a:bodyPr/>
          <a:lstStyle/>
          <a:p>
            <a:fld id="{F24B126E-EF77-4455-82E3-F2658C6BF06D}" type="slidenum">
              <a:rPr lang="es-ES" smtClean="0"/>
              <a:t>‹Nº›</a:t>
            </a:fld>
            <a:endParaRPr lang="es-ES"/>
          </a:p>
        </p:txBody>
      </p:sp>
    </p:spTree>
    <p:extLst>
      <p:ext uri="{BB962C8B-B14F-4D97-AF65-F5344CB8AC3E}">
        <p14:creationId xmlns:p14="http://schemas.microsoft.com/office/powerpoint/2010/main" val="1220298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3A71046-D8F1-2B80-1F09-0FB7DAEF661C}"/>
              </a:ext>
            </a:extLst>
          </p:cNvPr>
          <p:cNvSpPr>
            <a:spLocks noGrp="1"/>
          </p:cNvSpPr>
          <p:nvPr>
            <p:ph type="title"/>
          </p:nvPr>
        </p:nvSpPr>
        <p:spPr/>
        <p:txBody>
          <a:bodyPr/>
          <a:lstStyle/>
          <a:p>
            <a:r>
              <a:rPr lang="en-US"/>
              <a:t>Click to edit Master title style</a:t>
            </a:r>
            <a:endParaRPr lang="es-ES"/>
          </a:p>
        </p:txBody>
      </p:sp>
      <p:sp>
        <p:nvSpPr>
          <p:cNvPr id="3" name="Content Placeholder 2">
            <a:extLst>
              <a:ext uri="{FF2B5EF4-FFF2-40B4-BE49-F238E27FC236}">
                <a16:creationId xmlns:a16="http://schemas.microsoft.com/office/drawing/2014/main" xmlns="" id="{96C93992-B115-0143-2B55-149A5DB9B2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xmlns="" id="{109E9DCF-A5C0-1815-64F4-D0C1EA92043F}"/>
              </a:ext>
            </a:extLst>
          </p:cNvPr>
          <p:cNvSpPr>
            <a:spLocks noGrp="1"/>
          </p:cNvSpPr>
          <p:nvPr>
            <p:ph type="dt" sz="half" idx="10"/>
          </p:nvPr>
        </p:nvSpPr>
        <p:spPr/>
        <p:txBody>
          <a:bodyPr/>
          <a:lstStyle/>
          <a:p>
            <a:fld id="{DD7DB6D9-05DC-475C-93F2-9CACAD7B97E8}" type="datetimeFigureOut">
              <a:rPr lang="es-ES" smtClean="0"/>
              <a:t>02/01/2025</a:t>
            </a:fld>
            <a:endParaRPr lang="es-ES"/>
          </a:p>
        </p:txBody>
      </p:sp>
      <p:sp>
        <p:nvSpPr>
          <p:cNvPr id="5" name="Footer Placeholder 4">
            <a:extLst>
              <a:ext uri="{FF2B5EF4-FFF2-40B4-BE49-F238E27FC236}">
                <a16:creationId xmlns:a16="http://schemas.microsoft.com/office/drawing/2014/main" xmlns="" id="{B13FCCE4-C025-4793-6DD8-398447B7E0CF}"/>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xmlns="" id="{F4DA9F5F-D939-D72B-5E60-BCD4CA802E73}"/>
              </a:ext>
            </a:extLst>
          </p:cNvPr>
          <p:cNvSpPr>
            <a:spLocks noGrp="1"/>
          </p:cNvSpPr>
          <p:nvPr>
            <p:ph type="sldNum" sz="quarter" idx="12"/>
          </p:nvPr>
        </p:nvSpPr>
        <p:spPr/>
        <p:txBody>
          <a:bodyPr/>
          <a:lstStyle/>
          <a:p>
            <a:fld id="{F24B126E-EF77-4455-82E3-F2658C6BF06D}" type="slidenum">
              <a:rPr lang="es-ES" smtClean="0"/>
              <a:t>‹Nº›</a:t>
            </a:fld>
            <a:endParaRPr lang="es-ES"/>
          </a:p>
        </p:txBody>
      </p:sp>
    </p:spTree>
    <p:extLst>
      <p:ext uri="{BB962C8B-B14F-4D97-AF65-F5344CB8AC3E}">
        <p14:creationId xmlns:p14="http://schemas.microsoft.com/office/powerpoint/2010/main" val="229989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4AE988D-82B7-DBDD-AE0B-D157088B58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ES"/>
          </a:p>
        </p:txBody>
      </p:sp>
      <p:sp>
        <p:nvSpPr>
          <p:cNvPr id="3" name="Text Placeholder 2">
            <a:extLst>
              <a:ext uri="{FF2B5EF4-FFF2-40B4-BE49-F238E27FC236}">
                <a16:creationId xmlns:a16="http://schemas.microsoft.com/office/drawing/2014/main" xmlns="" id="{FA178963-0BC5-3D9B-D942-EF2F860BB3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175A1C25-0AA1-48FA-3B15-CDC10BEA2B02}"/>
              </a:ext>
            </a:extLst>
          </p:cNvPr>
          <p:cNvSpPr>
            <a:spLocks noGrp="1"/>
          </p:cNvSpPr>
          <p:nvPr>
            <p:ph type="dt" sz="half" idx="10"/>
          </p:nvPr>
        </p:nvSpPr>
        <p:spPr/>
        <p:txBody>
          <a:bodyPr/>
          <a:lstStyle/>
          <a:p>
            <a:fld id="{DD7DB6D9-05DC-475C-93F2-9CACAD7B97E8}" type="datetimeFigureOut">
              <a:rPr lang="es-ES" smtClean="0"/>
              <a:t>02/01/2025</a:t>
            </a:fld>
            <a:endParaRPr lang="es-ES"/>
          </a:p>
        </p:txBody>
      </p:sp>
      <p:sp>
        <p:nvSpPr>
          <p:cNvPr id="5" name="Footer Placeholder 4">
            <a:extLst>
              <a:ext uri="{FF2B5EF4-FFF2-40B4-BE49-F238E27FC236}">
                <a16:creationId xmlns:a16="http://schemas.microsoft.com/office/drawing/2014/main" xmlns="" id="{3D447479-9882-8C34-8B3A-19F7C094C2A2}"/>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xmlns="" id="{435B024A-FE62-438E-F93C-A742A51310AC}"/>
              </a:ext>
            </a:extLst>
          </p:cNvPr>
          <p:cNvSpPr>
            <a:spLocks noGrp="1"/>
          </p:cNvSpPr>
          <p:nvPr>
            <p:ph type="sldNum" sz="quarter" idx="12"/>
          </p:nvPr>
        </p:nvSpPr>
        <p:spPr/>
        <p:txBody>
          <a:bodyPr/>
          <a:lstStyle/>
          <a:p>
            <a:fld id="{F24B126E-EF77-4455-82E3-F2658C6BF06D}" type="slidenum">
              <a:rPr lang="es-ES" smtClean="0"/>
              <a:t>‹Nº›</a:t>
            </a:fld>
            <a:endParaRPr lang="es-ES"/>
          </a:p>
        </p:txBody>
      </p:sp>
    </p:spTree>
    <p:extLst>
      <p:ext uri="{BB962C8B-B14F-4D97-AF65-F5344CB8AC3E}">
        <p14:creationId xmlns:p14="http://schemas.microsoft.com/office/powerpoint/2010/main" val="3751346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C640062-DB7C-2BBB-CE5C-6DCCB0A97364}"/>
              </a:ext>
            </a:extLst>
          </p:cNvPr>
          <p:cNvSpPr>
            <a:spLocks noGrp="1"/>
          </p:cNvSpPr>
          <p:nvPr>
            <p:ph type="title"/>
          </p:nvPr>
        </p:nvSpPr>
        <p:spPr/>
        <p:txBody>
          <a:bodyPr/>
          <a:lstStyle/>
          <a:p>
            <a:r>
              <a:rPr lang="en-US"/>
              <a:t>Click to edit Master title style</a:t>
            </a:r>
            <a:endParaRPr lang="es-ES"/>
          </a:p>
        </p:txBody>
      </p:sp>
      <p:sp>
        <p:nvSpPr>
          <p:cNvPr id="3" name="Content Placeholder 2">
            <a:extLst>
              <a:ext uri="{FF2B5EF4-FFF2-40B4-BE49-F238E27FC236}">
                <a16:creationId xmlns:a16="http://schemas.microsoft.com/office/drawing/2014/main" xmlns="" id="{1ED5E24E-B8C0-BB15-6EEE-79AA39BB0C8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Content Placeholder 3">
            <a:extLst>
              <a:ext uri="{FF2B5EF4-FFF2-40B4-BE49-F238E27FC236}">
                <a16:creationId xmlns:a16="http://schemas.microsoft.com/office/drawing/2014/main" xmlns="" id="{24C1AF3B-7CDF-B590-C7D8-66070D3938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5" name="Date Placeholder 4">
            <a:extLst>
              <a:ext uri="{FF2B5EF4-FFF2-40B4-BE49-F238E27FC236}">
                <a16:creationId xmlns:a16="http://schemas.microsoft.com/office/drawing/2014/main" xmlns="" id="{B3BA9904-0D27-FE8B-FAF8-CA073EF517DF}"/>
              </a:ext>
            </a:extLst>
          </p:cNvPr>
          <p:cNvSpPr>
            <a:spLocks noGrp="1"/>
          </p:cNvSpPr>
          <p:nvPr>
            <p:ph type="dt" sz="half" idx="10"/>
          </p:nvPr>
        </p:nvSpPr>
        <p:spPr/>
        <p:txBody>
          <a:bodyPr/>
          <a:lstStyle/>
          <a:p>
            <a:fld id="{DD7DB6D9-05DC-475C-93F2-9CACAD7B97E8}" type="datetimeFigureOut">
              <a:rPr lang="es-ES" smtClean="0"/>
              <a:t>02/01/2025</a:t>
            </a:fld>
            <a:endParaRPr lang="es-ES"/>
          </a:p>
        </p:txBody>
      </p:sp>
      <p:sp>
        <p:nvSpPr>
          <p:cNvPr id="6" name="Footer Placeholder 5">
            <a:extLst>
              <a:ext uri="{FF2B5EF4-FFF2-40B4-BE49-F238E27FC236}">
                <a16:creationId xmlns:a16="http://schemas.microsoft.com/office/drawing/2014/main" xmlns="" id="{A86D1410-A31F-2AA3-7B0A-18752B05A5D5}"/>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xmlns="" id="{EADD4864-0113-1437-8589-B07E46067BD2}"/>
              </a:ext>
            </a:extLst>
          </p:cNvPr>
          <p:cNvSpPr>
            <a:spLocks noGrp="1"/>
          </p:cNvSpPr>
          <p:nvPr>
            <p:ph type="sldNum" sz="quarter" idx="12"/>
          </p:nvPr>
        </p:nvSpPr>
        <p:spPr/>
        <p:txBody>
          <a:bodyPr/>
          <a:lstStyle/>
          <a:p>
            <a:fld id="{F24B126E-EF77-4455-82E3-F2658C6BF06D}" type="slidenum">
              <a:rPr lang="es-ES" smtClean="0"/>
              <a:t>‹Nº›</a:t>
            </a:fld>
            <a:endParaRPr lang="es-ES"/>
          </a:p>
        </p:txBody>
      </p:sp>
    </p:spTree>
    <p:extLst>
      <p:ext uri="{BB962C8B-B14F-4D97-AF65-F5344CB8AC3E}">
        <p14:creationId xmlns:p14="http://schemas.microsoft.com/office/powerpoint/2010/main" val="14274807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FF47F9F-79FE-FCCC-615B-5D7D2CB65372}"/>
              </a:ext>
            </a:extLst>
          </p:cNvPr>
          <p:cNvSpPr>
            <a:spLocks noGrp="1"/>
          </p:cNvSpPr>
          <p:nvPr>
            <p:ph type="title"/>
          </p:nvPr>
        </p:nvSpPr>
        <p:spPr>
          <a:xfrm>
            <a:off x="839788" y="365125"/>
            <a:ext cx="10515600" cy="1325563"/>
          </a:xfrm>
        </p:spPr>
        <p:txBody>
          <a:bodyPr/>
          <a:lstStyle/>
          <a:p>
            <a:r>
              <a:rPr lang="en-US"/>
              <a:t>Click to edit Master title style</a:t>
            </a:r>
            <a:endParaRPr lang="es-ES"/>
          </a:p>
        </p:txBody>
      </p:sp>
      <p:sp>
        <p:nvSpPr>
          <p:cNvPr id="3" name="Text Placeholder 2">
            <a:extLst>
              <a:ext uri="{FF2B5EF4-FFF2-40B4-BE49-F238E27FC236}">
                <a16:creationId xmlns:a16="http://schemas.microsoft.com/office/drawing/2014/main" xmlns="" id="{5D34785A-6F25-B0D0-7F0D-C673DCF88F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6DF8E5BB-AFCF-5E29-469F-6DF8042A84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5" name="Text Placeholder 4">
            <a:extLst>
              <a:ext uri="{FF2B5EF4-FFF2-40B4-BE49-F238E27FC236}">
                <a16:creationId xmlns:a16="http://schemas.microsoft.com/office/drawing/2014/main" xmlns="" id="{EE1B0A69-DE67-2C3A-7439-2B970D0125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0F2363E6-4132-E899-6CBE-3F188054C9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7" name="Date Placeholder 6">
            <a:extLst>
              <a:ext uri="{FF2B5EF4-FFF2-40B4-BE49-F238E27FC236}">
                <a16:creationId xmlns:a16="http://schemas.microsoft.com/office/drawing/2014/main" xmlns="" id="{D0264106-B9F9-0C76-6C4C-279511E3B0ED}"/>
              </a:ext>
            </a:extLst>
          </p:cNvPr>
          <p:cNvSpPr>
            <a:spLocks noGrp="1"/>
          </p:cNvSpPr>
          <p:nvPr>
            <p:ph type="dt" sz="half" idx="10"/>
          </p:nvPr>
        </p:nvSpPr>
        <p:spPr/>
        <p:txBody>
          <a:bodyPr/>
          <a:lstStyle/>
          <a:p>
            <a:fld id="{DD7DB6D9-05DC-475C-93F2-9CACAD7B97E8}" type="datetimeFigureOut">
              <a:rPr lang="es-ES" smtClean="0"/>
              <a:t>02/01/2025</a:t>
            </a:fld>
            <a:endParaRPr lang="es-ES"/>
          </a:p>
        </p:txBody>
      </p:sp>
      <p:sp>
        <p:nvSpPr>
          <p:cNvPr id="8" name="Footer Placeholder 7">
            <a:extLst>
              <a:ext uri="{FF2B5EF4-FFF2-40B4-BE49-F238E27FC236}">
                <a16:creationId xmlns:a16="http://schemas.microsoft.com/office/drawing/2014/main" xmlns="" id="{54F01256-B1C1-5225-21E3-0B45279CBDC5}"/>
              </a:ext>
            </a:extLst>
          </p:cNvPr>
          <p:cNvSpPr>
            <a:spLocks noGrp="1"/>
          </p:cNvSpPr>
          <p:nvPr>
            <p:ph type="ftr" sz="quarter" idx="11"/>
          </p:nvPr>
        </p:nvSpPr>
        <p:spPr/>
        <p:txBody>
          <a:bodyPr/>
          <a:lstStyle/>
          <a:p>
            <a:endParaRPr lang="es-ES"/>
          </a:p>
        </p:txBody>
      </p:sp>
      <p:sp>
        <p:nvSpPr>
          <p:cNvPr id="9" name="Slide Number Placeholder 8">
            <a:extLst>
              <a:ext uri="{FF2B5EF4-FFF2-40B4-BE49-F238E27FC236}">
                <a16:creationId xmlns:a16="http://schemas.microsoft.com/office/drawing/2014/main" xmlns="" id="{DB2B210F-2160-B547-AEB3-256E6FE0F6BE}"/>
              </a:ext>
            </a:extLst>
          </p:cNvPr>
          <p:cNvSpPr>
            <a:spLocks noGrp="1"/>
          </p:cNvSpPr>
          <p:nvPr>
            <p:ph type="sldNum" sz="quarter" idx="12"/>
          </p:nvPr>
        </p:nvSpPr>
        <p:spPr/>
        <p:txBody>
          <a:bodyPr/>
          <a:lstStyle/>
          <a:p>
            <a:fld id="{F24B126E-EF77-4455-82E3-F2658C6BF06D}" type="slidenum">
              <a:rPr lang="es-ES" smtClean="0"/>
              <a:t>‹Nº›</a:t>
            </a:fld>
            <a:endParaRPr lang="es-ES"/>
          </a:p>
        </p:txBody>
      </p:sp>
    </p:spTree>
    <p:extLst>
      <p:ext uri="{BB962C8B-B14F-4D97-AF65-F5344CB8AC3E}">
        <p14:creationId xmlns:p14="http://schemas.microsoft.com/office/powerpoint/2010/main" val="55262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9442213-05AD-01B6-6D05-C20FED5ACC90}"/>
              </a:ext>
            </a:extLst>
          </p:cNvPr>
          <p:cNvSpPr>
            <a:spLocks noGrp="1"/>
          </p:cNvSpPr>
          <p:nvPr>
            <p:ph type="title"/>
          </p:nvPr>
        </p:nvSpPr>
        <p:spPr/>
        <p:txBody>
          <a:bodyPr/>
          <a:lstStyle/>
          <a:p>
            <a:r>
              <a:rPr lang="en-US"/>
              <a:t>Click to edit Master title style</a:t>
            </a:r>
            <a:endParaRPr lang="es-ES"/>
          </a:p>
        </p:txBody>
      </p:sp>
      <p:sp>
        <p:nvSpPr>
          <p:cNvPr id="3" name="Date Placeholder 2">
            <a:extLst>
              <a:ext uri="{FF2B5EF4-FFF2-40B4-BE49-F238E27FC236}">
                <a16:creationId xmlns:a16="http://schemas.microsoft.com/office/drawing/2014/main" xmlns="" id="{72FD0F1E-59E9-50DC-3B04-ABC3F1F37A6A}"/>
              </a:ext>
            </a:extLst>
          </p:cNvPr>
          <p:cNvSpPr>
            <a:spLocks noGrp="1"/>
          </p:cNvSpPr>
          <p:nvPr>
            <p:ph type="dt" sz="half" idx="10"/>
          </p:nvPr>
        </p:nvSpPr>
        <p:spPr/>
        <p:txBody>
          <a:bodyPr/>
          <a:lstStyle/>
          <a:p>
            <a:fld id="{DD7DB6D9-05DC-475C-93F2-9CACAD7B97E8}" type="datetimeFigureOut">
              <a:rPr lang="es-ES" smtClean="0"/>
              <a:t>02/01/2025</a:t>
            </a:fld>
            <a:endParaRPr lang="es-ES"/>
          </a:p>
        </p:txBody>
      </p:sp>
      <p:sp>
        <p:nvSpPr>
          <p:cNvPr id="4" name="Footer Placeholder 3">
            <a:extLst>
              <a:ext uri="{FF2B5EF4-FFF2-40B4-BE49-F238E27FC236}">
                <a16:creationId xmlns:a16="http://schemas.microsoft.com/office/drawing/2014/main" xmlns="" id="{210645D3-29D2-38A9-539A-1A7FA2EF3914}"/>
              </a:ext>
            </a:extLst>
          </p:cNvPr>
          <p:cNvSpPr>
            <a:spLocks noGrp="1"/>
          </p:cNvSpPr>
          <p:nvPr>
            <p:ph type="ftr" sz="quarter" idx="11"/>
          </p:nvPr>
        </p:nvSpPr>
        <p:spPr/>
        <p:txBody>
          <a:bodyPr/>
          <a:lstStyle/>
          <a:p>
            <a:endParaRPr lang="es-ES"/>
          </a:p>
        </p:txBody>
      </p:sp>
      <p:sp>
        <p:nvSpPr>
          <p:cNvPr id="5" name="Slide Number Placeholder 4">
            <a:extLst>
              <a:ext uri="{FF2B5EF4-FFF2-40B4-BE49-F238E27FC236}">
                <a16:creationId xmlns:a16="http://schemas.microsoft.com/office/drawing/2014/main" xmlns="" id="{ED8EE222-B282-708D-B4C7-D83613BA04DC}"/>
              </a:ext>
            </a:extLst>
          </p:cNvPr>
          <p:cNvSpPr>
            <a:spLocks noGrp="1"/>
          </p:cNvSpPr>
          <p:nvPr>
            <p:ph type="sldNum" sz="quarter" idx="12"/>
          </p:nvPr>
        </p:nvSpPr>
        <p:spPr/>
        <p:txBody>
          <a:bodyPr/>
          <a:lstStyle/>
          <a:p>
            <a:fld id="{F24B126E-EF77-4455-82E3-F2658C6BF06D}" type="slidenum">
              <a:rPr lang="es-ES" smtClean="0"/>
              <a:t>‹Nº›</a:t>
            </a:fld>
            <a:endParaRPr lang="es-ES"/>
          </a:p>
        </p:txBody>
      </p:sp>
    </p:spTree>
    <p:extLst>
      <p:ext uri="{BB962C8B-B14F-4D97-AF65-F5344CB8AC3E}">
        <p14:creationId xmlns:p14="http://schemas.microsoft.com/office/powerpoint/2010/main" val="1440493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1C853A90-160D-511F-9CBE-CE6933AFDC83}"/>
              </a:ext>
            </a:extLst>
          </p:cNvPr>
          <p:cNvSpPr>
            <a:spLocks noGrp="1"/>
          </p:cNvSpPr>
          <p:nvPr>
            <p:ph type="dt" sz="half" idx="10"/>
          </p:nvPr>
        </p:nvSpPr>
        <p:spPr/>
        <p:txBody>
          <a:bodyPr/>
          <a:lstStyle/>
          <a:p>
            <a:fld id="{DD7DB6D9-05DC-475C-93F2-9CACAD7B97E8}" type="datetimeFigureOut">
              <a:rPr lang="es-ES" smtClean="0"/>
              <a:t>02/01/2025</a:t>
            </a:fld>
            <a:endParaRPr lang="es-ES"/>
          </a:p>
        </p:txBody>
      </p:sp>
      <p:sp>
        <p:nvSpPr>
          <p:cNvPr id="3" name="Footer Placeholder 2">
            <a:extLst>
              <a:ext uri="{FF2B5EF4-FFF2-40B4-BE49-F238E27FC236}">
                <a16:creationId xmlns:a16="http://schemas.microsoft.com/office/drawing/2014/main" xmlns="" id="{C97A0975-AA85-2FB4-6827-5EEF5C45FD4A}"/>
              </a:ext>
            </a:extLst>
          </p:cNvPr>
          <p:cNvSpPr>
            <a:spLocks noGrp="1"/>
          </p:cNvSpPr>
          <p:nvPr>
            <p:ph type="ftr" sz="quarter" idx="11"/>
          </p:nvPr>
        </p:nvSpPr>
        <p:spPr/>
        <p:txBody>
          <a:bodyPr/>
          <a:lstStyle/>
          <a:p>
            <a:endParaRPr lang="es-ES"/>
          </a:p>
        </p:txBody>
      </p:sp>
      <p:sp>
        <p:nvSpPr>
          <p:cNvPr id="4" name="Slide Number Placeholder 3">
            <a:extLst>
              <a:ext uri="{FF2B5EF4-FFF2-40B4-BE49-F238E27FC236}">
                <a16:creationId xmlns:a16="http://schemas.microsoft.com/office/drawing/2014/main" xmlns="" id="{1092E142-71CA-BE34-E012-C09E2B12BE8F}"/>
              </a:ext>
            </a:extLst>
          </p:cNvPr>
          <p:cNvSpPr>
            <a:spLocks noGrp="1"/>
          </p:cNvSpPr>
          <p:nvPr>
            <p:ph type="sldNum" sz="quarter" idx="12"/>
          </p:nvPr>
        </p:nvSpPr>
        <p:spPr/>
        <p:txBody>
          <a:bodyPr/>
          <a:lstStyle/>
          <a:p>
            <a:fld id="{F24B126E-EF77-4455-82E3-F2658C6BF06D}" type="slidenum">
              <a:rPr lang="es-ES" smtClean="0"/>
              <a:t>‹Nº›</a:t>
            </a:fld>
            <a:endParaRPr lang="es-ES"/>
          </a:p>
        </p:txBody>
      </p:sp>
    </p:spTree>
    <p:extLst>
      <p:ext uri="{BB962C8B-B14F-4D97-AF65-F5344CB8AC3E}">
        <p14:creationId xmlns:p14="http://schemas.microsoft.com/office/powerpoint/2010/main" val="1853127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2B44D14-CB5D-4172-EB47-03DC259A0F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S"/>
          </a:p>
        </p:txBody>
      </p:sp>
      <p:sp>
        <p:nvSpPr>
          <p:cNvPr id="3" name="Content Placeholder 2">
            <a:extLst>
              <a:ext uri="{FF2B5EF4-FFF2-40B4-BE49-F238E27FC236}">
                <a16:creationId xmlns:a16="http://schemas.microsoft.com/office/drawing/2014/main" xmlns="" id="{31A9907A-11E6-1E3F-A2E7-6159D58674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Text Placeholder 3">
            <a:extLst>
              <a:ext uri="{FF2B5EF4-FFF2-40B4-BE49-F238E27FC236}">
                <a16:creationId xmlns:a16="http://schemas.microsoft.com/office/drawing/2014/main" xmlns="" id="{86F28318-EC22-72B3-9137-CBFDD4AA1D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9B3895C3-355F-BBA3-5D7E-CF8651199BC5}"/>
              </a:ext>
            </a:extLst>
          </p:cNvPr>
          <p:cNvSpPr>
            <a:spLocks noGrp="1"/>
          </p:cNvSpPr>
          <p:nvPr>
            <p:ph type="dt" sz="half" idx="10"/>
          </p:nvPr>
        </p:nvSpPr>
        <p:spPr/>
        <p:txBody>
          <a:bodyPr/>
          <a:lstStyle/>
          <a:p>
            <a:fld id="{DD7DB6D9-05DC-475C-93F2-9CACAD7B97E8}" type="datetimeFigureOut">
              <a:rPr lang="es-ES" smtClean="0"/>
              <a:t>02/01/2025</a:t>
            </a:fld>
            <a:endParaRPr lang="es-ES"/>
          </a:p>
        </p:txBody>
      </p:sp>
      <p:sp>
        <p:nvSpPr>
          <p:cNvPr id="6" name="Footer Placeholder 5">
            <a:extLst>
              <a:ext uri="{FF2B5EF4-FFF2-40B4-BE49-F238E27FC236}">
                <a16:creationId xmlns:a16="http://schemas.microsoft.com/office/drawing/2014/main" xmlns="" id="{0C9C16FA-C1AC-44FE-BC0B-91CDA8945676}"/>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xmlns="" id="{B7902F2F-C3CC-3D23-99E3-0082113588FD}"/>
              </a:ext>
            </a:extLst>
          </p:cNvPr>
          <p:cNvSpPr>
            <a:spLocks noGrp="1"/>
          </p:cNvSpPr>
          <p:nvPr>
            <p:ph type="sldNum" sz="quarter" idx="12"/>
          </p:nvPr>
        </p:nvSpPr>
        <p:spPr/>
        <p:txBody>
          <a:bodyPr/>
          <a:lstStyle/>
          <a:p>
            <a:fld id="{F24B126E-EF77-4455-82E3-F2658C6BF06D}" type="slidenum">
              <a:rPr lang="es-ES" smtClean="0"/>
              <a:t>‹Nº›</a:t>
            </a:fld>
            <a:endParaRPr lang="es-ES"/>
          </a:p>
        </p:txBody>
      </p:sp>
    </p:spTree>
    <p:extLst>
      <p:ext uri="{BB962C8B-B14F-4D97-AF65-F5344CB8AC3E}">
        <p14:creationId xmlns:p14="http://schemas.microsoft.com/office/powerpoint/2010/main" val="398695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A3C8E31-A65E-8C2E-1D53-5BFA6F65A8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ES"/>
          </a:p>
        </p:txBody>
      </p:sp>
      <p:sp>
        <p:nvSpPr>
          <p:cNvPr id="3" name="Picture Placeholder 2">
            <a:extLst>
              <a:ext uri="{FF2B5EF4-FFF2-40B4-BE49-F238E27FC236}">
                <a16:creationId xmlns:a16="http://schemas.microsoft.com/office/drawing/2014/main" xmlns="" id="{A5AFFD3F-C887-5BEA-4D82-9FFF6C771E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Text Placeholder 3">
            <a:extLst>
              <a:ext uri="{FF2B5EF4-FFF2-40B4-BE49-F238E27FC236}">
                <a16:creationId xmlns:a16="http://schemas.microsoft.com/office/drawing/2014/main" xmlns="" id="{A6BF9314-D72F-D72F-4705-53168C705A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80D2E8D-6493-717C-CE90-D2FB63D2E1E3}"/>
              </a:ext>
            </a:extLst>
          </p:cNvPr>
          <p:cNvSpPr>
            <a:spLocks noGrp="1"/>
          </p:cNvSpPr>
          <p:nvPr>
            <p:ph type="dt" sz="half" idx="10"/>
          </p:nvPr>
        </p:nvSpPr>
        <p:spPr/>
        <p:txBody>
          <a:bodyPr/>
          <a:lstStyle/>
          <a:p>
            <a:fld id="{DD7DB6D9-05DC-475C-93F2-9CACAD7B97E8}" type="datetimeFigureOut">
              <a:rPr lang="es-ES" smtClean="0"/>
              <a:t>02/01/2025</a:t>
            </a:fld>
            <a:endParaRPr lang="es-ES"/>
          </a:p>
        </p:txBody>
      </p:sp>
      <p:sp>
        <p:nvSpPr>
          <p:cNvPr id="6" name="Footer Placeholder 5">
            <a:extLst>
              <a:ext uri="{FF2B5EF4-FFF2-40B4-BE49-F238E27FC236}">
                <a16:creationId xmlns:a16="http://schemas.microsoft.com/office/drawing/2014/main" xmlns="" id="{FE710BC1-5783-1C99-69A1-75086E2BA010}"/>
              </a:ext>
            </a:extLst>
          </p:cNvPr>
          <p:cNvSpPr>
            <a:spLocks noGrp="1"/>
          </p:cNvSpPr>
          <p:nvPr>
            <p:ph type="ftr" sz="quarter" idx="11"/>
          </p:nvPr>
        </p:nvSpPr>
        <p:spPr/>
        <p:txBody>
          <a:bodyPr/>
          <a:lstStyle/>
          <a:p>
            <a:endParaRPr lang="es-ES"/>
          </a:p>
        </p:txBody>
      </p:sp>
      <p:sp>
        <p:nvSpPr>
          <p:cNvPr id="7" name="Slide Number Placeholder 6">
            <a:extLst>
              <a:ext uri="{FF2B5EF4-FFF2-40B4-BE49-F238E27FC236}">
                <a16:creationId xmlns:a16="http://schemas.microsoft.com/office/drawing/2014/main" xmlns="" id="{F8E26E43-3353-7016-58D8-F4454D31C536}"/>
              </a:ext>
            </a:extLst>
          </p:cNvPr>
          <p:cNvSpPr>
            <a:spLocks noGrp="1"/>
          </p:cNvSpPr>
          <p:nvPr>
            <p:ph type="sldNum" sz="quarter" idx="12"/>
          </p:nvPr>
        </p:nvSpPr>
        <p:spPr/>
        <p:txBody>
          <a:bodyPr/>
          <a:lstStyle/>
          <a:p>
            <a:fld id="{F24B126E-EF77-4455-82E3-F2658C6BF06D}" type="slidenum">
              <a:rPr lang="es-ES" smtClean="0"/>
              <a:t>‹Nº›</a:t>
            </a:fld>
            <a:endParaRPr lang="es-ES"/>
          </a:p>
        </p:txBody>
      </p:sp>
    </p:spTree>
    <p:extLst>
      <p:ext uri="{BB962C8B-B14F-4D97-AF65-F5344CB8AC3E}">
        <p14:creationId xmlns:p14="http://schemas.microsoft.com/office/powerpoint/2010/main" val="3735192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40A6A69-D855-0CC1-F626-9447E07403D5}"/>
              </a:ext>
            </a:extLst>
          </p:cNvPr>
          <p:cNvSpPr>
            <a:spLocks noGrp="1"/>
          </p:cNvSpPr>
          <p:nvPr>
            <p:ph type="title"/>
          </p:nvPr>
        </p:nvSpPr>
        <p:spPr/>
        <p:txBody>
          <a:bodyPr/>
          <a:lstStyle/>
          <a:p>
            <a:r>
              <a:rPr lang="en-US"/>
              <a:t>Click to edit Master title style</a:t>
            </a:r>
            <a:endParaRPr lang="es-ES"/>
          </a:p>
        </p:txBody>
      </p:sp>
      <p:sp>
        <p:nvSpPr>
          <p:cNvPr id="3" name="Vertical Text Placeholder 2">
            <a:extLst>
              <a:ext uri="{FF2B5EF4-FFF2-40B4-BE49-F238E27FC236}">
                <a16:creationId xmlns:a16="http://schemas.microsoft.com/office/drawing/2014/main" xmlns="" id="{D57B0CDB-4A54-FFCC-37ED-50EB8F805B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xmlns="" id="{C997472F-67D4-D5E1-8916-BC97F24E332F}"/>
              </a:ext>
            </a:extLst>
          </p:cNvPr>
          <p:cNvSpPr>
            <a:spLocks noGrp="1"/>
          </p:cNvSpPr>
          <p:nvPr>
            <p:ph type="dt" sz="half" idx="10"/>
          </p:nvPr>
        </p:nvSpPr>
        <p:spPr/>
        <p:txBody>
          <a:bodyPr/>
          <a:lstStyle/>
          <a:p>
            <a:fld id="{DD7DB6D9-05DC-475C-93F2-9CACAD7B97E8}" type="datetimeFigureOut">
              <a:rPr lang="es-ES" smtClean="0"/>
              <a:t>02/01/2025</a:t>
            </a:fld>
            <a:endParaRPr lang="es-ES"/>
          </a:p>
        </p:txBody>
      </p:sp>
      <p:sp>
        <p:nvSpPr>
          <p:cNvPr id="5" name="Footer Placeholder 4">
            <a:extLst>
              <a:ext uri="{FF2B5EF4-FFF2-40B4-BE49-F238E27FC236}">
                <a16:creationId xmlns:a16="http://schemas.microsoft.com/office/drawing/2014/main" xmlns="" id="{6C1922C0-EC1F-20B8-25C8-EDD824B68530}"/>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xmlns="" id="{43F25E56-4C74-4D23-37F5-FF28D1D5D4CB}"/>
              </a:ext>
            </a:extLst>
          </p:cNvPr>
          <p:cNvSpPr>
            <a:spLocks noGrp="1"/>
          </p:cNvSpPr>
          <p:nvPr>
            <p:ph type="sldNum" sz="quarter" idx="12"/>
          </p:nvPr>
        </p:nvSpPr>
        <p:spPr/>
        <p:txBody>
          <a:bodyPr/>
          <a:lstStyle/>
          <a:p>
            <a:fld id="{F24B126E-EF77-4455-82E3-F2658C6BF06D}" type="slidenum">
              <a:rPr lang="es-ES" smtClean="0"/>
              <a:t>‹Nº›</a:t>
            </a:fld>
            <a:endParaRPr lang="es-ES"/>
          </a:p>
        </p:txBody>
      </p:sp>
    </p:spTree>
    <p:extLst>
      <p:ext uri="{BB962C8B-B14F-4D97-AF65-F5344CB8AC3E}">
        <p14:creationId xmlns:p14="http://schemas.microsoft.com/office/powerpoint/2010/main" val="23734714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E5E29C4D-4E4D-5FD7-4F37-3A2A961CCB4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ES"/>
          </a:p>
        </p:txBody>
      </p:sp>
      <p:sp>
        <p:nvSpPr>
          <p:cNvPr id="3" name="Vertical Text Placeholder 2">
            <a:extLst>
              <a:ext uri="{FF2B5EF4-FFF2-40B4-BE49-F238E27FC236}">
                <a16:creationId xmlns:a16="http://schemas.microsoft.com/office/drawing/2014/main" xmlns="" id="{742FDFC1-8DF8-9DD9-681B-568F07D795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xmlns="" id="{70A4B624-AC3B-A7C2-A789-8790C791813F}"/>
              </a:ext>
            </a:extLst>
          </p:cNvPr>
          <p:cNvSpPr>
            <a:spLocks noGrp="1"/>
          </p:cNvSpPr>
          <p:nvPr>
            <p:ph type="dt" sz="half" idx="10"/>
          </p:nvPr>
        </p:nvSpPr>
        <p:spPr/>
        <p:txBody>
          <a:bodyPr/>
          <a:lstStyle/>
          <a:p>
            <a:fld id="{DD7DB6D9-05DC-475C-93F2-9CACAD7B97E8}" type="datetimeFigureOut">
              <a:rPr lang="es-ES" smtClean="0"/>
              <a:t>02/01/2025</a:t>
            </a:fld>
            <a:endParaRPr lang="es-ES"/>
          </a:p>
        </p:txBody>
      </p:sp>
      <p:sp>
        <p:nvSpPr>
          <p:cNvPr id="5" name="Footer Placeholder 4">
            <a:extLst>
              <a:ext uri="{FF2B5EF4-FFF2-40B4-BE49-F238E27FC236}">
                <a16:creationId xmlns:a16="http://schemas.microsoft.com/office/drawing/2014/main" xmlns="" id="{B7B2C93D-83E2-DC4F-32CF-071E9906C7C4}"/>
              </a:ext>
            </a:extLst>
          </p:cNvPr>
          <p:cNvSpPr>
            <a:spLocks noGrp="1"/>
          </p:cNvSpPr>
          <p:nvPr>
            <p:ph type="ftr" sz="quarter" idx="11"/>
          </p:nvPr>
        </p:nvSpPr>
        <p:spPr/>
        <p:txBody>
          <a:bodyPr/>
          <a:lstStyle/>
          <a:p>
            <a:endParaRPr lang="es-ES"/>
          </a:p>
        </p:txBody>
      </p:sp>
      <p:sp>
        <p:nvSpPr>
          <p:cNvPr id="6" name="Slide Number Placeholder 5">
            <a:extLst>
              <a:ext uri="{FF2B5EF4-FFF2-40B4-BE49-F238E27FC236}">
                <a16:creationId xmlns:a16="http://schemas.microsoft.com/office/drawing/2014/main" xmlns="" id="{36B3CFFE-D2EC-1523-1954-B14F8598BA32}"/>
              </a:ext>
            </a:extLst>
          </p:cNvPr>
          <p:cNvSpPr>
            <a:spLocks noGrp="1"/>
          </p:cNvSpPr>
          <p:nvPr>
            <p:ph type="sldNum" sz="quarter" idx="12"/>
          </p:nvPr>
        </p:nvSpPr>
        <p:spPr/>
        <p:txBody>
          <a:bodyPr/>
          <a:lstStyle/>
          <a:p>
            <a:fld id="{F24B126E-EF77-4455-82E3-F2658C6BF06D}" type="slidenum">
              <a:rPr lang="es-ES" smtClean="0"/>
              <a:t>‹Nº›</a:t>
            </a:fld>
            <a:endParaRPr lang="es-ES"/>
          </a:p>
        </p:txBody>
      </p:sp>
    </p:spTree>
    <p:extLst>
      <p:ext uri="{BB962C8B-B14F-4D97-AF65-F5344CB8AC3E}">
        <p14:creationId xmlns:p14="http://schemas.microsoft.com/office/powerpoint/2010/main" val="28307951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5F9CD1C1-A044-C5B1-6E93-B90FE87CB2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ES"/>
          </a:p>
        </p:txBody>
      </p:sp>
      <p:sp>
        <p:nvSpPr>
          <p:cNvPr id="3" name="Text Placeholder 2">
            <a:extLst>
              <a:ext uri="{FF2B5EF4-FFF2-40B4-BE49-F238E27FC236}">
                <a16:creationId xmlns:a16="http://schemas.microsoft.com/office/drawing/2014/main" xmlns="" id="{BBF38A99-531D-28F2-D982-4440E4C74A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4" name="Date Placeholder 3">
            <a:extLst>
              <a:ext uri="{FF2B5EF4-FFF2-40B4-BE49-F238E27FC236}">
                <a16:creationId xmlns:a16="http://schemas.microsoft.com/office/drawing/2014/main" xmlns="" id="{C0979050-D1A1-A25F-FD11-8B7ECF3F19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7DB6D9-05DC-475C-93F2-9CACAD7B97E8}" type="datetimeFigureOut">
              <a:rPr lang="es-ES" smtClean="0"/>
              <a:t>02/01/2025</a:t>
            </a:fld>
            <a:endParaRPr lang="es-ES"/>
          </a:p>
        </p:txBody>
      </p:sp>
      <p:sp>
        <p:nvSpPr>
          <p:cNvPr id="5" name="Footer Placeholder 4">
            <a:extLst>
              <a:ext uri="{FF2B5EF4-FFF2-40B4-BE49-F238E27FC236}">
                <a16:creationId xmlns:a16="http://schemas.microsoft.com/office/drawing/2014/main" xmlns="" id="{27B7F443-5377-88DB-EE59-144BD0CBB1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Slide Number Placeholder 5">
            <a:extLst>
              <a:ext uri="{FF2B5EF4-FFF2-40B4-BE49-F238E27FC236}">
                <a16:creationId xmlns:a16="http://schemas.microsoft.com/office/drawing/2014/main" xmlns="" id="{E477C36A-5440-E4BE-7A2C-C39A0B9CBC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4B126E-EF77-4455-82E3-F2658C6BF06D}" type="slidenum">
              <a:rPr lang="es-ES" smtClean="0"/>
              <a:t>‹Nº›</a:t>
            </a:fld>
            <a:endParaRPr lang="es-ES"/>
          </a:p>
        </p:txBody>
      </p:sp>
    </p:spTree>
    <p:extLst>
      <p:ext uri="{BB962C8B-B14F-4D97-AF65-F5344CB8AC3E}">
        <p14:creationId xmlns:p14="http://schemas.microsoft.com/office/powerpoint/2010/main" val="26527892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E87C2B-C875-4A3F-005F-06DED1813064}"/>
              </a:ext>
            </a:extLst>
          </p:cNvPr>
          <p:cNvSpPr>
            <a:spLocks noGrp="1"/>
          </p:cNvSpPr>
          <p:nvPr>
            <p:ph type="ctrTitle"/>
          </p:nvPr>
        </p:nvSpPr>
        <p:spPr/>
        <p:txBody>
          <a:bodyPr/>
          <a:lstStyle/>
          <a:p>
            <a:r>
              <a:rPr lang="es-ES" dirty="0" err="1"/>
              <a:t>The</a:t>
            </a:r>
            <a:r>
              <a:rPr lang="es-ES" dirty="0"/>
              <a:t> media and </a:t>
            </a:r>
            <a:r>
              <a:rPr lang="es-ES" dirty="0" err="1"/>
              <a:t>the</a:t>
            </a:r>
            <a:r>
              <a:rPr lang="es-ES" dirty="0"/>
              <a:t> </a:t>
            </a:r>
            <a:r>
              <a:rPr lang="es-ES" dirty="0" err="1"/>
              <a:t>climate</a:t>
            </a:r>
            <a:endParaRPr lang="es-ES" dirty="0"/>
          </a:p>
        </p:txBody>
      </p:sp>
      <p:sp>
        <p:nvSpPr>
          <p:cNvPr id="3" name="Subtitle 2">
            <a:extLst>
              <a:ext uri="{FF2B5EF4-FFF2-40B4-BE49-F238E27FC236}">
                <a16:creationId xmlns:a16="http://schemas.microsoft.com/office/drawing/2014/main" xmlns="" id="{9A947E82-4743-303D-B7FA-1BF327F10C2A}"/>
              </a:ext>
            </a:extLst>
          </p:cNvPr>
          <p:cNvSpPr>
            <a:spLocks noGrp="1"/>
          </p:cNvSpPr>
          <p:nvPr>
            <p:ph type="subTitle" idx="1"/>
          </p:nvPr>
        </p:nvSpPr>
        <p:spPr/>
        <p:txBody>
          <a:bodyPr/>
          <a:lstStyle/>
          <a:p>
            <a:r>
              <a:rPr lang="es-ES" dirty="0" smtClean="0"/>
              <a:t>English C1</a:t>
            </a:r>
            <a:endParaRPr lang="es-ES" dirty="0"/>
          </a:p>
        </p:txBody>
      </p:sp>
      <p:pic>
        <p:nvPicPr>
          <p:cNvPr id="5" name="Picture 4">
            <a:extLst>
              <a:ext uri="{FF2B5EF4-FFF2-40B4-BE49-F238E27FC236}">
                <a16:creationId xmlns:a16="http://schemas.microsoft.com/office/drawing/2014/main" xmlns="" id="{D881B206-5E12-3CD4-A75B-83812EAE6E31}"/>
              </a:ext>
            </a:extLst>
          </p:cNvPr>
          <p:cNvPicPr>
            <a:picLocks noChangeAspect="1"/>
          </p:cNvPicPr>
          <p:nvPr/>
        </p:nvPicPr>
        <p:blipFill>
          <a:blip r:embed="rId2"/>
          <a:stretch>
            <a:fillRect/>
          </a:stretch>
        </p:blipFill>
        <p:spPr>
          <a:xfrm>
            <a:off x="10182225" y="5876925"/>
            <a:ext cx="1638300" cy="762000"/>
          </a:xfrm>
          <a:prstGeom prst="rect">
            <a:avLst/>
          </a:prstGeom>
        </p:spPr>
      </p:pic>
    </p:spTree>
    <p:extLst>
      <p:ext uri="{BB962C8B-B14F-4D97-AF65-F5344CB8AC3E}">
        <p14:creationId xmlns:p14="http://schemas.microsoft.com/office/powerpoint/2010/main" val="787197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xmlns="" id="{08953E74-D241-4DDF-8508-F0365EA13A9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Freeform: Shape 1032">
            <a:extLst>
              <a:ext uri="{FF2B5EF4-FFF2-40B4-BE49-F238E27FC236}">
                <a16:creationId xmlns:a16="http://schemas.microsoft.com/office/drawing/2014/main" xmlns="" id="{5C3C901A-B2F4-4A3C-BCDD-7C8D587ECA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V="1">
            <a:off x="0" y="0"/>
            <a:ext cx="12192000" cy="2371134"/>
          </a:xfrm>
          <a:custGeom>
            <a:avLst/>
            <a:gdLst>
              <a:gd name="connsiteX0" fmla="*/ 0 w 12192000"/>
              <a:gd name="connsiteY0" fmla="*/ 0 h 2515690"/>
              <a:gd name="connsiteX1" fmla="*/ 170442 w 12192000"/>
              <a:gd name="connsiteY1" fmla="*/ 96074 h 2515690"/>
              <a:gd name="connsiteX2" fmla="*/ 424739 w 12192000"/>
              <a:gd name="connsiteY2" fmla="*/ 224865 h 2515690"/>
              <a:gd name="connsiteX3" fmla="*/ 748273 w 12192000"/>
              <a:gd name="connsiteY3" fmla="*/ 373939 h 2515690"/>
              <a:gd name="connsiteX4" fmla="*/ 1037058 w 12192000"/>
              <a:gd name="connsiteY4" fmla="*/ 499994 h 2515690"/>
              <a:gd name="connsiteX5" fmla="*/ 1101312 w 12192000"/>
              <a:gd name="connsiteY5" fmla="*/ 428540 h 2515690"/>
              <a:gd name="connsiteX6" fmla="*/ 1367071 w 12192000"/>
              <a:gd name="connsiteY6" fmla="*/ 516118 h 2515690"/>
              <a:gd name="connsiteX7" fmla="*/ 2189943 w 12192000"/>
              <a:gd name="connsiteY7" fmla="*/ 794533 h 2515690"/>
              <a:gd name="connsiteX8" fmla="*/ 2390329 w 12192000"/>
              <a:gd name="connsiteY8" fmla="*/ 920897 h 2515690"/>
              <a:gd name="connsiteX9" fmla="*/ 2459570 w 12192000"/>
              <a:gd name="connsiteY9" fmla="*/ 983740 h 2515690"/>
              <a:gd name="connsiteX10" fmla="*/ 2503252 w 12192000"/>
              <a:gd name="connsiteY10" fmla="*/ 1000151 h 2515690"/>
              <a:gd name="connsiteX11" fmla="*/ 2503252 w 12192000"/>
              <a:gd name="connsiteY11" fmla="*/ 1008273 h 2515690"/>
              <a:gd name="connsiteX12" fmla="*/ 2511191 w 12192000"/>
              <a:gd name="connsiteY12" fmla="*/ 1009499 h 2515690"/>
              <a:gd name="connsiteX13" fmla="*/ 2565029 w 12192000"/>
              <a:gd name="connsiteY13" fmla="*/ 1015977 h 2515690"/>
              <a:gd name="connsiteX14" fmla="*/ 2593745 w 12192000"/>
              <a:gd name="connsiteY14" fmla="*/ 1019963 h 2515690"/>
              <a:gd name="connsiteX15" fmla="*/ 2591015 w 12192000"/>
              <a:gd name="connsiteY15" fmla="*/ 1019651 h 2515690"/>
              <a:gd name="connsiteX16" fmla="*/ 2590137 w 12192000"/>
              <a:gd name="connsiteY16" fmla="*/ 1019549 h 2515690"/>
              <a:gd name="connsiteX17" fmla="*/ 2589021 w 12192000"/>
              <a:gd name="connsiteY17" fmla="*/ 1019424 h 2515690"/>
              <a:gd name="connsiteX18" fmla="*/ 2591015 w 12192000"/>
              <a:gd name="connsiteY18" fmla="*/ 1019651 h 2515690"/>
              <a:gd name="connsiteX19" fmla="*/ 2602385 w 12192000"/>
              <a:gd name="connsiteY19" fmla="*/ 1020975 h 2515690"/>
              <a:gd name="connsiteX20" fmla="*/ 2614445 w 12192000"/>
              <a:gd name="connsiteY20" fmla="*/ 1022389 h 2515690"/>
              <a:gd name="connsiteX21" fmla="*/ 2614445 w 12192000"/>
              <a:gd name="connsiteY21" fmla="*/ 1020966 h 2515690"/>
              <a:gd name="connsiteX22" fmla="*/ 2676661 w 12192000"/>
              <a:gd name="connsiteY22" fmla="*/ 1029355 h 2515690"/>
              <a:gd name="connsiteX23" fmla="*/ 2788597 w 12192000"/>
              <a:gd name="connsiteY23" fmla="*/ 1048926 h 2515690"/>
              <a:gd name="connsiteX24" fmla="*/ 2812742 w 12192000"/>
              <a:gd name="connsiteY24" fmla="*/ 1057667 h 2515690"/>
              <a:gd name="connsiteX25" fmla="*/ 2970201 w 12192000"/>
              <a:gd name="connsiteY25" fmla="*/ 949091 h 2515690"/>
              <a:gd name="connsiteX26" fmla="*/ 3030610 w 12192000"/>
              <a:gd name="connsiteY26" fmla="*/ 1049340 h 2515690"/>
              <a:gd name="connsiteX27" fmla="*/ 3058913 w 12192000"/>
              <a:gd name="connsiteY27" fmla="*/ 1048085 h 2515690"/>
              <a:gd name="connsiteX28" fmla="*/ 3072697 w 12192000"/>
              <a:gd name="connsiteY28" fmla="*/ 1045316 h 2515690"/>
              <a:gd name="connsiteX29" fmla="*/ 3083305 w 12192000"/>
              <a:gd name="connsiteY29" fmla="*/ 1040550 h 2515690"/>
              <a:gd name="connsiteX30" fmla="*/ 3125603 w 12192000"/>
              <a:gd name="connsiteY30" fmla="*/ 1004583 h 2515690"/>
              <a:gd name="connsiteX31" fmla="*/ 3385106 w 12192000"/>
              <a:gd name="connsiteY31" fmla="*/ 1042233 h 2515690"/>
              <a:gd name="connsiteX32" fmla="*/ 3424945 w 12192000"/>
              <a:gd name="connsiteY32" fmla="*/ 1065268 h 2515690"/>
              <a:gd name="connsiteX33" fmla="*/ 3436948 w 12192000"/>
              <a:gd name="connsiteY33" fmla="*/ 1068018 h 2515690"/>
              <a:gd name="connsiteX34" fmla="*/ 3466714 w 12192000"/>
              <a:gd name="connsiteY34" fmla="*/ 1063419 h 2515690"/>
              <a:gd name="connsiteX35" fmla="*/ 3550909 w 12192000"/>
              <a:gd name="connsiteY35" fmla="*/ 1044511 h 2515690"/>
              <a:gd name="connsiteX36" fmla="*/ 3555900 w 12192000"/>
              <a:gd name="connsiteY36" fmla="*/ 1041996 h 2515690"/>
              <a:gd name="connsiteX37" fmla="*/ 3625978 w 12192000"/>
              <a:gd name="connsiteY37" fmla="*/ 1023459 h 2515690"/>
              <a:gd name="connsiteX38" fmla="*/ 3632465 w 12192000"/>
              <a:gd name="connsiteY38" fmla="*/ 1023522 h 2515690"/>
              <a:gd name="connsiteX39" fmla="*/ 3649063 w 12192000"/>
              <a:gd name="connsiteY39" fmla="*/ 1018726 h 2515690"/>
              <a:gd name="connsiteX40" fmla="*/ 3805954 w 12192000"/>
              <a:gd name="connsiteY40" fmla="*/ 917517 h 2515690"/>
              <a:gd name="connsiteX41" fmla="*/ 4020506 w 12192000"/>
              <a:gd name="connsiteY41" fmla="*/ 816231 h 2515690"/>
              <a:gd name="connsiteX42" fmla="*/ 4233682 w 12192000"/>
              <a:gd name="connsiteY42" fmla="*/ 799511 h 2515690"/>
              <a:gd name="connsiteX43" fmla="*/ 4306552 w 12192000"/>
              <a:gd name="connsiteY43" fmla="*/ 610207 h 2515690"/>
              <a:gd name="connsiteX44" fmla="*/ 4816604 w 12192000"/>
              <a:gd name="connsiteY44" fmla="*/ 773163 h 2515690"/>
              <a:gd name="connsiteX45" fmla="*/ 4916502 w 12192000"/>
              <a:gd name="connsiteY45" fmla="*/ 788104 h 2515690"/>
              <a:gd name="connsiteX46" fmla="*/ 5224415 w 12192000"/>
              <a:gd name="connsiteY46" fmla="*/ 674418 h 2515690"/>
              <a:gd name="connsiteX47" fmla="*/ 5274077 w 12192000"/>
              <a:gd name="connsiteY47" fmla="*/ 655978 h 2515690"/>
              <a:gd name="connsiteX48" fmla="*/ 5371217 w 12192000"/>
              <a:gd name="connsiteY48" fmla="*/ 614372 h 2515690"/>
              <a:gd name="connsiteX49" fmla="*/ 5364523 w 12192000"/>
              <a:gd name="connsiteY49" fmla="*/ 502501 h 2515690"/>
              <a:gd name="connsiteX50" fmla="*/ 5457871 w 12192000"/>
              <a:gd name="connsiteY50" fmla="*/ 558285 h 2515690"/>
              <a:gd name="connsiteX51" fmla="*/ 5750580 w 12192000"/>
              <a:gd name="connsiteY51" fmla="*/ 663503 h 2515690"/>
              <a:gd name="connsiteX52" fmla="*/ 5976618 w 12192000"/>
              <a:gd name="connsiteY52" fmla="*/ 582652 h 2515690"/>
              <a:gd name="connsiteX53" fmla="*/ 6009346 w 12192000"/>
              <a:gd name="connsiteY53" fmla="*/ 559470 h 2515690"/>
              <a:gd name="connsiteX54" fmla="*/ 6069735 w 12192000"/>
              <a:gd name="connsiteY54" fmla="*/ 587803 h 2515690"/>
              <a:gd name="connsiteX55" fmla="*/ 6270319 w 12192000"/>
              <a:gd name="connsiteY55" fmla="*/ 643982 h 2515690"/>
              <a:gd name="connsiteX56" fmla="*/ 6406781 w 12192000"/>
              <a:gd name="connsiteY56" fmla="*/ 672327 h 2515690"/>
              <a:gd name="connsiteX57" fmla="*/ 6469508 w 12192000"/>
              <a:gd name="connsiteY57" fmla="*/ 708574 h 2515690"/>
              <a:gd name="connsiteX58" fmla="*/ 6515869 w 12192000"/>
              <a:gd name="connsiteY58" fmla="*/ 715738 h 2515690"/>
              <a:gd name="connsiteX59" fmla="*/ 6725938 w 12192000"/>
              <a:gd name="connsiteY59" fmla="*/ 691128 h 2515690"/>
              <a:gd name="connsiteX60" fmla="*/ 6778240 w 12192000"/>
              <a:gd name="connsiteY60" fmla="*/ 678998 h 2515690"/>
              <a:gd name="connsiteX61" fmla="*/ 6806944 w 12192000"/>
              <a:gd name="connsiteY61" fmla="*/ 646178 h 2515690"/>
              <a:gd name="connsiteX62" fmla="*/ 6830632 w 12192000"/>
              <a:gd name="connsiteY62" fmla="*/ 633915 h 2515690"/>
              <a:gd name="connsiteX63" fmla="*/ 6858072 w 12192000"/>
              <a:gd name="connsiteY63" fmla="*/ 646178 h 2515690"/>
              <a:gd name="connsiteX64" fmla="*/ 6891322 w 12192000"/>
              <a:gd name="connsiteY64" fmla="*/ 678998 h 2515690"/>
              <a:gd name="connsiteX65" fmla="*/ 6951905 w 12192000"/>
              <a:gd name="connsiteY65" fmla="*/ 691128 h 2515690"/>
              <a:gd name="connsiteX66" fmla="*/ 7195246 w 12192000"/>
              <a:gd name="connsiteY66" fmla="*/ 715738 h 2515690"/>
              <a:gd name="connsiteX67" fmla="*/ 7248949 w 12192000"/>
              <a:gd name="connsiteY67" fmla="*/ 708574 h 2515690"/>
              <a:gd name="connsiteX68" fmla="*/ 7321609 w 12192000"/>
              <a:gd name="connsiteY68" fmla="*/ 672327 h 2515690"/>
              <a:gd name="connsiteX69" fmla="*/ 7479684 w 12192000"/>
              <a:gd name="connsiteY69" fmla="*/ 643982 h 2515690"/>
              <a:gd name="connsiteX70" fmla="*/ 7712035 w 12192000"/>
              <a:gd name="connsiteY70" fmla="*/ 587803 h 2515690"/>
              <a:gd name="connsiteX71" fmla="*/ 7781987 w 12192000"/>
              <a:gd name="connsiteY71" fmla="*/ 559470 h 2515690"/>
              <a:gd name="connsiteX72" fmla="*/ 7819900 w 12192000"/>
              <a:gd name="connsiteY72" fmla="*/ 582652 h 2515690"/>
              <a:gd name="connsiteX73" fmla="*/ 8081736 w 12192000"/>
              <a:gd name="connsiteY73" fmla="*/ 663503 h 2515690"/>
              <a:gd name="connsiteX74" fmla="*/ 8420801 w 12192000"/>
              <a:gd name="connsiteY74" fmla="*/ 558285 h 2515690"/>
              <a:gd name="connsiteX75" fmla="*/ 8528933 w 12192000"/>
              <a:gd name="connsiteY75" fmla="*/ 502501 h 2515690"/>
              <a:gd name="connsiteX76" fmla="*/ 8521178 w 12192000"/>
              <a:gd name="connsiteY76" fmla="*/ 614372 h 2515690"/>
              <a:gd name="connsiteX77" fmla="*/ 8633702 w 12192000"/>
              <a:gd name="connsiteY77" fmla="*/ 655978 h 2515690"/>
              <a:gd name="connsiteX78" fmla="*/ 8691231 w 12192000"/>
              <a:gd name="connsiteY78" fmla="*/ 674418 h 2515690"/>
              <a:gd name="connsiteX79" fmla="*/ 9047908 w 12192000"/>
              <a:gd name="connsiteY79" fmla="*/ 788104 h 2515690"/>
              <a:gd name="connsiteX80" fmla="*/ 9163628 w 12192000"/>
              <a:gd name="connsiteY80" fmla="*/ 773163 h 2515690"/>
              <a:gd name="connsiteX81" fmla="*/ 9754459 w 12192000"/>
              <a:gd name="connsiteY81" fmla="*/ 610207 h 2515690"/>
              <a:gd name="connsiteX82" fmla="*/ 9838868 w 12192000"/>
              <a:gd name="connsiteY82" fmla="*/ 799511 h 2515690"/>
              <a:gd name="connsiteX83" fmla="*/ 10085808 w 12192000"/>
              <a:gd name="connsiteY83" fmla="*/ 816231 h 2515690"/>
              <a:gd name="connsiteX84" fmla="*/ 10334338 w 12192000"/>
              <a:gd name="connsiteY84" fmla="*/ 917517 h 2515690"/>
              <a:gd name="connsiteX85" fmla="*/ 10516076 w 12192000"/>
              <a:gd name="connsiteY85" fmla="*/ 1018726 h 2515690"/>
              <a:gd name="connsiteX86" fmla="*/ 10535302 w 12192000"/>
              <a:gd name="connsiteY86" fmla="*/ 1023522 h 2515690"/>
              <a:gd name="connsiteX87" fmla="*/ 10542819 w 12192000"/>
              <a:gd name="connsiteY87" fmla="*/ 1023458 h 2515690"/>
              <a:gd name="connsiteX88" fmla="*/ 10623994 w 12192000"/>
              <a:gd name="connsiteY88" fmla="*/ 1041996 h 2515690"/>
              <a:gd name="connsiteX89" fmla="*/ 10629774 w 12192000"/>
              <a:gd name="connsiteY89" fmla="*/ 1044511 h 2515690"/>
              <a:gd name="connsiteX90" fmla="*/ 10727305 w 12192000"/>
              <a:gd name="connsiteY90" fmla="*/ 1063419 h 2515690"/>
              <a:gd name="connsiteX91" fmla="*/ 10761785 w 12192000"/>
              <a:gd name="connsiteY91" fmla="*/ 1068017 h 2515690"/>
              <a:gd name="connsiteX92" fmla="*/ 10775688 w 12192000"/>
              <a:gd name="connsiteY92" fmla="*/ 1065268 h 2515690"/>
              <a:gd name="connsiteX93" fmla="*/ 10821837 w 12192000"/>
              <a:gd name="connsiteY93" fmla="*/ 1042232 h 2515690"/>
              <a:gd name="connsiteX94" fmla="*/ 11122438 w 12192000"/>
              <a:gd name="connsiteY94" fmla="*/ 1004583 h 2515690"/>
              <a:gd name="connsiteX95" fmla="*/ 11171433 w 12192000"/>
              <a:gd name="connsiteY95" fmla="*/ 1040550 h 2515690"/>
              <a:gd name="connsiteX96" fmla="*/ 11183724 w 12192000"/>
              <a:gd name="connsiteY96" fmla="*/ 1045316 h 2515690"/>
              <a:gd name="connsiteX97" fmla="*/ 11199690 w 12192000"/>
              <a:gd name="connsiteY97" fmla="*/ 1048085 h 2515690"/>
              <a:gd name="connsiteX98" fmla="*/ 11232475 w 12192000"/>
              <a:gd name="connsiteY98" fmla="*/ 1049340 h 2515690"/>
              <a:gd name="connsiteX99" fmla="*/ 11302451 w 12192000"/>
              <a:gd name="connsiteY99" fmla="*/ 949091 h 2515690"/>
              <a:gd name="connsiteX100" fmla="*/ 11484849 w 12192000"/>
              <a:gd name="connsiteY100" fmla="*/ 1057667 h 2515690"/>
              <a:gd name="connsiteX101" fmla="*/ 11512818 w 12192000"/>
              <a:gd name="connsiteY101" fmla="*/ 1048926 h 2515690"/>
              <a:gd name="connsiteX102" fmla="*/ 11642481 w 12192000"/>
              <a:gd name="connsiteY102" fmla="*/ 1029355 h 2515690"/>
              <a:gd name="connsiteX103" fmla="*/ 11714551 w 12192000"/>
              <a:gd name="connsiteY103" fmla="*/ 1020966 h 2515690"/>
              <a:gd name="connsiteX104" fmla="*/ 11714551 w 12192000"/>
              <a:gd name="connsiteY104" fmla="*/ 1022389 h 2515690"/>
              <a:gd name="connsiteX105" fmla="*/ 11728519 w 12192000"/>
              <a:gd name="connsiteY105" fmla="*/ 1020975 h 2515690"/>
              <a:gd name="connsiteX106" fmla="*/ 11741691 w 12192000"/>
              <a:gd name="connsiteY106" fmla="*/ 1019651 h 2515690"/>
              <a:gd name="connsiteX107" fmla="*/ 11743999 w 12192000"/>
              <a:gd name="connsiteY107" fmla="*/ 1019424 h 2515690"/>
              <a:gd name="connsiteX108" fmla="*/ 11742709 w 12192000"/>
              <a:gd name="connsiteY108" fmla="*/ 1019549 h 2515690"/>
              <a:gd name="connsiteX109" fmla="*/ 11741691 w 12192000"/>
              <a:gd name="connsiteY109" fmla="*/ 1019651 h 2515690"/>
              <a:gd name="connsiteX110" fmla="*/ 11738529 w 12192000"/>
              <a:gd name="connsiteY110" fmla="*/ 1019963 h 2515690"/>
              <a:gd name="connsiteX111" fmla="*/ 11771791 w 12192000"/>
              <a:gd name="connsiteY111" fmla="*/ 1015977 h 2515690"/>
              <a:gd name="connsiteX112" fmla="*/ 11834157 w 12192000"/>
              <a:gd name="connsiteY112" fmla="*/ 1009499 h 2515690"/>
              <a:gd name="connsiteX113" fmla="*/ 11843354 w 12192000"/>
              <a:gd name="connsiteY113" fmla="*/ 1008273 h 2515690"/>
              <a:gd name="connsiteX114" fmla="*/ 11843354 w 12192000"/>
              <a:gd name="connsiteY114" fmla="*/ 1000151 h 2515690"/>
              <a:gd name="connsiteX115" fmla="*/ 11893955 w 12192000"/>
              <a:gd name="connsiteY115" fmla="*/ 983740 h 2515690"/>
              <a:gd name="connsiteX116" fmla="*/ 11974160 w 12192000"/>
              <a:gd name="connsiteY116" fmla="*/ 920897 h 2515690"/>
              <a:gd name="connsiteX117" fmla="*/ 12143531 w 12192000"/>
              <a:gd name="connsiteY117" fmla="*/ 823664 h 2515690"/>
              <a:gd name="connsiteX118" fmla="*/ 12192000 w 12192000"/>
              <a:gd name="connsiteY118" fmla="*/ 801163 h 2515690"/>
              <a:gd name="connsiteX119" fmla="*/ 12192000 w 12192000"/>
              <a:gd name="connsiteY119" fmla="*/ 2515690 h 2515690"/>
              <a:gd name="connsiteX120" fmla="*/ 0 w 12192000"/>
              <a:gd name="connsiteY120" fmla="*/ 2515690 h 2515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2192000" h="2515690">
                <a:moveTo>
                  <a:pt x="0" y="0"/>
                </a:moveTo>
                <a:lnTo>
                  <a:pt x="170442" y="96074"/>
                </a:lnTo>
                <a:cubicBezTo>
                  <a:pt x="323315" y="179510"/>
                  <a:pt x="418777" y="223899"/>
                  <a:pt x="424739" y="224865"/>
                </a:cubicBezTo>
                <a:cubicBezTo>
                  <a:pt x="573781" y="248496"/>
                  <a:pt x="654649" y="314572"/>
                  <a:pt x="748273" y="373939"/>
                </a:cubicBezTo>
                <a:cubicBezTo>
                  <a:pt x="830321" y="425631"/>
                  <a:pt x="917271" y="480784"/>
                  <a:pt x="1037058" y="499994"/>
                </a:cubicBezTo>
                <a:cubicBezTo>
                  <a:pt x="1195925" y="525362"/>
                  <a:pt x="1048105" y="445478"/>
                  <a:pt x="1101312" y="428540"/>
                </a:cubicBezTo>
                <a:cubicBezTo>
                  <a:pt x="1188473" y="458169"/>
                  <a:pt x="1274625" y="505369"/>
                  <a:pt x="1367071" y="516118"/>
                </a:cubicBezTo>
                <a:cubicBezTo>
                  <a:pt x="1701323" y="554463"/>
                  <a:pt x="1964451" y="648887"/>
                  <a:pt x="2189943" y="794533"/>
                </a:cubicBezTo>
                <a:cubicBezTo>
                  <a:pt x="2255082" y="836300"/>
                  <a:pt x="2357481" y="862342"/>
                  <a:pt x="2390329" y="920897"/>
                </a:cubicBezTo>
                <a:cubicBezTo>
                  <a:pt x="2406050" y="949359"/>
                  <a:pt x="2430126" y="969285"/>
                  <a:pt x="2459570" y="983740"/>
                </a:cubicBezTo>
                <a:lnTo>
                  <a:pt x="2503252" y="1000151"/>
                </a:lnTo>
                <a:lnTo>
                  <a:pt x="2503252" y="1008273"/>
                </a:lnTo>
                <a:lnTo>
                  <a:pt x="2511191" y="1009499"/>
                </a:lnTo>
                <a:cubicBezTo>
                  <a:pt x="2529847" y="1011974"/>
                  <a:pt x="2562849" y="1015701"/>
                  <a:pt x="2565029" y="1015977"/>
                </a:cubicBezTo>
                <a:cubicBezTo>
                  <a:pt x="2610845" y="1021778"/>
                  <a:pt x="2601577" y="1020837"/>
                  <a:pt x="2593745" y="1019963"/>
                </a:cubicBezTo>
                <a:lnTo>
                  <a:pt x="2591015" y="1019651"/>
                </a:lnTo>
                <a:lnTo>
                  <a:pt x="2590137" y="1019549"/>
                </a:lnTo>
                <a:cubicBezTo>
                  <a:pt x="2588203" y="1019326"/>
                  <a:pt x="2588125" y="1019321"/>
                  <a:pt x="2589021" y="1019424"/>
                </a:cubicBezTo>
                <a:lnTo>
                  <a:pt x="2591015" y="1019651"/>
                </a:lnTo>
                <a:lnTo>
                  <a:pt x="2602385" y="1020975"/>
                </a:lnTo>
                <a:lnTo>
                  <a:pt x="2614445" y="1022389"/>
                </a:lnTo>
                <a:lnTo>
                  <a:pt x="2614445" y="1020966"/>
                </a:lnTo>
                <a:lnTo>
                  <a:pt x="2676661" y="1029355"/>
                </a:lnTo>
                <a:cubicBezTo>
                  <a:pt x="2715592" y="1034194"/>
                  <a:pt x="2753901" y="1039695"/>
                  <a:pt x="2788597" y="1048926"/>
                </a:cubicBezTo>
                <a:lnTo>
                  <a:pt x="2812742" y="1057667"/>
                </a:lnTo>
                <a:lnTo>
                  <a:pt x="2970201" y="949091"/>
                </a:lnTo>
                <a:cubicBezTo>
                  <a:pt x="3052785" y="982961"/>
                  <a:pt x="2996105" y="1020057"/>
                  <a:pt x="3030610" y="1049340"/>
                </a:cubicBezTo>
                <a:cubicBezTo>
                  <a:pt x="3039005" y="1048442"/>
                  <a:pt x="3049621" y="1048500"/>
                  <a:pt x="3058913" y="1048085"/>
                </a:cubicBezTo>
                <a:lnTo>
                  <a:pt x="3072697" y="1045316"/>
                </a:lnTo>
                <a:lnTo>
                  <a:pt x="3083305" y="1040550"/>
                </a:lnTo>
                <a:lnTo>
                  <a:pt x="3125603" y="1004583"/>
                </a:lnTo>
                <a:cubicBezTo>
                  <a:pt x="3221669" y="925596"/>
                  <a:pt x="3242489" y="937564"/>
                  <a:pt x="3385106" y="1042233"/>
                </a:cubicBezTo>
                <a:cubicBezTo>
                  <a:pt x="3399403" y="1052670"/>
                  <a:pt x="3412529" y="1060209"/>
                  <a:pt x="3424945" y="1065268"/>
                </a:cubicBezTo>
                <a:lnTo>
                  <a:pt x="3436948" y="1068018"/>
                </a:lnTo>
                <a:lnTo>
                  <a:pt x="3466714" y="1063419"/>
                </a:lnTo>
                <a:lnTo>
                  <a:pt x="3550909" y="1044511"/>
                </a:lnTo>
                <a:lnTo>
                  <a:pt x="3555900" y="1041996"/>
                </a:lnTo>
                <a:cubicBezTo>
                  <a:pt x="3573827" y="1033454"/>
                  <a:pt x="3594382" y="1025941"/>
                  <a:pt x="3625978" y="1023459"/>
                </a:cubicBezTo>
                <a:lnTo>
                  <a:pt x="3632465" y="1023522"/>
                </a:lnTo>
                <a:lnTo>
                  <a:pt x="3649063" y="1018726"/>
                </a:lnTo>
                <a:cubicBezTo>
                  <a:pt x="3741849" y="989371"/>
                  <a:pt x="3810578" y="953657"/>
                  <a:pt x="3805954" y="917517"/>
                </a:cubicBezTo>
                <a:cubicBezTo>
                  <a:pt x="4031729" y="953901"/>
                  <a:pt x="4031729" y="953901"/>
                  <a:pt x="4020506" y="816231"/>
                </a:cubicBezTo>
                <a:cubicBezTo>
                  <a:pt x="4171643" y="865324"/>
                  <a:pt x="4206308" y="864422"/>
                  <a:pt x="4233682" y="799511"/>
                </a:cubicBezTo>
                <a:cubicBezTo>
                  <a:pt x="4260226" y="737017"/>
                  <a:pt x="4254728" y="668575"/>
                  <a:pt x="4306552" y="610207"/>
                </a:cubicBezTo>
                <a:cubicBezTo>
                  <a:pt x="4495313" y="657923"/>
                  <a:pt x="4699922" y="667347"/>
                  <a:pt x="4816604" y="773163"/>
                </a:cubicBezTo>
                <a:cubicBezTo>
                  <a:pt x="4834734" y="789836"/>
                  <a:pt x="4890507" y="799946"/>
                  <a:pt x="4916502" y="788104"/>
                </a:cubicBezTo>
                <a:cubicBezTo>
                  <a:pt x="5013526" y="746101"/>
                  <a:pt x="5238129" y="796871"/>
                  <a:pt x="5224415" y="674418"/>
                </a:cubicBezTo>
                <a:cubicBezTo>
                  <a:pt x="5223051" y="659300"/>
                  <a:pt x="5240524" y="644890"/>
                  <a:pt x="5274077" y="655978"/>
                </a:cubicBezTo>
                <a:cubicBezTo>
                  <a:pt x="5388582" y="694066"/>
                  <a:pt x="5367022" y="644784"/>
                  <a:pt x="5371217" y="614372"/>
                </a:cubicBezTo>
                <a:cubicBezTo>
                  <a:pt x="5375856" y="577567"/>
                  <a:pt x="5319010" y="537578"/>
                  <a:pt x="5364523" y="502501"/>
                </a:cubicBezTo>
                <a:cubicBezTo>
                  <a:pt x="5425408" y="508891"/>
                  <a:pt x="5433299" y="538191"/>
                  <a:pt x="5457871" y="558285"/>
                </a:cubicBezTo>
                <a:cubicBezTo>
                  <a:pt x="5530352" y="617005"/>
                  <a:pt x="5609566" y="664386"/>
                  <a:pt x="5750580" y="663503"/>
                </a:cubicBezTo>
                <a:cubicBezTo>
                  <a:pt x="5864519" y="662926"/>
                  <a:pt x="5966527" y="666650"/>
                  <a:pt x="5976618" y="582652"/>
                </a:cubicBezTo>
                <a:cubicBezTo>
                  <a:pt x="5978145" y="569455"/>
                  <a:pt x="5990792" y="562346"/>
                  <a:pt x="6009346" y="559470"/>
                </a:cubicBezTo>
                <a:cubicBezTo>
                  <a:pt x="6030639" y="568485"/>
                  <a:pt x="6052592" y="577083"/>
                  <a:pt x="6069735" y="587803"/>
                </a:cubicBezTo>
                <a:cubicBezTo>
                  <a:pt x="6126182" y="623812"/>
                  <a:pt x="6196945" y="634730"/>
                  <a:pt x="6270319" y="643982"/>
                </a:cubicBezTo>
                <a:cubicBezTo>
                  <a:pt x="6317101" y="649940"/>
                  <a:pt x="6363466" y="657107"/>
                  <a:pt x="6406781" y="672327"/>
                </a:cubicBezTo>
                <a:cubicBezTo>
                  <a:pt x="6433586" y="681598"/>
                  <a:pt x="6454928" y="693402"/>
                  <a:pt x="6469508" y="708574"/>
                </a:cubicBezTo>
                <a:cubicBezTo>
                  <a:pt x="6482729" y="721786"/>
                  <a:pt x="6496225" y="725422"/>
                  <a:pt x="6515869" y="715738"/>
                </a:cubicBezTo>
                <a:cubicBezTo>
                  <a:pt x="6572200" y="688353"/>
                  <a:pt x="6639257" y="676241"/>
                  <a:pt x="6725938" y="691128"/>
                </a:cubicBezTo>
                <a:cubicBezTo>
                  <a:pt x="6752109" y="695629"/>
                  <a:pt x="6772625" y="691505"/>
                  <a:pt x="6778240" y="678998"/>
                </a:cubicBezTo>
                <a:cubicBezTo>
                  <a:pt x="6784286" y="665981"/>
                  <a:pt x="6794269" y="655280"/>
                  <a:pt x="6806944" y="646178"/>
                </a:cubicBezTo>
                <a:lnTo>
                  <a:pt x="6830632" y="633915"/>
                </a:lnTo>
                <a:lnTo>
                  <a:pt x="6858072" y="646178"/>
                </a:lnTo>
                <a:cubicBezTo>
                  <a:pt x="6872754" y="655280"/>
                  <a:pt x="6884317" y="665981"/>
                  <a:pt x="6891322" y="678998"/>
                </a:cubicBezTo>
                <a:cubicBezTo>
                  <a:pt x="6897826" y="691505"/>
                  <a:pt x="6921592" y="695629"/>
                  <a:pt x="6951905" y="691128"/>
                </a:cubicBezTo>
                <a:cubicBezTo>
                  <a:pt x="7052317" y="676241"/>
                  <a:pt x="7129994" y="688353"/>
                  <a:pt x="7195246" y="715738"/>
                </a:cubicBezTo>
                <a:cubicBezTo>
                  <a:pt x="7217999" y="725422"/>
                  <a:pt x="7233634" y="721786"/>
                  <a:pt x="7248949" y="708574"/>
                </a:cubicBezTo>
                <a:cubicBezTo>
                  <a:pt x="7265838" y="693402"/>
                  <a:pt x="7290560" y="681598"/>
                  <a:pt x="7321609" y="672327"/>
                </a:cubicBezTo>
                <a:cubicBezTo>
                  <a:pt x="7371785" y="657107"/>
                  <a:pt x="7425493" y="649940"/>
                  <a:pt x="7479684" y="643982"/>
                </a:cubicBezTo>
                <a:cubicBezTo>
                  <a:pt x="7564679" y="634730"/>
                  <a:pt x="7646649" y="623812"/>
                  <a:pt x="7712035" y="587803"/>
                </a:cubicBezTo>
                <a:cubicBezTo>
                  <a:pt x="7731892" y="577083"/>
                  <a:pt x="7757322" y="568485"/>
                  <a:pt x="7781987" y="559470"/>
                </a:cubicBezTo>
                <a:cubicBezTo>
                  <a:pt x="7803481" y="562346"/>
                  <a:pt x="7818130" y="569455"/>
                  <a:pt x="7819900" y="582652"/>
                </a:cubicBezTo>
                <a:cubicBezTo>
                  <a:pt x="7831588" y="666650"/>
                  <a:pt x="7949751" y="662926"/>
                  <a:pt x="8081736" y="663503"/>
                </a:cubicBezTo>
                <a:cubicBezTo>
                  <a:pt x="8245081" y="664386"/>
                  <a:pt x="8336842" y="617005"/>
                  <a:pt x="8420801" y="558285"/>
                </a:cubicBezTo>
                <a:cubicBezTo>
                  <a:pt x="8449265" y="538191"/>
                  <a:pt x="8458404" y="508890"/>
                  <a:pt x="8528933" y="502501"/>
                </a:cubicBezTo>
                <a:cubicBezTo>
                  <a:pt x="8581654" y="537578"/>
                  <a:pt x="8515805" y="577567"/>
                  <a:pt x="8521178" y="614372"/>
                </a:cubicBezTo>
                <a:cubicBezTo>
                  <a:pt x="8526038" y="644784"/>
                  <a:pt x="8501063" y="694066"/>
                  <a:pt x="8633702" y="655978"/>
                </a:cubicBezTo>
                <a:cubicBezTo>
                  <a:pt x="8672570" y="644890"/>
                  <a:pt x="8692811" y="659300"/>
                  <a:pt x="8691231" y="674418"/>
                </a:cubicBezTo>
                <a:cubicBezTo>
                  <a:pt x="8675345" y="796871"/>
                  <a:pt x="8935518" y="746101"/>
                  <a:pt x="9047908" y="788104"/>
                </a:cubicBezTo>
                <a:cubicBezTo>
                  <a:pt x="9078021" y="799946"/>
                  <a:pt x="9142627" y="789836"/>
                  <a:pt x="9163628" y="773163"/>
                </a:cubicBezTo>
                <a:cubicBezTo>
                  <a:pt x="9298789" y="667347"/>
                  <a:pt x="9535801" y="657923"/>
                  <a:pt x="9754459" y="610207"/>
                </a:cubicBezTo>
                <a:cubicBezTo>
                  <a:pt x="9814490" y="668575"/>
                  <a:pt x="9808123" y="737017"/>
                  <a:pt x="9838868" y="799511"/>
                </a:cubicBezTo>
                <a:cubicBezTo>
                  <a:pt x="9870579" y="864422"/>
                  <a:pt x="9910733" y="865324"/>
                  <a:pt x="10085808" y="816231"/>
                </a:cubicBezTo>
                <a:cubicBezTo>
                  <a:pt x="10072804" y="953901"/>
                  <a:pt x="10072804" y="953901"/>
                  <a:pt x="10334338" y="917517"/>
                </a:cubicBezTo>
                <a:cubicBezTo>
                  <a:pt x="10328982" y="953657"/>
                  <a:pt x="10408594" y="989371"/>
                  <a:pt x="10516076" y="1018726"/>
                </a:cubicBezTo>
                <a:lnTo>
                  <a:pt x="10535302" y="1023522"/>
                </a:lnTo>
                <a:lnTo>
                  <a:pt x="10542819" y="1023458"/>
                </a:lnTo>
                <a:cubicBezTo>
                  <a:pt x="10579419" y="1025941"/>
                  <a:pt x="10603227" y="1033454"/>
                  <a:pt x="10623994" y="1041996"/>
                </a:cubicBezTo>
                <a:lnTo>
                  <a:pt x="10629774" y="1044511"/>
                </a:lnTo>
                <a:lnTo>
                  <a:pt x="10727305" y="1063419"/>
                </a:lnTo>
                <a:lnTo>
                  <a:pt x="10761785" y="1068017"/>
                </a:lnTo>
                <a:lnTo>
                  <a:pt x="10775688" y="1065268"/>
                </a:lnTo>
                <a:cubicBezTo>
                  <a:pt x="10790070" y="1060209"/>
                  <a:pt x="10805275" y="1052670"/>
                  <a:pt x="10821837" y="1042232"/>
                </a:cubicBezTo>
                <a:cubicBezTo>
                  <a:pt x="10987041" y="937564"/>
                  <a:pt x="11011156" y="925596"/>
                  <a:pt x="11122438" y="1004583"/>
                </a:cubicBezTo>
                <a:lnTo>
                  <a:pt x="11171433" y="1040550"/>
                </a:lnTo>
                <a:lnTo>
                  <a:pt x="11183724" y="1045316"/>
                </a:lnTo>
                <a:lnTo>
                  <a:pt x="11199690" y="1048085"/>
                </a:lnTo>
                <a:cubicBezTo>
                  <a:pt x="11210452" y="1048499"/>
                  <a:pt x="11222752" y="1048442"/>
                  <a:pt x="11232475" y="1049340"/>
                </a:cubicBezTo>
                <a:cubicBezTo>
                  <a:pt x="11272445" y="1020057"/>
                  <a:pt x="11206789" y="982961"/>
                  <a:pt x="11302451" y="949091"/>
                </a:cubicBezTo>
                <a:lnTo>
                  <a:pt x="11484849" y="1057667"/>
                </a:lnTo>
                <a:lnTo>
                  <a:pt x="11512818" y="1048926"/>
                </a:lnTo>
                <a:cubicBezTo>
                  <a:pt x="11553007" y="1039695"/>
                  <a:pt x="11597385" y="1034194"/>
                  <a:pt x="11642481" y="1029355"/>
                </a:cubicBezTo>
                <a:lnTo>
                  <a:pt x="11714551" y="1020966"/>
                </a:lnTo>
                <a:lnTo>
                  <a:pt x="11714551" y="1022389"/>
                </a:lnTo>
                <a:lnTo>
                  <a:pt x="11728519" y="1020975"/>
                </a:lnTo>
                <a:lnTo>
                  <a:pt x="11741691" y="1019651"/>
                </a:lnTo>
                <a:lnTo>
                  <a:pt x="11743999" y="1019424"/>
                </a:lnTo>
                <a:cubicBezTo>
                  <a:pt x="11745037" y="1019320"/>
                  <a:pt x="11744948" y="1019326"/>
                  <a:pt x="11742709" y="1019549"/>
                </a:cubicBezTo>
                <a:lnTo>
                  <a:pt x="11741691" y="1019651"/>
                </a:lnTo>
                <a:lnTo>
                  <a:pt x="11738529" y="1019963"/>
                </a:lnTo>
                <a:cubicBezTo>
                  <a:pt x="11729455" y="1020837"/>
                  <a:pt x="11718720" y="1021778"/>
                  <a:pt x="11771791" y="1015977"/>
                </a:cubicBezTo>
                <a:cubicBezTo>
                  <a:pt x="11774317" y="1015701"/>
                  <a:pt x="11812546" y="1011974"/>
                  <a:pt x="11834157" y="1009499"/>
                </a:cubicBezTo>
                <a:lnTo>
                  <a:pt x="11843354" y="1008273"/>
                </a:lnTo>
                <a:lnTo>
                  <a:pt x="11843354" y="1000151"/>
                </a:lnTo>
                <a:lnTo>
                  <a:pt x="11893955" y="983740"/>
                </a:lnTo>
                <a:cubicBezTo>
                  <a:pt x="11928061" y="969285"/>
                  <a:pt x="11955951" y="949359"/>
                  <a:pt x="11974160" y="920897"/>
                </a:cubicBezTo>
                <a:cubicBezTo>
                  <a:pt x="12002698" y="876981"/>
                  <a:pt x="12076554" y="851353"/>
                  <a:pt x="12143531" y="823664"/>
                </a:cubicBezTo>
                <a:lnTo>
                  <a:pt x="12192000" y="801163"/>
                </a:lnTo>
                <a:lnTo>
                  <a:pt x="12192000" y="2515690"/>
                </a:lnTo>
                <a:lnTo>
                  <a:pt x="0" y="251569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8" name="Title 7">
            <a:extLst>
              <a:ext uri="{FF2B5EF4-FFF2-40B4-BE49-F238E27FC236}">
                <a16:creationId xmlns:a16="http://schemas.microsoft.com/office/drawing/2014/main" xmlns="" id="{A40EF3DE-4424-095C-E3B1-669AE4AFA002}"/>
              </a:ext>
            </a:extLst>
          </p:cNvPr>
          <p:cNvSpPr>
            <a:spLocks noGrp="1"/>
          </p:cNvSpPr>
          <p:nvPr>
            <p:ph type="title"/>
          </p:nvPr>
        </p:nvSpPr>
        <p:spPr>
          <a:xfrm>
            <a:off x="838200" y="365125"/>
            <a:ext cx="10515600" cy="930275"/>
          </a:xfrm>
        </p:spPr>
        <p:txBody>
          <a:bodyPr>
            <a:normAutofit/>
          </a:bodyPr>
          <a:lstStyle/>
          <a:p>
            <a:r>
              <a:rPr lang="en-GB"/>
              <a:t>Warm up – Read the article</a:t>
            </a:r>
            <a:endParaRPr lang="es-ES" dirty="0"/>
          </a:p>
        </p:txBody>
      </p:sp>
      <p:pic>
        <p:nvPicPr>
          <p:cNvPr id="10" name="Picture 9">
            <a:extLst>
              <a:ext uri="{FF2B5EF4-FFF2-40B4-BE49-F238E27FC236}">
                <a16:creationId xmlns:a16="http://schemas.microsoft.com/office/drawing/2014/main" xmlns="" id="{9CC92CBB-D957-7FA2-0CCD-7E7CA13DE9D3}"/>
              </a:ext>
            </a:extLst>
          </p:cNvPr>
          <p:cNvPicPr>
            <a:picLocks noChangeAspect="1"/>
          </p:cNvPicPr>
          <p:nvPr/>
        </p:nvPicPr>
        <p:blipFill>
          <a:blip r:embed="rId2"/>
          <a:stretch>
            <a:fillRect/>
          </a:stretch>
        </p:blipFill>
        <p:spPr>
          <a:xfrm>
            <a:off x="1503106" y="2011363"/>
            <a:ext cx="9112468" cy="1633960"/>
          </a:xfrm>
          <a:prstGeom prst="rect">
            <a:avLst/>
          </a:prstGeom>
        </p:spPr>
      </p:pic>
      <p:sp>
        <p:nvSpPr>
          <p:cNvPr id="11" name="TextBox 10">
            <a:extLst>
              <a:ext uri="{FF2B5EF4-FFF2-40B4-BE49-F238E27FC236}">
                <a16:creationId xmlns:a16="http://schemas.microsoft.com/office/drawing/2014/main" xmlns="" id="{3503B725-8163-4538-4320-18BD75B87C0A}"/>
              </a:ext>
            </a:extLst>
          </p:cNvPr>
          <p:cNvSpPr txBox="1"/>
          <p:nvPr/>
        </p:nvSpPr>
        <p:spPr>
          <a:xfrm>
            <a:off x="2249386" y="3949072"/>
            <a:ext cx="8366189" cy="1889620"/>
          </a:xfrm>
          <a:prstGeom prst="rect">
            <a:avLst/>
          </a:prstGeom>
          <a:noFill/>
        </p:spPr>
        <p:txBody>
          <a:bodyPr wrap="square" rtlCol="0">
            <a:spAutoFit/>
          </a:bodyPr>
          <a:lstStyle/>
          <a:p>
            <a:pPr defTabSz="749808" fontAlgn="base">
              <a:spcAft>
                <a:spcPts val="600"/>
              </a:spcAft>
            </a:pPr>
            <a:r>
              <a:rPr lang="en-GB" sz="1476" kern="1200">
                <a:solidFill>
                  <a:srgbClr val="222222"/>
                </a:solidFill>
                <a:latin typeface="+mn-lt"/>
                <a:ea typeface="+mn-ea"/>
                <a:cs typeface="+mn-cs"/>
              </a:rPr>
              <a:t>You probably heard the news that it snowed in Las Vegas.</a:t>
            </a:r>
          </a:p>
          <a:p>
            <a:pPr defTabSz="749808" fontAlgn="base">
              <a:spcAft>
                <a:spcPts val="600"/>
              </a:spcAft>
            </a:pPr>
            <a:r>
              <a:rPr lang="en-GB" sz="1476" kern="1200">
                <a:solidFill>
                  <a:srgbClr val="222222"/>
                </a:solidFill>
                <a:latin typeface="+mn-lt"/>
                <a:ea typeface="+mn-ea"/>
                <a:cs typeface="+mn-cs"/>
              </a:rPr>
              <a:t>Yep, Sin City becoming slush city.</a:t>
            </a:r>
          </a:p>
          <a:p>
            <a:pPr defTabSz="749808" fontAlgn="base">
              <a:spcAft>
                <a:spcPts val="600"/>
              </a:spcAft>
            </a:pPr>
            <a:r>
              <a:rPr lang="en-GB" sz="1476" kern="1200">
                <a:solidFill>
                  <a:srgbClr val="222222"/>
                </a:solidFill>
                <a:latin typeface="+mn-lt"/>
                <a:ea typeface="+mn-ea"/>
                <a:cs typeface="+mn-cs"/>
              </a:rPr>
              <a:t>Hell truly has frozen over.</a:t>
            </a:r>
          </a:p>
          <a:p>
            <a:pPr defTabSz="749808" fontAlgn="base">
              <a:spcAft>
                <a:spcPts val="600"/>
              </a:spcAft>
            </a:pPr>
            <a:r>
              <a:rPr lang="en-GB" sz="1476" kern="1200">
                <a:solidFill>
                  <a:srgbClr val="222222"/>
                </a:solidFill>
                <a:latin typeface="+mn-lt"/>
                <a:ea typeface="+mn-ea"/>
                <a:cs typeface="+mn-cs"/>
              </a:rPr>
              <a:t>Weird thing is, what's happening in Vegas isn't staying in Vegas.</a:t>
            </a:r>
          </a:p>
          <a:p>
            <a:pPr defTabSz="749808" fontAlgn="base">
              <a:spcAft>
                <a:spcPts val="600"/>
              </a:spcAft>
            </a:pPr>
            <a:r>
              <a:rPr lang="en-GB" sz="1476" kern="1200">
                <a:solidFill>
                  <a:srgbClr val="222222"/>
                </a:solidFill>
                <a:latin typeface="+mn-lt"/>
                <a:ea typeface="+mn-ea"/>
                <a:cs typeface="+mn-cs"/>
              </a:rPr>
              <a:t>Cold weather and nasty storms already the norm. And it isn't technically even winter yet.</a:t>
            </a:r>
          </a:p>
          <a:p>
            <a:pPr>
              <a:spcAft>
                <a:spcPts val="600"/>
              </a:spcAft>
            </a:pPr>
            <a:endParaRPr lang="es-ES"/>
          </a:p>
        </p:txBody>
      </p:sp>
      <p:sp>
        <p:nvSpPr>
          <p:cNvPr id="13" name="TextBox 12">
            <a:extLst>
              <a:ext uri="{FF2B5EF4-FFF2-40B4-BE49-F238E27FC236}">
                <a16:creationId xmlns:a16="http://schemas.microsoft.com/office/drawing/2014/main" xmlns="" id="{DD5464D9-5E85-F1D3-42A8-79E799492B27}"/>
              </a:ext>
            </a:extLst>
          </p:cNvPr>
          <p:cNvSpPr txBox="1"/>
          <p:nvPr/>
        </p:nvSpPr>
        <p:spPr>
          <a:xfrm>
            <a:off x="5661324" y="5639150"/>
            <a:ext cx="5027569" cy="546560"/>
          </a:xfrm>
          <a:prstGeom prst="rect">
            <a:avLst/>
          </a:prstGeom>
          <a:noFill/>
        </p:spPr>
        <p:txBody>
          <a:bodyPr wrap="square">
            <a:spAutoFit/>
          </a:bodyPr>
          <a:lstStyle/>
          <a:p>
            <a:pPr defTabSz="749808">
              <a:spcAft>
                <a:spcPts val="600"/>
              </a:spcAft>
            </a:pPr>
            <a:r>
              <a:rPr lang="es-ES" sz="1476" kern="1200" dirty="0">
                <a:solidFill>
                  <a:schemeClr val="tx1"/>
                </a:solidFill>
                <a:latin typeface="+mn-lt"/>
                <a:ea typeface="+mn-ea"/>
                <a:cs typeface="+mn-cs"/>
              </a:rPr>
              <a:t>https://www.foxnews.com/story/the-cause-of-cold-weather-is-global-warming</a:t>
            </a:r>
            <a:endParaRPr lang="es-ES" dirty="0"/>
          </a:p>
        </p:txBody>
      </p:sp>
      <p:pic>
        <p:nvPicPr>
          <p:cNvPr id="1026" name="Picture 2" descr="Neil Cavuto">
            <a:extLst>
              <a:ext uri="{FF2B5EF4-FFF2-40B4-BE49-F238E27FC236}">
                <a16:creationId xmlns:a16="http://schemas.microsoft.com/office/drawing/2014/main" xmlns="" id="{4246F1B3-5FCE-FE9C-2B2D-ADA6FA75472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69558" y="3209119"/>
            <a:ext cx="1599473" cy="15994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40245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F8C774A-3101-5CEB-2FF0-2DDE2F17060D}"/>
              </a:ext>
            </a:extLst>
          </p:cNvPr>
          <p:cNvSpPr>
            <a:spLocks noGrp="1"/>
          </p:cNvSpPr>
          <p:nvPr>
            <p:ph idx="1"/>
          </p:nvPr>
        </p:nvSpPr>
        <p:spPr>
          <a:xfrm>
            <a:off x="838200" y="609600"/>
            <a:ext cx="10515600" cy="5567363"/>
          </a:xfrm>
        </p:spPr>
        <p:txBody>
          <a:bodyPr>
            <a:normAutofit fontScale="92500" lnSpcReduction="10000"/>
          </a:bodyPr>
          <a:lstStyle/>
          <a:p>
            <a:pPr marL="0" indent="0">
              <a:buNone/>
            </a:pPr>
            <a:r>
              <a:rPr lang="en-GB" dirty="0"/>
              <a:t>First time southern Nevada's seen anything like this in 30 years.</a:t>
            </a:r>
          </a:p>
          <a:p>
            <a:pPr marL="0" indent="0">
              <a:buNone/>
            </a:pPr>
            <a:r>
              <a:rPr lang="en-GB" dirty="0"/>
              <a:t>First time southern California's been looking at 30 degrees this early in 20 years.</a:t>
            </a:r>
          </a:p>
          <a:p>
            <a:pPr marL="0" indent="0">
              <a:buNone/>
            </a:pPr>
            <a:r>
              <a:rPr lang="en-GB" dirty="0"/>
              <a:t>So I'm looking at all this wacky weather and asking a buddy of mine who's an environmentalist — you see, I live fair and balanced.</a:t>
            </a:r>
          </a:p>
          <a:p>
            <a:pPr marL="0" indent="0">
              <a:buNone/>
            </a:pPr>
            <a:r>
              <a:rPr lang="en-GB" dirty="0"/>
              <a:t>I ask him, "What's going on here? I thought you said I could throw out my parka for a thong?"</a:t>
            </a:r>
          </a:p>
          <a:p>
            <a:pPr marL="0" indent="0">
              <a:buNone/>
            </a:pPr>
            <a:r>
              <a:rPr lang="en-GB" dirty="0"/>
              <a:t>The image immediately caused him to recoil.</a:t>
            </a:r>
          </a:p>
          <a:p>
            <a:pPr marL="0" indent="0">
              <a:buNone/>
            </a:pPr>
            <a:r>
              <a:rPr lang="en-GB" dirty="0"/>
              <a:t>But he collected himself, then reminded me, "Neil, this is global warming."</a:t>
            </a:r>
          </a:p>
          <a:p>
            <a:pPr marL="0" indent="0">
              <a:buNone/>
            </a:pPr>
            <a:r>
              <a:rPr lang="en-GB" dirty="0"/>
              <a:t>"Wait a minute," I said.</a:t>
            </a:r>
          </a:p>
          <a:p>
            <a:pPr marL="0" indent="0">
              <a:buNone/>
            </a:pPr>
            <a:r>
              <a:rPr lang="en-GB" dirty="0"/>
              <a:t>"I thought global warming meant, I don't know, warming?"</a:t>
            </a:r>
          </a:p>
          <a:p>
            <a:pPr marL="0" indent="0">
              <a:buNone/>
            </a:pPr>
            <a:r>
              <a:rPr lang="en-GB" dirty="0"/>
              <a:t>No, he assured me, this is all part of God's great reaction to man's not-so-great wrecking of his planet.</a:t>
            </a:r>
          </a:p>
          <a:p>
            <a:pPr marL="0" indent="0">
              <a:buNone/>
            </a:pPr>
            <a:endParaRPr lang="es-ES" dirty="0"/>
          </a:p>
        </p:txBody>
      </p:sp>
      <p:pic>
        <p:nvPicPr>
          <p:cNvPr id="2050" name="Picture 2" descr="Neil Cavuto">
            <a:extLst>
              <a:ext uri="{FF2B5EF4-FFF2-40B4-BE49-F238E27FC236}">
                <a16:creationId xmlns:a16="http://schemas.microsoft.com/office/drawing/2014/main" xmlns="" id="{B701696B-E684-4442-E728-F7F2F89454A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467975" y="5191125"/>
            <a:ext cx="1495424" cy="1495424"/>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xmlns="" id="{79E6C4A1-E977-AFFB-9A38-0AA6A691C0B8}"/>
              </a:ext>
            </a:extLst>
          </p:cNvPr>
          <p:cNvCxnSpPr/>
          <p:nvPr/>
        </p:nvCxnSpPr>
        <p:spPr>
          <a:xfrm>
            <a:off x="9279467" y="6096000"/>
            <a:ext cx="10837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xmlns="" id="{3306C82A-0C12-8329-2855-C0F4F3523C8B}"/>
              </a:ext>
            </a:extLst>
          </p:cNvPr>
          <p:cNvSpPr txBox="1"/>
          <p:nvPr/>
        </p:nvSpPr>
        <p:spPr>
          <a:xfrm>
            <a:off x="7916333" y="5877758"/>
            <a:ext cx="2047399" cy="369332"/>
          </a:xfrm>
          <a:prstGeom prst="rect">
            <a:avLst/>
          </a:prstGeom>
          <a:noFill/>
        </p:spPr>
        <p:txBody>
          <a:bodyPr wrap="square" rtlCol="0">
            <a:spAutoFit/>
          </a:bodyPr>
          <a:lstStyle/>
          <a:p>
            <a:r>
              <a:rPr lang="en-GB" dirty="0"/>
              <a:t>Neil Cavuto</a:t>
            </a:r>
            <a:endParaRPr lang="es-ES" dirty="0"/>
          </a:p>
        </p:txBody>
      </p:sp>
    </p:spTree>
    <p:extLst>
      <p:ext uri="{BB962C8B-B14F-4D97-AF65-F5344CB8AC3E}">
        <p14:creationId xmlns:p14="http://schemas.microsoft.com/office/powerpoint/2010/main" val="3293597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965DD26-9453-0715-3089-7E623022B982}"/>
              </a:ext>
            </a:extLst>
          </p:cNvPr>
          <p:cNvSpPr>
            <a:spLocks noGrp="1"/>
          </p:cNvSpPr>
          <p:nvPr>
            <p:ph idx="1"/>
          </p:nvPr>
        </p:nvSpPr>
        <p:spPr>
          <a:xfrm>
            <a:off x="838200" y="819150"/>
            <a:ext cx="10515600" cy="5357813"/>
          </a:xfrm>
        </p:spPr>
        <p:txBody>
          <a:bodyPr>
            <a:normAutofit/>
          </a:bodyPr>
          <a:lstStyle/>
          <a:p>
            <a:pPr marL="0" indent="0">
              <a:buNone/>
            </a:pPr>
            <a:r>
              <a:rPr lang="en-GB" dirty="0"/>
              <a:t>Now I'm not the sharpest meteorological tool on the map, but even I wondered how my tree-hugging pal could have it both ways.</a:t>
            </a:r>
          </a:p>
          <a:p>
            <a:pPr marL="0" indent="0">
              <a:buNone/>
            </a:pPr>
            <a:r>
              <a:rPr lang="en-GB" dirty="0"/>
              <a:t>He assured me last year snow would soon be a memory.</a:t>
            </a:r>
          </a:p>
          <a:p>
            <a:pPr marL="0" indent="0">
              <a:buNone/>
            </a:pPr>
            <a:r>
              <a:rPr lang="en-GB" dirty="0"/>
              <a:t>That the oceans would be warming.</a:t>
            </a:r>
          </a:p>
          <a:p>
            <a:pPr marL="0" indent="0">
              <a:buNone/>
            </a:pPr>
            <a:r>
              <a:rPr lang="en-GB" dirty="0"/>
              <a:t>More hurricanes would be coming.</a:t>
            </a:r>
          </a:p>
          <a:p>
            <a:pPr marL="0" indent="0">
              <a:buNone/>
            </a:pPr>
            <a:r>
              <a:rPr lang="en-GB" dirty="0"/>
              <a:t>And glaciers would be melting.</a:t>
            </a:r>
          </a:p>
          <a:p>
            <a:pPr marL="0" indent="0">
              <a:buNone/>
            </a:pPr>
            <a:r>
              <a:rPr lang="en-GB" dirty="0"/>
              <a:t>But more snow than ever this year.</a:t>
            </a:r>
          </a:p>
          <a:p>
            <a:pPr marL="0" indent="0">
              <a:buNone/>
            </a:pPr>
            <a:r>
              <a:rPr lang="en-GB" dirty="0"/>
              <a:t>The first snow Vegas has seen in 30 years.</a:t>
            </a:r>
          </a:p>
          <a:p>
            <a:pPr marL="0" indent="0">
              <a:buNone/>
            </a:pPr>
            <a:r>
              <a:rPr lang="en-GB" dirty="0"/>
              <a:t>Temperatures below zero in at least 12 states in the Midwest and west, the most so early in any year.</a:t>
            </a:r>
          </a:p>
          <a:p>
            <a:pPr marL="0" indent="0">
              <a:buNone/>
            </a:pPr>
            <a:endParaRPr lang="en-GB" dirty="0"/>
          </a:p>
          <a:p>
            <a:endParaRPr lang="es-ES" dirty="0"/>
          </a:p>
        </p:txBody>
      </p:sp>
      <p:pic>
        <p:nvPicPr>
          <p:cNvPr id="3074" name="Picture 2" descr="Neil Cavuto">
            <a:extLst>
              <a:ext uri="{FF2B5EF4-FFF2-40B4-BE49-F238E27FC236}">
                <a16:creationId xmlns:a16="http://schemas.microsoft.com/office/drawing/2014/main" xmlns="" id="{DA59ED4A-3015-0CC5-2DC5-AF2A325F2F7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48950" y="5246687"/>
            <a:ext cx="1409700" cy="1409700"/>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a:extLst>
              <a:ext uri="{FF2B5EF4-FFF2-40B4-BE49-F238E27FC236}">
                <a16:creationId xmlns:a16="http://schemas.microsoft.com/office/drawing/2014/main" xmlns="" id="{4B0D00BA-6E05-4BE6-A85C-761BA1586695}"/>
              </a:ext>
            </a:extLst>
          </p:cNvPr>
          <p:cNvCxnSpPr/>
          <p:nvPr/>
        </p:nvCxnSpPr>
        <p:spPr>
          <a:xfrm>
            <a:off x="9279467" y="6096000"/>
            <a:ext cx="10837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xmlns="" id="{FDFA1EE8-FE78-622E-DB6A-61650D29F3D9}"/>
              </a:ext>
            </a:extLst>
          </p:cNvPr>
          <p:cNvSpPr txBox="1"/>
          <p:nvPr/>
        </p:nvSpPr>
        <p:spPr>
          <a:xfrm>
            <a:off x="7916333" y="5877758"/>
            <a:ext cx="2047399" cy="369332"/>
          </a:xfrm>
          <a:prstGeom prst="rect">
            <a:avLst/>
          </a:prstGeom>
          <a:noFill/>
        </p:spPr>
        <p:txBody>
          <a:bodyPr wrap="square" rtlCol="0">
            <a:spAutoFit/>
          </a:bodyPr>
          <a:lstStyle/>
          <a:p>
            <a:r>
              <a:rPr lang="en-GB" dirty="0"/>
              <a:t>Neil Cavuto</a:t>
            </a:r>
            <a:endParaRPr lang="es-ES" dirty="0"/>
          </a:p>
        </p:txBody>
      </p:sp>
    </p:spTree>
    <p:extLst>
      <p:ext uri="{BB962C8B-B14F-4D97-AF65-F5344CB8AC3E}">
        <p14:creationId xmlns:p14="http://schemas.microsoft.com/office/powerpoint/2010/main" val="3020556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CF3AE554-D361-EB52-3BFB-EFA042F1A6ED}"/>
              </a:ext>
            </a:extLst>
          </p:cNvPr>
          <p:cNvSpPr>
            <a:spLocks noGrp="1"/>
          </p:cNvSpPr>
          <p:nvPr>
            <p:ph idx="1"/>
          </p:nvPr>
        </p:nvSpPr>
        <p:spPr>
          <a:xfrm>
            <a:off x="838200" y="666750"/>
            <a:ext cx="10515600" cy="5510213"/>
          </a:xfrm>
        </p:spPr>
        <p:txBody>
          <a:bodyPr>
            <a:normAutofit/>
          </a:bodyPr>
          <a:lstStyle/>
          <a:p>
            <a:pPr marL="0" indent="0">
              <a:buNone/>
            </a:pPr>
            <a:r>
              <a:rPr lang="en-GB" dirty="0"/>
              <a:t>And all coming after a hurricane season that brought largely bupkis this year.</a:t>
            </a:r>
          </a:p>
          <a:p>
            <a:pPr marL="0" indent="0">
              <a:buNone/>
            </a:pPr>
            <a:r>
              <a:rPr lang="en-GB" dirty="0"/>
              <a:t>"It's all part of warming," my friend reminded me.</a:t>
            </a:r>
          </a:p>
          <a:p>
            <a:pPr marL="0" indent="0">
              <a:buNone/>
            </a:pPr>
            <a:r>
              <a:rPr lang="en-GB" dirty="0"/>
              <a:t>You see, his is not a new forecast, just a revised one.</a:t>
            </a:r>
          </a:p>
          <a:p>
            <a:pPr marL="0" indent="0">
              <a:buNone/>
            </a:pPr>
            <a:r>
              <a:rPr lang="en-GB" dirty="0"/>
              <a:t>Where you can kind of have your environmental cake and eat it too.</a:t>
            </a:r>
          </a:p>
          <a:p>
            <a:pPr marL="0" indent="0">
              <a:buNone/>
            </a:pPr>
            <a:r>
              <a:rPr lang="en-GB" dirty="0"/>
              <a:t>Where the earth getting warmer is warming, and the earth getting cooler is warming.</a:t>
            </a:r>
          </a:p>
          <a:p>
            <a:pPr marL="0" indent="0">
              <a:buNone/>
            </a:pPr>
            <a:r>
              <a:rPr lang="en-GB" dirty="0"/>
              <a:t>So nothing to stop Washington from big environmental spending.</a:t>
            </a:r>
          </a:p>
          <a:p>
            <a:pPr marL="0" indent="0">
              <a:buNone/>
            </a:pPr>
            <a:r>
              <a:rPr lang="en-GB" dirty="0"/>
              <a:t>You see, my friend is pushing Congress for more such spending.</a:t>
            </a:r>
          </a:p>
          <a:p>
            <a:pPr marL="0" indent="0">
              <a:buNone/>
            </a:pPr>
            <a:r>
              <a:rPr lang="en-GB" dirty="0"/>
              <a:t>I wished him luck as he headed out.</a:t>
            </a:r>
          </a:p>
          <a:p>
            <a:pPr marL="0" indent="0">
              <a:buNone/>
            </a:pPr>
            <a:r>
              <a:rPr lang="en-GB" dirty="0"/>
              <a:t>And suggested one other thing: Bring a coat.</a:t>
            </a:r>
          </a:p>
          <a:p>
            <a:endParaRPr lang="es-ES" dirty="0"/>
          </a:p>
        </p:txBody>
      </p:sp>
      <p:pic>
        <p:nvPicPr>
          <p:cNvPr id="4" name="Picture 2" descr="Neil Cavuto">
            <a:extLst>
              <a:ext uri="{FF2B5EF4-FFF2-40B4-BE49-F238E27FC236}">
                <a16:creationId xmlns:a16="http://schemas.microsoft.com/office/drawing/2014/main" xmlns="" id="{39E5FBC3-2B91-FF83-08AC-CAD4CE96D6E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58424" y="4981574"/>
            <a:ext cx="1609725" cy="1609725"/>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xmlns="" id="{C3642589-C9F2-01DE-0EDD-7DCA050C3B9C}"/>
              </a:ext>
            </a:extLst>
          </p:cNvPr>
          <p:cNvCxnSpPr/>
          <p:nvPr/>
        </p:nvCxnSpPr>
        <p:spPr>
          <a:xfrm>
            <a:off x="9279467" y="6096000"/>
            <a:ext cx="10837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xmlns="" id="{061C18ED-822C-0120-F9C0-613343837A96}"/>
              </a:ext>
            </a:extLst>
          </p:cNvPr>
          <p:cNvSpPr txBox="1"/>
          <p:nvPr/>
        </p:nvSpPr>
        <p:spPr>
          <a:xfrm>
            <a:off x="7916333" y="5877758"/>
            <a:ext cx="2047399" cy="369332"/>
          </a:xfrm>
          <a:prstGeom prst="rect">
            <a:avLst/>
          </a:prstGeom>
          <a:noFill/>
        </p:spPr>
        <p:txBody>
          <a:bodyPr wrap="square" rtlCol="0">
            <a:spAutoFit/>
          </a:bodyPr>
          <a:lstStyle/>
          <a:p>
            <a:r>
              <a:rPr lang="en-GB" dirty="0"/>
              <a:t>Neil Cavuto</a:t>
            </a:r>
            <a:endParaRPr lang="es-ES" dirty="0"/>
          </a:p>
        </p:txBody>
      </p:sp>
    </p:spTree>
    <p:extLst>
      <p:ext uri="{BB962C8B-B14F-4D97-AF65-F5344CB8AC3E}">
        <p14:creationId xmlns:p14="http://schemas.microsoft.com/office/powerpoint/2010/main" val="3375657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xmlns="" id="{5A0118C5-4F8D-4CF4-BADD-53FEACC6C42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FEE7BFC7-ECA7-6242-7E84-97816972F8A4}"/>
              </a:ext>
            </a:extLst>
          </p:cNvPr>
          <p:cNvSpPr>
            <a:spLocks noGrp="1"/>
          </p:cNvSpPr>
          <p:nvPr>
            <p:ph type="title"/>
          </p:nvPr>
        </p:nvSpPr>
        <p:spPr>
          <a:xfrm>
            <a:off x="6234865" y="568517"/>
            <a:ext cx="5248221" cy="1067209"/>
          </a:xfrm>
        </p:spPr>
        <p:txBody>
          <a:bodyPr>
            <a:normAutofit/>
          </a:bodyPr>
          <a:lstStyle/>
          <a:p>
            <a:r>
              <a:rPr lang="en-GB">
                <a:solidFill>
                  <a:schemeClr val="bg1"/>
                </a:solidFill>
              </a:rPr>
              <a:t>Summary	</a:t>
            </a:r>
            <a:endParaRPr lang="es-ES">
              <a:solidFill>
                <a:schemeClr val="bg1"/>
              </a:solidFill>
            </a:endParaRPr>
          </a:p>
        </p:txBody>
      </p:sp>
      <p:pic>
        <p:nvPicPr>
          <p:cNvPr id="5" name="Picture 4">
            <a:extLst>
              <a:ext uri="{FF2B5EF4-FFF2-40B4-BE49-F238E27FC236}">
                <a16:creationId xmlns:a16="http://schemas.microsoft.com/office/drawing/2014/main" xmlns="" id="{BDD3E4B5-46E7-62DE-D344-21829F9C66DE}"/>
              </a:ext>
            </a:extLst>
          </p:cNvPr>
          <p:cNvPicPr>
            <a:picLocks noChangeAspect="1"/>
          </p:cNvPicPr>
          <p:nvPr/>
        </p:nvPicPr>
        <p:blipFill rotWithShape="1">
          <a:blip r:embed="rId2"/>
          <a:srcRect r="1" b="1"/>
          <a:stretch/>
        </p:blipFill>
        <p:spPr>
          <a:xfrm>
            <a:off x="739959" y="1095407"/>
            <a:ext cx="4754947" cy="4754947"/>
          </a:xfrm>
          <a:custGeom>
            <a:avLst/>
            <a:gdLst/>
            <a:ahLst/>
            <a:cxnLst/>
            <a:rect l="l" t="t" r="r" b="b"/>
            <a:pathLst>
              <a:path w="2388070" h="2388070">
                <a:moveTo>
                  <a:pt x="1194035" y="0"/>
                </a:moveTo>
                <a:cubicBezTo>
                  <a:pt x="1853482" y="0"/>
                  <a:pt x="2388070" y="534588"/>
                  <a:pt x="2388070" y="1194035"/>
                </a:cubicBezTo>
                <a:cubicBezTo>
                  <a:pt x="2388070" y="1853482"/>
                  <a:pt x="1853482" y="2388070"/>
                  <a:pt x="1194035" y="2388070"/>
                </a:cubicBezTo>
                <a:cubicBezTo>
                  <a:pt x="534588" y="2388070"/>
                  <a:pt x="0" y="1853482"/>
                  <a:pt x="0" y="1194035"/>
                </a:cubicBezTo>
                <a:cubicBezTo>
                  <a:pt x="0" y="534588"/>
                  <a:pt x="534588" y="0"/>
                  <a:pt x="1194035" y="0"/>
                </a:cubicBezTo>
                <a:close/>
              </a:path>
            </a:pathLst>
          </a:custGeom>
          <a:ln w="28575">
            <a:noFill/>
          </a:ln>
        </p:spPr>
      </p:pic>
      <p:grpSp>
        <p:nvGrpSpPr>
          <p:cNvPr id="22" name="Group 21">
            <a:extLst>
              <a:ext uri="{FF2B5EF4-FFF2-40B4-BE49-F238E27FC236}">
                <a16:creationId xmlns:a16="http://schemas.microsoft.com/office/drawing/2014/main" xmlns="" id="{B894EFA8-F425-4D19-A94B-445388B31E20}"/>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0" y="377893"/>
            <a:ext cx="1861854" cy="717514"/>
            <a:chOff x="0" y="377893"/>
            <a:chExt cx="1861854" cy="717514"/>
          </a:xfrm>
          <a:solidFill>
            <a:schemeClr val="bg1"/>
          </a:solidFill>
        </p:grpSpPr>
        <p:sp>
          <p:nvSpPr>
            <p:cNvPr id="13" name="Freeform: Shape 12">
              <a:extLst>
                <a:ext uri="{FF2B5EF4-FFF2-40B4-BE49-F238E27FC236}">
                  <a16:creationId xmlns:a16="http://schemas.microsoft.com/office/drawing/2014/main" xmlns="" id="{C5A741B9-65EC-4C5B-9FE0-4A18575771A6}"/>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0" y="3778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4" name="Freeform: Shape 13">
              <a:extLst>
                <a:ext uri="{FF2B5EF4-FFF2-40B4-BE49-F238E27FC236}">
                  <a16:creationId xmlns:a16="http://schemas.microsoft.com/office/drawing/2014/main" xmlns="" id="{C0BB4301-41FA-4453-956F-A11CC664B68B}"/>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0" y="81762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dirty="0"/>
            </a:p>
          </p:txBody>
        </p:sp>
      </p:grpSp>
      <p:sp>
        <p:nvSpPr>
          <p:cNvPr id="3" name="Content Placeholder 2">
            <a:extLst>
              <a:ext uri="{FF2B5EF4-FFF2-40B4-BE49-F238E27FC236}">
                <a16:creationId xmlns:a16="http://schemas.microsoft.com/office/drawing/2014/main" xmlns="" id="{AC20462C-32EB-F50A-B2BE-F8DB38A7E25C}"/>
              </a:ext>
            </a:extLst>
          </p:cNvPr>
          <p:cNvSpPr>
            <a:spLocks noGrp="1"/>
          </p:cNvSpPr>
          <p:nvPr>
            <p:ph idx="1"/>
          </p:nvPr>
        </p:nvSpPr>
        <p:spPr>
          <a:xfrm>
            <a:off x="6234868" y="1820369"/>
            <a:ext cx="5217173" cy="4351338"/>
          </a:xfrm>
        </p:spPr>
        <p:txBody>
          <a:bodyPr>
            <a:normAutofit/>
          </a:bodyPr>
          <a:lstStyle/>
          <a:p>
            <a:r>
              <a:rPr lang="en-GB" dirty="0">
                <a:solidFill>
                  <a:schemeClr val="bg1"/>
                </a:solidFill>
              </a:rPr>
              <a:t>What do you think of Neil’s opinion?</a:t>
            </a:r>
          </a:p>
          <a:p>
            <a:endParaRPr lang="en-GB" dirty="0">
              <a:solidFill>
                <a:schemeClr val="bg1"/>
              </a:solidFill>
            </a:endParaRPr>
          </a:p>
          <a:p>
            <a:r>
              <a:rPr lang="en-GB" dirty="0">
                <a:solidFill>
                  <a:schemeClr val="bg1"/>
                </a:solidFill>
              </a:rPr>
              <a:t>Can you find any flaws in his argument?</a:t>
            </a:r>
          </a:p>
          <a:p>
            <a:endParaRPr lang="en-GB" dirty="0">
              <a:solidFill>
                <a:schemeClr val="bg1"/>
              </a:solidFill>
            </a:endParaRPr>
          </a:p>
          <a:p>
            <a:r>
              <a:rPr lang="en-GB" dirty="0">
                <a:solidFill>
                  <a:schemeClr val="bg1"/>
                </a:solidFill>
              </a:rPr>
              <a:t>What would you say to Neil if you met him?</a:t>
            </a:r>
            <a:endParaRPr lang="es-ES" dirty="0">
              <a:solidFill>
                <a:schemeClr val="bg1"/>
              </a:solidFill>
            </a:endParaRPr>
          </a:p>
        </p:txBody>
      </p:sp>
      <p:grpSp>
        <p:nvGrpSpPr>
          <p:cNvPr id="16" name="Graphic 185">
            <a:extLst>
              <a:ext uri="{FF2B5EF4-FFF2-40B4-BE49-F238E27FC236}">
                <a16:creationId xmlns:a16="http://schemas.microsoft.com/office/drawing/2014/main" xmlns="" id="{582A903B-6B78-4F0A-B7C9-3D80499020B8}"/>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10428634" y="5987064"/>
            <a:ext cx="1054466" cy="469689"/>
            <a:chOff x="9841624" y="4115729"/>
            <a:chExt cx="602169" cy="268223"/>
          </a:xfrm>
          <a:solidFill>
            <a:schemeClr val="bg1"/>
          </a:solidFill>
        </p:grpSpPr>
        <p:sp>
          <p:nvSpPr>
            <p:cNvPr id="17" name="Freeform: Shape 16">
              <a:extLst>
                <a:ext uri="{FF2B5EF4-FFF2-40B4-BE49-F238E27FC236}">
                  <a16:creationId xmlns:a16="http://schemas.microsoft.com/office/drawing/2014/main" xmlns="" id="{D510EA93-8F64-42C8-A630-D449506E95E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xmlns="" id="{06CB53FC-E4DA-4001-928B-9998A85EA5B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xmlns="" id="{D210B969-4FDF-4AAC-9397-63D5434958D1}"/>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xmlns="" id="{570B3EF0-84EA-4F47-86A3-1EA1F644A49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xmlns="" id="{259369A8-EF57-42A1-8EC8-F6A9F92A3AD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1955064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xmlns="" id="{9228552E-C8B1-4A80-8448-0787CE0FC70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enguins diving from iceberg">
            <a:extLst>
              <a:ext uri="{FF2B5EF4-FFF2-40B4-BE49-F238E27FC236}">
                <a16:creationId xmlns:a16="http://schemas.microsoft.com/office/drawing/2014/main" xmlns="" id="{C091B841-5739-5DF6-CA4A-6DFE916A4290}"/>
              </a:ext>
            </a:extLst>
          </p:cNvPr>
          <p:cNvPicPr>
            <a:picLocks noChangeAspect="1"/>
          </p:cNvPicPr>
          <p:nvPr/>
        </p:nvPicPr>
        <p:blipFill rotWithShape="1">
          <a:blip r:embed="rId2">
            <a:alphaModFix amt="35000"/>
            <a:extLst>
              <a:ext uri="{28A0092B-C50C-407E-A947-70E740481C1C}">
                <a14:useLocalDpi xmlns:a14="http://schemas.microsoft.com/office/drawing/2010/main" val="0"/>
              </a:ext>
            </a:extLst>
          </a:blip>
          <a:srcRect t="235" b="4426"/>
          <a:stretch/>
        </p:blipFill>
        <p:spPr>
          <a:xfrm>
            <a:off x="20" y="10"/>
            <a:ext cx="12191980" cy="6857990"/>
          </a:xfrm>
          <a:prstGeom prst="rect">
            <a:avLst/>
          </a:prstGeom>
        </p:spPr>
      </p:pic>
      <p:sp>
        <p:nvSpPr>
          <p:cNvPr id="2" name="Title 1">
            <a:extLst>
              <a:ext uri="{FF2B5EF4-FFF2-40B4-BE49-F238E27FC236}">
                <a16:creationId xmlns:a16="http://schemas.microsoft.com/office/drawing/2014/main" xmlns="" id="{01C3E696-9C54-3327-8993-2485BB7D55E8}"/>
              </a:ext>
            </a:extLst>
          </p:cNvPr>
          <p:cNvSpPr>
            <a:spLocks noGrp="1"/>
          </p:cNvSpPr>
          <p:nvPr>
            <p:ph type="title"/>
          </p:nvPr>
        </p:nvSpPr>
        <p:spPr>
          <a:xfrm>
            <a:off x="838200" y="365125"/>
            <a:ext cx="10515600" cy="1325563"/>
          </a:xfrm>
        </p:spPr>
        <p:txBody>
          <a:bodyPr>
            <a:normAutofit/>
          </a:bodyPr>
          <a:lstStyle/>
          <a:p>
            <a:r>
              <a:rPr lang="en-GB">
                <a:solidFill>
                  <a:srgbClr val="FFFFFF"/>
                </a:solidFill>
              </a:rPr>
              <a:t>Conversation questions</a:t>
            </a:r>
            <a:endParaRPr lang="es-ES">
              <a:solidFill>
                <a:srgbClr val="FFFFFF"/>
              </a:solidFill>
            </a:endParaRPr>
          </a:p>
        </p:txBody>
      </p:sp>
      <p:sp>
        <p:nvSpPr>
          <p:cNvPr id="3" name="Content Placeholder 2">
            <a:extLst>
              <a:ext uri="{FF2B5EF4-FFF2-40B4-BE49-F238E27FC236}">
                <a16:creationId xmlns:a16="http://schemas.microsoft.com/office/drawing/2014/main" xmlns="" id="{F73F0341-467F-F08A-3EE8-4B9C53874682}"/>
              </a:ext>
            </a:extLst>
          </p:cNvPr>
          <p:cNvSpPr>
            <a:spLocks noGrp="1"/>
          </p:cNvSpPr>
          <p:nvPr>
            <p:ph idx="1"/>
          </p:nvPr>
        </p:nvSpPr>
        <p:spPr>
          <a:xfrm>
            <a:off x="838200" y="1825625"/>
            <a:ext cx="10515600" cy="4351338"/>
          </a:xfrm>
        </p:spPr>
        <p:txBody>
          <a:bodyPr>
            <a:normAutofit/>
          </a:bodyPr>
          <a:lstStyle/>
          <a:p>
            <a:r>
              <a:rPr lang="en-GB" sz="2400" b="0" i="0">
                <a:solidFill>
                  <a:srgbClr val="FFFFFF"/>
                </a:solidFill>
                <a:effectLst/>
              </a:rPr>
              <a:t>Do you believe there's a responsibility for media outlets to prioritize accurate reporting on climate change, considering its significant impact on public awareness and policy decisions?</a:t>
            </a:r>
          </a:p>
          <a:p>
            <a:endParaRPr lang="en-GB" sz="2400">
              <a:solidFill>
                <a:srgbClr val="FFFFFF"/>
              </a:solidFill>
            </a:endParaRPr>
          </a:p>
          <a:p>
            <a:r>
              <a:rPr lang="en-GB" sz="2400" b="0" i="0">
                <a:solidFill>
                  <a:srgbClr val="FFFFFF"/>
                </a:solidFill>
                <a:effectLst/>
              </a:rPr>
              <a:t>How can individuals distinguish between credible information and false claims when it comes to climate change reporting? What sources or fact-checking methods do you find reliable?</a:t>
            </a:r>
          </a:p>
          <a:p>
            <a:endParaRPr lang="en-GB" sz="2400">
              <a:solidFill>
                <a:srgbClr val="FFFFFF"/>
              </a:solidFill>
            </a:endParaRPr>
          </a:p>
          <a:p>
            <a:r>
              <a:rPr lang="en-GB" sz="2400" b="0" i="0">
                <a:solidFill>
                  <a:srgbClr val="FFFFFF"/>
                </a:solidFill>
                <a:effectLst/>
              </a:rPr>
              <a:t>Have you ever encountered misinformation or false claims about climate change? How did you recognize it, and what impact do you think such misinformation can have on public perception?</a:t>
            </a:r>
            <a:endParaRPr lang="es-ES" sz="2400">
              <a:solidFill>
                <a:srgbClr val="FFFFFF"/>
              </a:solidFill>
            </a:endParaRPr>
          </a:p>
        </p:txBody>
      </p:sp>
    </p:spTree>
    <p:extLst>
      <p:ext uri="{BB962C8B-B14F-4D97-AF65-F5344CB8AC3E}">
        <p14:creationId xmlns:p14="http://schemas.microsoft.com/office/powerpoint/2010/main" val="4204597020"/>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xmlns="" id="{04812C46-200A-4DEB-A05E-3ED6C68C238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agazine printing process">
            <a:extLst>
              <a:ext uri="{FF2B5EF4-FFF2-40B4-BE49-F238E27FC236}">
                <a16:creationId xmlns:a16="http://schemas.microsoft.com/office/drawing/2014/main" xmlns="" id="{25FAF46E-0504-F4FA-D276-11ADBA6852A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244" r="-1" b="-1"/>
          <a:stretch/>
        </p:blipFill>
        <p:spPr>
          <a:xfrm>
            <a:off x="1" y="10"/>
            <a:ext cx="9669642" cy="6857990"/>
          </a:xfrm>
          <a:prstGeom prst="rect">
            <a:avLst/>
          </a:prstGeom>
        </p:spPr>
      </p:pic>
      <p:sp>
        <p:nvSpPr>
          <p:cNvPr id="12" name="Rectangle 11">
            <a:extLst>
              <a:ext uri="{FF2B5EF4-FFF2-40B4-BE49-F238E27FC236}">
                <a16:creationId xmlns:a16="http://schemas.microsoft.com/office/drawing/2014/main" xmlns="" id="{D1EA859B-E555-4109-94F3-6700E046E0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B9181701-2934-66A2-1068-89BF3CCF3BDD}"/>
              </a:ext>
            </a:extLst>
          </p:cNvPr>
          <p:cNvSpPr>
            <a:spLocks noGrp="1"/>
          </p:cNvSpPr>
          <p:nvPr>
            <p:ph type="title"/>
          </p:nvPr>
        </p:nvSpPr>
        <p:spPr>
          <a:xfrm>
            <a:off x="7531610" y="365125"/>
            <a:ext cx="3822189" cy="1899912"/>
          </a:xfrm>
        </p:spPr>
        <p:txBody>
          <a:bodyPr>
            <a:normAutofit/>
          </a:bodyPr>
          <a:lstStyle/>
          <a:p>
            <a:r>
              <a:rPr lang="en-GB" sz="4000"/>
              <a:t>Framing</a:t>
            </a:r>
            <a:endParaRPr lang="es-ES" sz="4000"/>
          </a:p>
        </p:txBody>
      </p:sp>
      <p:sp>
        <p:nvSpPr>
          <p:cNvPr id="3" name="Content Placeholder 2">
            <a:extLst>
              <a:ext uri="{FF2B5EF4-FFF2-40B4-BE49-F238E27FC236}">
                <a16:creationId xmlns:a16="http://schemas.microsoft.com/office/drawing/2014/main" xmlns="" id="{EC06195C-7606-CBBD-39D8-A74980987779}"/>
              </a:ext>
            </a:extLst>
          </p:cNvPr>
          <p:cNvSpPr>
            <a:spLocks noGrp="1"/>
          </p:cNvSpPr>
          <p:nvPr>
            <p:ph idx="1"/>
          </p:nvPr>
        </p:nvSpPr>
        <p:spPr>
          <a:xfrm>
            <a:off x="7531610" y="2434201"/>
            <a:ext cx="3822189" cy="3742762"/>
          </a:xfrm>
        </p:spPr>
        <p:txBody>
          <a:bodyPr>
            <a:normAutofit/>
          </a:bodyPr>
          <a:lstStyle/>
          <a:p>
            <a:r>
              <a:rPr lang="en-GB" sz="2000" b="0" i="0">
                <a:effectLst/>
              </a:rPr>
              <a:t>In media, framing refers to the way information is presented or "framed" to shape the perception of an issue or event. It involves selecting and highlighting certain aspects of a story while downplaying or omitting others. The framing of news or information can significantly influence how audiences interpret and understand the subject matter.</a:t>
            </a:r>
            <a:endParaRPr lang="es-ES" sz="2000"/>
          </a:p>
        </p:txBody>
      </p:sp>
    </p:spTree>
    <p:extLst>
      <p:ext uri="{BB962C8B-B14F-4D97-AF65-F5344CB8AC3E}">
        <p14:creationId xmlns:p14="http://schemas.microsoft.com/office/powerpoint/2010/main" val="148984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D46EF3-E384-2755-A112-78FC1F113C32}"/>
              </a:ext>
            </a:extLst>
          </p:cNvPr>
          <p:cNvSpPr>
            <a:spLocks noGrp="1"/>
          </p:cNvSpPr>
          <p:nvPr>
            <p:ph type="title"/>
          </p:nvPr>
        </p:nvSpPr>
        <p:spPr/>
        <p:txBody>
          <a:bodyPr/>
          <a:lstStyle/>
          <a:p>
            <a:r>
              <a:rPr lang="en-GB" b="0" i="0" dirty="0">
                <a:solidFill>
                  <a:srgbClr val="374151"/>
                </a:solidFill>
                <a:effectLst/>
                <a:latin typeface="+mn-lt"/>
              </a:rPr>
              <a:t>Key aspects of framing in media include:</a:t>
            </a:r>
            <a:endParaRPr lang="es-ES" dirty="0">
              <a:latin typeface="+mn-lt"/>
            </a:endParaRPr>
          </a:p>
        </p:txBody>
      </p:sp>
      <p:sp>
        <p:nvSpPr>
          <p:cNvPr id="3" name="Content Placeholder 2">
            <a:extLst>
              <a:ext uri="{FF2B5EF4-FFF2-40B4-BE49-F238E27FC236}">
                <a16:creationId xmlns:a16="http://schemas.microsoft.com/office/drawing/2014/main" xmlns="" id="{AB46FD10-A43B-7F34-F7D5-8AF9BD6BFFDC}"/>
              </a:ext>
            </a:extLst>
          </p:cNvPr>
          <p:cNvSpPr>
            <a:spLocks noGrp="1"/>
          </p:cNvSpPr>
          <p:nvPr>
            <p:ph idx="1"/>
          </p:nvPr>
        </p:nvSpPr>
        <p:spPr/>
        <p:txBody>
          <a:bodyPr>
            <a:normAutofit fontScale="62500" lnSpcReduction="20000"/>
          </a:bodyPr>
          <a:lstStyle/>
          <a:p>
            <a:r>
              <a:rPr lang="es-ES" b="1" i="0" dirty="0" err="1">
                <a:effectLst/>
              </a:rPr>
              <a:t>Selection</a:t>
            </a:r>
            <a:r>
              <a:rPr lang="es-ES" b="1" i="0" dirty="0">
                <a:effectLst/>
              </a:rPr>
              <a:t> </a:t>
            </a:r>
            <a:r>
              <a:rPr lang="es-ES" b="1" i="0" dirty="0" err="1">
                <a:effectLst/>
              </a:rPr>
              <a:t>of</a:t>
            </a:r>
            <a:r>
              <a:rPr lang="es-ES" b="1" i="0" dirty="0">
                <a:effectLst/>
              </a:rPr>
              <a:t> </a:t>
            </a:r>
            <a:r>
              <a:rPr lang="es-ES" b="1" i="0" dirty="0" err="1">
                <a:effectLst/>
              </a:rPr>
              <a:t>Information</a:t>
            </a:r>
            <a:endParaRPr lang="es-ES" b="1" i="0" dirty="0">
              <a:effectLst/>
            </a:endParaRPr>
          </a:p>
          <a:p>
            <a:pPr lvl="1"/>
            <a:r>
              <a:rPr lang="en-GB" dirty="0"/>
              <a:t>C</a:t>
            </a:r>
            <a:r>
              <a:rPr lang="en-GB" b="0" i="0" dirty="0">
                <a:effectLst/>
              </a:rPr>
              <a:t>hoosing specific details, facts, or elements to include in a news story. </a:t>
            </a:r>
            <a:endParaRPr lang="es-ES" b="1" i="0" dirty="0">
              <a:effectLst/>
            </a:endParaRPr>
          </a:p>
          <a:p>
            <a:r>
              <a:rPr lang="es-ES" b="1" i="0" dirty="0" err="1">
                <a:effectLst/>
              </a:rPr>
              <a:t>Emphasis</a:t>
            </a:r>
            <a:r>
              <a:rPr lang="es-ES" b="1" i="0" dirty="0">
                <a:effectLst/>
              </a:rPr>
              <a:t> and </a:t>
            </a:r>
            <a:r>
              <a:rPr lang="es-ES" b="1" i="0" dirty="0" err="1">
                <a:effectLst/>
              </a:rPr>
              <a:t>Prioritization</a:t>
            </a:r>
            <a:endParaRPr lang="es-ES" b="1" i="0" dirty="0">
              <a:effectLst/>
            </a:endParaRPr>
          </a:p>
          <a:p>
            <a:pPr lvl="1"/>
            <a:r>
              <a:rPr lang="en-GB" b="0" i="0" dirty="0">
                <a:solidFill>
                  <a:srgbClr val="374151"/>
                </a:solidFill>
                <a:effectLst/>
              </a:rPr>
              <a:t>This can influence the perceived significance of different elements and guide the audience's attention.</a:t>
            </a:r>
            <a:endParaRPr lang="es-ES" b="1" i="0" dirty="0">
              <a:effectLst/>
            </a:endParaRPr>
          </a:p>
          <a:p>
            <a:r>
              <a:rPr lang="es-ES" b="1" i="0" dirty="0" err="1">
                <a:effectLst/>
              </a:rPr>
              <a:t>Language</a:t>
            </a:r>
            <a:r>
              <a:rPr lang="es-ES" b="1" i="0" dirty="0">
                <a:effectLst/>
              </a:rPr>
              <a:t> and </a:t>
            </a:r>
            <a:r>
              <a:rPr lang="es-ES" b="1" i="0" dirty="0" err="1">
                <a:effectLst/>
              </a:rPr>
              <a:t>Tone</a:t>
            </a:r>
            <a:endParaRPr lang="es-ES" b="1" i="0" dirty="0">
              <a:effectLst/>
            </a:endParaRPr>
          </a:p>
          <a:p>
            <a:pPr lvl="1"/>
            <a:r>
              <a:rPr lang="en-GB" b="0" i="0" dirty="0">
                <a:solidFill>
                  <a:srgbClr val="374151"/>
                </a:solidFill>
                <a:effectLst/>
              </a:rPr>
              <a:t>Different linguistic choices can evoke specific emotions and shape the overall tone of the narrative.</a:t>
            </a:r>
            <a:endParaRPr lang="es-ES" b="1" dirty="0"/>
          </a:p>
          <a:p>
            <a:r>
              <a:rPr lang="es-ES" b="1" i="0" dirty="0" err="1">
                <a:effectLst/>
              </a:rPr>
              <a:t>Contextualization</a:t>
            </a:r>
            <a:endParaRPr lang="es-ES" b="1" i="0" dirty="0">
              <a:effectLst/>
            </a:endParaRPr>
          </a:p>
          <a:p>
            <a:pPr lvl="1"/>
            <a:r>
              <a:rPr lang="en-GB" b="0" i="0" dirty="0">
                <a:solidFill>
                  <a:srgbClr val="374151"/>
                </a:solidFill>
                <a:effectLst/>
              </a:rPr>
              <a:t>Providing context or background information to help the audience make sense of the story. </a:t>
            </a:r>
            <a:endParaRPr lang="es-ES" b="1" i="0" dirty="0">
              <a:effectLst/>
            </a:endParaRPr>
          </a:p>
          <a:p>
            <a:r>
              <a:rPr lang="es-ES" b="1" i="0" dirty="0">
                <a:effectLst/>
              </a:rPr>
              <a:t>Visual </a:t>
            </a:r>
            <a:r>
              <a:rPr lang="es-ES" b="1" i="0" dirty="0" err="1">
                <a:effectLst/>
              </a:rPr>
              <a:t>Elements</a:t>
            </a:r>
            <a:endParaRPr lang="es-ES" b="1" i="0" dirty="0">
              <a:effectLst/>
            </a:endParaRPr>
          </a:p>
          <a:p>
            <a:pPr lvl="1"/>
            <a:r>
              <a:rPr lang="en-GB" b="0" i="0" dirty="0">
                <a:solidFill>
                  <a:srgbClr val="374151"/>
                </a:solidFill>
                <a:effectLst/>
              </a:rPr>
              <a:t>The selection and presentation of visual elements can impact the emotional response and understanding of the story.</a:t>
            </a:r>
            <a:endParaRPr lang="es-ES" b="1" dirty="0"/>
          </a:p>
          <a:p>
            <a:r>
              <a:rPr lang="es-ES" b="1" i="0" dirty="0">
                <a:effectLst/>
              </a:rPr>
              <a:t>Cultural and Social </a:t>
            </a:r>
            <a:r>
              <a:rPr lang="es-ES" b="1" i="0" dirty="0" err="1">
                <a:effectLst/>
              </a:rPr>
              <a:t>Context</a:t>
            </a:r>
            <a:endParaRPr lang="es-ES" b="1" i="0" dirty="0">
              <a:effectLst/>
            </a:endParaRPr>
          </a:p>
          <a:p>
            <a:pPr lvl="1"/>
            <a:r>
              <a:rPr lang="en-GB" b="0" i="0" dirty="0">
                <a:solidFill>
                  <a:srgbClr val="374151"/>
                </a:solidFill>
                <a:effectLst/>
              </a:rPr>
              <a:t>Framing is influenced by cultural and social norms, values, and perspectives. </a:t>
            </a:r>
            <a:endParaRPr lang="es-ES" b="1" i="0" dirty="0">
              <a:effectLst/>
            </a:endParaRPr>
          </a:p>
          <a:p>
            <a:r>
              <a:rPr lang="es-ES" b="1" i="0" dirty="0">
                <a:effectLst/>
              </a:rPr>
              <a:t>Narrative </a:t>
            </a:r>
            <a:r>
              <a:rPr lang="es-ES" b="1" i="0" dirty="0" err="1">
                <a:effectLst/>
              </a:rPr>
              <a:t>Structure</a:t>
            </a:r>
            <a:endParaRPr lang="es-ES" b="1" i="0" dirty="0">
              <a:effectLst/>
            </a:endParaRPr>
          </a:p>
          <a:p>
            <a:pPr lvl="1"/>
            <a:r>
              <a:rPr lang="en-GB" b="0" i="0" dirty="0">
                <a:solidFill>
                  <a:srgbClr val="374151"/>
                </a:solidFill>
                <a:effectLst/>
              </a:rPr>
              <a:t>The structure of a news story, including the order of information and the use of storytelling techniques, contributes to framing.</a:t>
            </a:r>
            <a:endParaRPr lang="es-ES" dirty="0"/>
          </a:p>
        </p:txBody>
      </p:sp>
    </p:spTree>
    <p:extLst>
      <p:ext uri="{BB962C8B-B14F-4D97-AF65-F5344CB8AC3E}">
        <p14:creationId xmlns:p14="http://schemas.microsoft.com/office/powerpoint/2010/main" val="700673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3" name="Rectangle 4102">
            <a:extLst>
              <a:ext uri="{FF2B5EF4-FFF2-40B4-BE49-F238E27FC236}">
                <a16:creationId xmlns:a16="http://schemas.microsoft.com/office/drawing/2014/main" xmlns="" id="{42A4FC2C-047E-45A5-965D-8E1E3BF09BC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098" name="Picture 2" descr="HELL BUS AT SHELL HQ">
            <a:extLst>
              <a:ext uri="{FF2B5EF4-FFF2-40B4-BE49-F238E27FC236}">
                <a16:creationId xmlns:a16="http://schemas.microsoft.com/office/drawing/2014/main" xmlns="" id="{1EA93E6E-0879-BC57-5BED-2FBAB571A244}"/>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4096" b="5920"/>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xmlns="" id="{DA0C24E7-3D58-3DEB-AA31-407476ACCEBE}"/>
              </a:ext>
            </a:extLst>
          </p:cNvPr>
          <p:cNvSpPr txBox="1"/>
          <p:nvPr/>
        </p:nvSpPr>
        <p:spPr>
          <a:xfrm>
            <a:off x="6200775" y="5646182"/>
            <a:ext cx="5991225" cy="584775"/>
          </a:xfrm>
          <a:prstGeom prst="rect">
            <a:avLst/>
          </a:prstGeom>
          <a:noFill/>
        </p:spPr>
        <p:txBody>
          <a:bodyPr wrap="square" rtlCol="0">
            <a:spAutoFit/>
          </a:bodyPr>
          <a:lstStyle/>
          <a:p>
            <a:r>
              <a:rPr lang="en-GB" sz="3200" dirty="0">
                <a:solidFill>
                  <a:schemeClr val="bg1"/>
                </a:solidFill>
              </a:rPr>
              <a:t>Look at the bus</a:t>
            </a:r>
            <a:endParaRPr lang="es-ES" sz="3200" dirty="0">
              <a:solidFill>
                <a:schemeClr val="bg1"/>
              </a:solidFill>
            </a:endParaRPr>
          </a:p>
        </p:txBody>
      </p:sp>
    </p:spTree>
    <p:extLst>
      <p:ext uri="{BB962C8B-B14F-4D97-AF65-F5344CB8AC3E}">
        <p14:creationId xmlns:p14="http://schemas.microsoft.com/office/powerpoint/2010/main" val="10185485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60" name="Rectangle 6159">
            <a:extLst>
              <a:ext uri="{FF2B5EF4-FFF2-40B4-BE49-F238E27FC236}">
                <a16:creationId xmlns:a16="http://schemas.microsoft.com/office/drawing/2014/main" xmlns="" id="{5A59F003-E00A-43F9-91DC-CC54E3B8746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6" name="Picture 2" descr="HELL BUS AT SHELL HQ">
            <a:extLst>
              <a:ext uri="{FF2B5EF4-FFF2-40B4-BE49-F238E27FC236}">
                <a16:creationId xmlns:a16="http://schemas.microsoft.com/office/drawing/2014/main" xmlns="" id="{92010818-FA85-1B96-BB98-A79933CD4EE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182" r="9091"/>
          <a:stretch/>
        </p:blipFill>
        <p:spPr bwMode="auto">
          <a:xfrm>
            <a:off x="20" y="10"/>
            <a:ext cx="12191981" cy="6857990"/>
          </a:xfrm>
          <a:prstGeom prst="rect">
            <a:avLst/>
          </a:prstGeom>
          <a:noFill/>
          <a:extLst>
            <a:ext uri="{909E8E84-426E-40DD-AFC4-6F175D3DCCD1}">
              <a14:hiddenFill xmlns:a14="http://schemas.microsoft.com/office/drawing/2010/main">
                <a:solidFill>
                  <a:srgbClr val="FFFFFF"/>
                </a:solidFill>
              </a14:hiddenFill>
            </a:ext>
          </a:extLst>
        </p:spPr>
      </p:pic>
      <p:sp>
        <p:nvSpPr>
          <p:cNvPr id="6162" name="Rectangle 6161">
            <a:extLst>
              <a:ext uri="{FF2B5EF4-FFF2-40B4-BE49-F238E27FC236}">
                <a16:creationId xmlns:a16="http://schemas.microsoft.com/office/drawing/2014/main" xmlns="" id="{D74A4382-E3AD-430A-9A1F-DFA3E0E77A7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6200000">
            <a:off x="3799865" y="-1524511"/>
            <a:ext cx="4592270" cy="12192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9D8C9DDA-933C-90B5-A10A-AAFE5888BCB6}"/>
              </a:ext>
            </a:extLst>
          </p:cNvPr>
          <p:cNvSpPr>
            <a:spLocks noGrp="1"/>
          </p:cNvSpPr>
          <p:nvPr>
            <p:ph type="title"/>
          </p:nvPr>
        </p:nvSpPr>
        <p:spPr>
          <a:xfrm>
            <a:off x="404553" y="3091928"/>
            <a:ext cx="9078562" cy="2387600"/>
          </a:xfrm>
        </p:spPr>
        <p:txBody>
          <a:bodyPr vert="horz" lIns="91440" tIns="45720" rIns="91440" bIns="45720" rtlCol="0" anchor="b">
            <a:normAutofit/>
          </a:bodyPr>
          <a:lstStyle/>
          <a:p>
            <a:r>
              <a:rPr lang="en-US" sz="6600">
                <a:solidFill>
                  <a:schemeClr val="bg1"/>
                </a:solidFill>
              </a:rPr>
              <a:t>Can you find anything untrue or misleading?</a:t>
            </a:r>
          </a:p>
        </p:txBody>
      </p:sp>
      <p:sp>
        <p:nvSpPr>
          <p:cNvPr id="6164" name="Rectangle: Rounded Corners 6163">
            <a:extLst>
              <a:ext uri="{FF2B5EF4-FFF2-40B4-BE49-F238E27FC236}">
                <a16:creationId xmlns:a16="http://schemas.microsoft.com/office/drawing/2014/main" xmlns="" id="{79F40191-0F44-4FD1-82CC-ACB507C14BE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5575039"/>
            <a:ext cx="9785897"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72350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FDE50BB-B80F-2DDD-3A9F-B11D147FA6FD}"/>
              </a:ext>
            </a:extLst>
          </p:cNvPr>
          <p:cNvSpPr>
            <a:spLocks noGrp="1"/>
          </p:cNvSpPr>
          <p:nvPr>
            <p:ph type="title"/>
          </p:nvPr>
        </p:nvSpPr>
        <p:spPr/>
        <p:txBody>
          <a:bodyPr/>
          <a:lstStyle/>
          <a:p>
            <a:r>
              <a:rPr lang="en-GB" dirty="0"/>
              <a:t>How cooling towers work</a:t>
            </a:r>
            <a:endParaRPr lang="es-ES" dirty="0"/>
          </a:p>
        </p:txBody>
      </p:sp>
      <p:pic>
        <p:nvPicPr>
          <p:cNvPr id="7170" name="Picture 2" descr="Assembly drawing of water-cooled radiator of cooling tower in thermal... |  Download Scientific Diagram">
            <a:extLst>
              <a:ext uri="{FF2B5EF4-FFF2-40B4-BE49-F238E27FC236}">
                <a16:creationId xmlns:a16="http://schemas.microsoft.com/office/drawing/2014/main" xmlns="" id="{E38B2286-AD74-3BAF-7443-75BD966BBAE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957917"/>
            <a:ext cx="5052783" cy="435133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xmlns="" id="{6F52C2D3-D7EB-F716-AA01-FD8EF097673A}"/>
              </a:ext>
            </a:extLst>
          </p:cNvPr>
          <p:cNvSpPr txBox="1"/>
          <p:nvPr/>
        </p:nvSpPr>
        <p:spPr>
          <a:xfrm>
            <a:off x="6619875" y="2053167"/>
            <a:ext cx="4800600" cy="3416320"/>
          </a:xfrm>
          <a:prstGeom prst="rect">
            <a:avLst/>
          </a:prstGeom>
          <a:noFill/>
        </p:spPr>
        <p:txBody>
          <a:bodyPr wrap="square" rtlCol="0">
            <a:spAutoFit/>
          </a:bodyPr>
          <a:lstStyle/>
          <a:p>
            <a:r>
              <a:rPr lang="en-GB" dirty="0"/>
              <a:t>This is just water vapour. It’s not green….</a:t>
            </a:r>
          </a:p>
          <a:p>
            <a:endParaRPr lang="en-GB" dirty="0"/>
          </a:p>
          <a:p>
            <a:endParaRPr lang="en-GB" dirty="0"/>
          </a:p>
          <a:p>
            <a:r>
              <a:rPr lang="en-GB" dirty="0"/>
              <a:t>So, who should we believe?</a:t>
            </a:r>
          </a:p>
          <a:p>
            <a:endParaRPr lang="en-GB" dirty="0"/>
          </a:p>
          <a:p>
            <a:endParaRPr lang="en-GB" dirty="0"/>
          </a:p>
          <a:p>
            <a:r>
              <a:rPr lang="en-GB" dirty="0"/>
              <a:t>Discuss advocacy versus objectivity in climate change reporting, then choose another discussion point from the following pages.   </a:t>
            </a:r>
          </a:p>
          <a:p>
            <a:endParaRPr lang="en-GB" dirty="0"/>
          </a:p>
          <a:p>
            <a:r>
              <a:rPr lang="en-GB" dirty="0"/>
              <a:t>There are 12, but you don’t need to discuss them all. </a:t>
            </a:r>
          </a:p>
        </p:txBody>
      </p:sp>
    </p:spTree>
    <p:extLst>
      <p:ext uri="{BB962C8B-B14F-4D97-AF65-F5344CB8AC3E}">
        <p14:creationId xmlns:p14="http://schemas.microsoft.com/office/powerpoint/2010/main" val="1593403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BC6EE4-BF3C-850D-28ED-81F35505CB1E}"/>
              </a:ext>
            </a:extLst>
          </p:cNvPr>
          <p:cNvSpPr>
            <a:spLocks noGrp="1"/>
          </p:cNvSpPr>
          <p:nvPr>
            <p:ph type="title"/>
          </p:nvPr>
        </p:nvSpPr>
        <p:spPr/>
        <p:txBody>
          <a:bodyPr/>
          <a:lstStyle/>
          <a:p>
            <a:r>
              <a:rPr lang="en-GB" dirty="0"/>
              <a:t>Discussion points – Choose topics</a:t>
            </a:r>
            <a:endParaRPr lang="es-ES" dirty="0"/>
          </a:p>
        </p:txBody>
      </p:sp>
      <p:sp>
        <p:nvSpPr>
          <p:cNvPr id="3" name="Content Placeholder 2">
            <a:extLst>
              <a:ext uri="{FF2B5EF4-FFF2-40B4-BE49-F238E27FC236}">
                <a16:creationId xmlns:a16="http://schemas.microsoft.com/office/drawing/2014/main" xmlns="" id="{D5D824F1-9A9B-32EC-27E0-4E410165FC75}"/>
              </a:ext>
            </a:extLst>
          </p:cNvPr>
          <p:cNvSpPr>
            <a:spLocks noGrp="1"/>
          </p:cNvSpPr>
          <p:nvPr>
            <p:ph idx="1"/>
          </p:nvPr>
        </p:nvSpPr>
        <p:spPr/>
        <p:txBody>
          <a:bodyPr>
            <a:normAutofit fontScale="92500" lnSpcReduction="20000"/>
          </a:bodyPr>
          <a:lstStyle/>
          <a:p>
            <a:pPr algn="l">
              <a:buFont typeface="+mj-lt"/>
              <a:buAutoNum type="arabicPeriod"/>
            </a:pPr>
            <a:r>
              <a:rPr lang="en-GB" b="1" i="0" dirty="0">
                <a:effectLst/>
              </a:rPr>
              <a:t>Advocacy in Climate Reporting:</a:t>
            </a:r>
            <a:endParaRPr lang="en-GB" b="0" i="0" dirty="0">
              <a:effectLst/>
            </a:endParaRPr>
          </a:p>
          <a:p>
            <a:pPr lvl="1"/>
            <a:r>
              <a:rPr lang="en-GB" b="0" i="1" dirty="0">
                <a:effectLst/>
              </a:rPr>
              <a:t>Discussion:</a:t>
            </a:r>
            <a:r>
              <a:rPr lang="en-GB" b="0" i="0" dirty="0">
                <a:effectLst/>
              </a:rPr>
              <a:t> How can advocacy journalism contribute to raising awareness about climate change? What role do journalists play in advocating for specific climate-related issues or policies?</a:t>
            </a:r>
          </a:p>
          <a:p>
            <a:pPr algn="l">
              <a:buFont typeface="+mj-lt"/>
              <a:buAutoNum type="arabicPeriod"/>
            </a:pPr>
            <a:r>
              <a:rPr lang="en-GB" b="1" i="0" dirty="0">
                <a:effectLst/>
              </a:rPr>
              <a:t>Balancing Scientific Consensus and Scepticism:</a:t>
            </a:r>
            <a:endParaRPr lang="en-GB" b="0" i="0" dirty="0">
              <a:effectLst/>
            </a:endParaRPr>
          </a:p>
          <a:p>
            <a:pPr lvl="1"/>
            <a:r>
              <a:rPr lang="en-GB" b="0" i="1" dirty="0">
                <a:effectLst/>
              </a:rPr>
              <a:t>Discussion:</a:t>
            </a:r>
            <a:r>
              <a:rPr lang="en-GB" b="0" i="0" dirty="0">
                <a:effectLst/>
              </a:rPr>
              <a:t> How should journalists strike a balance between reporting the overwhelming scientific consensus on climate change and presenting diverse perspectives, including scepticism? What challenges might they face in achieving this balance?</a:t>
            </a:r>
          </a:p>
          <a:p>
            <a:pPr algn="l">
              <a:buFont typeface="+mj-lt"/>
              <a:buAutoNum type="arabicPeriod"/>
            </a:pPr>
            <a:r>
              <a:rPr lang="en-GB" b="1" i="0" dirty="0">
                <a:effectLst/>
              </a:rPr>
              <a:t>Role of Advocacy Organizations:</a:t>
            </a:r>
            <a:endParaRPr lang="en-GB" b="0" i="0" dirty="0">
              <a:effectLst/>
            </a:endParaRPr>
          </a:p>
          <a:p>
            <a:pPr lvl="1"/>
            <a:r>
              <a:rPr lang="en-GB" b="0" i="1" dirty="0">
                <a:effectLst/>
              </a:rPr>
              <a:t>Discussion:</a:t>
            </a:r>
            <a:r>
              <a:rPr lang="en-GB" b="0" i="0" dirty="0">
                <a:effectLst/>
              </a:rPr>
              <a:t> Many environmental advocacy organizations actively engage with the media to promote their causes. What are the ethical considerations when reporting on information provided by advocacy groups? How can journalists ensure accuracy and objectivity?</a:t>
            </a:r>
          </a:p>
          <a:p>
            <a:endParaRPr lang="es-ES" dirty="0"/>
          </a:p>
        </p:txBody>
      </p:sp>
    </p:spTree>
    <p:extLst>
      <p:ext uri="{BB962C8B-B14F-4D97-AF65-F5344CB8AC3E}">
        <p14:creationId xmlns:p14="http://schemas.microsoft.com/office/powerpoint/2010/main" val="23182980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BC6EE4-BF3C-850D-28ED-81F35505CB1E}"/>
              </a:ext>
            </a:extLst>
          </p:cNvPr>
          <p:cNvSpPr>
            <a:spLocks noGrp="1"/>
          </p:cNvSpPr>
          <p:nvPr>
            <p:ph type="title"/>
          </p:nvPr>
        </p:nvSpPr>
        <p:spPr/>
        <p:txBody>
          <a:bodyPr/>
          <a:lstStyle/>
          <a:p>
            <a:r>
              <a:rPr lang="en-GB" dirty="0"/>
              <a:t>Discussion points – Choose topics</a:t>
            </a:r>
            <a:endParaRPr lang="es-ES" dirty="0"/>
          </a:p>
        </p:txBody>
      </p:sp>
      <p:sp>
        <p:nvSpPr>
          <p:cNvPr id="3" name="Content Placeholder 2">
            <a:extLst>
              <a:ext uri="{FF2B5EF4-FFF2-40B4-BE49-F238E27FC236}">
                <a16:creationId xmlns:a16="http://schemas.microsoft.com/office/drawing/2014/main" xmlns="" id="{D5D824F1-9A9B-32EC-27E0-4E410165FC75}"/>
              </a:ext>
            </a:extLst>
          </p:cNvPr>
          <p:cNvSpPr>
            <a:spLocks noGrp="1"/>
          </p:cNvSpPr>
          <p:nvPr>
            <p:ph idx="1"/>
          </p:nvPr>
        </p:nvSpPr>
        <p:spPr/>
        <p:txBody>
          <a:bodyPr>
            <a:normAutofit fontScale="92500"/>
          </a:bodyPr>
          <a:lstStyle/>
          <a:p>
            <a:pPr algn="l">
              <a:buFont typeface="+mj-lt"/>
              <a:buAutoNum type="arabicPeriod"/>
            </a:pPr>
            <a:r>
              <a:rPr lang="en-GB" b="1" i="0" dirty="0">
                <a:effectLst/>
              </a:rPr>
              <a:t>Transparency in Reporting:</a:t>
            </a:r>
            <a:endParaRPr lang="en-GB" b="0" i="0" dirty="0">
              <a:effectLst/>
            </a:endParaRPr>
          </a:p>
          <a:p>
            <a:pPr lvl="1"/>
            <a:r>
              <a:rPr lang="en-GB" b="0" i="1" dirty="0">
                <a:effectLst/>
              </a:rPr>
              <a:t>Discussion:</a:t>
            </a:r>
            <a:r>
              <a:rPr lang="en-GB" b="0" i="0" dirty="0">
                <a:effectLst/>
              </a:rPr>
              <a:t> Should journalists be transparent about their own views on climate change when reporting on the topic? How does transparency impact the perceived objectivity of climate reporting?</a:t>
            </a:r>
          </a:p>
          <a:p>
            <a:pPr algn="l">
              <a:buFont typeface="+mj-lt"/>
              <a:buAutoNum type="arabicPeriod"/>
            </a:pPr>
            <a:r>
              <a:rPr lang="en-GB" b="1" i="0" dirty="0">
                <a:effectLst/>
              </a:rPr>
              <a:t>Framing Climate Change Solutions:</a:t>
            </a:r>
            <a:endParaRPr lang="en-GB" b="0" i="0" dirty="0">
              <a:effectLst/>
            </a:endParaRPr>
          </a:p>
          <a:p>
            <a:pPr lvl="1"/>
            <a:r>
              <a:rPr lang="en-GB" b="0" i="1" dirty="0">
                <a:effectLst/>
              </a:rPr>
              <a:t>Discussion:</a:t>
            </a:r>
            <a:r>
              <a:rPr lang="en-GB" b="0" i="0" dirty="0">
                <a:effectLst/>
              </a:rPr>
              <a:t> How do media outlets frame discussions around climate change solutions? Is there a risk of bias in favour of certain approaches or technologies? How can journalists ensure a balanced representation of potential solutions?</a:t>
            </a:r>
          </a:p>
          <a:p>
            <a:pPr algn="l">
              <a:buFont typeface="+mj-lt"/>
              <a:buAutoNum type="arabicPeriod"/>
            </a:pPr>
            <a:r>
              <a:rPr lang="en-GB" b="1" i="0" dirty="0">
                <a:effectLst/>
              </a:rPr>
              <a:t>Balancing Local and Global Perspectives:</a:t>
            </a:r>
            <a:endParaRPr lang="en-GB" b="0" i="0" dirty="0">
              <a:effectLst/>
            </a:endParaRPr>
          </a:p>
          <a:p>
            <a:pPr lvl="1"/>
            <a:r>
              <a:rPr lang="en-GB" b="0" i="1" dirty="0">
                <a:effectLst/>
              </a:rPr>
              <a:t>Discussion:</a:t>
            </a:r>
            <a:r>
              <a:rPr lang="en-GB" b="0" i="0" dirty="0">
                <a:effectLst/>
              </a:rPr>
              <a:t> Climate change impacts vary across regions. How can journalists strike a balance between global narratives and local perspectives? What are the challenges in accurately portraying the local impacts of climate change?</a:t>
            </a:r>
          </a:p>
          <a:p>
            <a:endParaRPr lang="es-ES" dirty="0"/>
          </a:p>
        </p:txBody>
      </p:sp>
    </p:spTree>
    <p:extLst>
      <p:ext uri="{BB962C8B-B14F-4D97-AF65-F5344CB8AC3E}">
        <p14:creationId xmlns:p14="http://schemas.microsoft.com/office/powerpoint/2010/main" val="12053834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BC6EE4-BF3C-850D-28ED-81F35505CB1E}"/>
              </a:ext>
            </a:extLst>
          </p:cNvPr>
          <p:cNvSpPr>
            <a:spLocks noGrp="1"/>
          </p:cNvSpPr>
          <p:nvPr>
            <p:ph type="title"/>
          </p:nvPr>
        </p:nvSpPr>
        <p:spPr/>
        <p:txBody>
          <a:bodyPr/>
          <a:lstStyle/>
          <a:p>
            <a:r>
              <a:rPr lang="en-GB" dirty="0"/>
              <a:t>Discussion points – Choose topics</a:t>
            </a:r>
            <a:endParaRPr lang="es-ES" dirty="0"/>
          </a:p>
        </p:txBody>
      </p:sp>
      <p:sp>
        <p:nvSpPr>
          <p:cNvPr id="3" name="Content Placeholder 2">
            <a:extLst>
              <a:ext uri="{FF2B5EF4-FFF2-40B4-BE49-F238E27FC236}">
                <a16:creationId xmlns:a16="http://schemas.microsoft.com/office/drawing/2014/main" xmlns="" id="{D5D824F1-9A9B-32EC-27E0-4E410165FC75}"/>
              </a:ext>
            </a:extLst>
          </p:cNvPr>
          <p:cNvSpPr>
            <a:spLocks noGrp="1"/>
          </p:cNvSpPr>
          <p:nvPr>
            <p:ph idx="1"/>
          </p:nvPr>
        </p:nvSpPr>
        <p:spPr/>
        <p:txBody>
          <a:bodyPr>
            <a:normAutofit fontScale="92500" lnSpcReduction="20000"/>
          </a:bodyPr>
          <a:lstStyle/>
          <a:p>
            <a:pPr algn="l">
              <a:buFont typeface="+mj-lt"/>
              <a:buAutoNum type="arabicPeriod"/>
            </a:pPr>
            <a:r>
              <a:rPr lang="en-GB" b="1" i="0" dirty="0">
                <a:effectLst/>
              </a:rPr>
              <a:t>Consumer Expectations and Media Coverage:</a:t>
            </a:r>
            <a:endParaRPr lang="en-GB" b="0" i="0" dirty="0">
              <a:effectLst/>
            </a:endParaRPr>
          </a:p>
          <a:p>
            <a:pPr lvl="1"/>
            <a:r>
              <a:rPr lang="en-GB" b="0" i="1" dirty="0">
                <a:effectLst/>
              </a:rPr>
              <a:t>Discussion:</a:t>
            </a:r>
            <a:r>
              <a:rPr lang="en-GB" b="0" i="0" dirty="0">
                <a:effectLst/>
              </a:rPr>
              <a:t> How do consumer expectations influence media coverage of climate change? Are there risks of sensationalism or oversimplification to cater to audience preferences? How can media outlets maintain responsible reporting while addressing audience interests?</a:t>
            </a:r>
          </a:p>
          <a:p>
            <a:pPr algn="l">
              <a:buFont typeface="+mj-lt"/>
              <a:buAutoNum type="arabicPeriod"/>
            </a:pPr>
            <a:r>
              <a:rPr lang="en-GB" b="1" i="0" dirty="0">
                <a:effectLst/>
              </a:rPr>
              <a:t>Avoiding False Balance:</a:t>
            </a:r>
            <a:endParaRPr lang="en-GB" b="0" i="0" dirty="0">
              <a:effectLst/>
            </a:endParaRPr>
          </a:p>
          <a:p>
            <a:pPr lvl="1"/>
            <a:r>
              <a:rPr lang="en-GB" b="0" i="1" dirty="0">
                <a:effectLst/>
              </a:rPr>
              <a:t>Discussion:</a:t>
            </a:r>
            <a:r>
              <a:rPr lang="en-GB" b="0" i="0" dirty="0">
                <a:effectLst/>
              </a:rPr>
              <a:t> How can journalists avoid the trap of false balance in climate reporting, where both sides of an argument are presented equally even when scientific consensus heavily favours one side? What are the consequences of false balance in reporting on climate science?</a:t>
            </a:r>
          </a:p>
          <a:p>
            <a:pPr algn="l">
              <a:buFont typeface="+mj-lt"/>
              <a:buAutoNum type="arabicPeriod"/>
            </a:pPr>
            <a:r>
              <a:rPr lang="en-GB" b="1" i="0" dirty="0">
                <a:effectLst/>
              </a:rPr>
              <a:t>The Role of Objectivity in Climate Reporting:</a:t>
            </a:r>
            <a:endParaRPr lang="en-GB" b="0" i="0" dirty="0">
              <a:effectLst/>
            </a:endParaRPr>
          </a:p>
          <a:p>
            <a:pPr lvl="1"/>
            <a:r>
              <a:rPr lang="en-GB" b="0" i="1" dirty="0">
                <a:effectLst/>
              </a:rPr>
              <a:t>Discussion:</a:t>
            </a:r>
            <a:r>
              <a:rPr lang="en-GB" b="0" i="0" dirty="0">
                <a:effectLst/>
              </a:rPr>
              <a:t> Is complete objectivity achievable in climate reporting, or should journalists openly acknowledge the severity of climate change given scientific consensus? How can journalists navigate the tension between objectivity and the urgency of the climate crisis?</a:t>
            </a:r>
          </a:p>
          <a:p>
            <a:endParaRPr lang="es-ES" dirty="0"/>
          </a:p>
        </p:txBody>
      </p:sp>
    </p:spTree>
    <p:extLst>
      <p:ext uri="{BB962C8B-B14F-4D97-AF65-F5344CB8AC3E}">
        <p14:creationId xmlns:p14="http://schemas.microsoft.com/office/powerpoint/2010/main" val="7875030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BC6EE4-BF3C-850D-28ED-81F35505CB1E}"/>
              </a:ext>
            </a:extLst>
          </p:cNvPr>
          <p:cNvSpPr>
            <a:spLocks noGrp="1"/>
          </p:cNvSpPr>
          <p:nvPr>
            <p:ph type="title"/>
          </p:nvPr>
        </p:nvSpPr>
        <p:spPr/>
        <p:txBody>
          <a:bodyPr/>
          <a:lstStyle/>
          <a:p>
            <a:r>
              <a:rPr lang="en-GB" dirty="0"/>
              <a:t>Discussion points – Choose topics</a:t>
            </a:r>
            <a:endParaRPr lang="es-ES" dirty="0"/>
          </a:p>
        </p:txBody>
      </p:sp>
      <p:sp>
        <p:nvSpPr>
          <p:cNvPr id="3" name="Content Placeholder 2">
            <a:extLst>
              <a:ext uri="{FF2B5EF4-FFF2-40B4-BE49-F238E27FC236}">
                <a16:creationId xmlns:a16="http://schemas.microsoft.com/office/drawing/2014/main" xmlns="" id="{D5D824F1-9A9B-32EC-27E0-4E410165FC75}"/>
              </a:ext>
            </a:extLst>
          </p:cNvPr>
          <p:cNvSpPr>
            <a:spLocks noGrp="1"/>
          </p:cNvSpPr>
          <p:nvPr>
            <p:ph idx="1"/>
          </p:nvPr>
        </p:nvSpPr>
        <p:spPr/>
        <p:txBody>
          <a:bodyPr>
            <a:normAutofit fontScale="92500"/>
          </a:bodyPr>
          <a:lstStyle/>
          <a:p>
            <a:pPr algn="l">
              <a:buFont typeface="+mj-lt"/>
              <a:buAutoNum type="arabicPeriod"/>
            </a:pPr>
            <a:r>
              <a:rPr lang="en-GB" b="1" i="0" dirty="0">
                <a:effectLst/>
              </a:rPr>
              <a:t>Impact on Public Opinion:</a:t>
            </a:r>
            <a:endParaRPr lang="en-GB" b="0" i="0" dirty="0">
              <a:effectLst/>
            </a:endParaRPr>
          </a:p>
          <a:p>
            <a:pPr lvl="1"/>
            <a:r>
              <a:rPr lang="en-GB" b="0" i="1" dirty="0">
                <a:effectLst/>
              </a:rPr>
              <a:t>Discussion:</a:t>
            </a:r>
            <a:r>
              <a:rPr lang="en-GB" b="0" i="0" dirty="0">
                <a:effectLst/>
              </a:rPr>
              <a:t> How does the framing of climate change in the media impact public opinion and behaviour? Can advocacy journalism effectively mobilize public support for climate action, or does it risk polarizing views?</a:t>
            </a:r>
          </a:p>
          <a:p>
            <a:pPr algn="l">
              <a:buFont typeface="+mj-lt"/>
              <a:buAutoNum type="arabicPeriod"/>
            </a:pPr>
            <a:r>
              <a:rPr lang="en-GB" b="1" i="0" dirty="0">
                <a:effectLst/>
              </a:rPr>
              <a:t>Editorial Policies and Guidelines:</a:t>
            </a:r>
            <a:endParaRPr lang="en-GB" b="0" i="0" dirty="0">
              <a:effectLst/>
            </a:endParaRPr>
          </a:p>
          <a:p>
            <a:pPr lvl="1"/>
            <a:r>
              <a:rPr lang="en-GB" b="0" i="1" dirty="0">
                <a:effectLst/>
              </a:rPr>
              <a:t>Discussion:</a:t>
            </a:r>
            <a:r>
              <a:rPr lang="en-GB" b="0" i="0" dirty="0">
                <a:effectLst/>
              </a:rPr>
              <a:t> What role do editorial policies and guidelines play in shaping climate reporting? How can news organizations establish standards that balance advocacy and objectivity?</a:t>
            </a:r>
          </a:p>
          <a:p>
            <a:pPr algn="l">
              <a:buFont typeface="+mj-lt"/>
              <a:buAutoNum type="arabicPeriod"/>
            </a:pPr>
            <a:r>
              <a:rPr lang="en-GB" b="1" i="0" dirty="0">
                <a:effectLst/>
              </a:rPr>
              <a:t>Inclusion of Diverse Voices:</a:t>
            </a:r>
            <a:endParaRPr lang="en-GB" b="0" i="0" dirty="0">
              <a:effectLst/>
            </a:endParaRPr>
          </a:p>
          <a:p>
            <a:pPr lvl="1"/>
            <a:r>
              <a:rPr lang="en-GB" b="0" i="1" dirty="0">
                <a:effectLst/>
              </a:rPr>
              <a:t>Discussion:</a:t>
            </a:r>
            <a:r>
              <a:rPr lang="en-GB" b="0" i="0" dirty="0">
                <a:effectLst/>
              </a:rPr>
              <a:t> How can climate reporting better incorporate diverse voices, including those from communities most affected by climate change? What challenges exist in amplifying marginalized perspectives while maintaining balance?</a:t>
            </a:r>
          </a:p>
        </p:txBody>
      </p:sp>
    </p:spTree>
    <p:extLst>
      <p:ext uri="{BB962C8B-B14F-4D97-AF65-F5344CB8AC3E}">
        <p14:creationId xmlns:p14="http://schemas.microsoft.com/office/powerpoint/2010/main" val="29556469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4EFE9E-0483-36ED-9F4D-A49C3DEB4C2A}"/>
              </a:ext>
            </a:extLst>
          </p:cNvPr>
          <p:cNvSpPr>
            <a:spLocks noGrp="1"/>
          </p:cNvSpPr>
          <p:nvPr>
            <p:ph type="title"/>
          </p:nvPr>
        </p:nvSpPr>
        <p:spPr/>
        <p:txBody>
          <a:bodyPr/>
          <a:lstStyle/>
          <a:p>
            <a:r>
              <a:rPr lang="en-GB" dirty="0"/>
              <a:t>Delayed feedback</a:t>
            </a:r>
            <a:endParaRPr lang="es-ES" dirty="0"/>
          </a:p>
        </p:txBody>
      </p:sp>
      <p:sp>
        <p:nvSpPr>
          <p:cNvPr id="3" name="Content Placeholder 2">
            <a:extLst>
              <a:ext uri="{FF2B5EF4-FFF2-40B4-BE49-F238E27FC236}">
                <a16:creationId xmlns:a16="http://schemas.microsoft.com/office/drawing/2014/main" xmlns="" id="{41845C5E-5563-B49B-1DD0-0DEEB1EB0B4F}"/>
              </a:ext>
            </a:extLst>
          </p:cNvPr>
          <p:cNvSpPr>
            <a:spLocks noGrp="1"/>
          </p:cNvSpPr>
          <p:nvPr>
            <p:ph idx="1"/>
          </p:nvPr>
        </p:nvSpPr>
        <p:spPr/>
        <p:txBody>
          <a:bodyPr/>
          <a:lstStyle/>
          <a:p>
            <a:endParaRPr lang="es-ES" dirty="0"/>
          </a:p>
        </p:txBody>
      </p:sp>
    </p:spTree>
    <p:extLst>
      <p:ext uri="{BB962C8B-B14F-4D97-AF65-F5344CB8AC3E}">
        <p14:creationId xmlns:p14="http://schemas.microsoft.com/office/powerpoint/2010/main" val="20979536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1329</Words>
  <Application>Microsoft Office PowerPoint</Application>
  <PresentationFormat>Panorámica</PresentationFormat>
  <Paragraphs>108</Paragraphs>
  <Slides>17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17</vt:i4>
      </vt:variant>
    </vt:vector>
  </HeadingPairs>
  <TitlesOfParts>
    <vt:vector size="21" baseType="lpstr">
      <vt:lpstr>Arial</vt:lpstr>
      <vt:lpstr>Calibri</vt:lpstr>
      <vt:lpstr>Calibri Light</vt:lpstr>
      <vt:lpstr>Office Theme</vt:lpstr>
      <vt:lpstr>The media and the climate</vt:lpstr>
      <vt:lpstr>Warm up – Read the article</vt:lpstr>
      <vt:lpstr>Presentación de PowerPoint</vt:lpstr>
      <vt:lpstr>Presentación de PowerPoint</vt:lpstr>
      <vt:lpstr>Presentación de PowerPoint</vt:lpstr>
      <vt:lpstr>Summary </vt:lpstr>
      <vt:lpstr>Conversation questions</vt:lpstr>
      <vt:lpstr>Framing</vt:lpstr>
      <vt:lpstr>Key aspects of framing in media include:</vt:lpstr>
      <vt:lpstr>Presentación de PowerPoint</vt:lpstr>
      <vt:lpstr>Can you find anything untrue or misleading?</vt:lpstr>
      <vt:lpstr>How cooling towers work</vt:lpstr>
      <vt:lpstr>Discussion points – Choose topics</vt:lpstr>
      <vt:lpstr>Discussion points – Choose topics</vt:lpstr>
      <vt:lpstr>Discussion points – Choose topics</vt:lpstr>
      <vt:lpstr>Discussion points – Choose topics</vt:lpstr>
      <vt:lpstr>Delayed feedback</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media and the climate</dc:title>
  <dc:creator>Theo Clarke</dc:creator>
  <cp:lastModifiedBy>JaviRo</cp:lastModifiedBy>
  <cp:revision>4</cp:revision>
  <dcterms:created xsi:type="dcterms:W3CDTF">2024-01-04T14:46:56Z</dcterms:created>
  <dcterms:modified xsi:type="dcterms:W3CDTF">2025-01-02T10:30:32Z</dcterms:modified>
</cp:coreProperties>
</file>