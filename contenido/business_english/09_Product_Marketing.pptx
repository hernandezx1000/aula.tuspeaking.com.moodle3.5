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9" r:id="rId2"/>
    <p:sldMasterId id="2147483705" r:id="rId3"/>
    <p:sldMasterId id="2147483724" r:id="rId4"/>
  </p:sldMasterIdLst>
  <p:notesMasterIdLst>
    <p:notesMasterId r:id="rId22"/>
  </p:notesMasterIdLst>
  <p:sldIdLst>
    <p:sldId id="27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7" r:id="rId13"/>
    <p:sldId id="258" r:id="rId14"/>
    <p:sldId id="259" r:id="rId15"/>
    <p:sldId id="260" r:id="rId16"/>
    <p:sldId id="261" r:id="rId17"/>
    <p:sldId id="262" r:id="rId18"/>
    <p:sldId id="271" r:id="rId19"/>
    <p:sldId id="272" r:id="rId20"/>
    <p:sldId id="273" r:id="rId2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345A6-D71C-42F2-B0AA-DF14F8348CDA}" v="19" dt="2023-09-06T05:02:43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43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Answers such as; 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Market research, customer feedback, and the use of predictive analytics can all give a clear understanding of customers' needs and preferences.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</a:rPr>
              <a:t>2. 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customer-focused approach that highlights how the product solves their problems, combined with clear and concise messaging that uses compelling visual aids, can help to communicate the benefits effectively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4800600" y="1304884"/>
            <a:ext cx="9829800" cy="692471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487489" y="220719"/>
            <a:ext cx="0" cy="1917250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6350818" y="2"/>
            <a:ext cx="2735690" cy="1521342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12250434" y="2"/>
            <a:ext cx="1362079" cy="573596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882854" y="617878"/>
            <a:ext cx="2872021" cy="27941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3539688"/>
            <a:ext cx="1423741" cy="212598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847620" y="5044113"/>
            <a:ext cx="4900120" cy="490012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/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/>
          <a:lstStyle>
            <a:lvl1pPr marL="0" indent="0" algn="r">
              <a:buNone/>
              <a:defRPr sz="28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68623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587027" y="1342837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10420465" y="1129378"/>
            <a:ext cx="3585479" cy="358547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1092058" y="5737190"/>
            <a:ext cx="655320" cy="655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/>
          <a:lstStyle>
            <a:lvl1pPr marL="0" indent="0">
              <a:buNone/>
              <a:defRPr/>
            </a:lvl1pPr>
            <a:lvl2pPr marL="274320">
              <a:defRPr/>
            </a:lvl2pPr>
            <a:lvl3pPr marL="54864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410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40575" y="1380252"/>
            <a:ext cx="2648455" cy="264501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33559" y="3095620"/>
            <a:ext cx="3716168" cy="3716168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12299544" y="1866081"/>
            <a:ext cx="983164" cy="9564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9108107" y="4841272"/>
            <a:ext cx="1052045" cy="1052045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2555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526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3379115" y="178715"/>
            <a:ext cx="7872170" cy="78721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2992943" y="-34202"/>
            <a:ext cx="8179514" cy="817951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9798501" y="6290386"/>
            <a:ext cx="911284" cy="886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27" y="1656893"/>
            <a:ext cx="6671462" cy="3017520"/>
          </a:xfrm>
        </p:spPr>
        <p:txBody>
          <a:bodyPr anchor="b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127" y="4893869"/>
            <a:ext cx="6671462" cy="1843430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bg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334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91" y="2293315"/>
            <a:ext cx="1179576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48244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047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93315"/>
            <a:ext cx="1261872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26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6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44720"/>
            <a:ext cx="7108610" cy="7108610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0365" y="5255971"/>
            <a:ext cx="6046013" cy="855878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TuSpeaking 2023,  All rights reserved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Personal information 1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white"/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437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556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986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3754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43754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8010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78010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98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1511" y="3273276"/>
            <a:ext cx="5148888" cy="4956325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3932" y="1"/>
            <a:ext cx="4223173" cy="3609491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12504683" y="1637679"/>
            <a:ext cx="1136986" cy="1106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7240966" y="-807768"/>
            <a:ext cx="4825432" cy="48254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8" y="438912"/>
            <a:ext cx="614476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97" y="2194560"/>
            <a:ext cx="6111850" cy="5223053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/>
            </a:lvl2pPr>
            <a:lvl3pPr marL="548640">
              <a:defRPr/>
            </a:lvl3pPr>
            <a:lvl4pPr marL="8229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971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848871" y="1017120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636635" y="1"/>
            <a:ext cx="1386170" cy="709211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4753814" y="-1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1" y="3524197"/>
            <a:ext cx="191689" cy="663595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7002780"/>
            <a:ext cx="1857816" cy="122682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4086068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4959566" y="7510507"/>
            <a:ext cx="1879128" cy="71909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866" y="148132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18995" y="7627621"/>
            <a:ext cx="1854403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8858" y="7627621"/>
            <a:ext cx="4937760" cy="438150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7747" y="7627621"/>
            <a:ext cx="1020470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1"/>
            <a:ext cx="5650992" cy="2106778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 sz="2160"/>
            </a:lvl2pPr>
            <a:lvl3pPr marL="548640">
              <a:defRPr sz="216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793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949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09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8015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4561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318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4800600" y="1304884"/>
            <a:ext cx="9829800" cy="692471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487489" y="220719"/>
            <a:ext cx="0" cy="1917250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6350818" y="2"/>
            <a:ext cx="2735690" cy="1521342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12250434" y="2"/>
            <a:ext cx="1362079" cy="573596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882854" y="617878"/>
            <a:ext cx="2872021" cy="27941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3539688"/>
            <a:ext cx="1423741" cy="212598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847620" y="5044113"/>
            <a:ext cx="4900120" cy="490012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/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/>
          <a:lstStyle>
            <a:lvl1pPr marL="0" indent="0" algn="r">
              <a:buNone/>
              <a:defRPr sz="28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6500815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587027" y="1342837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10420465" y="1129378"/>
            <a:ext cx="3585479" cy="358547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1092058" y="5737190"/>
            <a:ext cx="655320" cy="655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/>
          <a:lstStyle>
            <a:lvl1pPr marL="0" indent="0">
              <a:buNone/>
              <a:defRPr/>
            </a:lvl1pPr>
            <a:lvl2pPr marL="274320">
              <a:defRPr/>
            </a:lvl2pPr>
            <a:lvl3pPr marL="54864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024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40575" y="1380252"/>
            <a:ext cx="2648455" cy="264501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33559" y="3095620"/>
            <a:ext cx="3716168" cy="3716168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12299544" y="1866081"/>
            <a:ext cx="983164" cy="9564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9108107" y="4841272"/>
            <a:ext cx="1052045" cy="1052045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230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7978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3379115" y="178715"/>
            <a:ext cx="7872170" cy="78721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2992943" y="-34202"/>
            <a:ext cx="8179514" cy="817951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9798501" y="6290386"/>
            <a:ext cx="911284" cy="886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27" y="1656893"/>
            <a:ext cx="6671462" cy="3017520"/>
          </a:xfrm>
        </p:spPr>
        <p:txBody>
          <a:bodyPr anchor="b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127" y="4893869"/>
            <a:ext cx="6671462" cy="1843430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bg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2234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91" y="2293315"/>
            <a:ext cx="1179576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48244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2554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93315"/>
            <a:ext cx="1261872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152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6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44720"/>
            <a:ext cx="7108610" cy="7108610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0365" y="5255971"/>
            <a:ext cx="6046013" cy="855878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TuSpeaking 2023,  All rights reserved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Personal information 1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white"/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0550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6137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4693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3754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43754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8010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78010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7254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1511" y="3273276"/>
            <a:ext cx="5148888" cy="4956325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3932" y="1"/>
            <a:ext cx="4223173" cy="3609491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12504683" y="1637679"/>
            <a:ext cx="1136986" cy="1106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7240966" y="-807768"/>
            <a:ext cx="4825432" cy="48254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8" y="438912"/>
            <a:ext cx="614476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97" y="2194560"/>
            <a:ext cx="6111850" cy="5223053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/>
            </a:lvl2pPr>
            <a:lvl3pPr marL="548640">
              <a:defRPr/>
            </a:lvl3pPr>
            <a:lvl4pPr marL="8229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6504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848871" y="1017120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636635" y="1"/>
            <a:ext cx="1386170" cy="709211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4753814" y="-1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1" y="3524197"/>
            <a:ext cx="191689" cy="663595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7002780"/>
            <a:ext cx="1857816" cy="122682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4086068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4959566" y="7510507"/>
            <a:ext cx="1879128" cy="71909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866" y="148132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18995" y="7627621"/>
            <a:ext cx="1854403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8858" y="7627621"/>
            <a:ext cx="4937760" cy="438150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7747" y="7627621"/>
            <a:ext cx="1020470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1"/>
            <a:ext cx="5650992" cy="2106778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 sz="2160"/>
            </a:lvl2pPr>
            <a:lvl3pPr marL="548640">
              <a:defRPr sz="216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35800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8414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4342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06664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65516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2208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4800600" y="1304884"/>
            <a:ext cx="9829800" cy="692471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487489" y="220719"/>
            <a:ext cx="0" cy="1917250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6350818" y="2"/>
            <a:ext cx="2735690" cy="1521342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12250434" y="2"/>
            <a:ext cx="1362079" cy="573596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882854" y="617878"/>
            <a:ext cx="2872021" cy="27941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3539688"/>
            <a:ext cx="1423741" cy="212598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847620" y="5044113"/>
            <a:ext cx="4900120" cy="490012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/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/>
          <a:lstStyle>
            <a:lvl1pPr marL="0" indent="0" algn="r">
              <a:buNone/>
              <a:defRPr sz="28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260909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587027" y="1342837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10420465" y="1129378"/>
            <a:ext cx="3585479" cy="358547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1092058" y="5737190"/>
            <a:ext cx="655320" cy="655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/>
          <a:lstStyle>
            <a:lvl1pPr marL="0" indent="0">
              <a:buNone/>
              <a:defRPr/>
            </a:lvl1pPr>
            <a:lvl2pPr marL="274320">
              <a:defRPr/>
            </a:lvl2pPr>
            <a:lvl3pPr marL="54864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11126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40575" y="1380252"/>
            <a:ext cx="2648455" cy="264501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33559" y="3095620"/>
            <a:ext cx="3716168" cy="3716168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12299544" y="1866081"/>
            <a:ext cx="983164" cy="9564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9108107" y="4841272"/>
            <a:ext cx="1052045" cy="1052045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67208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7465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3379115" y="178715"/>
            <a:ext cx="7872170" cy="78721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2992943" y="-34202"/>
            <a:ext cx="8179514" cy="817951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9798501" y="6290386"/>
            <a:ext cx="911284" cy="886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27" y="1656893"/>
            <a:ext cx="6671462" cy="3017520"/>
          </a:xfrm>
        </p:spPr>
        <p:txBody>
          <a:bodyPr anchor="b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127" y="4893869"/>
            <a:ext cx="6671462" cy="1843430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bg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18406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91" y="2293315"/>
            <a:ext cx="1179576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48244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48354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93315"/>
            <a:ext cx="1261872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80555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6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44720"/>
            <a:ext cx="7108610" cy="7108610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0365" y="5255971"/>
            <a:ext cx="6046013" cy="855878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TuSpeaking 2023,  All rights reserved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Personal information 1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212558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8734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84513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3754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43754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8010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78010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58589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1511" y="3273276"/>
            <a:ext cx="5148888" cy="4956325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3932" y="1"/>
            <a:ext cx="4223173" cy="3609491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12504683" y="1637679"/>
            <a:ext cx="1136986" cy="1106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7240966" y="-807768"/>
            <a:ext cx="4825432" cy="48254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8" y="438912"/>
            <a:ext cx="614476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97" y="2194560"/>
            <a:ext cx="6111850" cy="5223053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/>
            </a:lvl2pPr>
            <a:lvl3pPr marL="548640">
              <a:defRPr/>
            </a:lvl3pPr>
            <a:lvl4pPr marL="8229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31578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848871" y="1017120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636635" y="1"/>
            <a:ext cx="1386170" cy="709211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4753814" y="-1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1" y="3524197"/>
            <a:ext cx="191689" cy="663595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7002780"/>
            <a:ext cx="1857816" cy="122682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4086068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4959566" y="7510507"/>
            <a:ext cx="1879128" cy="71909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866" y="148132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18995" y="7627621"/>
            <a:ext cx="1854403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8858" y="7627621"/>
            <a:ext cx="4937760" cy="438150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7747" y="7627621"/>
            <a:ext cx="1020470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1"/>
            <a:ext cx="5650992" cy="2106778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 sz="2160"/>
            </a:lvl2pPr>
            <a:lvl3pPr marL="548640">
              <a:defRPr sz="216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80271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14554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21630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3480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26391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6619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/>
        </p:nvSpPr>
        <p:spPr>
          <a:xfrm>
            <a:off x="4800600" y="1304884"/>
            <a:ext cx="9829800" cy="692471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/>
        </p:nvCxnSpPr>
        <p:spPr>
          <a:xfrm>
            <a:off x="487489" y="220719"/>
            <a:ext cx="0" cy="1917250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/>
        </p:nvSpPr>
        <p:spPr>
          <a:xfrm>
            <a:off x="6350818" y="2"/>
            <a:ext cx="2735690" cy="1521342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/>
        </p:nvSpPr>
        <p:spPr>
          <a:xfrm>
            <a:off x="12250434" y="2"/>
            <a:ext cx="1362079" cy="573596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/>
        </p:nvSpPr>
        <p:spPr>
          <a:xfrm>
            <a:off x="1882854" y="617878"/>
            <a:ext cx="2872021" cy="279410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/>
        </p:nvSpPr>
        <p:spPr>
          <a:xfrm flipH="1">
            <a:off x="1" y="3539688"/>
            <a:ext cx="1423741" cy="212598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/>
        </p:nvSpPr>
        <p:spPr>
          <a:xfrm rot="16200000">
            <a:off x="1847620" y="5044113"/>
            <a:ext cx="4900120" cy="4900120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50" y="3291840"/>
            <a:ext cx="7911389" cy="2863901"/>
          </a:xfrm>
        </p:spPr>
        <p:txBody>
          <a:bodyPr anchor="b"/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1850" y="6265469"/>
            <a:ext cx="7911389" cy="1196035"/>
          </a:xfrm>
        </p:spPr>
        <p:txBody>
          <a:bodyPr/>
          <a:lstStyle>
            <a:lvl1pPr marL="0" indent="0" algn="r">
              <a:buNone/>
              <a:defRPr sz="288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02883656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/>
        </p:nvSpPr>
        <p:spPr>
          <a:xfrm>
            <a:off x="587027" y="1342837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/>
        </p:nvSpPr>
        <p:spPr>
          <a:xfrm rot="19809111">
            <a:off x="10420465" y="1129378"/>
            <a:ext cx="3585479" cy="358547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/>
        </p:nvSpPr>
        <p:spPr>
          <a:xfrm>
            <a:off x="1092058" y="5737190"/>
            <a:ext cx="655320" cy="655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9" y="167883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783" y="1832458"/>
            <a:ext cx="6133795" cy="4718304"/>
          </a:xfrm>
        </p:spPr>
        <p:txBody>
          <a:bodyPr anchor="ctr"/>
          <a:lstStyle>
            <a:lvl1pPr marL="0" indent="0">
              <a:buNone/>
              <a:defRPr/>
            </a:lvl1pPr>
            <a:lvl2pPr marL="274320">
              <a:defRPr/>
            </a:lvl2pPr>
            <a:lvl3pPr marL="54864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50D7D42C-B56E-2002-0498-CE88D769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93659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40575" y="1380252"/>
            <a:ext cx="2648455" cy="2645014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33559" y="3095620"/>
            <a:ext cx="3716168" cy="3716168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/>
        </p:nvSpPr>
        <p:spPr>
          <a:xfrm>
            <a:off x="12299544" y="1866081"/>
            <a:ext cx="983164" cy="9564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/>
        </p:nvSpPr>
        <p:spPr>
          <a:xfrm>
            <a:off x="9108107" y="4841272"/>
            <a:ext cx="1052045" cy="1052045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DF0731B2-198C-03B1-6C26-17F767EE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69615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 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0689" y="857874"/>
            <a:ext cx="6673458" cy="6483926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49"/>
            <a:ext cx="696772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5" y="2190750"/>
            <a:ext cx="6967728" cy="52230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880"/>
            </a:lvl1pPr>
            <a:lvl2pPr marL="274320">
              <a:lnSpc>
                <a:spcPct val="110000"/>
              </a:lnSpc>
              <a:defRPr sz="2400"/>
            </a:lvl2pPr>
            <a:lvl3pPr marL="548640">
              <a:lnSpc>
                <a:spcPct val="110000"/>
              </a:lnSpc>
              <a:defRPr sz="2160"/>
            </a:lvl3pPr>
            <a:lvl4pPr marL="822960">
              <a:lnSpc>
                <a:spcPct val="110000"/>
              </a:lnSpc>
              <a:defRPr sz="192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6B19892D-C6FC-6DEA-BC94-7ACF19FF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96146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/>
        </p:nvSpPr>
        <p:spPr>
          <a:xfrm>
            <a:off x="3379115" y="178715"/>
            <a:ext cx="7872170" cy="78721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/>
        </p:nvSpPr>
        <p:spPr>
          <a:xfrm rot="9222429" flipV="1">
            <a:off x="2992943" y="-34202"/>
            <a:ext cx="8179514" cy="8179514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/>
        </p:nvSpPr>
        <p:spPr>
          <a:xfrm>
            <a:off x="9798501" y="6290386"/>
            <a:ext cx="911284" cy="88656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27" y="1656893"/>
            <a:ext cx="6671462" cy="3017520"/>
          </a:xfrm>
        </p:spPr>
        <p:txBody>
          <a:bodyPr anchor="b"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127" y="4893869"/>
            <a:ext cx="6671462" cy="1843430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bg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  Description automatically generated">
            <a:extLst>
              <a:ext uri="{FF2B5EF4-FFF2-40B4-BE49-F238E27FC236}">
                <a16:creationId xmlns:a16="http://schemas.microsoft.com/office/drawing/2014/main" id="{C4E608A4-5FE4-007F-03B2-71BFE7A8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24552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5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91" y="2293315"/>
            <a:ext cx="1179576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48244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E5919BF-BCFB-D7D2-4275-4DB20EEC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52712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93315"/>
            <a:ext cx="12618720" cy="4631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Logo  Description automatically generated">
            <a:extLst>
              <a:ext uri="{FF2B5EF4-FFF2-40B4-BE49-F238E27FC236}">
                <a16:creationId xmlns:a16="http://schemas.microsoft.com/office/drawing/2014/main" id="{9FDA2D69-3D2E-7CC9-65E2-48E1AF03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76639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6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444720"/>
            <a:ext cx="7108610" cy="7108610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0365" y="5255971"/>
            <a:ext cx="6046013" cy="855878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TuSpeaking 2023,  All rights reserved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white"/>
                </a:solidFill>
              </a:rPr>
              <a:t>Personal information 1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919020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D6941D18-88EA-EE13-DA04-12834369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75226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>
            <a:normAutofit/>
          </a:bodyPr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59CDC33D-E4B8-82EA-FCC7-0F88F8DA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53676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3754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43754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78010" y="2017396"/>
            <a:ext cx="39502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678010" y="3006090"/>
            <a:ext cx="3950208" cy="44215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54132E07-6B69-FD48-AF4F-207926113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8644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81511" y="3273276"/>
            <a:ext cx="5148888" cy="4956325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13932" y="1"/>
            <a:ext cx="4223173" cy="3609491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16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/>
        </p:nvSpPr>
        <p:spPr>
          <a:xfrm>
            <a:off x="12504683" y="1637679"/>
            <a:ext cx="1136986" cy="1106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/>
        </p:nvSpPr>
        <p:spPr>
          <a:xfrm rot="4759070" flipV="1">
            <a:off x="7240966" y="-807768"/>
            <a:ext cx="4825432" cy="48254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98" y="438912"/>
            <a:ext cx="6144768" cy="1591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97" y="2194560"/>
            <a:ext cx="6111850" cy="5223053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/>
            </a:lvl2pPr>
            <a:lvl3pPr marL="548640">
              <a:defRPr/>
            </a:lvl3pPr>
            <a:lvl4pPr marL="82296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4B18F1F-BB25-6E8B-718B-1E6EE792B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80116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/>
        </p:nvSpPr>
        <p:spPr>
          <a:xfrm>
            <a:off x="848871" y="1017120"/>
            <a:ext cx="5543926" cy="55439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/>
        </p:nvSpPr>
        <p:spPr>
          <a:xfrm flipH="1">
            <a:off x="636635" y="1"/>
            <a:ext cx="1386170" cy="709211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/>
        </p:nvSpPr>
        <p:spPr>
          <a:xfrm flipH="1">
            <a:off x="4753814" y="-1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/>
        </p:nvSpPr>
        <p:spPr>
          <a:xfrm flipH="1">
            <a:off x="1" y="3524197"/>
            <a:ext cx="191689" cy="663595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/>
        </p:nvSpPr>
        <p:spPr>
          <a:xfrm flipH="1">
            <a:off x="0" y="7002780"/>
            <a:ext cx="1857816" cy="122682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/>
        </p:nvSpPr>
        <p:spPr>
          <a:xfrm flipH="1">
            <a:off x="4086068" y="6861487"/>
            <a:ext cx="2125931" cy="1368114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/>
        </p:nvSpPr>
        <p:spPr>
          <a:xfrm flipH="1">
            <a:off x="4959566" y="7510507"/>
            <a:ext cx="1879128" cy="71909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866" y="1481328"/>
            <a:ext cx="3884371" cy="488289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18995" y="7627621"/>
            <a:ext cx="1854403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8858" y="7627621"/>
            <a:ext cx="4937760" cy="438150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7747" y="7627621"/>
            <a:ext cx="1020470" cy="43815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9171" y="3061411"/>
            <a:ext cx="5650992" cy="2106778"/>
          </a:xfrm>
        </p:spPr>
        <p:txBody>
          <a:bodyPr/>
          <a:lstStyle>
            <a:lvl1pPr marL="0" indent="0">
              <a:buNone/>
              <a:defRPr sz="2880"/>
            </a:lvl1pPr>
            <a:lvl2pPr marL="274320">
              <a:defRPr sz="2160"/>
            </a:lvl2pPr>
            <a:lvl3pPr marL="548640">
              <a:defRPr sz="216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 descr="Logo  Description automatically generated">
            <a:extLst>
              <a:ext uri="{FF2B5EF4-FFF2-40B4-BE49-F238E27FC236}">
                <a16:creationId xmlns:a16="http://schemas.microsoft.com/office/drawing/2014/main" id="{6DFFC9EE-3430-9BF8-F5F9-E9A9D9E0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41051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Logo  Description automatically generated">
            <a:extLst>
              <a:ext uri="{FF2B5EF4-FFF2-40B4-BE49-F238E27FC236}">
                <a16:creationId xmlns:a16="http://schemas.microsoft.com/office/drawing/2014/main" id="{2F5302F5-B6A7-DA9A-672B-BC62F4D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34819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78AB3098-5EC9-C275-0EDB-E83545E1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39721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E4FA05E5-0669-BBF8-8E37-FF315706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93794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466719" y="5809433"/>
            <a:ext cx="2084881" cy="1151443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2593319" y="2"/>
            <a:ext cx="1019194" cy="429202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B14C3C37-633F-54AF-8613-783EB1E4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814" y="390192"/>
            <a:ext cx="1964135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58429"/>
      </p:ext>
    </p:extLst>
  </p:cSld>
  <p:clrMapOvr>
    <a:masterClrMapping/>
  </p:clrMapOvr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48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6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3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08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TuSpeaking 2023,  All rights reserved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</a:rPr>
              <a:t>Personal information 1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defTabSz="1097280"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097280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84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A4BE52-F232-49E4-EF4E-1B7375E6A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Business English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F15C499-DAFA-8E4B-4C72-D7DDC8A66B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err="1"/>
              <a:t>Tuspeaking</a:t>
            </a:r>
            <a:endParaRPr lang="en-ZA" dirty="0"/>
          </a:p>
        </p:txBody>
      </p:sp>
      <p:pic>
        <p:nvPicPr>
          <p:cNvPr id="6" name="Picture 5" descr="Icon  Description automatically generated">
            <a:extLst>
              <a:ext uri="{FF2B5EF4-FFF2-40B4-BE49-F238E27FC236}">
                <a16:creationId xmlns:a16="http://schemas.microsoft.com/office/drawing/2014/main" id="{E9A3FF6B-DAAA-5952-1893-90CCCF66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865" y="1314450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4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4D62B3-9878-43ED-557D-0C491931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81328"/>
            <a:ext cx="5099538" cy="488289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Product Marketing - Describing What My Company Offers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D475B3-93E2-D100-DB3D-E7A05F67A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924" y="1951394"/>
            <a:ext cx="5650992" cy="2106778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Discover how to articulate the features and benefits of a product and how they address customers' needs and pain points. Let's dive in!</a:t>
            </a:r>
            <a:endParaRPr lang="en-US" sz="3200" dirty="0"/>
          </a:p>
          <a:p>
            <a:endParaRPr lang="en-ZA" sz="3200" dirty="0"/>
          </a:p>
          <a:p>
            <a:endParaRPr lang="en-US" dirty="0"/>
          </a:p>
        </p:txBody>
      </p:sp>
      <p:pic>
        <p:nvPicPr>
          <p:cNvPr id="5" name="Picture 4" descr="Hand placing stars">
            <a:extLst>
              <a:ext uri="{FF2B5EF4-FFF2-40B4-BE49-F238E27FC236}">
                <a16:creationId xmlns:a16="http://schemas.microsoft.com/office/drawing/2014/main" id="{C32A012F-7CE6-1A45-884E-DCD3D33BA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629" y="5048136"/>
            <a:ext cx="4495582" cy="2868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Multi-colored graph blocks">
            <a:extLst>
              <a:ext uri="{FF2B5EF4-FFF2-40B4-BE49-F238E27FC236}">
                <a16:creationId xmlns:a16="http://schemas.microsoft.com/office/drawing/2014/main" id="{1DCE3240-FEAE-765D-0F0A-AA8EF8AE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420" y="4090363"/>
            <a:ext cx="2864752" cy="18259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87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EE8DAD4D-434E-51D4-85E0-3183374201AE}"/>
              </a:ext>
            </a:extLst>
          </p:cNvPr>
          <p:cNvSpPr/>
          <p:nvPr/>
        </p:nvSpPr>
        <p:spPr>
          <a:xfrm>
            <a:off x="809268" y="589044"/>
            <a:ext cx="7965996" cy="66929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10"/>
              </a:lnSpc>
              <a:buNone/>
            </a:pPr>
            <a:r>
              <a:rPr lang="en-US" sz="4248" b="1" kern="0" spc="-127" dirty="0">
                <a:latin typeface="Inter" pitchFamily="34" charset="0"/>
                <a:ea typeface="Inter" pitchFamily="34" charset="-122"/>
                <a:cs typeface="Inter" pitchFamily="34" charset="-120"/>
              </a:rPr>
              <a:t>Why Product Marketing Matters</a:t>
            </a:r>
            <a:endParaRPr lang="en-US" sz="4248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47C5F04-CB1A-2BCA-8C26-504213A8406E}"/>
              </a:ext>
            </a:extLst>
          </p:cNvPr>
          <p:cNvSpPr/>
          <p:nvPr/>
        </p:nvSpPr>
        <p:spPr>
          <a:xfrm>
            <a:off x="809268" y="1686765"/>
            <a:ext cx="13011864" cy="685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19"/>
              </a:lnSpc>
              <a:buNone/>
            </a:pPr>
            <a:r>
              <a:rPr lang="en-US" sz="1699" kern="0" spc="-34" dirty="0">
                <a:latin typeface="Inter" pitchFamily="34" charset="0"/>
                <a:ea typeface="Inter" pitchFamily="34" charset="-122"/>
                <a:cs typeface="Inter" pitchFamily="34" charset="-120"/>
              </a:rPr>
              <a:t>Effective product marketing is crucial to maximizing sales and growing your business. Learn why it's so important and how to do it well.</a:t>
            </a:r>
            <a:endParaRPr lang="en-US" sz="1699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1B42B9D1-799B-3C79-B82D-70916C6A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68" y="2613234"/>
            <a:ext cx="4121468" cy="2528494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307CF87E-75E8-D07A-E3E8-3ECAC7884389}"/>
              </a:ext>
            </a:extLst>
          </p:cNvPr>
          <p:cNvSpPr/>
          <p:nvPr/>
        </p:nvSpPr>
        <p:spPr>
          <a:xfrm>
            <a:off x="809268" y="5409421"/>
            <a:ext cx="4121468" cy="669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55"/>
              </a:lnSpc>
              <a:buNone/>
            </a:pPr>
            <a:r>
              <a:rPr lang="en-US" sz="2124" b="1" kern="0" spc="-64" dirty="0">
                <a:latin typeface="Inter" pitchFamily="34" charset="0"/>
                <a:ea typeface="Inter" pitchFamily="34" charset="-122"/>
                <a:cs typeface="Inter" pitchFamily="34" charset="-120"/>
              </a:rPr>
              <a:t>Understanding Your Target Market</a:t>
            </a:r>
            <a:endParaRPr lang="en-US" sz="2124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3F27994-6ACA-8F17-EE36-5670A1827713}"/>
              </a:ext>
            </a:extLst>
          </p:cNvPr>
          <p:cNvSpPr/>
          <p:nvPr/>
        </p:nvSpPr>
        <p:spPr>
          <a:xfrm>
            <a:off x="809268" y="6292987"/>
            <a:ext cx="4121468" cy="1028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19"/>
              </a:lnSpc>
              <a:buNone/>
            </a:pPr>
            <a:r>
              <a:rPr lang="en-US" sz="1699" kern="0" spc="-34" dirty="0">
                <a:latin typeface="Inter" pitchFamily="34" charset="0"/>
                <a:ea typeface="Inter" pitchFamily="34" charset="-122"/>
                <a:cs typeface="Inter" pitchFamily="34" charset="-120"/>
              </a:rPr>
              <a:t>Identifying your target market helps you tailor your message and product offerings to their specific needs and preferences.</a:t>
            </a:r>
            <a:endParaRPr lang="en-US" sz="1699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FD5043B-49C8-9CEF-2E34-DDCD7D766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347" y="2613234"/>
            <a:ext cx="4121587" cy="2528494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5EACEA4D-8D52-381E-4649-FABF8E035D44}"/>
              </a:ext>
            </a:extLst>
          </p:cNvPr>
          <p:cNvSpPr/>
          <p:nvPr/>
        </p:nvSpPr>
        <p:spPr>
          <a:xfrm>
            <a:off x="5254347" y="5409421"/>
            <a:ext cx="3651528" cy="3347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5"/>
              </a:lnSpc>
              <a:buNone/>
            </a:pPr>
            <a:r>
              <a:rPr lang="en-US" sz="2124" b="1" kern="0" spc="-64" dirty="0">
                <a:latin typeface="Inter" pitchFamily="34" charset="0"/>
                <a:ea typeface="Inter" pitchFamily="34" charset="-122"/>
                <a:cs typeface="Inter" pitchFamily="34" charset="-120"/>
              </a:rPr>
              <a:t>Highlighting Product Features</a:t>
            </a:r>
            <a:endParaRPr lang="en-US" sz="2124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8A9239D-4B9B-D45C-9ADD-22763397C92A}"/>
              </a:ext>
            </a:extLst>
          </p:cNvPr>
          <p:cNvSpPr/>
          <p:nvPr/>
        </p:nvSpPr>
        <p:spPr>
          <a:xfrm>
            <a:off x="5254347" y="5958281"/>
            <a:ext cx="4121587" cy="1028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19"/>
              </a:lnSpc>
              <a:buNone/>
            </a:pPr>
            <a:r>
              <a:rPr lang="en-US" sz="1699" kern="0" spc="-34" dirty="0">
                <a:latin typeface="Inter" pitchFamily="34" charset="0"/>
                <a:ea typeface="Inter" pitchFamily="34" charset="-122"/>
                <a:cs typeface="Inter" pitchFamily="34" charset="-120"/>
              </a:rPr>
              <a:t>Highlighting the unique features of your product helps differentiate it from others and generates interest.</a:t>
            </a:r>
            <a:endParaRPr lang="en-US" sz="1699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111A3EDC-A4DB-9A1F-D971-A08AF5CE3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546" y="2613234"/>
            <a:ext cx="4121587" cy="2528494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A1DFF7D5-1A43-8101-46BA-D9EF7CD1F0F7}"/>
              </a:ext>
            </a:extLst>
          </p:cNvPr>
          <p:cNvSpPr/>
          <p:nvPr/>
        </p:nvSpPr>
        <p:spPr>
          <a:xfrm>
            <a:off x="9699546" y="5409421"/>
            <a:ext cx="4121587" cy="669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55"/>
              </a:lnSpc>
              <a:buNone/>
            </a:pPr>
            <a:r>
              <a:rPr lang="en-US" sz="2124" b="1" kern="0" spc="-64" dirty="0">
                <a:latin typeface="Inter" pitchFamily="34" charset="0"/>
                <a:ea typeface="Inter" pitchFamily="34" charset="-122"/>
                <a:cs typeface="Inter" pitchFamily="34" charset="-120"/>
              </a:rPr>
              <a:t>Crafting A Winning Marketing Strategy</a:t>
            </a:r>
            <a:endParaRPr lang="en-US" sz="2124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D39CDB03-43F1-C4F4-0C7A-89857066D2D2}"/>
              </a:ext>
            </a:extLst>
          </p:cNvPr>
          <p:cNvSpPr/>
          <p:nvPr/>
        </p:nvSpPr>
        <p:spPr>
          <a:xfrm>
            <a:off x="9699546" y="6292987"/>
            <a:ext cx="4121587" cy="1370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19"/>
              </a:lnSpc>
              <a:buNone/>
            </a:pPr>
            <a:r>
              <a:rPr lang="en-US" sz="1699" kern="0" spc="-34" dirty="0">
                <a:latin typeface="Inter" pitchFamily="34" charset="0"/>
                <a:ea typeface="Inter" pitchFamily="34" charset="-122"/>
                <a:cs typeface="Inter" pitchFamily="34" charset="-120"/>
              </a:rPr>
              <a:t>A successful marketing strategy requires careful planning, a deep understanding of your target market, and a message that resonates with them.</a:t>
            </a:r>
            <a:endParaRPr lang="en-US" sz="1699" dirty="0"/>
          </a:p>
        </p:txBody>
      </p:sp>
    </p:spTree>
    <p:extLst>
      <p:ext uri="{BB962C8B-B14F-4D97-AF65-F5344CB8AC3E}">
        <p14:creationId xmlns:p14="http://schemas.microsoft.com/office/powerpoint/2010/main" val="8415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7596DA5-2CD5-6C3D-D5AB-91EF5BA4D0EF}"/>
              </a:ext>
            </a:extLst>
          </p:cNvPr>
          <p:cNvSpPr/>
          <p:nvPr/>
        </p:nvSpPr>
        <p:spPr>
          <a:xfrm>
            <a:off x="833199" y="1205271"/>
            <a:ext cx="8435578" cy="6892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latin typeface="Inter" pitchFamily="34" charset="0"/>
                <a:ea typeface="Inter" pitchFamily="34" charset="-122"/>
                <a:cs typeface="Inter" pitchFamily="34" charset="-120"/>
              </a:rPr>
              <a:t>Identifying Your Target Audience</a:t>
            </a:r>
            <a:endParaRPr lang="en-US" sz="4374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98CE51-E370-16AA-FAF4-E62B2E9CE7C4}"/>
              </a:ext>
            </a:extLst>
          </p:cNvPr>
          <p:cNvSpPr/>
          <p:nvPr/>
        </p:nvSpPr>
        <p:spPr>
          <a:xfrm>
            <a:off x="833199" y="2335612"/>
            <a:ext cx="12964001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Identifying your target audience is crucial to crafting a successful marketing message. Learn how to identify your ideal customer and effectively target them.</a:t>
            </a:r>
            <a:endParaRPr lang="en-US" sz="1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2C255D1-47AE-81DC-430F-298C312AA2F8}"/>
              </a:ext>
            </a:extLst>
          </p:cNvPr>
          <p:cNvSpPr/>
          <p:nvPr/>
        </p:nvSpPr>
        <p:spPr>
          <a:xfrm>
            <a:off x="833199" y="3289264"/>
            <a:ext cx="6370915" cy="1726949"/>
          </a:xfrm>
          <a:prstGeom prst="roundRect">
            <a:avLst>
              <a:gd name="adj" fmla="val 3177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6CFEE9-3172-ABFC-B0C0-094D4E487D1C}"/>
              </a:ext>
            </a:extLst>
          </p:cNvPr>
          <p:cNvSpPr/>
          <p:nvPr/>
        </p:nvSpPr>
        <p:spPr>
          <a:xfrm>
            <a:off x="1062990" y="3517365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Age Group</a:t>
            </a:r>
            <a:endParaRPr lang="en-US" sz="2187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6F08E2-9C70-8A48-19F5-F66604DEA4DF}"/>
              </a:ext>
            </a:extLst>
          </p:cNvPr>
          <p:cNvSpPr/>
          <p:nvPr/>
        </p:nvSpPr>
        <p:spPr>
          <a:xfrm>
            <a:off x="1062990" y="4082535"/>
            <a:ext cx="5911334" cy="3527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Determine the typical age range of your target audience.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2066F0-F10A-1888-DA26-34A9D5BF0355}"/>
              </a:ext>
            </a:extLst>
          </p:cNvPr>
          <p:cNvSpPr/>
          <p:nvPr/>
        </p:nvSpPr>
        <p:spPr>
          <a:xfrm>
            <a:off x="7426285" y="3289264"/>
            <a:ext cx="6370915" cy="1726949"/>
          </a:xfrm>
          <a:prstGeom prst="roundRect">
            <a:avLst>
              <a:gd name="adj" fmla="val 3177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FFD3523-70BA-3F05-9942-2FA5DDF95A5C}"/>
              </a:ext>
            </a:extLst>
          </p:cNvPr>
          <p:cNvSpPr/>
          <p:nvPr/>
        </p:nvSpPr>
        <p:spPr>
          <a:xfrm>
            <a:off x="7656076" y="3517365"/>
            <a:ext cx="3001208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Interests and Behaviors</a:t>
            </a:r>
            <a:endParaRPr lang="en-US" sz="218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8484347-42C6-5F9C-BEBF-78E31318E312}"/>
              </a:ext>
            </a:extLst>
          </p:cNvPr>
          <p:cNvSpPr/>
          <p:nvPr/>
        </p:nvSpPr>
        <p:spPr>
          <a:xfrm>
            <a:off x="7656076" y="4082535"/>
            <a:ext cx="5911334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Understand the interests and behaviors of your target audience to effectively target them.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9D9D71F-1BE7-A05E-377D-56DD177CA37C}"/>
              </a:ext>
            </a:extLst>
          </p:cNvPr>
          <p:cNvSpPr/>
          <p:nvPr/>
        </p:nvSpPr>
        <p:spPr>
          <a:xfrm>
            <a:off x="833199" y="5236750"/>
            <a:ext cx="6370915" cy="1726949"/>
          </a:xfrm>
          <a:prstGeom prst="roundRect">
            <a:avLst>
              <a:gd name="adj" fmla="val 3177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308C92F-DFA3-8C64-6F61-04FA04C59C61}"/>
              </a:ext>
            </a:extLst>
          </p:cNvPr>
          <p:cNvSpPr/>
          <p:nvPr/>
        </p:nvSpPr>
        <p:spPr>
          <a:xfrm>
            <a:off x="1062990" y="5464851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Demographics</a:t>
            </a:r>
            <a:endParaRPr lang="en-US" sz="2187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77B53F-1746-39DD-311F-624F5508A7AC}"/>
              </a:ext>
            </a:extLst>
          </p:cNvPr>
          <p:cNvSpPr/>
          <p:nvPr/>
        </p:nvSpPr>
        <p:spPr>
          <a:xfrm>
            <a:off x="1062990" y="6030021"/>
            <a:ext cx="5911334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Consider the education level, income bracket, and other relevant demographics of your target audience.</a:t>
            </a:r>
            <a:endParaRPr lang="en-US" sz="17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E0A44B3-F8D0-ECFF-075D-E3F55D5BF7D4}"/>
              </a:ext>
            </a:extLst>
          </p:cNvPr>
          <p:cNvSpPr/>
          <p:nvPr/>
        </p:nvSpPr>
        <p:spPr>
          <a:xfrm>
            <a:off x="7426285" y="5236750"/>
            <a:ext cx="6370915" cy="1726949"/>
          </a:xfrm>
          <a:prstGeom prst="roundRect">
            <a:avLst>
              <a:gd name="adj" fmla="val 3177"/>
            </a:avLst>
          </a:prstGeom>
          <a:solidFill>
            <a:schemeClr val="accent2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2DAC3E7-4281-64EF-2FD4-885CB14867D6}"/>
              </a:ext>
            </a:extLst>
          </p:cNvPr>
          <p:cNvSpPr/>
          <p:nvPr/>
        </p:nvSpPr>
        <p:spPr>
          <a:xfrm>
            <a:off x="7656076" y="5464851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218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B6ABADE-EE01-7C1C-5BC7-A84DF65FF8B7}"/>
              </a:ext>
            </a:extLst>
          </p:cNvPr>
          <p:cNvSpPr/>
          <p:nvPr/>
        </p:nvSpPr>
        <p:spPr>
          <a:xfrm>
            <a:off x="7656076" y="6030021"/>
            <a:ext cx="5911334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Understand where your target audience is located to tailor your message to their specific geographic location.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05629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9297143E-EFBF-3DB3-4467-72FF677029BA}"/>
              </a:ext>
            </a:extLst>
          </p:cNvPr>
          <p:cNvSpPr/>
          <p:nvPr/>
        </p:nvSpPr>
        <p:spPr>
          <a:xfrm>
            <a:off x="833199" y="783344"/>
            <a:ext cx="6473309" cy="6892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latin typeface="Inter" pitchFamily="34" charset="0"/>
                <a:ea typeface="Inter" pitchFamily="34" charset="-122"/>
                <a:cs typeface="Inter" pitchFamily="34" charset="-120"/>
              </a:rPr>
              <a:t>Unique Value Proposition</a:t>
            </a:r>
            <a:endParaRPr lang="en-US" sz="4374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3898B63-A2CB-E882-4247-54FC5A3526F6}"/>
              </a:ext>
            </a:extLst>
          </p:cNvPr>
          <p:cNvSpPr/>
          <p:nvPr/>
        </p:nvSpPr>
        <p:spPr>
          <a:xfrm>
            <a:off x="833199" y="1913685"/>
            <a:ext cx="12964001" cy="3527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Learn how to develop your unique value proposition and effectively market your products.</a:t>
            </a:r>
            <a:endParaRPr lang="en-US" sz="175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95B6D68-AC17-576C-8FAF-F442BC239CD3}"/>
              </a:ext>
            </a:extLst>
          </p:cNvPr>
          <p:cNvSpPr/>
          <p:nvPr/>
        </p:nvSpPr>
        <p:spPr>
          <a:xfrm>
            <a:off x="833199" y="4777829"/>
            <a:ext cx="12964001" cy="44084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9B89AB2-384D-C6DF-071B-DC1CCDB7E10F}"/>
              </a:ext>
            </a:extLst>
          </p:cNvPr>
          <p:cNvSpPr/>
          <p:nvPr/>
        </p:nvSpPr>
        <p:spPr>
          <a:xfrm>
            <a:off x="3996392" y="4777829"/>
            <a:ext cx="44410" cy="7718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D93B25A-47A9-44D2-690D-08B92490129D}"/>
              </a:ext>
            </a:extLst>
          </p:cNvPr>
          <p:cNvSpPr/>
          <p:nvPr/>
        </p:nvSpPr>
        <p:spPr>
          <a:xfrm>
            <a:off x="3768685" y="4529755"/>
            <a:ext cx="499943" cy="496267"/>
          </a:xfrm>
          <a:prstGeom prst="roundRect">
            <a:avLst>
              <a:gd name="adj" fmla="val 11055"/>
            </a:avLst>
          </a:prstGeom>
          <a:solidFill>
            <a:srgbClr val="110080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A7C7644-1F1D-6B08-7CE5-A94A012A8B07}"/>
              </a:ext>
            </a:extLst>
          </p:cNvPr>
          <p:cNvSpPr/>
          <p:nvPr/>
        </p:nvSpPr>
        <p:spPr>
          <a:xfrm>
            <a:off x="3939778" y="4571120"/>
            <a:ext cx="157758" cy="413418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79" dirty="0"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1F69CE6-97CC-6AFB-7691-68982DBE56FC}"/>
              </a:ext>
            </a:extLst>
          </p:cNvPr>
          <p:cNvSpPr/>
          <p:nvPr/>
        </p:nvSpPr>
        <p:spPr>
          <a:xfrm>
            <a:off x="1827490" y="5770364"/>
            <a:ext cx="4382333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What Makes Your Product Unique?</a:t>
            </a:r>
            <a:endParaRPr lang="en-US" sz="2187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4A812BC-4BA6-41CB-8383-5357CD718E57}"/>
              </a:ext>
            </a:extLst>
          </p:cNvPr>
          <p:cNvSpPr/>
          <p:nvPr/>
        </p:nvSpPr>
        <p:spPr>
          <a:xfrm>
            <a:off x="1055370" y="6335534"/>
            <a:ext cx="5926574" cy="3527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Determine the unique value proposition of your product.</a:t>
            </a:r>
            <a:endParaRPr lang="en-US" sz="175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96B33DB-E9AA-1EEC-0130-E23FBFA33BB4}"/>
              </a:ext>
            </a:extLst>
          </p:cNvPr>
          <p:cNvSpPr/>
          <p:nvPr/>
        </p:nvSpPr>
        <p:spPr>
          <a:xfrm>
            <a:off x="7292876" y="4005950"/>
            <a:ext cx="44410" cy="7718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154779C-5147-7F07-3039-CD25B62C56BC}"/>
              </a:ext>
            </a:extLst>
          </p:cNvPr>
          <p:cNvSpPr/>
          <p:nvPr/>
        </p:nvSpPr>
        <p:spPr>
          <a:xfrm>
            <a:off x="7065169" y="4529755"/>
            <a:ext cx="499943" cy="496267"/>
          </a:xfrm>
          <a:prstGeom prst="roundRect">
            <a:avLst>
              <a:gd name="adj" fmla="val 11055"/>
            </a:avLst>
          </a:prstGeom>
          <a:solidFill>
            <a:srgbClr val="110080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B2E0C0E-51A1-BB9F-B89D-E67316A73B98}"/>
              </a:ext>
            </a:extLst>
          </p:cNvPr>
          <p:cNvSpPr/>
          <p:nvPr/>
        </p:nvSpPr>
        <p:spPr>
          <a:xfrm>
            <a:off x="7217212" y="4571120"/>
            <a:ext cx="195858" cy="413418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79" dirty="0"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24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7375EE68-B14E-0A1E-156B-6B25BD964A33}"/>
              </a:ext>
            </a:extLst>
          </p:cNvPr>
          <p:cNvSpPr/>
          <p:nvPr/>
        </p:nvSpPr>
        <p:spPr>
          <a:xfrm>
            <a:off x="4483656" y="2514547"/>
            <a:ext cx="5662970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How to Communicate Your Value Proposition</a:t>
            </a:r>
            <a:endParaRPr lang="en-US" sz="2187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3F7B4C5E-CEFA-C7EA-CB7F-D911B27108D1}"/>
              </a:ext>
            </a:extLst>
          </p:cNvPr>
          <p:cNvSpPr/>
          <p:nvPr/>
        </p:nvSpPr>
        <p:spPr>
          <a:xfrm>
            <a:off x="4351853" y="3079718"/>
            <a:ext cx="5926574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Develop a clear and concise message that communicates your unique value proposition.</a:t>
            </a:r>
            <a:endParaRPr lang="en-US" sz="175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38E17F4-28E3-1E10-D49B-6589E21288F7}"/>
              </a:ext>
            </a:extLst>
          </p:cNvPr>
          <p:cNvSpPr/>
          <p:nvPr/>
        </p:nvSpPr>
        <p:spPr>
          <a:xfrm>
            <a:off x="10589478" y="4777829"/>
            <a:ext cx="44410" cy="7718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0D02D24-4598-DCA1-59B2-78FFCA7649AE}"/>
              </a:ext>
            </a:extLst>
          </p:cNvPr>
          <p:cNvSpPr/>
          <p:nvPr/>
        </p:nvSpPr>
        <p:spPr>
          <a:xfrm>
            <a:off x="10361771" y="4529755"/>
            <a:ext cx="499943" cy="496267"/>
          </a:xfrm>
          <a:prstGeom prst="roundRect">
            <a:avLst>
              <a:gd name="adj" fmla="val 11055"/>
            </a:avLst>
          </a:prstGeom>
          <a:solidFill>
            <a:srgbClr val="110080"/>
          </a:solidFill>
          <a:ln w="7620">
            <a:solidFill>
              <a:srgbClr val="14009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64A36085-637F-180A-456D-F18FF80886FD}"/>
              </a:ext>
            </a:extLst>
          </p:cNvPr>
          <p:cNvSpPr/>
          <p:nvPr/>
        </p:nvSpPr>
        <p:spPr>
          <a:xfrm>
            <a:off x="10510004" y="4571120"/>
            <a:ext cx="203478" cy="413418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kern="0" spc="-79" dirty="0"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24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AB80E8E5-2788-B65D-4BBC-96D46C73AA00}"/>
              </a:ext>
            </a:extLst>
          </p:cNvPr>
          <p:cNvSpPr/>
          <p:nvPr/>
        </p:nvSpPr>
        <p:spPr>
          <a:xfrm>
            <a:off x="7648456" y="5770364"/>
            <a:ext cx="5926574" cy="6892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Benefits of Communicating Your Unique Value Proposition</a:t>
            </a:r>
            <a:endParaRPr lang="en-US" sz="2187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FD806A2A-CA61-743F-FE65-124B836CADD4}"/>
              </a:ext>
            </a:extLst>
          </p:cNvPr>
          <p:cNvSpPr/>
          <p:nvPr/>
        </p:nvSpPr>
        <p:spPr>
          <a:xfrm>
            <a:off x="7648456" y="6680168"/>
            <a:ext cx="5926574" cy="70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Effectively communicating your unique value proposition leads to increased awareness and sales.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64946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8EA30FB-4652-39C7-3FE4-C93FB9C8B2E0}"/>
              </a:ext>
            </a:extLst>
          </p:cNvPr>
          <p:cNvSpPr/>
          <p:nvPr/>
        </p:nvSpPr>
        <p:spPr>
          <a:xfrm>
            <a:off x="833199" y="663266"/>
            <a:ext cx="8034457" cy="68926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kern="0" spc="-131" dirty="0">
                <a:latin typeface="Inter" pitchFamily="34" charset="0"/>
                <a:ea typeface="Inter" pitchFamily="34" charset="-122"/>
                <a:cs typeface="Inter" pitchFamily="34" charset="-120"/>
              </a:rPr>
              <a:t>Product Offerings and Features</a:t>
            </a:r>
            <a:endParaRPr lang="en-US" sz="4374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F48140-B14A-FA65-FA05-4C002796CCD0}"/>
              </a:ext>
            </a:extLst>
          </p:cNvPr>
          <p:cNvSpPr/>
          <p:nvPr/>
        </p:nvSpPr>
        <p:spPr>
          <a:xfrm>
            <a:off x="833199" y="1793607"/>
            <a:ext cx="12964001" cy="3527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Learn how to effectively organize and communicate the offerings and features of your products.</a:t>
            </a:r>
            <a:endParaRPr lang="en-US" sz="17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1A0B0B4-8A99-83AD-8517-3B51C80B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99" y="2394469"/>
            <a:ext cx="4099084" cy="25147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E4FB010B-15A1-7729-3090-BE6945C6103C}"/>
              </a:ext>
            </a:extLst>
          </p:cNvPr>
          <p:cNvSpPr/>
          <p:nvPr/>
        </p:nvSpPr>
        <p:spPr>
          <a:xfrm>
            <a:off x="833199" y="5184865"/>
            <a:ext cx="2273975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Product Offerings</a:t>
            </a:r>
            <a:endParaRPr lang="en-US" sz="2187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0A87387-4C9F-C64B-C9D9-E524508813B4}"/>
              </a:ext>
            </a:extLst>
          </p:cNvPr>
          <p:cNvSpPr/>
          <p:nvPr/>
        </p:nvSpPr>
        <p:spPr>
          <a:xfrm>
            <a:off x="833199" y="5750036"/>
            <a:ext cx="4099084" cy="141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Effectively organizing and communicating the different offerings your company provides is crucial to success.</a:t>
            </a:r>
            <a:endParaRPr lang="en-US" sz="175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0AE23F88-FF03-4789-5522-ADA6A4596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539" y="2394469"/>
            <a:ext cx="4099203" cy="251478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29E90924-C495-BA49-CD2A-95A73F6A1D64}"/>
              </a:ext>
            </a:extLst>
          </p:cNvPr>
          <p:cNvSpPr/>
          <p:nvPr/>
        </p:nvSpPr>
        <p:spPr>
          <a:xfrm>
            <a:off x="5265539" y="5184865"/>
            <a:ext cx="2221944" cy="3446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2187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074BE0C-6425-3E59-D253-7667F120D0B2}"/>
              </a:ext>
            </a:extLst>
          </p:cNvPr>
          <p:cNvSpPr/>
          <p:nvPr/>
        </p:nvSpPr>
        <p:spPr>
          <a:xfrm>
            <a:off x="5265539" y="5750036"/>
            <a:ext cx="4099203" cy="10583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Highlighting the unique features of each product generates interest and helps differentiate it from others.</a:t>
            </a:r>
            <a:endParaRPr lang="en-US" sz="175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B43D716F-AF79-CECB-4EF6-58E4513A8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998" y="2394469"/>
            <a:ext cx="4099203" cy="2514784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E1C3C87F-8447-D483-D4A4-52D5264C35C2}"/>
              </a:ext>
            </a:extLst>
          </p:cNvPr>
          <p:cNvSpPr/>
          <p:nvPr/>
        </p:nvSpPr>
        <p:spPr>
          <a:xfrm>
            <a:off x="9697998" y="5184865"/>
            <a:ext cx="4099203" cy="6892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kern="0" spc="-66" dirty="0">
                <a:latin typeface="Inter" pitchFamily="34" charset="0"/>
                <a:ea typeface="Inter" pitchFamily="34" charset="-122"/>
                <a:cs typeface="Inter" pitchFamily="34" charset="-120"/>
              </a:rPr>
              <a:t>Product Bundles and Promotions</a:t>
            </a:r>
            <a:endParaRPr lang="en-US" sz="2187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39FC5F3-9C7A-CFC8-355D-EB653FF7F5B3}"/>
              </a:ext>
            </a:extLst>
          </p:cNvPr>
          <p:cNvSpPr/>
          <p:nvPr/>
        </p:nvSpPr>
        <p:spPr>
          <a:xfrm>
            <a:off x="9697998" y="6094669"/>
            <a:ext cx="4099203" cy="1411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kern="0" spc="-35" dirty="0">
                <a:latin typeface="Inter" pitchFamily="34" charset="0"/>
                <a:ea typeface="Inter" pitchFamily="34" charset="-122"/>
                <a:cs typeface="Inter" pitchFamily="34" charset="-120"/>
              </a:rPr>
              <a:t>Creating product bundles and promotions is an effective way to boost sales and generate interest in your products.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68311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2D18BC0-676F-E1A1-E894-BAC3477EC480}"/>
              </a:ext>
            </a:extLst>
          </p:cNvPr>
          <p:cNvSpPr/>
          <p:nvPr/>
        </p:nvSpPr>
        <p:spPr>
          <a:xfrm>
            <a:off x="1478300" y="280023"/>
            <a:ext cx="8738025" cy="1266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025"/>
              </a:lnSpc>
              <a:buNone/>
            </a:pPr>
            <a:r>
              <a:rPr lang="en-US" sz="4020" b="1" kern="0" spc="-121" dirty="0">
                <a:latin typeface="Inter" pitchFamily="34" charset="0"/>
                <a:ea typeface="Inter" pitchFamily="34" charset="-122"/>
                <a:cs typeface="Inter" pitchFamily="34" charset="-120"/>
              </a:rPr>
              <a:t>Crafting an Effective Product Message</a:t>
            </a:r>
            <a:endParaRPr lang="en-US" sz="402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6B52BD-0F1D-1480-B8FF-7C8D58B5DAC2}"/>
              </a:ext>
            </a:extLst>
          </p:cNvPr>
          <p:cNvSpPr/>
          <p:nvPr/>
        </p:nvSpPr>
        <p:spPr>
          <a:xfrm>
            <a:off x="1478299" y="940029"/>
            <a:ext cx="8537407" cy="1869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1608" kern="0" spc="-32" dirty="0">
                <a:latin typeface="Inter" pitchFamily="34" charset="0"/>
                <a:ea typeface="Inter" pitchFamily="34" charset="-122"/>
                <a:cs typeface="Inter" pitchFamily="34" charset="-120"/>
              </a:rPr>
              <a:t>The right message can make all the difference. Learn how to craft an effective product message that resonates with your target audience.</a:t>
            </a:r>
            <a:endParaRPr lang="en-US" sz="1608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CE2AAF3-8205-2648-59F3-BF4E5DA29750}"/>
              </a:ext>
            </a:extLst>
          </p:cNvPr>
          <p:cNvSpPr/>
          <p:nvPr/>
        </p:nvSpPr>
        <p:spPr>
          <a:xfrm>
            <a:off x="1286331" y="2558654"/>
            <a:ext cx="3328364" cy="633483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0" indent="0">
              <a:lnSpc>
                <a:spcPts val="2513"/>
              </a:lnSpc>
              <a:buNone/>
            </a:pPr>
            <a:r>
              <a:rPr lang="en-US" sz="2010" b="1" kern="0" spc="-60" dirty="0">
                <a:latin typeface="Inter" pitchFamily="34" charset="0"/>
                <a:ea typeface="Inter" pitchFamily="34" charset="-122"/>
                <a:cs typeface="Inter" pitchFamily="34" charset="-120"/>
              </a:rPr>
              <a:t>Clear and Concise Messaging</a:t>
            </a:r>
            <a:endParaRPr lang="en-US" sz="201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57A55CE-A9CE-4551-6098-F348CC59F44F}"/>
              </a:ext>
            </a:extLst>
          </p:cNvPr>
          <p:cNvSpPr/>
          <p:nvPr/>
        </p:nvSpPr>
        <p:spPr>
          <a:xfrm>
            <a:off x="1280414" y="3139933"/>
            <a:ext cx="3402049" cy="1762987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0" indent="0">
              <a:lnSpc>
                <a:spcPts val="2573"/>
              </a:lnSpc>
              <a:buNone/>
            </a:pPr>
            <a:r>
              <a:rPr lang="en-US" sz="1608" kern="0" spc="-32" dirty="0">
                <a:latin typeface="Inter" pitchFamily="34" charset="0"/>
                <a:ea typeface="Inter" pitchFamily="34" charset="-122"/>
                <a:cs typeface="Inter" pitchFamily="34" charset="-120"/>
              </a:rPr>
              <a:t>Develop a message that clearly and concisely communicates the benefits and unique features of your product.</a:t>
            </a:r>
            <a:endParaRPr lang="en-US" sz="1608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71E1FB2-DA33-5424-198D-5F4DB51C15DA}"/>
              </a:ext>
            </a:extLst>
          </p:cNvPr>
          <p:cNvSpPr/>
          <p:nvPr/>
        </p:nvSpPr>
        <p:spPr>
          <a:xfrm rot="10800000" flipV="1">
            <a:off x="4618509" y="2697885"/>
            <a:ext cx="525241" cy="418859"/>
          </a:xfrm>
          <a:prstGeom prst="roundRect">
            <a:avLst>
              <a:gd name="adj" fmla="val 48797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ZA" dirty="0"/>
              <a:t>2.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AD9D362-4DD7-0641-4AE8-D7DBA25863EA}"/>
              </a:ext>
            </a:extLst>
          </p:cNvPr>
          <p:cNvSpPr/>
          <p:nvPr/>
        </p:nvSpPr>
        <p:spPr>
          <a:xfrm>
            <a:off x="4980097" y="2510689"/>
            <a:ext cx="4837320" cy="616471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0" indent="0">
              <a:lnSpc>
                <a:spcPts val="2513"/>
              </a:lnSpc>
              <a:buNone/>
            </a:pPr>
            <a:r>
              <a:rPr lang="en-US" sz="2010" b="1" kern="0" spc="-60" dirty="0">
                <a:latin typeface="Inter" pitchFamily="34" charset="0"/>
                <a:ea typeface="Inter" pitchFamily="34" charset="-122"/>
                <a:cs typeface="Inter" pitchFamily="34" charset="-120"/>
              </a:rPr>
              <a:t>Use Creative Language and Imagery language</a:t>
            </a:r>
            <a:endParaRPr lang="en-US" sz="201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2D5FF9F-2EFA-111C-BA2F-8BEB3E87A753}"/>
              </a:ext>
            </a:extLst>
          </p:cNvPr>
          <p:cNvSpPr/>
          <p:nvPr/>
        </p:nvSpPr>
        <p:spPr>
          <a:xfrm>
            <a:off x="5337810" y="4230269"/>
            <a:ext cx="3040499" cy="1621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73"/>
              </a:lnSpc>
              <a:buNone/>
            </a:pPr>
            <a:endParaRPr lang="en-US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AF2CB8A-0DEA-7A3E-25F2-94CC12270556}"/>
              </a:ext>
            </a:extLst>
          </p:cNvPr>
          <p:cNvSpPr/>
          <p:nvPr/>
        </p:nvSpPr>
        <p:spPr>
          <a:xfrm>
            <a:off x="4207184" y="4568728"/>
            <a:ext cx="459462" cy="4560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ZA" dirty="0"/>
              <a:t>3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56DAD0C-4C6D-30DD-6E0C-0C3F53784671}"/>
              </a:ext>
            </a:extLst>
          </p:cNvPr>
          <p:cNvSpPr/>
          <p:nvPr/>
        </p:nvSpPr>
        <p:spPr>
          <a:xfrm>
            <a:off x="1429464" y="6801901"/>
            <a:ext cx="6948726" cy="6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73"/>
              </a:lnSpc>
              <a:buNone/>
            </a:pPr>
            <a:endParaRPr lang="en-US" sz="1608" dirty="0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F6A3703-FC65-1FD6-146B-967D08433B90}"/>
              </a:ext>
            </a:extLst>
          </p:cNvPr>
          <p:cNvSpPr/>
          <p:nvPr/>
        </p:nvSpPr>
        <p:spPr>
          <a:xfrm rot="10800000" flipV="1">
            <a:off x="5063830" y="3077878"/>
            <a:ext cx="4157813" cy="289029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ts val="2573"/>
              </a:lnSpc>
              <a:buNone/>
            </a:pPr>
            <a:r>
              <a:rPr lang="en-US" sz="1800" kern="0" spc="-32" dirty="0">
                <a:latin typeface="Inter" pitchFamily="34" charset="0"/>
                <a:ea typeface="Inter" pitchFamily="34" charset="-122"/>
                <a:cs typeface="Inter" pitchFamily="34" charset="-120"/>
              </a:rPr>
              <a:t>Use creative language and imagery that resonates with your target audience to generate interest and differentiate yourself from the competition.</a:t>
            </a:r>
            <a:endParaRPr lang="en-US" sz="1800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8DBD5152-53BB-2A39-75A6-DDB4B49D2FFF}"/>
              </a:ext>
            </a:extLst>
          </p:cNvPr>
          <p:cNvSpPr/>
          <p:nvPr/>
        </p:nvSpPr>
        <p:spPr>
          <a:xfrm>
            <a:off x="2494603" y="5240285"/>
            <a:ext cx="3741062" cy="2943980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ts val="2573"/>
              </a:lnSpc>
              <a:buNone/>
            </a:pPr>
            <a:r>
              <a:rPr lang="en-US" sz="1800" kern="0" spc="-32" dirty="0">
                <a:latin typeface="Inter" pitchFamily="34" charset="0"/>
                <a:ea typeface="Inter" pitchFamily="34" charset="-122"/>
                <a:cs typeface="Inter" pitchFamily="34" charset="-120"/>
              </a:rPr>
              <a:t>Make sure your message sets you apart from your competition and strikes a chord with your target audience.</a:t>
            </a:r>
            <a:endParaRPr lang="en-US" sz="18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8E4DDD4A-7CDD-787C-FF98-74DE37F843B9}"/>
              </a:ext>
            </a:extLst>
          </p:cNvPr>
          <p:cNvSpPr/>
          <p:nvPr/>
        </p:nvSpPr>
        <p:spPr>
          <a:xfrm>
            <a:off x="933228" y="2802568"/>
            <a:ext cx="459462" cy="456084"/>
          </a:xfrm>
          <a:prstGeom prst="roundRect">
            <a:avLst>
              <a:gd name="adj" fmla="val 50000"/>
            </a:avLst>
          </a:prstGeom>
          <a:ln w="1905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ZA" dirty="0"/>
              <a:t>1.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354548E-A328-6A92-6093-91AEBF8C3294}"/>
              </a:ext>
            </a:extLst>
          </p:cNvPr>
          <p:cNvSpPr/>
          <p:nvPr/>
        </p:nvSpPr>
        <p:spPr>
          <a:xfrm>
            <a:off x="2950513" y="4989422"/>
            <a:ext cx="2567354" cy="418858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t"/>
          <a:lstStyle/>
          <a:p>
            <a:pPr marL="0" indent="0">
              <a:lnSpc>
                <a:spcPts val="2513"/>
              </a:lnSpc>
              <a:buNone/>
            </a:pPr>
            <a:r>
              <a:rPr lang="en-US" sz="2010" b="1" kern="0" spc="-60" dirty="0">
                <a:latin typeface="Inter" pitchFamily="34" charset="0"/>
                <a:ea typeface="Inter" pitchFamily="34" charset="-122"/>
                <a:cs typeface="Inter" pitchFamily="34" charset="-120"/>
              </a:rPr>
              <a:t>Be Different</a:t>
            </a:r>
            <a:endParaRPr lang="en-US" sz="2010" dirty="0"/>
          </a:p>
        </p:txBody>
      </p:sp>
      <p:pic>
        <p:nvPicPr>
          <p:cNvPr id="25" name="Picture 24" descr="3D Dialogue Boxes">
            <a:extLst>
              <a:ext uri="{FF2B5EF4-FFF2-40B4-BE49-F238E27FC236}">
                <a16:creationId xmlns:a16="http://schemas.microsoft.com/office/drawing/2014/main" id="{88351ECE-4FBE-3880-D4ED-69A30F06D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45" y="3589241"/>
            <a:ext cx="5429049" cy="45251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76797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3A0F-7E68-D2AA-0335-1D92512E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ZA" dirty="0"/>
              <a:t>let’s take a closer look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26E3CFD-2273-B3A1-1AF0-2DCC1C000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will be provided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04379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037993" y="806053"/>
            <a:ext cx="62179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Features of Our Product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037993" y="1944767"/>
            <a:ext cx="5166122" cy="2450544"/>
          </a:xfrm>
          <a:prstGeom prst="roundRect">
            <a:avLst>
              <a:gd name="adj" fmla="val 2239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2267783" y="2174558"/>
            <a:ext cx="30175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User-Friendly Interface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267783" y="2743914"/>
            <a:ext cx="470654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has an intuitive design that simplifies the workflow of your business process, saving you time and effort in the long run.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6285" y="1944767"/>
            <a:ext cx="5166122" cy="2450544"/>
          </a:xfrm>
          <a:prstGeom prst="roundRect">
            <a:avLst>
              <a:gd name="adj" fmla="val 2239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7656076" y="2174558"/>
            <a:ext cx="35433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Multi-Device Compatibility</a:t>
            </a:r>
            <a:endParaRPr lang="en-US" sz="2187" dirty="0"/>
          </a:p>
        </p:txBody>
      </p:sp>
      <p:sp>
        <p:nvSpPr>
          <p:cNvPr id="10" name="Text 7"/>
          <p:cNvSpPr/>
          <p:nvPr/>
        </p:nvSpPr>
        <p:spPr>
          <a:xfrm>
            <a:off x="7656076" y="2743914"/>
            <a:ext cx="470654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is accessible on every device, whether it's a smartphone or a desktop computer. It provides consistent performance without any limitations.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2037993" y="4617482"/>
            <a:ext cx="5166122" cy="2805946"/>
          </a:xfrm>
          <a:prstGeom prst="roundRect">
            <a:avLst>
              <a:gd name="adj" fmla="val 1955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2267783" y="484727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Customization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2267783" y="5416629"/>
            <a:ext cx="470654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offers a wide range of customization options that let you tailor it to your company's specific needs, so you can have a unique experience that fits you perfectly.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426285" y="4617482"/>
            <a:ext cx="5166122" cy="2805946"/>
          </a:xfrm>
          <a:prstGeom prst="roundRect">
            <a:avLst>
              <a:gd name="adj" fmla="val 1955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7656076" y="484727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Automation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7656076" y="5416629"/>
            <a:ext cx="470654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automates repetitive tasks, allowing you to focus on more important aspects of your business. It streamlines the process of data management and reduces the risks of errors.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320052" y="578287"/>
            <a:ext cx="5806440" cy="6572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75"/>
              </a:lnSpc>
              <a:buNone/>
            </a:pPr>
            <a:r>
              <a:rPr lang="en-US" sz="414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Benefits of Our Product</a:t>
            </a:r>
            <a:endParaRPr lang="en-US" sz="4140" dirty="0"/>
          </a:p>
        </p:txBody>
      </p:sp>
      <p:sp>
        <p:nvSpPr>
          <p:cNvPr id="5" name="Shape 2"/>
          <p:cNvSpPr/>
          <p:nvPr/>
        </p:nvSpPr>
        <p:spPr>
          <a:xfrm>
            <a:off x="2320052" y="4486751"/>
            <a:ext cx="9990177" cy="42029"/>
          </a:xfrm>
          <a:prstGeom prst="rect">
            <a:avLst/>
          </a:prstGeom>
          <a:solidFill>
            <a:srgbClr val="A5B3F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4743986" y="4486751"/>
            <a:ext cx="42029" cy="736044"/>
          </a:xfrm>
          <a:prstGeom prst="rect">
            <a:avLst/>
          </a:prstGeom>
          <a:solidFill>
            <a:srgbClr val="A5B3F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4"/>
          <p:cNvSpPr/>
          <p:nvPr/>
        </p:nvSpPr>
        <p:spPr>
          <a:xfrm>
            <a:off x="4528423" y="4250174"/>
            <a:ext cx="473154" cy="473154"/>
          </a:xfrm>
          <a:prstGeom prst="roundRect">
            <a:avLst>
              <a:gd name="adj" fmla="val 11595"/>
            </a:avLst>
          </a:prstGeom>
          <a:solidFill>
            <a:schemeClr val="accent2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4719280" y="4289584"/>
            <a:ext cx="91440" cy="394335"/>
          </a:xfrm>
          <a:prstGeom prst="rect">
            <a:avLst/>
          </a:prstGeom>
          <a:solidFill>
            <a:schemeClr val="accent2"/>
          </a:solidFill>
          <a:ln/>
        </p:spPr>
        <p:txBody>
          <a:bodyPr wrap="none" rtlCol="0" anchor="t"/>
          <a:lstStyle/>
          <a:p>
            <a:pPr marL="0" indent="0" algn="ctr">
              <a:lnSpc>
                <a:spcPts val="3105"/>
              </a:lnSpc>
              <a:buNone/>
            </a:pPr>
            <a:r>
              <a:rPr lang="en-US" sz="248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484" dirty="0"/>
          </a:p>
        </p:txBody>
      </p:sp>
      <p:sp>
        <p:nvSpPr>
          <p:cNvPr id="9" name="Text 6"/>
          <p:cNvSpPr/>
          <p:nvPr/>
        </p:nvSpPr>
        <p:spPr>
          <a:xfrm>
            <a:off x="3530560" y="5433179"/>
            <a:ext cx="2468880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07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Boosts Productivity</a:t>
            </a:r>
            <a:endParaRPr lang="en-US" sz="2070" dirty="0"/>
          </a:p>
        </p:txBody>
      </p:sp>
      <p:sp>
        <p:nvSpPr>
          <p:cNvPr id="10" name="Text 7"/>
          <p:cNvSpPr/>
          <p:nvPr/>
        </p:nvSpPr>
        <p:spPr>
          <a:xfrm>
            <a:off x="2530316" y="5972056"/>
            <a:ext cx="4469368" cy="1345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product's efficient workflow saves the user time and energy. It replaces manual processes with automation, allowing for more output in less time.</a:t>
            </a:r>
            <a:endParaRPr lang="en-US" sz="1656" dirty="0"/>
          </a:p>
        </p:txBody>
      </p:sp>
      <p:sp>
        <p:nvSpPr>
          <p:cNvPr id="11" name="Shape 8"/>
          <p:cNvSpPr/>
          <p:nvPr/>
        </p:nvSpPr>
        <p:spPr>
          <a:xfrm>
            <a:off x="7294066" y="3750707"/>
            <a:ext cx="42029" cy="736044"/>
          </a:xfrm>
          <a:prstGeom prst="rect">
            <a:avLst/>
          </a:prstGeom>
          <a:solidFill>
            <a:srgbClr val="A5B3F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7103209" y="4319450"/>
            <a:ext cx="473154" cy="473154"/>
          </a:xfrm>
          <a:prstGeom prst="roundRect">
            <a:avLst>
              <a:gd name="adj" fmla="val 11595"/>
            </a:avLst>
          </a:prstGeom>
          <a:solidFill>
            <a:schemeClr val="accent2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7235071" y="4289584"/>
            <a:ext cx="160020" cy="3943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5"/>
              </a:lnSpc>
              <a:buNone/>
            </a:pPr>
            <a:r>
              <a:rPr lang="en-US" sz="248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484" dirty="0"/>
          </a:p>
        </p:txBody>
      </p:sp>
      <p:sp>
        <p:nvSpPr>
          <p:cNvPr id="14" name="Text 11"/>
          <p:cNvSpPr/>
          <p:nvPr/>
        </p:nvSpPr>
        <p:spPr>
          <a:xfrm>
            <a:off x="5600581" y="1656040"/>
            <a:ext cx="3429000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07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Improves Decision-Making</a:t>
            </a:r>
            <a:endParaRPr lang="en-US" sz="2070" dirty="0"/>
          </a:p>
        </p:txBody>
      </p:sp>
      <p:sp>
        <p:nvSpPr>
          <p:cNvPr id="15" name="Text 12"/>
          <p:cNvSpPr/>
          <p:nvPr/>
        </p:nvSpPr>
        <p:spPr>
          <a:xfrm>
            <a:off x="5080397" y="2194917"/>
            <a:ext cx="4469368" cy="1345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provides insights into your business data, allowing you to make informed decisions based on current and accurate information.</a:t>
            </a:r>
            <a:endParaRPr lang="en-US" sz="1656" dirty="0"/>
          </a:p>
        </p:txBody>
      </p:sp>
      <p:sp>
        <p:nvSpPr>
          <p:cNvPr id="16" name="Shape 13"/>
          <p:cNvSpPr/>
          <p:nvPr/>
        </p:nvSpPr>
        <p:spPr>
          <a:xfrm>
            <a:off x="9844147" y="4486751"/>
            <a:ext cx="42029" cy="736044"/>
          </a:xfrm>
          <a:prstGeom prst="rect">
            <a:avLst/>
          </a:prstGeom>
          <a:solidFill>
            <a:srgbClr val="A5B3F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4"/>
          <p:cNvSpPr/>
          <p:nvPr/>
        </p:nvSpPr>
        <p:spPr>
          <a:xfrm>
            <a:off x="9628584" y="4250174"/>
            <a:ext cx="473154" cy="473154"/>
          </a:xfrm>
          <a:prstGeom prst="roundRect">
            <a:avLst>
              <a:gd name="adj" fmla="val 11595"/>
            </a:avLst>
          </a:prstGeom>
          <a:solidFill>
            <a:schemeClr val="accent2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9777532" y="4289584"/>
            <a:ext cx="175260" cy="3943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5"/>
              </a:lnSpc>
              <a:buNone/>
            </a:pPr>
            <a:r>
              <a:rPr lang="en-US" sz="248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484" dirty="0"/>
          </a:p>
        </p:txBody>
      </p:sp>
      <p:sp>
        <p:nvSpPr>
          <p:cNvPr id="19" name="Text 16"/>
          <p:cNvSpPr/>
          <p:nvPr/>
        </p:nvSpPr>
        <p:spPr>
          <a:xfrm>
            <a:off x="8813602" y="5433179"/>
            <a:ext cx="2103120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07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Reduces Cost</a:t>
            </a:r>
            <a:endParaRPr lang="en-US" sz="2070" dirty="0"/>
          </a:p>
        </p:txBody>
      </p:sp>
      <p:sp>
        <p:nvSpPr>
          <p:cNvPr id="20" name="Text 17"/>
          <p:cNvSpPr/>
          <p:nvPr/>
        </p:nvSpPr>
        <p:spPr>
          <a:xfrm>
            <a:off x="7630477" y="5972056"/>
            <a:ext cx="4469487" cy="1681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6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streamlines business processes, eliminating the need for extra staff or multiple products. This saves money and reduces complexity, leading to a better return on investment.</a:t>
            </a:r>
            <a:endParaRPr lang="en-US" sz="165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21167" y="427673"/>
            <a:ext cx="5974080" cy="4860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827"/>
              </a:lnSpc>
              <a:buNone/>
            </a:pPr>
            <a:r>
              <a:rPr lang="en-US" sz="3062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Customer Needs and Pain Points</a:t>
            </a:r>
            <a:endParaRPr lang="en-US" sz="306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862" y="1166336"/>
            <a:ext cx="2307193" cy="142589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006" y="1223977"/>
            <a:ext cx="2307193" cy="14258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08006" y="2856800"/>
            <a:ext cx="1562100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153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Managing Stress</a:t>
            </a:r>
            <a:endParaRPr lang="en-US" sz="1531" dirty="0"/>
          </a:p>
        </p:txBody>
      </p:sp>
      <p:sp>
        <p:nvSpPr>
          <p:cNvPr id="10" name="Text 5"/>
          <p:cNvSpPr/>
          <p:nvPr/>
        </p:nvSpPr>
        <p:spPr>
          <a:xfrm>
            <a:off x="4886659" y="3274332"/>
            <a:ext cx="2307193" cy="1989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225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operations and management often lead to high-stress levels among employees. Our product deals with the automation and management of tasks, leaving one less burden for your team to worry About.</a:t>
            </a:r>
            <a:endParaRPr lang="en-US" sz="122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650" y="1223976"/>
            <a:ext cx="2307193" cy="14258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702040" y="2844879"/>
            <a:ext cx="1555313" cy="2430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153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Reducing Risk</a:t>
            </a:r>
            <a:endParaRPr lang="en-US" sz="1531" dirty="0"/>
          </a:p>
        </p:txBody>
      </p:sp>
      <p:sp>
        <p:nvSpPr>
          <p:cNvPr id="13" name="Text 7"/>
          <p:cNvSpPr/>
          <p:nvPr/>
        </p:nvSpPr>
        <p:spPr>
          <a:xfrm>
            <a:off x="8441650" y="3243382"/>
            <a:ext cx="2307193" cy="1492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225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Errors can make or break business deals. Our product is designed to automate repetitive procedures, thus reducing the risk of errors and saving time for auditors.</a:t>
            </a:r>
            <a:endParaRPr lang="en-US" sz="1225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6250" y="1223975"/>
            <a:ext cx="2307193" cy="142589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365091" y="2966382"/>
            <a:ext cx="2307193" cy="486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153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Scaling Businesses in the Digital Era</a:t>
            </a:r>
            <a:endParaRPr lang="en-US" sz="1531" dirty="0"/>
          </a:p>
        </p:txBody>
      </p:sp>
      <p:sp>
        <p:nvSpPr>
          <p:cNvPr id="16" name="Text 9"/>
          <p:cNvSpPr/>
          <p:nvPr/>
        </p:nvSpPr>
        <p:spPr>
          <a:xfrm>
            <a:off x="11211530" y="3572039"/>
            <a:ext cx="2460754" cy="13360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225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world is more digitalized than ever, making those who do not keep up fall behind. Our product is helping businesses survive and grow in the digital age.</a:t>
            </a:r>
            <a:endParaRPr lang="en-US" sz="1225" dirty="0"/>
          </a:p>
        </p:txBody>
      </p:sp>
      <p:sp>
        <p:nvSpPr>
          <p:cNvPr id="6" name="Text 2"/>
          <p:cNvSpPr/>
          <p:nvPr/>
        </p:nvSpPr>
        <p:spPr>
          <a:xfrm>
            <a:off x="1599862" y="2757369"/>
            <a:ext cx="2307193" cy="4860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14"/>
              </a:lnSpc>
              <a:buNone/>
            </a:pPr>
            <a:r>
              <a:rPr lang="en-US" sz="153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Reducing Frustration with Difficult Processes</a:t>
            </a:r>
            <a:endParaRPr lang="en-US" sz="1531" dirty="0"/>
          </a:p>
        </p:txBody>
      </p:sp>
      <p:sp>
        <p:nvSpPr>
          <p:cNvPr id="7" name="Text 3"/>
          <p:cNvSpPr/>
          <p:nvPr/>
        </p:nvSpPr>
        <p:spPr>
          <a:xfrm>
            <a:off x="1573540" y="3493890"/>
            <a:ext cx="2307193" cy="1492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225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 processes are often tedious, long, and frustrating. We want to make those processes as simple and seamless as possible to reduce frustration levels.</a:t>
            </a:r>
            <a:endParaRPr lang="en-US" sz="12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6094"/>
            <a:ext cx="14630400" cy="8229600"/>
          </a:xfrm>
          <a:prstGeom prst="rect">
            <a:avLst/>
          </a:prstGeom>
          <a:solidFill>
            <a:srgbClr val="F9F9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6143149" y="1301948"/>
            <a:ext cx="7830502" cy="10946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310"/>
              </a:lnSpc>
              <a:buNone/>
            </a:pPr>
            <a:r>
              <a:rPr lang="en-US" sz="3448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How Our Product Addresses These Needs and Pain Points</a:t>
            </a:r>
            <a:endParaRPr lang="en-US" sz="3448" dirty="0"/>
          </a:p>
        </p:txBody>
      </p:sp>
      <p:sp>
        <p:nvSpPr>
          <p:cNvPr id="5" name="Shape 2"/>
          <p:cNvSpPr/>
          <p:nvPr/>
        </p:nvSpPr>
        <p:spPr>
          <a:xfrm>
            <a:off x="6143149" y="2796064"/>
            <a:ext cx="394097" cy="394097"/>
          </a:xfrm>
          <a:prstGeom prst="roundRect">
            <a:avLst>
              <a:gd name="adj" fmla="val 13921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6302097" y="2828925"/>
            <a:ext cx="76200" cy="328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6"/>
              </a:lnSpc>
              <a:buNone/>
            </a:pPr>
            <a:r>
              <a:rPr lang="en-US" sz="206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069" dirty="0"/>
          </a:p>
        </p:txBody>
      </p:sp>
      <p:sp>
        <p:nvSpPr>
          <p:cNvPr id="7" name="Text 4"/>
          <p:cNvSpPr/>
          <p:nvPr/>
        </p:nvSpPr>
        <p:spPr>
          <a:xfrm>
            <a:off x="6712387" y="2856309"/>
            <a:ext cx="2240280" cy="2736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55"/>
              </a:lnSpc>
              <a:buNone/>
            </a:pPr>
            <a:r>
              <a:rPr lang="en-US" sz="17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Process Management</a:t>
            </a:r>
            <a:endParaRPr lang="en-US" sz="1724" dirty="0"/>
          </a:p>
        </p:txBody>
      </p:sp>
      <p:sp>
        <p:nvSpPr>
          <p:cNvPr id="8" name="Text 5"/>
          <p:cNvSpPr/>
          <p:nvPr/>
        </p:nvSpPr>
        <p:spPr>
          <a:xfrm>
            <a:off x="6712387" y="3305056"/>
            <a:ext cx="3258503" cy="1120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7"/>
              </a:lnSpc>
              <a:buNone/>
            </a:pPr>
            <a:r>
              <a:rPr lang="en-US" sz="137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automates the tedious and repetitive business processes, leaving more time for productive and strategic work.</a:t>
            </a:r>
            <a:endParaRPr lang="en-US" sz="1379" dirty="0"/>
          </a:p>
        </p:txBody>
      </p:sp>
      <p:sp>
        <p:nvSpPr>
          <p:cNvPr id="9" name="Shape 6"/>
          <p:cNvSpPr/>
          <p:nvPr/>
        </p:nvSpPr>
        <p:spPr>
          <a:xfrm>
            <a:off x="10146030" y="2796064"/>
            <a:ext cx="394097" cy="394097"/>
          </a:xfrm>
          <a:prstGeom prst="roundRect">
            <a:avLst>
              <a:gd name="adj" fmla="val 13921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10274498" y="2828925"/>
            <a:ext cx="137160" cy="328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6"/>
              </a:lnSpc>
              <a:buNone/>
            </a:pPr>
            <a:r>
              <a:rPr lang="en-US" sz="206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069" dirty="0"/>
          </a:p>
        </p:txBody>
      </p:sp>
      <p:sp>
        <p:nvSpPr>
          <p:cNvPr id="11" name="Text 8"/>
          <p:cNvSpPr/>
          <p:nvPr/>
        </p:nvSpPr>
        <p:spPr>
          <a:xfrm>
            <a:off x="10715268" y="2856309"/>
            <a:ext cx="1751528" cy="2736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55"/>
              </a:lnSpc>
              <a:buNone/>
            </a:pPr>
            <a:r>
              <a:rPr lang="en-US" sz="17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Intuitive Design</a:t>
            </a:r>
            <a:endParaRPr lang="en-US" sz="1724" dirty="0"/>
          </a:p>
        </p:txBody>
      </p:sp>
      <p:sp>
        <p:nvSpPr>
          <p:cNvPr id="12" name="Text 9"/>
          <p:cNvSpPr/>
          <p:nvPr/>
        </p:nvSpPr>
        <p:spPr>
          <a:xfrm>
            <a:off x="10715268" y="3305056"/>
            <a:ext cx="3258503" cy="1400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7"/>
              </a:lnSpc>
              <a:buNone/>
            </a:pPr>
            <a:r>
              <a:rPr lang="en-US" sz="137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software has an easy-to-use interface that requires little to no training or experience, reducing frustration and stress among employees.</a:t>
            </a:r>
            <a:endParaRPr lang="en-US" sz="1379" dirty="0"/>
          </a:p>
        </p:txBody>
      </p:sp>
      <p:sp>
        <p:nvSpPr>
          <p:cNvPr id="13" name="Shape 10"/>
          <p:cNvSpPr/>
          <p:nvPr/>
        </p:nvSpPr>
        <p:spPr>
          <a:xfrm>
            <a:off x="6143149" y="5017770"/>
            <a:ext cx="394097" cy="394097"/>
          </a:xfrm>
          <a:prstGeom prst="roundRect">
            <a:avLst>
              <a:gd name="adj" fmla="val 13921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6267807" y="5050631"/>
            <a:ext cx="144780" cy="328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6"/>
              </a:lnSpc>
              <a:buNone/>
            </a:pPr>
            <a:r>
              <a:rPr lang="en-US" sz="206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069" dirty="0"/>
          </a:p>
        </p:txBody>
      </p:sp>
      <p:sp>
        <p:nvSpPr>
          <p:cNvPr id="15" name="Text 12"/>
          <p:cNvSpPr/>
          <p:nvPr/>
        </p:nvSpPr>
        <p:spPr>
          <a:xfrm>
            <a:off x="6712387" y="5078016"/>
            <a:ext cx="1958340" cy="2736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55"/>
              </a:lnSpc>
              <a:buNone/>
            </a:pPr>
            <a:r>
              <a:rPr lang="en-US" sz="17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Insights</a:t>
            </a:r>
            <a:endParaRPr lang="en-US" sz="1724" dirty="0"/>
          </a:p>
        </p:txBody>
      </p:sp>
      <p:sp>
        <p:nvSpPr>
          <p:cNvPr id="16" name="Text 13"/>
          <p:cNvSpPr/>
          <p:nvPr/>
        </p:nvSpPr>
        <p:spPr>
          <a:xfrm>
            <a:off x="6712387" y="5526762"/>
            <a:ext cx="3258503" cy="1120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7"/>
              </a:lnSpc>
              <a:buNone/>
            </a:pPr>
            <a:r>
              <a:rPr lang="en-US" sz="137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tracks data in real-time, providing insight that optimizes decision-making and helps prevent costly mistakes.</a:t>
            </a:r>
            <a:endParaRPr lang="en-US" sz="1379" dirty="0"/>
          </a:p>
        </p:txBody>
      </p:sp>
      <p:sp>
        <p:nvSpPr>
          <p:cNvPr id="17" name="Shape 14"/>
          <p:cNvSpPr/>
          <p:nvPr/>
        </p:nvSpPr>
        <p:spPr>
          <a:xfrm>
            <a:off x="10146030" y="5017770"/>
            <a:ext cx="394097" cy="394097"/>
          </a:xfrm>
          <a:prstGeom prst="roundRect">
            <a:avLst>
              <a:gd name="adj" fmla="val 13921"/>
            </a:avLst>
          </a:prstGeom>
          <a:solidFill>
            <a:srgbClr val="D2D9F9"/>
          </a:solidFill>
          <a:ln w="7620">
            <a:solidFill>
              <a:srgbClr val="A5B3F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10278308" y="5050631"/>
            <a:ext cx="129540" cy="32837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6"/>
              </a:lnSpc>
              <a:buNone/>
            </a:pPr>
            <a:r>
              <a:rPr lang="en-US" sz="2069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069" dirty="0"/>
          </a:p>
        </p:txBody>
      </p:sp>
      <p:sp>
        <p:nvSpPr>
          <p:cNvPr id="19" name="Text 16"/>
          <p:cNvSpPr/>
          <p:nvPr/>
        </p:nvSpPr>
        <p:spPr>
          <a:xfrm>
            <a:off x="10715268" y="5078016"/>
            <a:ext cx="3070860" cy="27360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55"/>
              </a:lnSpc>
              <a:buNone/>
            </a:pPr>
            <a:r>
              <a:rPr lang="en-US" sz="1724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Flexibility and Customization</a:t>
            </a:r>
            <a:endParaRPr lang="en-US" sz="1724" dirty="0"/>
          </a:p>
        </p:txBody>
      </p:sp>
      <p:sp>
        <p:nvSpPr>
          <p:cNvPr id="20" name="Text 17"/>
          <p:cNvSpPr/>
          <p:nvPr/>
        </p:nvSpPr>
        <p:spPr>
          <a:xfrm>
            <a:off x="10715268" y="5526762"/>
            <a:ext cx="3258503" cy="1400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7"/>
              </a:lnSpc>
              <a:buNone/>
            </a:pPr>
            <a:r>
              <a:rPr lang="en-US" sz="1379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 provides a range of tools that can be tailored to meet the specific needs of your company. This allows you to fully customize the software to optimize your processes.</a:t>
            </a:r>
            <a:endParaRPr lang="en-US" sz="1379" dirty="0"/>
          </a:p>
        </p:txBody>
      </p:sp>
      <p:pic>
        <p:nvPicPr>
          <p:cNvPr id="25" name="Picture 24" descr="Green question mark">
            <a:extLst>
              <a:ext uri="{FF2B5EF4-FFF2-40B4-BE49-F238E27FC236}">
                <a16:creationId xmlns:a16="http://schemas.microsoft.com/office/drawing/2014/main" id="{58E59AFB-B6F4-7FE0-E3F0-3B2892DA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72" y="1993223"/>
            <a:ext cx="5282952" cy="42608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641056" y="1176854"/>
            <a:ext cx="590550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Discussion Questions: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037993" y="3175485"/>
            <a:ext cx="5006221" cy="83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1. How Can We Identify Our Customers' Needs?</a:t>
            </a:r>
            <a:endParaRPr lang="en-US" sz="2624" dirty="0"/>
          </a:p>
        </p:txBody>
      </p:sp>
      <p:sp>
        <p:nvSpPr>
          <p:cNvPr id="6" name="Text 3"/>
          <p:cNvSpPr/>
          <p:nvPr/>
        </p:nvSpPr>
        <p:spPr>
          <a:xfrm>
            <a:off x="1935262" y="4486989"/>
            <a:ext cx="500622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3806" y="3015377"/>
            <a:ext cx="5006221" cy="1249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2. How Can We Effectively Communicate The Benefits Of Our Product?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7593806" y="4486989"/>
            <a:ext cx="500622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319599" y="2995612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6652855" y="4273153"/>
            <a:ext cx="7144345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A000BDD-51BB-E608-7F25-B723B412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Quote – Do you agree? Why/Why not. 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301E75-494E-A1ED-F28D-3D5B31DF0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"Good marketing makes the company look smart. Great marketing makes the customer feel smart." - Joe Chernov</a:t>
            </a:r>
            <a:br>
              <a:rPr lang="en-US" sz="3200" dirty="0"/>
            </a:br>
            <a:endParaRPr lang="en-Z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60B85D2-0CEF-FF62-3831-6F3108374724}"/>
              </a:ext>
            </a:extLst>
          </p:cNvPr>
          <p:cNvSpPr txBox="1">
            <a:spLocks/>
          </p:cNvSpPr>
          <p:nvPr/>
        </p:nvSpPr>
        <p:spPr>
          <a:xfrm>
            <a:off x="1404519" y="1678838"/>
            <a:ext cx="3884371" cy="4882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latin typeface="+mj-lt"/>
                <a:ea typeface="+mj-ea"/>
                <a:cs typeface="+mj-cs"/>
              </a:rPr>
              <a:t>Disclaimer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97C0F2-8D57-52DB-102D-F0B4D979E89D}"/>
              </a:ext>
            </a:extLst>
          </p:cNvPr>
          <p:cNvSpPr txBox="1">
            <a:spLocks/>
          </p:cNvSpPr>
          <p:nvPr/>
        </p:nvSpPr>
        <p:spPr>
          <a:xfrm>
            <a:off x="6945783" y="1832458"/>
            <a:ext cx="6133795" cy="4718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60"/>
              <a:t>The content of this slide show was in part generated using AI technology and was formatted and reviewed by Learning Like a Lioness.</a:t>
            </a:r>
          </a:p>
        </p:txBody>
      </p:sp>
    </p:spTree>
    <p:extLst>
      <p:ext uri="{BB962C8B-B14F-4D97-AF65-F5344CB8AC3E}">
        <p14:creationId xmlns:p14="http://schemas.microsoft.com/office/powerpoint/2010/main" val="423114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5FD9F056-E929-952C-15E6-DC41BDC04BDC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0F119E6-B1B2-1F17-ADEE-8C39D9AF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7368" y="7516895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en-GB" dirty="0" err="1">
                <a:solidFill>
                  <a:prstClr val="black">
                    <a:tint val="75000"/>
                  </a:prstClr>
                </a:solidFill>
              </a:rPr>
              <a:t>TuSpeaking</a:t>
            </a: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 2023,  All rights reserved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1EBD23-22B5-6DFD-44F0-37B82F65F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083" y="7318457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62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EDD1316-1F90-494B-D592-E0E6F0396921}"/>
              </a:ext>
            </a:extLst>
          </p:cNvPr>
          <p:cNvSpPr txBox="1">
            <a:spLocks/>
          </p:cNvSpPr>
          <p:nvPr/>
        </p:nvSpPr>
        <p:spPr>
          <a:xfrm>
            <a:off x="1667866" y="1481328"/>
            <a:ext cx="3884371" cy="4882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B2881C8D-9371-A2F6-0E66-087A90367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7751" y="2353231"/>
            <a:ext cx="4256428" cy="4256428"/>
          </a:xfrm>
          <a:prstGeom prst="rect">
            <a:avLst/>
          </a:prstGeom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2D85DACD-EE50-8595-5C74-72D4D103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769663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100" noProof="0" err="1">
                <a:solidFill>
                  <a:prstClr val="black">
                    <a:tint val="75000"/>
                  </a:prstClr>
                </a:solidFill>
              </a:rPr>
              <a:t>TuSpeaking</a:t>
            </a:r>
            <a:r>
              <a:rPr lang="en-US" sz="1100" noProof="0">
                <a:solidFill>
                  <a:prstClr val="black">
                    <a:tint val="75000"/>
                  </a:prstClr>
                </a:solidFill>
              </a:rPr>
              <a:t> 2023,  All rights reserved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9CF4BAB7-C29D-23A7-10BE-9184D101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fld id="{D76B855D-E9CC-4FF8-AD85-6CDC7B89A0DE}" type="slidenum">
              <a:rPr lang="en-US" noProof="0">
                <a:solidFill>
                  <a:prstClr val="black">
                    <a:tint val="75000"/>
                  </a:prstClr>
                </a:solidFill>
              </a:rPr>
              <a:pPr lvl="0">
                <a:spcAft>
                  <a:spcPts val="600"/>
                </a:spcAft>
              </a:pPr>
              <a:t>17</a:t>
            </a:fld>
            <a:endParaRPr lang="en-US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4532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2.xml><?xml version="1.0" encoding="utf-8"?>
<a:theme xmlns:a="http://schemas.openxmlformats.org/drawingml/2006/main" name="1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3.xml><?xml version="1.0" encoding="utf-8"?>
<a:theme xmlns:a="http://schemas.openxmlformats.org/drawingml/2006/main" name="2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4.xml><?xml version="1.0" encoding="utf-8"?>
<a:theme xmlns:a="http://schemas.openxmlformats.org/drawingml/2006/main" name="3_Theme2. Tuspeaking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. Tuspeaking" id="{A9E9B0C4-5D59-4360-BA45-801202725969}" vid="{C06795CE-A8FF-483C-8123-2EC6C4B1B86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</TotalTime>
  <Words>1143</Words>
  <Application>Microsoft Office PowerPoint</Application>
  <PresentationFormat>Custom</PresentationFormat>
  <Paragraphs>116</Paragraphs>
  <Slides>17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Theme2. Tuspeaking</vt:lpstr>
      <vt:lpstr>1_Theme2. Tuspeaking</vt:lpstr>
      <vt:lpstr>2_Theme2. Tuspeaking</vt:lpstr>
      <vt:lpstr>3_Theme2. Tuspeaking</vt:lpstr>
      <vt:lpstr>Business English</vt:lpstr>
      <vt:lpstr>Product Marketing - Describing What My Company Offers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take a closer look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Quote – Do you agree? Why/Why not.  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Kiara Johnston</cp:lastModifiedBy>
  <cp:revision>2</cp:revision>
  <dcterms:created xsi:type="dcterms:W3CDTF">2023-08-07T11:15:17Z</dcterms:created>
  <dcterms:modified xsi:type="dcterms:W3CDTF">2023-09-06T11:33:01Z</dcterms:modified>
</cp:coreProperties>
</file>