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68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C5FC-6D57-EAD2-8799-552932480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85887-BC2F-96B5-E0D1-E5252ABEE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6F410-7337-82C9-88F8-5F17EE8B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37B87-53D7-252F-4AF0-CF0AD2EC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8CE54-71C6-31B7-9E95-34267674B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823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B008-9E4F-36F6-D294-6AF94FDF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8C4B-DEA8-2E3A-3F7E-DD9CD8884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47020-DE41-0A20-EE92-52D23BBB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E8B44-4F93-B5E2-6BAB-55FE347A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4AF1C-C3BC-F099-DFDC-031DB9FB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530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6AFD-0292-28B4-48DA-D107C737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D2F66-64DB-D05F-3ABE-1FFA1CED7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F5945-D0AE-C218-03A1-405DC62F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29971-6FEB-4A8E-C938-F7302E55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95198-91C3-6DF4-DCF0-243B2162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13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49EB-721E-C6C6-9D4B-B09F8FA6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596C-9790-E9BD-9050-EB95278E1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0D3BF-FB6C-9529-757D-E20211803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6868C-DD44-3263-4071-1918EFDA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58E7F-F95A-E6A0-E0B8-E93A0EA5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248FF-596A-DF5A-0B2C-0BF1CA49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197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48D5-9A81-DEAB-A169-84E78B32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F521-EA80-2656-2F66-4AD70D763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F3964-06E8-2E3B-AB65-E3DDE8989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49C99-E63A-967A-3674-4CB0AE9B4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A9F22-BD08-0C75-9009-BA33EEC47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E6AA5-EF9E-3FDC-803E-FF493E79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4DB0A-1585-FD08-48A9-0F91640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6CFAC-66D4-CC1A-19F3-673EEE54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492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0CFD-6C85-A085-2B9C-F0AF1F25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2A5D8-E869-5F1D-F2E2-3A9B45C1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ED394-FB2E-AB8A-66AF-9A18C754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89CFB-613A-452F-F2E0-E9E94820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624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9AFA8-4BD5-9AF7-90FC-D092015E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1FBB6-55C6-5CDF-88F4-BEADA552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BD2F0-4E2B-253B-0E96-FE212464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992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869F-EC5F-6C94-76B2-10353D91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D1ED8-4CA0-D97B-9CF2-8B86C7971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C3B98-0869-7929-0FE8-8925C9558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4735C-B59E-4258-2702-AA53CC3C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5DF63-0EC3-825A-F064-0F29E6A9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6E9DC-6ED1-169F-70A4-EA38E7DC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AE59-8AC1-96B1-3CE9-A0D4FF8A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950F2-2490-EF61-CA26-C5F653E56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8F227-703C-02E6-CDDF-D6567CAEB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63A0D-7EBE-1900-4D51-9A7B80F8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E8129-1A0F-0D1F-B870-7727C0C2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5AECA-2992-78AF-A203-F141049B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112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B840-CAEA-43E5-8F5E-7CB281AA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C93EA-34AF-D6C4-2670-579262778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AB165-20EB-662C-404E-2FC13231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0380B-65DE-8A73-54D6-8381181C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22BD4-2F42-4113-26A0-EF778D38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68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EFDA2-845E-31D1-8644-DEFEC3C27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52BE0-D511-7735-B08F-CC6883E50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079C4-C794-1BC7-3CA1-585E4DA4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70537-4CEF-52FC-DF64-83FE9237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24C2-0389-AAC3-D7EF-0CF3DC21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519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F6258-59DB-D502-2310-F5E6CA954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FB25F-05D3-5D68-F41D-C4C4489F3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B5EA1-D7AB-395B-7E38-9FD252650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D22DC-40B1-4861-85E6-44F945E42327}" type="datetimeFigureOut">
              <a:rPr lang="es-ES" smtClean="0"/>
              <a:t>14/08/2024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BFAC8-E278-AC78-7372-2A9B61DB5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3BD0F-3768-2266-1A60-90767DC1D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39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9F8A-3458-0384-D3DE-6A953FEF5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Integrating sustainability into business </a:t>
            </a:r>
            <a:r>
              <a:rPr lang="en-US" altLang="en-US" dirty="0">
                <a:solidFill>
                  <a:srgbClr val="333333"/>
                </a:solidFill>
              </a:rPr>
              <a:t>s</a:t>
            </a: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trategy</a:t>
            </a:r>
            <a:r>
              <a:rPr kumimoji="0" lang="en-US" altLang="en-US" sz="5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9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1C2AD-45C1-9E0A-1F74-60E9AAD105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Business English B1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8ECA0-33E9-141C-6226-3CEEEEA04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691" y="360363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9BF2F2-9290-F3AC-390E-225DA13AEF5D}"/>
              </a:ext>
            </a:extLst>
          </p:cNvPr>
          <p:cNvSpPr txBox="1"/>
          <p:nvPr/>
        </p:nvSpPr>
        <p:spPr>
          <a:xfrm>
            <a:off x="585369" y="59635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800" b="0" i="0" kern="1200" spc="0" baseline="0" dirty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TuSpeaking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All rights reserved</a:t>
            </a:r>
            <a:endParaRPr lang="es-ES" dirty="0"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B8728C-D0F4-541F-78BB-ED65C690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99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D6176-D4AB-5E29-DDF8-F095AF2FB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Warm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B2649-5002-AEBA-C43D-068FFAFD6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</a:rPr>
              <a:t>What do you think the word 'sustainability' means?</a:t>
            </a:r>
          </a:p>
          <a:p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</a:rPr>
              <a:t>Do you think sustainability is important in today's world?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ustainability">
            <a:extLst>
              <a:ext uri="{FF2B5EF4-FFF2-40B4-BE49-F238E27FC236}">
                <a16:creationId xmlns:a16="http://schemas.microsoft.com/office/drawing/2014/main" id="{595ADB0D-CD33-BEE3-72CD-A1F4B0CA6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90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8D5BB-B4F7-3879-7EA4-645ECBA7B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GB" sz="4000"/>
              <a:t>Conversation</a:t>
            </a:r>
          </a:p>
        </p:txBody>
      </p:sp>
      <p:pic>
        <p:nvPicPr>
          <p:cNvPr id="8" name="Graphic 7" descr="Open Hand with Plant">
            <a:extLst>
              <a:ext uri="{FF2B5EF4-FFF2-40B4-BE49-F238E27FC236}">
                <a16:creationId xmlns:a16="http://schemas.microsoft.com/office/drawing/2014/main" id="{2D34CC3B-733A-48B4-DE4F-1CC6EB395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BB908A7-C525-5620-F9C3-4D459A258F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7364" y="4072044"/>
            <a:ext cx="5801917" cy="20570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6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Can you think of any examples of sustainability in everyday life?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Do you know any companies that try to be environmentally friendly? What do they do to help the environment?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How do you feel when you buy products from companies that are environmentally friendly? </a:t>
            </a:r>
          </a:p>
        </p:txBody>
      </p:sp>
      <p:pic>
        <p:nvPicPr>
          <p:cNvPr id="10" name="Graphic 9" descr="Open Hand with Plant">
            <a:extLst>
              <a:ext uri="{FF2B5EF4-FFF2-40B4-BE49-F238E27FC236}">
                <a16:creationId xmlns:a16="http://schemas.microsoft.com/office/drawing/2014/main" id="{18E148E7-5DAB-488A-9ADF-D4D05B3D3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1321-3753-6136-14CF-C84949A4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02341"/>
            <a:ext cx="7061616" cy="80416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 you recognize any of these brands? What do you know about them?</a:t>
            </a:r>
          </a:p>
        </p:txBody>
      </p:sp>
      <p:pic>
        <p:nvPicPr>
          <p:cNvPr id="2052" name="Picture 4" descr="Download Patagonia Logo Icy Mountains Wallpaper | Wallpapers.com">
            <a:extLst>
              <a:ext uri="{FF2B5EF4-FFF2-40B4-BE49-F238E27FC236}">
                <a16:creationId xmlns:a16="http://schemas.microsoft.com/office/drawing/2014/main" id="{7D0BB391-5AC6-95E3-8EE9-A2DB4797E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671"/>
          <a:stretch/>
        </p:blipFill>
        <p:spPr bwMode="auto">
          <a:xfrm>
            <a:off x="-4" y="10"/>
            <a:ext cx="8328610" cy="5279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esla Logo Design | Analysis | DesignRush">
            <a:extLst>
              <a:ext uri="{FF2B5EF4-FFF2-40B4-BE49-F238E27FC236}">
                <a16:creationId xmlns:a16="http://schemas.microsoft.com/office/drawing/2014/main" id="{6EE2EB38-CD40-C92D-5380-ADE761DAA4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6" r="9302" b="1"/>
          <a:stretch/>
        </p:blipFill>
        <p:spPr bwMode="auto">
          <a:xfrm>
            <a:off x="8328610" y="1"/>
            <a:ext cx="3863392" cy="265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 desvanecer de The Body Shop reaviva la nostalgia: del inolvidable White  Musk a ser pionera en la cosmética ética | Belleza | S Moda | EL PAÍS">
            <a:extLst>
              <a:ext uri="{FF2B5EF4-FFF2-40B4-BE49-F238E27FC236}">
                <a16:creationId xmlns:a16="http://schemas.microsoft.com/office/drawing/2014/main" id="{C19ABFB7-A5E1-F91B-FC65-9A45FD06F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6" r="11158" b="3"/>
          <a:stretch/>
        </p:blipFill>
        <p:spPr bwMode="auto">
          <a:xfrm>
            <a:off x="8328611" y="2639971"/>
            <a:ext cx="3863392" cy="265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AA47CC56-1188-533D-88C5-F705AFAA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193370"/>
            <a:ext cx="12207200" cy="123363"/>
            <a:chOff x="-5025" y="6737718"/>
            <a:chExt cx="12207200" cy="123363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5EEFA798-8C89-9948-4282-92855291A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B4009D10-42BE-E080-5E98-DA638B250D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217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DE10-0217-F96E-E004-0DC0E43D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 fontScale="90000"/>
          </a:bodyPr>
          <a:lstStyle/>
          <a:p>
            <a:r>
              <a:rPr lang="en-GB" sz="3200" dirty="0"/>
              <a:t>Vocabulary</a:t>
            </a:r>
            <a:br>
              <a:rPr lang="en-GB" sz="3200" dirty="0"/>
            </a:br>
            <a:br>
              <a:rPr lang="en-GB" sz="3200" dirty="0"/>
            </a:br>
            <a:r>
              <a:rPr lang="en-GB" sz="3200" dirty="0"/>
              <a:t>Do you know these terms?</a:t>
            </a:r>
          </a:p>
        </p:txBody>
      </p:sp>
      <p:pic>
        <p:nvPicPr>
          <p:cNvPr id="6" name="Picture 5" descr="One glowing fluorescent bulb amonst unlit incandescent bulbs">
            <a:extLst>
              <a:ext uri="{FF2B5EF4-FFF2-40B4-BE49-F238E27FC236}">
                <a16:creationId xmlns:a16="http://schemas.microsoft.com/office/drawing/2014/main" id="{78B9E5A3-C7A8-0C32-980A-55FF1B392E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93" r="9686"/>
          <a:stretch/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4D9C1C-4044-0176-F4A9-4C61A2DBAA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79978" y="2533476"/>
            <a:ext cx="3369234" cy="3447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Sustainable Development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Green Business Practices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Triple Bottom Line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Corporate Governance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360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56EE7-722A-0F81-8625-E0EB6C49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3700"/>
              <a:t>Check, then try to make a sentence with each term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007D8B-CEBD-2B8A-0F42-9C19D39630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Sustainable Development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Definition: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Sustainable development means improving people's lives and the economy while protecting the environment for future generations.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Green Business Practices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Definition: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Green business practices involve actions that businesses take to minimize their impact on the environment, such as reducing waste, saving energy, or using recycled materials.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Triple Bottom Line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Definition: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The triple bottom line is a concept where businesses focus not only on making a profit but also on social and environmental impacts. It means considering people, planet, and profit.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Corporate Governance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Definition: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Corporate governance refers to the ways in which a company is directed and controlled, including ethical practices and accountability to shareholders and stakeholders.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6" name="Picture 5" descr="Light bulbs on a green surface with only one light bulb on">
            <a:extLst>
              <a:ext uri="{FF2B5EF4-FFF2-40B4-BE49-F238E27FC236}">
                <a16:creationId xmlns:a16="http://schemas.microsoft.com/office/drawing/2014/main" id="{8850F97C-4F91-A497-8CB7-239DA7ACD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64" r="10300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764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A575A0-2D18-6D90-822B-C8ABC3470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83" r="31951" b="-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98CC4-E36F-48E8-E305-00DCB4724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GB" sz="4000"/>
              <a:t>Example sentences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0FBB8F8F-EB20-A9C4-02FA-BB77D5EE57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1" y="2884929"/>
            <a:ext cx="4659756" cy="3374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Sustainable Development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A company that builds eco-friendly homes using renewable energy and materials is practicing sustainable development.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Green Business Practices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A restaurant that uses biodegradable packaging instead of plastic and recycles its kitchen waste is following green business practices.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Triple Bottom Line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A company that ensures fair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</a:rPr>
              <a:t>labour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practices, reduces its carbon footprint, and makes a profit is aiming for a positive triple bottom line.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</a:rPr>
              <a:t>Corporate Governance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A company with a transparent board of directors who make ethical decisions and report their actions clearly to the public is practicing good corporate governance.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43335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Green dialogue boxes">
            <a:extLst>
              <a:ext uri="{FF2B5EF4-FFF2-40B4-BE49-F238E27FC236}">
                <a16:creationId xmlns:a16="http://schemas.microsoft.com/office/drawing/2014/main" id="{9F697BEE-F29F-154B-113E-AE870C1EE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29" r="15958" b="2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C065B-F142-08BD-2863-361440D7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GB" sz="4000"/>
              <a:t>Conversation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E189E-528C-956E-D7D1-79812BE43A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1" y="2884929"/>
            <a:ext cx="4659756" cy="3374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Can anyone give a different example of sustainable development?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How do you think green business practices can benefit a company beyond just being good for the environment?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Why is it important for a company to consider the triple bottom line? </a:t>
            </a:r>
          </a:p>
        </p:txBody>
      </p:sp>
    </p:spTree>
    <p:extLst>
      <p:ext uri="{BB962C8B-B14F-4D97-AF65-F5344CB8AC3E}">
        <p14:creationId xmlns:p14="http://schemas.microsoft.com/office/powerpoint/2010/main" val="49979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People at the meeting desk">
            <a:extLst>
              <a:ext uri="{FF2B5EF4-FFF2-40B4-BE49-F238E27FC236}">
                <a16:creationId xmlns:a16="http://schemas.microsoft.com/office/drawing/2014/main" id="{A3D9BC88-DB67-A20C-B18E-7876F906D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12" r="32513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F2E61-DEFE-482D-C62A-3F703DD3E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 dirty="0"/>
              <a:t>Group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7251B3-F0BE-959A-1EF8-2C7266B5A9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5317" y="2743200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Divide students into small groups.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Assign each group a specific area of business (e.g., supply chain management, product design, marketing). </a:t>
            </a:r>
          </a:p>
        </p:txBody>
      </p:sp>
    </p:spTree>
    <p:extLst>
      <p:ext uri="{BB962C8B-B14F-4D97-AF65-F5344CB8AC3E}">
        <p14:creationId xmlns:p14="http://schemas.microsoft.com/office/powerpoint/2010/main" val="3304284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B9445-6A3A-9B91-0DBF-5F9D0E94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GB" sz="4100"/>
              <a:t>Conversation Questions for Group Discussion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6A2D94-5AD8-EBA1-3A43-7D5DC8558F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3297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How can we make the supply chain more environmentally friendly?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What kind of product designs can reduce waste or use sustainable materials?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How can marketing encourage customers to choose sustainable products?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00"/>
          </a:p>
          <a:p>
            <a:pPr marL="0" indent="0">
              <a:buNone/>
            </a:pPr>
            <a:r>
              <a:rPr lang="en-GB" sz="1300" b="1"/>
              <a:t>Presentation:</a:t>
            </a:r>
            <a:endParaRPr lang="en-GB" sz="1300"/>
          </a:p>
          <a:p>
            <a:r>
              <a:rPr lang="en-GB" sz="1300"/>
              <a:t>Each group brainstorms and develops an idea on how to integrate sustainability into their assigned area.</a:t>
            </a:r>
          </a:p>
          <a:p>
            <a:r>
              <a:rPr lang="en-GB" sz="1300"/>
              <a:t>Groups present their ideas to the class, explaining how their strategy would work and why it would be effective.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</a:t>
            </a:r>
          </a:p>
        </p:txBody>
      </p:sp>
      <p:pic>
        <p:nvPicPr>
          <p:cNvPr id="6" name="Picture 5" descr="White bulbs with a yellow one standing out">
            <a:extLst>
              <a:ext uri="{FF2B5EF4-FFF2-40B4-BE49-F238E27FC236}">
                <a16:creationId xmlns:a16="http://schemas.microsoft.com/office/drawing/2014/main" id="{CF22D747-2EAF-27EE-D724-B97EC14C8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47" r="28916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68074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6010-F9F6-67F6-D027-E27FF744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GB" sz="3200" dirty="0"/>
              <a:t>Review</a:t>
            </a:r>
          </a:p>
        </p:txBody>
      </p:sp>
      <p:pic>
        <p:nvPicPr>
          <p:cNvPr id="5" name="Picture 4" descr="Person with idea concept">
            <a:extLst>
              <a:ext uri="{FF2B5EF4-FFF2-40B4-BE49-F238E27FC236}">
                <a16:creationId xmlns:a16="http://schemas.microsoft.com/office/drawing/2014/main" id="{99984136-A36E-B540-E0B6-E5D926B70B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64" r="16102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A72E-E57C-3765-8830-787949F6B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anchor="t">
            <a:normAutofit/>
          </a:bodyPr>
          <a:lstStyle/>
          <a:p>
            <a:r>
              <a:rPr lang="en-GB" sz="2000"/>
              <a:t>Which group’s idea do you think would be the easiest for a company to implement? Why?</a:t>
            </a:r>
          </a:p>
          <a:p>
            <a:endParaRPr lang="en-GB" sz="200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What was the most interesting thing you learned today?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How do you think learning about sustainability can help you in the future?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898515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C526-9C89-01BE-A1ED-2CD0D17E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Delayed feedback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29F1-FA1F-8085-B0AF-C47D4070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548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552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Integrating sustainability into business strategy </vt:lpstr>
      <vt:lpstr>Warm up</vt:lpstr>
      <vt:lpstr>Conversation</vt:lpstr>
      <vt:lpstr>Do you recognize any of these brands? What do you know about them?</vt:lpstr>
      <vt:lpstr>Vocabulary  Do you know these terms?</vt:lpstr>
      <vt:lpstr>Check, then try to make a sentence with each term</vt:lpstr>
      <vt:lpstr>Example sentences</vt:lpstr>
      <vt:lpstr>Conversation</vt:lpstr>
      <vt:lpstr>Group Work</vt:lpstr>
      <vt:lpstr>Conversation Questions for Group Discussion</vt:lpstr>
      <vt:lpstr>Review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</dc:title>
  <dc:creator>Theo Clarke</dc:creator>
  <cp:lastModifiedBy>Clarke, Theodore James Dalgliesh</cp:lastModifiedBy>
  <cp:revision>15</cp:revision>
  <dcterms:created xsi:type="dcterms:W3CDTF">2024-03-22T11:49:07Z</dcterms:created>
  <dcterms:modified xsi:type="dcterms:W3CDTF">2024-08-14T09:30:08Z</dcterms:modified>
</cp:coreProperties>
</file>