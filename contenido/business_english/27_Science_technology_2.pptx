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68" r:id="rId5"/>
    <p:sldId id="269" r:id="rId6"/>
    <p:sldId id="270" r:id="rId7"/>
    <p:sldId id="271" r:id="rId8"/>
    <p:sldId id="272" r:id="rId9"/>
    <p:sldId id="273" r:id="rId10"/>
    <p:sldId id="274" r:id="rId11"/>
    <p:sldId id="275" r:id="rId1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7" d="100"/>
          <a:sy n="117" d="100"/>
        </p:scale>
        <p:origin x="35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97672-C49F-2146-E272-8639613202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id="{05F2F0C0-0BB1-D643-4A48-1CA979C1B0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id="{B9C0EA95-F30D-15AF-903C-656A97D2E71D}"/>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5" name="Footer Placeholder 4">
            <a:extLst>
              <a:ext uri="{FF2B5EF4-FFF2-40B4-BE49-F238E27FC236}">
                <a16:creationId xmlns:a16="http://schemas.microsoft.com/office/drawing/2014/main" id="{E6EFA2D6-F255-6876-4F9A-ACF283952D9A}"/>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597C03BB-BAD8-EC3A-7015-A2D5287F7CD6}"/>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3531217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527B4-7922-DBA0-A09C-3E3ABA22BED7}"/>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35A70DB3-C4A7-EABC-C748-CA4BB682CB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579A19E0-70B7-18B0-E4C0-D3BD13C974D2}"/>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5" name="Footer Placeholder 4">
            <a:extLst>
              <a:ext uri="{FF2B5EF4-FFF2-40B4-BE49-F238E27FC236}">
                <a16:creationId xmlns:a16="http://schemas.microsoft.com/office/drawing/2014/main" id="{8D8C9D4C-B784-9845-BC33-7A38DD8EB952}"/>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ECD24327-FF1A-0228-A652-F173B6F0AE5C}"/>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79874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6EEE8-E589-14C4-87CF-B76D2FB652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id="{A073A84A-2F03-4850-0453-FECA61D03D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3F4930-E128-D22B-DFF4-56B7A3753BA0}"/>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5" name="Footer Placeholder 4">
            <a:extLst>
              <a:ext uri="{FF2B5EF4-FFF2-40B4-BE49-F238E27FC236}">
                <a16:creationId xmlns:a16="http://schemas.microsoft.com/office/drawing/2014/main" id="{2400B86A-1A66-E656-1EDD-C99CE1BA3C4A}"/>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16801CF0-9F71-0CE8-79F8-519CD530B549}"/>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2444684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7A17F-CC55-BB60-E9C5-B76FC953A892}"/>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id="{3101BF8B-2075-BA6F-1C43-194A4676FE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id="{490BD44B-5991-1F2D-F37F-FCCD4AFB5F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id="{5149D7C1-5BB7-49FA-F392-A1CB04765E6A}"/>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6" name="Footer Placeholder 5">
            <a:extLst>
              <a:ext uri="{FF2B5EF4-FFF2-40B4-BE49-F238E27FC236}">
                <a16:creationId xmlns:a16="http://schemas.microsoft.com/office/drawing/2014/main" id="{5B82AD49-24B1-D187-C9C8-B0D2A6BE20D4}"/>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88406BFB-0A7D-C1F6-AF40-8D1A19FA4A81}"/>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3688801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AE18-A9D3-2312-C91F-9594BA49C4C5}"/>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id="{6C043F2B-56E6-67FE-C55A-597AD5D571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B1F33F-0098-2388-B642-86882B20DC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id="{D5A0FEAD-A86A-160C-CBB0-CAB8C1C992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E478F2-2C4E-21BE-33AC-149E284888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id="{A2239A9B-F4F2-0AC8-0E79-0CE6F5DB980B}"/>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8" name="Footer Placeholder 7">
            <a:extLst>
              <a:ext uri="{FF2B5EF4-FFF2-40B4-BE49-F238E27FC236}">
                <a16:creationId xmlns:a16="http://schemas.microsoft.com/office/drawing/2014/main" id="{76A8D355-9F89-F72A-ABB6-835FC0B37D5F}"/>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id="{480FC6B5-3180-56E0-C1EC-70FCBF94CB1A}"/>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1526619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4779-3795-E551-519D-68BD45657FC2}"/>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id="{5AF6F5A6-2277-784C-40D9-3F89869142E1}"/>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4" name="Footer Placeholder 3">
            <a:extLst>
              <a:ext uri="{FF2B5EF4-FFF2-40B4-BE49-F238E27FC236}">
                <a16:creationId xmlns:a16="http://schemas.microsoft.com/office/drawing/2014/main" id="{EFAA910A-CD3C-E645-4F7E-EBAFC34DFD7C}"/>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id="{353704A5-5558-FF85-1293-7697F0C66BEC}"/>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347828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B4F709-0500-359C-9988-979E80BAD7DE}"/>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3" name="Footer Placeholder 2">
            <a:extLst>
              <a:ext uri="{FF2B5EF4-FFF2-40B4-BE49-F238E27FC236}">
                <a16:creationId xmlns:a16="http://schemas.microsoft.com/office/drawing/2014/main" id="{17AB015F-080C-2CCB-0580-73BF569AAB5E}"/>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id="{2C9D1A81-3E01-F190-3AB9-F528E1C7B3EA}"/>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36807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19858-1C53-4F4E-9E1F-E332E197E6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id="{30F3580B-0035-F5FF-9780-F7C867F1A6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id="{6DE97CDD-5B74-6D26-18AC-B1E9D9D43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E86219-0035-ADDE-CBA1-5E0C276B8342}"/>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6" name="Footer Placeholder 5">
            <a:extLst>
              <a:ext uri="{FF2B5EF4-FFF2-40B4-BE49-F238E27FC236}">
                <a16:creationId xmlns:a16="http://schemas.microsoft.com/office/drawing/2014/main" id="{64358F6E-0BBB-3FF9-4F80-63539BFED826}"/>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C7C24522-2921-7F11-07C1-291F06A29BE1}"/>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1967532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A8B6-90B0-1117-02C3-710029E89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id="{0E28D60A-05DB-7709-E374-45DA23539F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id="{F3856FAD-6E69-F36B-26D6-168527ECE8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22058-D322-8105-8C07-2E70AAD76C5B}"/>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6" name="Footer Placeholder 5">
            <a:extLst>
              <a:ext uri="{FF2B5EF4-FFF2-40B4-BE49-F238E27FC236}">
                <a16:creationId xmlns:a16="http://schemas.microsoft.com/office/drawing/2014/main" id="{EBC58C27-3BF6-D2D1-2F5F-0865532A5D3B}"/>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id="{B49E4C99-E90E-0A54-30DE-E6C226D10B4F}"/>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4154640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B0A5-C5FC-D04F-7E2B-819592A86C3D}"/>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BC339797-8FDE-29DB-9B62-E92978011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FCE83B82-A9D8-A91E-1BD8-8EC382F25E41}"/>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5" name="Footer Placeholder 4">
            <a:extLst>
              <a:ext uri="{FF2B5EF4-FFF2-40B4-BE49-F238E27FC236}">
                <a16:creationId xmlns:a16="http://schemas.microsoft.com/office/drawing/2014/main" id="{D6C5FC47-B4E7-77B4-A899-779A7DF99F54}"/>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D2FD4901-65E9-9FA7-800F-DF5D7F5A2A75}"/>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2504899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365EEF-0549-D519-8F56-B1CDFFB184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id="{098B9AE4-0F7D-1B7F-08EE-85D7FDCECB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7EEEB710-B90B-C8C5-4277-B05D51737476}"/>
              </a:ext>
            </a:extLst>
          </p:cNvPr>
          <p:cNvSpPr>
            <a:spLocks noGrp="1"/>
          </p:cNvSpPr>
          <p:nvPr>
            <p:ph type="dt" sz="half" idx="10"/>
          </p:nvPr>
        </p:nvSpPr>
        <p:spPr/>
        <p:txBody>
          <a:bodyPr/>
          <a:lstStyle/>
          <a:p>
            <a:fld id="{002176AB-B33A-4CB5-B54D-6C2B98E1C289}" type="datetimeFigureOut">
              <a:rPr lang="es-ES" smtClean="0"/>
              <a:t>17/06/2024</a:t>
            </a:fld>
            <a:endParaRPr lang="es-ES"/>
          </a:p>
        </p:txBody>
      </p:sp>
      <p:sp>
        <p:nvSpPr>
          <p:cNvPr id="5" name="Footer Placeholder 4">
            <a:extLst>
              <a:ext uri="{FF2B5EF4-FFF2-40B4-BE49-F238E27FC236}">
                <a16:creationId xmlns:a16="http://schemas.microsoft.com/office/drawing/2014/main" id="{5B290B3C-FBF9-03F2-3629-86D802BE6C86}"/>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id="{424382F7-F7FB-6D9B-3D00-550077C3E324}"/>
              </a:ext>
            </a:extLst>
          </p:cNvPr>
          <p:cNvSpPr>
            <a:spLocks noGrp="1"/>
          </p:cNvSpPr>
          <p:nvPr>
            <p:ph type="sldNum" sz="quarter" idx="12"/>
          </p:nvPr>
        </p:nvSpPr>
        <p:spPr/>
        <p:txBody>
          <a:bodyPr/>
          <a:lstStyle/>
          <a:p>
            <a:fld id="{0029050A-96E4-41EF-ADE9-9DFFA7612FB4}" type="slidenum">
              <a:rPr lang="es-ES" smtClean="0"/>
              <a:t>‹#›</a:t>
            </a:fld>
            <a:endParaRPr lang="es-ES"/>
          </a:p>
        </p:txBody>
      </p:sp>
    </p:spTree>
    <p:extLst>
      <p:ext uri="{BB962C8B-B14F-4D97-AF65-F5344CB8AC3E}">
        <p14:creationId xmlns:p14="http://schemas.microsoft.com/office/powerpoint/2010/main" val="127285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939329-4E9C-8A9C-4FE1-2BDAD90EE6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id="{EED12FE2-EFEE-2ADA-9E77-53303B933B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id="{6A71EACB-4EF3-36B3-9E04-AE9CD3B2C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176AB-B33A-4CB5-B54D-6C2B98E1C289}" type="datetimeFigureOut">
              <a:rPr lang="es-ES" smtClean="0"/>
              <a:t>17/06/2024</a:t>
            </a:fld>
            <a:endParaRPr lang="es-ES"/>
          </a:p>
        </p:txBody>
      </p:sp>
      <p:sp>
        <p:nvSpPr>
          <p:cNvPr id="5" name="Footer Placeholder 4">
            <a:extLst>
              <a:ext uri="{FF2B5EF4-FFF2-40B4-BE49-F238E27FC236}">
                <a16:creationId xmlns:a16="http://schemas.microsoft.com/office/drawing/2014/main" id="{B190D254-2F59-9418-7F46-ACADF99CF8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a:extLst>
              <a:ext uri="{FF2B5EF4-FFF2-40B4-BE49-F238E27FC236}">
                <a16:creationId xmlns:a16="http://schemas.microsoft.com/office/drawing/2014/main" id="{74FADD2F-7155-2E7E-A8FB-D96C2E6B01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29050A-96E4-41EF-ADE9-9DFFA7612FB4}" type="slidenum">
              <a:rPr lang="es-ES" smtClean="0"/>
              <a:t>‹#›</a:t>
            </a:fld>
            <a:endParaRPr lang="es-ES"/>
          </a:p>
        </p:txBody>
      </p:sp>
    </p:spTree>
    <p:extLst>
      <p:ext uri="{BB962C8B-B14F-4D97-AF65-F5344CB8AC3E}">
        <p14:creationId xmlns:p14="http://schemas.microsoft.com/office/powerpoint/2010/main" val="30749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7AF82-47AE-71B7-5943-5081310F11AA}"/>
              </a:ext>
            </a:extLst>
          </p:cNvPr>
          <p:cNvSpPr>
            <a:spLocks noGrp="1"/>
          </p:cNvSpPr>
          <p:nvPr>
            <p:ph type="ctrTitle"/>
          </p:nvPr>
        </p:nvSpPr>
        <p:spPr/>
        <p:txBody>
          <a:bodyPr/>
          <a:lstStyle/>
          <a:p>
            <a:r>
              <a:rPr lang="en-GB" dirty="0"/>
              <a:t>Science and technology</a:t>
            </a:r>
            <a:endParaRPr lang="es-ES" dirty="0"/>
          </a:p>
        </p:txBody>
      </p:sp>
      <p:sp>
        <p:nvSpPr>
          <p:cNvPr id="3" name="Subtitle 2">
            <a:extLst>
              <a:ext uri="{FF2B5EF4-FFF2-40B4-BE49-F238E27FC236}">
                <a16:creationId xmlns:a16="http://schemas.microsoft.com/office/drawing/2014/main" id="{8CC35A7C-E0AF-AB01-CDD8-15B22EB1C4AB}"/>
              </a:ext>
            </a:extLst>
          </p:cNvPr>
          <p:cNvSpPr>
            <a:spLocks noGrp="1"/>
          </p:cNvSpPr>
          <p:nvPr>
            <p:ph type="subTitle" idx="1"/>
          </p:nvPr>
        </p:nvSpPr>
        <p:spPr/>
        <p:txBody>
          <a:bodyPr/>
          <a:lstStyle/>
          <a:p>
            <a:r>
              <a:rPr lang="en-GB" dirty="0"/>
              <a:t>English B2</a:t>
            </a:r>
            <a:endParaRPr lang="es-ES" dirty="0"/>
          </a:p>
        </p:txBody>
      </p:sp>
      <p:pic>
        <p:nvPicPr>
          <p:cNvPr id="5" name="Picture 4" descr="A blue text on a black background&#10;&#10;Description automatically generated">
            <a:extLst>
              <a:ext uri="{FF2B5EF4-FFF2-40B4-BE49-F238E27FC236}">
                <a16:creationId xmlns:a16="http://schemas.microsoft.com/office/drawing/2014/main" id="{F9FA81D2-0BFD-4CDC-628C-317827CE1B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9610" y="253147"/>
            <a:ext cx="1636779" cy="762002"/>
          </a:xfrm>
          <a:prstGeom prst="rect">
            <a:avLst/>
          </a:prstGeom>
        </p:spPr>
      </p:pic>
      <p:sp>
        <p:nvSpPr>
          <p:cNvPr id="6" name="TextBox 5">
            <a:extLst>
              <a:ext uri="{FF2B5EF4-FFF2-40B4-BE49-F238E27FC236}">
                <a16:creationId xmlns:a16="http://schemas.microsoft.com/office/drawing/2014/main" id="{A6CE57D4-7297-42B0-7026-7E5EBE6BFA01}"/>
              </a:ext>
            </a:extLst>
          </p:cNvPr>
          <p:cNvSpPr txBox="1"/>
          <p:nvPr/>
        </p:nvSpPr>
        <p:spPr>
          <a:xfrm>
            <a:off x="631595" y="5882326"/>
            <a:ext cx="4166647" cy="369332"/>
          </a:xfrm>
          <a:prstGeom prst="rect">
            <a:avLst/>
          </a:prstGeom>
          <a:noFill/>
        </p:spPr>
        <p:txBody>
          <a:bodyPr wrap="square" rtlCol="0">
            <a:spAutoFit/>
          </a:bodyPr>
          <a:lstStyle/>
          <a:p>
            <a:r>
              <a:rPr lang="en-GB" dirty="0" err="1">
                <a:solidFill>
                  <a:schemeClr val="bg1">
                    <a:lumMod val="65000"/>
                  </a:schemeClr>
                </a:solidFill>
              </a:rPr>
              <a:t>TuSpeaking</a:t>
            </a:r>
            <a:r>
              <a:rPr lang="en-GB" dirty="0">
                <a:solidFill>
                  <a:schemeClr val="bg1">
                    <a:lumMod val="65000"/>
                  </a:schemeClr>
                </a:solidFill>
              </a:rPr>
              <a:t>, 2024, all rights reserved</a:t>
            </a:r>
            <a:endParaRPr lang="es-ES" dirty="0">
              <a:solidFill>
                <a:schemeClr val="bg1">
                  <a:lumMod val="65000"/>
                </a:schemeClr>
              </a:solidFill>
            </a:endParaRPr>
          </a:p>
        </p:txBody>
      </p:sp>
    </p:spTree>
    <p:extLst>
      <p:ext uri="{BB962C8B-B14F-4D97-AF65-F5344CB8AC3E}">
        <p14:creationId xmlns:p14="http://schemas.microsoft.com/office/powerpoint/2010/main" val="3960564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D86299-4016-BB8C-11D3-7BF3DE06AFF0}"/>
              </a:ext>
            </a:extLst>
          </p:cNvPr>
          <p:cNvSpPr>
            <a:spLocks noGrp="1"/>
          </p:cNvSpPr>
          <p:nvPr>
            <p:ph type="title"/>
          </p:nvPr>
        </p:nvSpPr>
        <p:spPr>
          <a:xfrm>
            <a:off x="1005008" y="688886"/>
            <a:ext cx="10178934" cy="1328730"/>
          </a:xfrm>
        </p:spPr>
        <p:txBody>
          <a:bodyPr vert="horz" lIns="91440" tIns="45720" rIns="91440" bIns="45720" rtlCol="0" anchor="b">
            <a:normAutofit fontScale="90000"/>
          </a:bodyPr>
          <a:lstStyle/>
          <a:p>
            <a:pPr algn="ctr"/>
            <a:r>
              <a:rPr lang="en-US" sz="5200" kern="1200" dirty="0">
                <a:solidFill>
                  <a:schemeClr val="tx1"/>
                </a:solidFill>
                <a:latin typeface="+mj-lt"/>
                <a:ea typeface="+mj-ea"/>
                <a:cs typeface="+mj-cs"/>
              </a:rPr>
              <a:t>Invention or innovation</a:t>
            </a:r>
            <a:br>
              <a:rPr lang="en-US" sz="5200" kern="1200" dirty="0">
                <a:solidFill>
                  <a:schemeClr val="tx1"/>
                </a:solidFill>
                <a:latin typeface="+mj-lt"/>
                <a:ea typeface="+mj-ea"/>
                <a:cs typeface="+mj-cs"/>
              </a:rPr>
            </a:br>
            <a:r>
              <a:rPr lang="en-US" sz="5200" kern="1200" dirty="0">
                <a:solidFill>
                  <a:schemeClr val="tx1"/>
                </a:solidFill>
                <a:latin typeface="+mj-lt"/>
                <a:ea typeface="+mj-ea"/>
                <a:cs typeface="+mj-cs"/>
              </a:rPr>
              <a:t>Do you know the difference?</a:t>
            </a:r>
          </a:p>
        </p:txBody>
      </p:sp>
      <p:pic>
        <p:nvPicPr>
          <p:cNvPr id="7" name="Picture 6" descr="Lightbulb idea concept">
            <a:extLst>
              <a:ext uri="{FF2B5EF4-FFF2-40B4-BE49-F238E27FC236}">
                <a16:creationId xmlns:a16="http://schemas.microsoft.com/office/drawing/2014/main" id="{91259AE9-2D79-E244-D794-1B69B28847B1}"/>
              </a:ext>
            </a:extLst>
          </p:cNvPr>
          <p:cNvPicPr>
            <a:picLocks noChangeAspect="1"/>
          </p:cNvPicPr>
          <p:nvPr/>
        </p:nvPicPr>
        <p:blipFill rotWithShape="1">
          <a:blip r:embed="rId2">
            <a:extLst>
              <a:ext uri="{28A0092B-C50C-407E-A947-70E740481C1C}">
                <a14:useLocalDpi xmlns:a14="http://schemas.microsoft.com/office/drawing/2010/main" val="0"/>
              </a:ext>
            </a:extLst>
          </a:blip>
          <a:srcRect r="430" b="3"/>
          <a:stretch/>
        </p:blipFill>
        <p:spPr>
          <a:xfrm>
            <a:off x="198741" y="2410448"/>
            <a:ext cx="5803323" cy="3890357"/>
          </a:xfrm>
          <a:prstGeom prst="rect">
            <a:avLst/>
          </a:prstGeom>
        </p:spPr>
      </p:pic>
      <p:pic>
        <p:nvPicPr>
          <p:cNvPr id="5" name="Content Placeholder 4" descr="Hand holding windmill">
            <a:extLst>
              <a:ext uri="{FF2B5EF4-FFF2-40B4-BE49-F238E27FC236}">
                <a16:creationId xmlns:a16="http://schemas.microsoft.com/office/drawing/2014/main" id="{BD8ECA12-2035-484E-F891-041CF0CC79B8}"/>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r="430" b="3"/>
          <a:stretch/>
        </p:blipFill>
        <p:spPr>
          <a:xfrm>
            <a:off x="6189934" y="2410448"/>
            <a:ext cx="5803323" cy="3890357"/>
          </a:xfrm>
          <a:prstGeom prst="rect">
            <a:avLst/>
          </a:prstGeom>
        </p:spPr>
      </p:pic>
    </p:spTree>
    <p:extLst>
      <p:ext uri="{BB962C8B-B14F-4D97-AF65-F5344CB8AC3E}">
        <p14:creationId xmlns:p14="http://schemas.microsoft.com/office/powerpoint/2010/main" val="994075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3555A0-27C1-DCB9-C177-2EED750E7357}"/>
              </a:ext>
            </a:extLst>
          </p:cNvPr>
          <p:cNvSpPr>
            <a:spLocks noGrp="1"/>
          </p:cNvSpPr>
          <p:nvPr>
            <p:ph type="title"/>
          </p:nvPr>
        </p:nvSpPr>
        <p:spPr>
          <a:xfrm>
            <a:off x="838199" y="548464"/>
            <a:ext cx="3807187" cy="2228074"/>
          </a:xfrm>
        </p:spPr>
        <p:txBody>
          <a:bodyPr>
            <a:normAutofit/>
          </a:bodyPr>
          <a:lstStyle/>
          <a:p>
            <a:r>
              <a:rPr lang="en-GB" sz="4000"/>
              <a:t>Invention or innovation</a:t>
            </a:r>
            <a:endParaRPr lang="es-ES" sz="4000"/>
          </a:p>
        </p:txBody>
      </p:sp>
      <p:sp>
        <p:nvSpPr>
          <p:cNvPr id="3" name="Content Placeholder 2">
            <a:extLst>
              <a:ext uri="{FF2B5EF4-FFF2-40B4-BE49-F238E27FC236}">
                <a16:creationId xmlns:a16="http://schemas.microsoft.com/office/drawing/2014/main" id="{6B1C2D50-759A-812B-8A3D-E12D53A14759}"/>
              </a:ext>
            </a:extLst>
          </p:cNvPr>
          <p:cNvSpPr>
            <a:spLocks noGrp="1"/>
          </p:cNvSpPr>
          <p:nvPr>
            <p:ph idx="1"/>
          </p:nvPr>
        </p:nvSpPr>
        <p:spPr>
          <a:xfrm>
            <a:off x="838201" y="2962279"/>
            <a:ext cx="3799425" cy="3143241"/>
          </a:xfrm>
        </p:spPr>
        <p:txBody>
          <a:bodyPr>
            <a:normAutofit/>
          </a:bodyPr>
          <a:lstStyle/>
          <a:p>
            <a:r>
              <a:rPr lang="en-GB" sz="2000" b="0" i="0" dirty="0">
                <a:effectLst/>
              </a:rPr>
              <a:t>Invention involves creating something entirely new, for example the first light bulbs or the telephone. Innovation, on the other hand, is the process of improving the existing creations or finding new applications for them.</a:t>
            </a:r>
            <a:endParaRPr lang="es-ES" sz="2000" dirty="0"/>
          </a:p>
        </p:txBody>
      </p:sp>
      <p:pic>
        <p:nvPicPr>
          <p:cNvPr id="5" name="Picture 4" descr="An unlit lightbulb with colorful background lights">
            <a:extLst>
              <a:ext uri="{FF2B5EF4-FFF2-40B4-BE49-F238E27FC236}">
                <a16:creationId xmlns:a16="http://schemas.microsoft.com/office/drawing/2014/main" id="{77A1F8CA-F4C1-8B94-51C9-8A934C21C5BD}"/>
              </a:ext>
            </a:extLst>
          </p:cNvPr>
          <p:cNvPicPr>
            <a:picLocks noChangeAspect="1"/>
          </p:cNvPicPr>
          <p:nvPr/>
        </p:nvPicPr>
        <p:blipFill rotWithShape="1">
          <a:blip r:embed="rId2">
            <a:extLst>
              <a:ext uri="{28A0092B-C50C-407E-A947-70E740481C1C}">
                <a14:useLocalDpi xmlns:a14="http://schemas.microsoft.com/office/drawing/2010/main" val="0"/>
              </a:ext>
            </a:extLst>
          </a:blip>
          <a:srcRect l="1546" r="28553" b="-1"/>
          <a:stretch/>
        </p:blipFill>
        <p:spPr>
          <a:xfrm>
            <a:off x="5010386" y="10"/>
            <a:ext cx="7181613" cy="6857990"/>
          </a:xfrm>
          <a:prstGeom prst="rect">
            <a:avLst/>
          </a:prstGeom>
          <a:effectLst/>
        </p:spPr>
      </p:pic>
    </p:spTree>
    <p:extLst>
      <p:ext uri="{BB962C8B-B14F-4D97-AF65-F5344CB8AC3E}">
        <p14:creationId xmlns:p14="http://schemas.microsoft.com/office/powerpoint/2010/main" val="1334536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Gears up close">
            <a:extLst>
              <a:ext uri="{FF2B5EF4-FFF2-40B4-BE49-F238E27FC236}">
                <a16:creationId xmlns:a16="http://schemas.microsoft.com/office/drawing/2014/main" id="{33FB4F29-3C44-F47A-C193-CB9D5AD3CFFC}"/>
              </a:ext>
            </a:extLst>
          </p:cNvPr>
          <p:cNvPicPr>
            <a:picLocks noChangeAspect="1"/>
          </p:cNvPicPr>
          <p:nvPr/>
        </p:nvPicPr>
        <p:blipFill rotWithShape="1">
          <a:blip r:embed="rId2">
            <a:extLst>
              <a:ext uri="{28A0092B-C50C-407E-A947-70E740481C1C}">
                <a14:useLocalDpi xmlns:a14="http://schemas.microsoft.com/office/drawing/2010/main" val="0"/>
              </a:ext>
            </a:extLst>
          </a:blip>
          <a:srcRect r="5882" b="-1"/>
          <a:stretch/>
        </p:blipFill>
        <p:spPr>
          <a:xfrm>
            <a:off x="2522356" y="10"/>
            <a:ext cx="9669642" cy="6857990"/>
          </a:xfrm>
          <a:prstGeom prst="rect">
            <a:avLst/>
          </a:prstGeom>
        </p:spPr>
      </p:pic>
      <p:sp>
        <p:nvSpPr>
          <p:cNvPr id="17" name="Rectangle 1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3555A0-27C1-DCB9-C177-2EED750E7357}"/>
              </a:ext>
            </a:extLst>
          </p:cNvPr>
          <p:cNvSpPr>
            <a:spLocks noGrp="1"/>
          </p:cNvSpPr>
          <p:nvPr>
            <p:ph type="title"/>
          </p:nvPr>
        </p:nvSpPr>
        <p:spPr>
          <a:xfrm>
            <a:off x="838200" y="365125"/>
            <a:ext cx="3822189" cy="1899912"/>
          </a:xfrm>
        </p:spPr>
        <p:txBody>
          <a:bodyPr>
            <a:normAutofit/>
          </a:bodyPr>
          <a:lstStyle/>
          <a:p>
            <a:r>
              <a:rPr lang="en-GB" sz="4000" dirty="0"/>
              <a:t>Conversation questions</a:t>
            </a:r>
            <a:endParaRPr lang="es-ES" sz="4000" dirty="0"/>
          </a:p>
        </p:txBody>
      </p:sp>
      <p:sp>
        <p:nvSpPr>
          <p:cNvPr id="3" name="Content Placeholder 2">
            <a:extLst>
              <a:ext uri="{FF2B5EF4-FFF2-40B4-BE49-F238E27FC236}">
                <a16:creationId xmlns:a16="http://schemas.microsoft.com/office/drawing/2014/main" id="{6B1C2D50-759A-812B-8A3D-E12D53A14759}"/>
              </a:ext>
            </a:extLst>
          </p:cNvPr>
          <p:cNvSpPr>
            <a:spLocks noGrp="1"/>
          </p:cNvSpPr>
          <p:nvPr>
            <p:ph idx="1"/>
          </p:nvPr>
        </p:nvSpPr>
        <p:spPr>
          <a:xfrm>
            <a:off x="838200" y="2139885"/>
            <a:ext cx="4110872" cy="4037078"/>
          </a:xfrm>
        </p:spPr>
        <p:txBody>
          <a:bodyPr>
            <a:normAutofit fontScale="77500" lnSpcReduction="20000"/>
          </a:bodyPr>
          <a:lstStyle/>
          <a:p>
            <a:pPr marL="0" indent="0">
              <a:buNone/>
            </a:pPr>
            <a:r>
              <a:rPr lang="en-GB" sz="2100" b="1" i="0" dirty="0">
                <a:effectLst/>
              </a:rPr>
              <a:t>Inventions:</a:t>
            </a:r>
            <a:endParaRPr lang="en-GB" sz="2100" b="0" i="0" dirty="0">
              <a:effectLst/>
            </a:endParaRPr>
          </a:p>
          <a:p>
            <a:pPr>
              <a:buFont typeface="Arial" panose="020B0604020202020204" pitchFamily="34" charset="0"/>
              <a:buChar char="•"/>
            </a:pPr>
            <a:r>
              <a:rPr lang="en-GB" sz="2100" b="0" i="0" dirty="0">
                <a:effectLst/>
              </a:rPr>
              <a:t>What do you think is the most important invention in human history?</a:t>
            </a:r>
          </a:p>
          <a:p>
            <a:pPr>
              <a:buFont typeface="Arial" panose="020B0604020202020204" pitchFamily="34" charset="0"/>
              <a:buChar char="•"/>
            </a:pPr>
            <a:r>
              <a:rPr lang="en-GB" sz="2100" b="0" i="0" dirty="0">
                <a:effectLst/>
              </a:rPr>
              <a:t>Can you name a recent invention that has significantly impacted society?</a:t>
            </a:r>
          </a:p>
          <a:p>
            <a:pPr>
              <a:buFont typeface="Arial" panose="020B0604020202020204" pitchFamily="34" charset="0"/>
              <a:buChar char="•"/>
            </a:pPr>
            <a:r>
              <a:rPr lang="en-GB" sz="2100" b="0" i="0" dirty="0">
                <a:effectLst/>
              </a:rPr>
              <a:t>If you could invent something to solve a specific problem, what would it be and why?</a:t>
            </a:r>
          </a:p>
          <a:p>
            <a:pPr>
              <a:buFont typeface="Arial" panose="020B0604020202020204" pitchFamily="34" charset="0"/>
              <a:buChar char="•"/>
            </a:pPr>
            <a:endParaRPr lang="en-GB" sz="2100" b="0" i="0" dirty="0">
              <a:effectLst/>
            </a:endParaRPr>
          </a:p>
          <a:p>
            <a:pPr marL="0" indent="0">
              <a:buNone/>
            </a:pPr>
            <a:r>
              <a:rPr lang="en-GB" sz="2100" b="1" dirty="0"/>
              <a:t>Future Predictions:</a:t>
            </a:r>
          </a:p>
          <a:p>
            <a:r>
              <a:rPr lang="en-GB" sz="2100" dirty="0"/>
              <a:t>What technological advancements do you expect to see in the next decade?</a:t>
            </a:r>
          </a:p>
          <a:p>
            <a:r>
              <a:rPr lang="en-GB" sz="2100" dirty="0"/>
              <a:t>How do you envision the future of transportation with ongoing technological innovations?</a:t>
            </a:r>
          </a:p>
          <a:p>
            <a:r>
              <a:rPr lang="en-GB" sz="2100" dirty="0"/>
              <a:t>Are there any specific areas where you hope to see more innovation in the future?</a:t>
            </a:r>
          </a:p>
          <a:p>
            <a:pPr>
              <a:buFont typeface="Arial" panose="020B0604020202020204" pitchFamily="34" charset="0"/>
              <a:buChar char="•"/>
            </a:pPr>
            <a:endParaRPr lang="en-GB" sz="1300" b="0" i="0" dirty="0">
              <a:effectLst/>
            </a:endParaRPr>
          </a:p>
        </p:txBody>
      </p:sp>
    </p:spTree>
    <p:extLst>
      <p:ext uri="{BB962C8B-B14F-4D97-AF65-F5344CB8AC3E}">
        <p14:creationId xmlns:p14="http://schemas.microsoft.com/office/powerpoint/2010/main" val="484185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A0614-40BF-931C-F71A-CC38290B3995}"/>
              </a:ext>
            </a:extLst>
          </p:cNvPr>
          <p:cNvSpPr>
            <a:spLocks noGrp="1"/>
          </p:cNvSpPr>
          <p:nvPr>
            <p:ph type="title"/>
          </p:nvPr>
        </p:nvSpPr>
        <p:spPr/>
        <p:txBody>
          <a:bodyPr/>
          <a:lstStyle/>
          <a:p>
            <a:r>
              <a:rPr lang="en-GB" dirty="0"/>
              <a:t>Grammar focus – Relative clauses</a:t>
            </a:r>
            <a:endParaRPr lang="es-ES" dirty="0"/>
          </a:p>
        </p:txBody>
      </p:sp>
      <p:sp>
        <p:nvSpPr>
          <p:cNvPr id="3" name="Content Placeholder 2">
            <a:extLst>
              <a:ext uri="{FF2B5EF4-FFF2-40B4-BE49-F238E27FC236}">
                <a16:creationId xmlns:a16="http://schemas.microsoft.com/office/drawing/2014/main" id="{C96F2438-ADE8-559B-C7D0-87671FC61784}"/>
              </a:ext>
            </a:extLst>
          </p:cNvPr>
          <p:cNvSpPr>
            <a:spLocks noGrp="1"/>
          </p:cNvSpPr>
          <p:nvPr>
            <p:ph idx="1"/>
          </p:nvPr>
        </p:nvSpPr>
        <p:spPr/>
        <p:txBody>
          <a:bodyPr>
            <a:normAutofit lnSpcReduction="10000"/>
          </a:bodyPr>
          <a:lstStyle/>
          <a:p>
            <a:r>
              <a:rPr lang="en-GB" sz="2600" b="0" i="0" dirty="0">
                <a:solidFill>
                  <a:srgbClr val="374151"/>
                </a:solidFill>
                <a:effectLst/>
              </a:rPr>
              <a:t>Relative clauses are used in English to provide additional information about a noun in a sentence. They begin with relative pronouns such as "who," "whom," "which," "whose," or "that." </a:t>
            </a:r>
          </a:p>
          <a:p>
            <a:endParaRPr lang="en-GB" sz="2600" b="0" i="0" dirty="0">
              <a:solidFill>
                <a:srgbClr val="374151"/>
              </a:solidFill>
              <a:effectLst/>
            </a:endParaRPr>
          </a:p>
          <a:p>
            <a:pPr algn="l"/>
            <a:r>
              <a:rPr lang="en-GB" sz="2600" b="1" i="0" dirty="0">
                <a:solidFill>
                  <a:srgbClr val="374151"/>
                </a:solidFill>
                <a:effectLst/>
              </a:rPr>
              <a:t>Defining Relative Clauses:</a:t>
            </a:r>
            <a:endParaRPr lang="en-GB" sz="2600" b="0" i="0" dirty="0">
              <a:solidFill>
                <a:srgbClr val="374151"/>
              </a:solidFill>
              <a:effectLst/>
            </a:endParaRPr>
          </a:p>
          <a:p>
            <a:pPr algn="l">
              <a:buFont typeface="Arial" panose="020B0604020202020204" pitchFamily="34" charset="0"/>
              <a:buChar char="•"/>
            </a:pPr>
            <a:r>
              <a:rPr lang="en-GB" sz="2600" b="1" i="0" dirty="0">
                <a:solidFill>
                  <a:srgbClr val="374151"/>
                </a:solidFill>
                <a:effectLst/>
              </a:rPr>
              <a:t>Function:</a:t>
            </a:r>
            <a:r>
              <a:rPr lang="en-GB" sz="2600" b="0" i="0" dirty="0">
                <a:solidFill>
                  <a:srgbClr val="374151"/>
                </a:solidFill>
                <a:effectLst/>
              </a:rPr>
              <a:t> These clauses provide essential information that defines or identifies the noun it modifies.</a:t>
            </a:r>
          </a:p>
          <a:p>
            <a:pPr algn="l">
              <a:buFont typeface="Arial" panose="020B0604020202020204" pitchFamily="34" charset="0"/>
              <a:buChar char="•"/>
            </a:pPr>
            <a:r>
              <a:rPr lang="en-GB" sz="2600" b="1" i="0" dirty="0">
                <a:solidFill>
                  <a:srgbClr val="374151"/>
                </a:solidFill>
                <a:effectLst/>
              </a:rPr>
              <a:t>Example:</a:t>
            </a:r>
            <a:r>
              <a:rPr lang="en-GB" sz="2600" b="0" i="0" dirty="0">
                <a:solidFill>
                  <a:srgbClr val="374151"/>
                </a:solidFill>
                <a:effectLst/>
              </a:rPr>
              <a:t> "The inventor who developed the first practical telephone was Alexander Graham Bell."</a:t>
            </a:r>
          </a:p>
          <a:p>
            <a:pPr marL="742950" lvl="1" indent="-285750" algn="l">
              <a:buFont typeface="Arial" panose="020B0604020202020204" pitchFamily="34" charset="0"/>
              <a:buChar char="•"/>
            </a:pPr>
            <a:r>
              <a:rPr lang="en-GB" sz="2600" b="0" i="0" dirty="0">
                <a:solidFill>
                  <a:srgbClr val="374151"/>
                </a:solidFill>
                <a:effectLst/>
              </a:rPr>
              <a:t>In this sentence, "who developed the first practical telephone" is a defining relative clause specifying which inventor we are talking about.</a:t>
            </a:r>
          </a:p>
          <a:p>
            <a:endParaRPr lang="es-ES" sz="2600" dirty="0"/>
          </a:p>
        </p:txBody>
      </p:sp>
    </p:spTree>
    <p:extLst>
      <p:ext uri="{BB962C8B-B14F-4D97-AF65-F5344CB8AC3E}">
        <p14:creationId xmlns:p14="http://schemas.microsoft.com/office/powerpoint/2010/main" val="16023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DA0614-40BF-931C-F71A-CC38290B3995}"/>
              </a:ext>
            </a:extLst>
          </p:cNvPr>
          <p:cNvSpPr>
            <a:spLocks noGrp="1"/>
          </p:cNvSpPr>
          <p:nvPr>
            <p:ph type="title"/>
          </p:nvPr>
        </p:nvSpPr>
        <p:spPr>
          <a:xfrm>
            <a:off x="6513788" y="365125"/>
            <a:ext cx="4840010" cy="1807305"/>
          </a:xfrm>
        </p:spPr>
        <p:txBody>
          <a:bodyPr>
            <a:normAutofit/>
          </a:bodyPr>
          <a:lstStyle/>
          <a:p>
            <a:r>
              <a:rPr lang="en-GB" dirty="0"/>
              <a:t>Grammar focus – Relative clauses</a:t>
            </a:r>
            <a:endParaRPr lang="es-ES" dirty="0"/>
          </a:p>
        </p:txBody>
      </p:sp>
      <p:pic>
        <p:nvPicPr>
          <p:cNvPr id="5" name="Picture 4" descr="Closeup of a telephone on top of a table">
            <a:extLst>
              <a:ext uri="{FF2B5EF4-FFF2-40B4-BE49-F238E27FC236}">
                <a16:creationId xmlns:a16="http://schemas.microsoft.com/office/drawing/2014/main" id="{C85E424F-DA02-4281-9E21-91C9F0D2C02F}"/>
              </a:ext>
            </a:extLst>
          </p:cNvPr>
          <p:cNvPicPr>
            <a:picLocks noChangeAspect="1"/>
          </p:cNvPicPr>
          <p:nvPr/>
        </p:nvPicPr>
        <p:blipFill rotWithShape="1">
          <a:blip r:embed="rId2">
            <a:extLst>
              <a:ext uri="{28A0092B-C50C-407E-A947-70E740481C1C}">
                <a14:useLocalDpi xmlns:a14="http://schemas.microsoft.com/office/drawing/2010/main" val="0"/>
              </a:ext>
            </a:extLst>
          </a:blip>
          <a:srcRect l="15368" r="25097"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C96F2438-ADE8-559B-C7D0-87671FC61784}"/>
              </a:ext>
            </a:extLst>
          </p:cNvPr>
          <p:cNvSpPr>
            <a:spLocks noGrp="1"/>
          </p:cNvSpPr>
          <p:nvPr>
            <p:ph idx="1"/>
          </p:nvPr>
        </p:nvSpPr>
        <p:spPr>
          <a:xfrm>
            <a:off x="6513788" y="2333297"/>
            <a:ext cx="4840010" cy="3843666"/>
          </a:xfrm>
        </p:spPr>
        <p:txBody>
          <a:bodyPr>
            <a:normAutofit/>
          </a:bodyPr>
          <a:lstStyle/>
          <a:p>
            <a:r>
              <a:rPr lang="en-GB" sz="1900" b="1" i="0">
                <a:effectLst/>
              </a:rPr>
              <a:t>Non-defining Relative Clauses:</a:t>
            </a:r>
            <a:endParaRPr lang="en-GB" sz="1900" b="0" i="0">
              <a:effectLst/>
            </a:endParaRPr>
          </a:p>
          <a:p>
            <a:pPr>
              <a:buFont typeface="Arial" panose="020B0604020202020204" pitchFamily="34" charset="0"/>
              <a:buChar char="•"/>
            </a:pPr>
            <a:r>
              <a:rPr lang="en-GB" sz="1900" b="1" i="0">
                <a:effectLst/>
              </a:rPr>
              <a:t>Function:</a:t>
            </a:r>
            <a:r>
              <a:rPr lang="en-GB" sz="1900" b="0" i="0">
                <a:effectLst/>
              </a:rPr>
              <a:t> These clauses provide additional, non-essential information about the noun. They are set off by commas.</a:t>
            </a:r>
          </a:p>
          <a:p>
            <a:pPr>
              <a:buFont typeface="Arial" panose="020B0604020202020204" pitchFamily="34" charset="0"/>
              <a:buChar char="•"/>
            </a:pPr>
            <a:r>
              <a:rPr lang="en-GB" sz="1900" b="1" i="0">
                <a:effectLst/>
              </a:rPr>
              <a:t>Example:</a:t>
            </a:r>
            <a:r>
              <a:rPr lang="en-GB" sz="1900" b="0" i="0">
                <a:effectLst/>
              </a:rPr>
              <a:t> "Alexander Graham Bell, who developed the first practical telephone, was born in Scotland."</a:t>
            </a:r>
          </a:p>
          <a:p>
            <a:pPr marL="742950" lvl="1" indent="-285750">
              <a:buFont typeface="Arial" panose="020B0604020202020204" pitchFamily="34" charset="0"/>
              <a:buChar char="•"/>
            </a:pPr>
            <a:r>
              <a:rPr lang="en-GB" sz="1900" b="0" i="0">
                <a:effectLst/>
              </a:rPr>
              <a:t>Here, "who developed the first practical telephone" is a non-defining relative clause adding extra information about Alexander Graham Bell.</a:t>
            </a:r>
          </a:p>
          <a:p>
            <a:endParaRPr lang="es-ES" sz="1900"/>
          </a:p>
        </p:txBody>
      </p:sp>
    </p:spTree>
    <p:extLst>
      <p:ext uri="{BB962C8B-B14F-4D97-AF65-F5344CB8AC3E}">
        <p14:creationId xmlns:p14="http://schemas.microsoft.com/office/powerpoint/2010/main" val="4134626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DA0614-40BF-931C-F71A-CC38290B3995}"/>
              </a:ext>
            </a:extLst>
          </p:cNvPr>
          <p:cNvSpPr>
            <a:spLocks noGrp="1"/>
          </p:cNvSpPr>
          <p:nvPr>
            <p:ph type="title"/>
          </p:nvPr>
        </p:nvSpPr>
        <p:spPr>
          <a:xfrm>
            <a:off x="838201" y="365125"/>
            <a:ext cx="5251316" cy="1807305"/>
          </a:xfrm>
        </p:spPr>
        <p:txBody>
          <a:bodyPr>
            <a:normAutofit/>
          </a:bodyPr>
          <a:lstStyle/>
          <a:p>
            <a:r>
              <a:rPr lang="en-GB" dirty="0"/>
              <a:t>Grammar focus – Relative clauses</a:t>
            </a:r>
            <a:endParaRPr lang="es-ES" dirty="0"/>
          </a:p>
        </p:txBody>
      </p:sp>
      <p:sp>
        <p:nvSpPr>
          <p:cNvPr id="3" name="Content Placeholder 2">
            <a:extLst>
              <a:ext uri="{FF2B5EF4-FFF2-40B4-BE49-F238E27FC236}">
                <a16:creationId xmlns:a16="http://schemas.microsoft.com/office/drawing/2014/main" id="{C96F2438-ADE8-559B-C7D0-87671FC61784}"/>
              </a:ext>
            </a:extLst>
          </p:cNvPr>
          <p:cNvSpPr>
            <a:spLocks noGrp="1"/>
          </p:cNvSpPr>
          <p:nvPr>
            <p:ph idx="1"/>
          </p:nvPr>
        </p:nvSpPr>
        <p:spPr>
          <a:xfrm>
            <a:off x="838200" y="2333297"/>
            <a:ext cx="4619621" cy="3843666"/>
          </a:xfrm>
        </p:spPr>
        <p:txBody>
          <a:bodyPr>
            <a:normAutofit/>
          </a:bodyPr>
          <a:lstStyle/>
          <a:p>
            <a:r>
              <a:rPr lang="en-GB" sz="2000" b="1" i="0">
                <a:effectLst/>
              </a:rPr>
              <a:t>Possessive Relative Clauses:</a:t>
            </a:r>
            <a:endParaRPr lang="en-GB" sz="2000" b="0" i="0">
              <a:effectLst/>
            </a:endParaRPr>
          </a:p>
          <a:p>
            <a:pPr>
              <a:buFont typeface="Arial" panose="020B0604020202020204" pitchFamily="34" charset="0"/>
              <a:buChar char="•"/>
            </a:pPr>
            <a:r>
              <a:rPr lang="en-GB" sz="2000" b="1" i="0">
                <a:effectLst/>
              </a:rPr>
              <a:t>Function:</a:t>
            </a:r>
            <a:r>
              <a:rPr lang="en-GB" sz="2000" b="0" i="0">
                <a:effectLst/>
              </a:rPr>
              <a:t> These clauses indicate possession and are introduced by the relative pronoun "whose."</a:t>
            </a:r>
          </a:p>
          <a:p>
            <a:pPr>
              <a:buFont typeface="Arial" panose="020B0604020202020204" pitchFamily="34" charset="0"/>
              <a:buChar char="•"/>
            </a:pPr>
            <a:r>
              <a:rPr lang="en-GB" sz="2000" b="1" i="0">
                <a:effectLst/>
              </a:rPr>
              <a:t>Example:</a:t>
            </a:r>
            <a:r>
              <a:rPr lang="en-GB" sz="2000" b="0" i="0">
                <a:effectLst/>
              </a:rPr>
              <a:t> "Thomas Edison, whose inventions include the electric light bulb, was a prolific inventor."</a:t>
            </a:r>
          </a:p>
          <a:p>
            <a:pPr marL="742950" lvl="1" indent="-285750">
              <a:buFont typeface="Arial" panose="020B0604020202020204" pitchFamily="34" charset="0"/>
              <a:buChar char="•"/>
            </a:pPr>
            <a:r>
              <a:rPr lang="en-GB" sz="2000" b="0" i="0">
                <a:effectLst/>
              </a:rPr>
              <a:t>"Whose inventions include the electric light bulb" is a possessive relative clause providing information about the inventor's inventions.</a:t>
            </a:r>
          </a:p>
          <a:p>
            <a:endParaRPr lang="es-ES" sz="2000"/>
          </a:p>
        </p:txBody>
      </p:sp>
      <p:pic>
        <p:nvPicPr>
          <p:cNvPr id="5" name="Picture 4" descr="Close-up of a lightbulb with a filament">
            <a:extLst>
              <a:ext uri="{FF2B5EF4-FFF2-40B4-BE49-F238E27FC236}">
                <a16:creationId xmlns:a16="http://schemas.microsoft.com/office/drawing/2014/main" id="{122426CF-B0F0-9DA3-C230-BFE5DD82975C}"/>
              </a:ext>
            </a:extLst>
          </p:cNvPr>
          <p:cNvPicPr>
            <a:picLocks noChangeAspect="1"/>
          </p:cNvPicPr>
          <p:nvPr/>
        </p:nvPicPr>
        <p:blipFill rotWithShape="1">
          <a:blip r:embed="rId2">
            <a:extLst>
              <a:ext uri="{28A0092B-C50C-407E-A947-70E740481C1C}">
                <a14:useLocalDpi xmlns:a14="http://schemas.microsoft.com/office/drawing/2010/main" val="0"/>
              </a:ext>
            </a:extLst>
          </a:blip>
          <a:srcRect l="41964" r="-1"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4743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192C51-B764-4A9B-9587-5EF8B628B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DA0614-40BF-931C-F71A-CC38290B3995}"/>
              </a:ext>
            </a:extLst>
          </p:cNvPr>
          <p:cNvSpPr>
            <a:spLocks noGrp="1"/>
          </p:cNvSpPr>
          <p:nvPr>
            <p:ph type="title"/>
          </p:nvPr>
        </p:nvSpPr>
        <p:spPr>
          <a:xfrm>
            <a:off x="648929" y="557190"/>
            <a:ext cx="5181510" cy="1671569"/>
          </a:xfrm>
        </p:spPr>
        <p:txBody>
          <a:bodyPr>
            <a:normAutofit/>
          </a:bodyPr>
          <a:lstStyle/>
          <a:p>
            <a:r>
              <a:rPr lang="en-GB" sz="4000"/>
              <a:t>Grammar focus – Relative clauses</a:t>
            </a:r>
            <a:endParaRPr lang="es-ES" sz="4000"/>
          </a:p>
        </p:txBody>
      </p:sp>
      <p:sp>
        <p:nvSpPr>
          <p:cNvPr id="3" name="Content Placeholder 2">
            <a:extLst>
              <a:ext uri="{FF2B5EF4-FFF2-40B4-BE49-F238E27FC236}">
                <a16:creationId xmlns:a16="http://schemas.microsoft.com/office/drawing/2014/main" id="{C96F2438-ADE8-559B-C7D0-87671FC61784}"/>
              </a:ext>
            </a:extLst>
          </p:cNvPr>
          <p:cNvSpPr>
            <a:spLocks noGrp="1"/>
          </p:cNvSpPr>
          <p:nvPr>
            <p:ph idx="1"/>
          </p:nvPr>
        </p:nvSpPr>
        <p:spPr>
          <a:xfrm>
            <a:off x="648930" y="2406650"/>
            <a:ext cx="5181508" cy="3722438"/>
          </a:xfrm>
        </p:spPr>
        <p:txBody>
          <a:bodyPr>
            <a:normAutofit/>
          </a:bodyPr>
          <a:lstStyle/>
          <a:p>
            <a:r>
              <a:rPr lang="en-GB" sz="2000" b="1" i="0">
                <a:effectLst/>
              </a:rPr>
              <a:t>Omitted Relative Pronouns:</a:t>
            </a:r>
            <a:endParaRPr lang="en-GB" sz="2000" b="0" i="0">
              <a:effectLst/>
            </a:endParaRPr>
          </a:p>
          <a:p>
            <a:pPr>
              <a:buFont typeface="Arial" panose="020B0604020202020204" pitchFamily="34" charset="0"/>
              <a:buChar char="•"/>
            </a:pPr>
            <a:r>
              <a:rPr lang="en-GB" sz="2000" b="1" i="0">
                <a:effectLst/>
              </a:rPr>
              <a:t>Function:</a:t>
            </a:r>
            <a:r>
              <a:rPr lang="en-GB" sz="2000" b="0" i="0">
                <a:effectLst/>
              </a:rPr>
              <a:t> In informal English, especially in defining relative clauses, the relative pronoun is often omitted when it is the object of the clause.</a:t>
            </a:r>
          </a:p>
          <a:p>
            <a:pPr>
              <a:buFont typeface="Arial" panose="020B0604020202020204" pitchFamily="34" charset="0"/>
              <a:buChar char="•"/>
            </a:pPr>
            <a:r>
              <a:rPr lang="en-GB" sz="2000" b="1" i="0">
                <a:effectLst/>
              </a:rPr>
              <a:t>Example:</a:t>
            </a:r>
            <a:r>
              <a:rPr lang="en-GB" sz="2000" b="0" i="0">
                <a:effectLst/>
              </a:rPr>
              <a:t> "The scientist (who/that) discovered penicillin revolutionized medicine."</a:t>
            </a:r>
          </a:p>
          <a:p>
            <a:pPr marL="742950" lvl="1" indent="-285750">
              <a:buFont typeface="Arial" panose="020B0604020202020204" pitchFamily="34" charset="0"/>
              <a:buChar char="•"/>
            </a:pPr>
            <a:r>
              <a:rPr lang="en-GB" sz="2000" b="0" i="0">
                <a:effectLst/>
              </a:rPr>
              <a:t>Both "who" and "that" can be omitted in this context: "The scientist discovered penicillin."</a:t>
            </a:r>
          </a:p>
          <a:p>
            <a:endParaRPr lang="es-ES" sz="2000"/>
          </a:p>
        </p:txBody>
      </p:sp>
      <p:pic>
        <p:nvPicPr>
          <p:cNvPr id="5" name="Picture 4" descr="Close-up unopened pill packets">
            <a:extLst>
              <a:ext uri="{FF2B5EF4-FFF2-40B4-BE49-F238E27FC236}">
                <a16:creationId xmlns:a16="http://schemas.microsoft.com/office/drawing/2014/main" id="{3D5E141E-C740-9B9A-2A80-A2D9DF493FD2}"/>
              </a:ext>
            </a:extLst>
          </p:cNvPr>
          <p:cNvPicPr>
            <a:picLocks noChangeAspect="1"/>
          </p:cNvPicPr>
          <p:nvPr/>
        </p:nvPicPr>
        <p:blipFill rotWithShape="1">
          <a:blip r:embed="rId2">
            <a:extLst>
              <a:ext uri="{28A0092B-C50C-407E-A947-70E740481C1C}">
                <a14:useLocalDpi xmlns:a14="http://schemas.microsoft.com/office/drawing/2010/main" val="0"/>
              </a:ext>
            </a:extLst>
          </a:blip>
          <a:srcRect l="25036" r="17412"/>
          <a:stretch/>
        </p:blipFill>
        <p:spPr>
          <a:xfrm>
            <a:off x="6189155" y="10"/>
            <a:ext cx="6002844" cy="6857990"/>
          </a:xfrm>
          <a:prstGeom prst="rect">
            <a:avLst/>
          </a:prstGeom>
          <a:effectLst/>
        </p:spPr>
      </p:pic>
    </p:spTree>
    <p:extLst>
      <p:ext uri="{BB962C8B-B14F-4D97-AF65-F5344CB8AC3E}">
        <p14:creationId xmlns:p14="http://schemas.microsoft.com/office/powerpoint/2010/main" val="904653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F910A-24DE-B6F1-453E-1497AE256746}"/>
              </a:ext>
            </a:extLst>
          </p:cNvPr>
          <p:cNvSpPr>
            <a:spLocks noGrp="1"/>
          </p:cNvSpPr>
          <p:nvPr>
            <p:ph type="title"/>
          </p:nvPr>
        </p:nvSpPr>
        <p:spPr/>
        <p:txBody>
          <a:bodyPr/>
          <a:lstStyle/>
          <a:p>
            <a:r>
              <a:rPr lang="en-GB" dirty="0"/>
              <a:t>Practice	</a:t>
            </a:r>
            <a:endParaRPr lang="es-ES" dirty="0"/>
          </a:p>
        </p:txBody>
      </p:sp>
      <p:sp>
        <p:nvSpPr>
          <p:cNvPr id="3" name="Content Placeholder 2">
            <a:extLst>
              <a:ext uri="{FF2B5EF4-FFF2-40B4-BE49-F238E27FC236}">
                <a16:creationId xmlns:a16="http://schemas.microsoft.com/office/drawing/2014/main" id="{72887AB3-C9DB-EC16-07BC-BEEB3A4DC58D}"/>
              </a:ext>
            </a:extLst>
          </p:cNvPr>
          <p:cNvSpPr>
            <a:spLocks noGrp="1"/>
          </p:cNvSpPr>
          <p:nvPr>
            <p:ph idx="1"/>
          </p:nvPr>
        </p:nvSpPr>
        <p:spPr/>
        <p:txBody>
          <a:bodyPr>
            <a:normAutofit fontScale="92500" lnSpcReduction="10000"/>
          </a:bodyPr>
          <a:lstStyle/>
          <a:p>
            <a:r>
              <a:rPr lang="en-GB" b="0" i="0" dirty="0">
                <a:solidFill>
                  <a:srgbClr val="374151"/>
                </a:solidFill>
                <a:effectLst/>
              </a:rPr>
              <a:t>Choose an inventor  and an invention and make a sentence with a relative clause.</a:t>
            </a:r>
          </a:p>
          <a:p>
            <a:endParaRPr lang="en-GB" b="0" i="0" dirty="0">
              <a:solidFill>
                <a:srgbClr val="374151"/>
              </a:solidFill>
              <a:effectLst/>
            </a:endParaRPr>
          </a:p>
          <a:p>
            <a:r>
              <a:rPr lang="es-ES" b="1" i="0" dirty="0">
                <a:effectLst/>
              </a:rPr>
              <a:t>Inventor:</a:t>
            </a:r>
            <a:r>
              <a:rPr lang="es-ES" b="0" i="0" dirty="0">
                <a:solidFill>
                  <a:srgbClr val="374151"/>
                </a:solidFill>
                <a:effectLst/>
              </a:rPr>
              <a:t> Thomas Edison</a:t>
            </a:r>
            <a:r>
              <a:rPr lang="en-GB" b="0" i="0" dirty="0">
                <a:solidFill>
                  <a:srgbClr val="374151"/>
                </a:solidFill>
                <a:effectLst/>
              </a:rPr>
              <a:t>.  </a:t>
            </a:r>
            <a:r>
              <a:rPr lang="en-GB" b="1" dirty="0">
                <a:solidFill>
                  <a:srgbClr val="374151"/>
                </a:solidFill>
              </a:rPr>
              <a:t>Invention: Phonograph</a:t>
            </a:r>
          </a:p>
          <a:p>
            <a:endParaRPr lang="en-GB" b="1" dirty="0">
              <a:solidFill>
                <a:srgbClr val="374151"/>
              </a:solidFill>
            </a:endParaRPr>
          </a:p>
          <a:p>
            <a:r>
              <a:rPr lang="en-GB" b="1" dirty="0">
                <a:solidFill>
                  <a:srgbClr val="374151"/>
                </a:solidFill>
              </a:rPr>
              <a:t>Inventors: </a:t>
            </a:r>
            <a:r>
              <a:rPr lang="en-GB" dirty="0">
                <a:solidFill>
                  <a:srgbClr val="374151"/>
                </a:solidFill>
              </a:rPr>
              <a:t>Wright Brothers. </a:t>
            </a:r>
            <a:r>
              <a:rPr lang="en-GB" b="1" dirty="0">
                <a:solidFill>
                  <a:srgbClr val="374151"/>
                </a:solidFill>
              </a:rPr>
              <a:t>Invention: </a:t>
            </a:r>
            <a:r>
              <a:rPr lang="en-GB" dirty="0">
                <a:solidFill>
                  <a:srgbClr val="374151"/>
                </a:solidFill>
              </a:rPr>
              <a:t>Aeroplane. </a:t>
            </a:r>
            <a:r>
              <a:rPr lang="en-GB" b="1" dirty="0">
                <a:solidFill>
                  <a:srgbClr val="374151"/>
                </a:solidFill>
              </a:rPr>
              <a:t>From: </a:t>
            </a:r>
            <a:r>
              <a:rPr lang="en-GB" dirty="0">
                <a:solidFill>
                  <a:srgbClr val="374151"/>
                </a:solidFill>
              </a:rPr>
              <a:t>Ohio. </a:t>
            </a:r>
          </a:p>
          <a:p>
            <a:endParaRPr lang="en-GB" dirty="0">
              <a:solidFill>
                <a:srgbClr val="374151"/>
              </a:solidFill>
            </a:endParaRPr>
          </a:p>
          <a:p>
            <a:r>
              <a:rPr lang="en-GB" b="1" dirty="0">
                <a:solidFill>
                  <a:srgbClr val="374151"/>
                </a:solidFill>
              </a:rPr>
              <a:t>Inventor: </a:t>
            </a:r>
            <a:r>
              <a:rPr lang="es-ES" b="0" i="0" dirty="0" err="1">
                <a:solidFill>
                  <a:srgbClr val="374151"/>
                </a:solidFill>
                <a:effectLst/>
              </a:rPr>
              <a:t>Guglielmo</a:t>
            </a:r>
            <a:r>
              <a:rPr lang="es-ES" b="0" i="0" dirty="0">
                <a:solidFill>
                  <a:srgbClr val="374151"/>
                </a:solidFill>
                <a:effectLst/>
              </a:rPr>
              <a:t> Marconi.  </a:t>
            </a:r>
            <a:r>
              <a:rPr lang="es-ES" b="1" i="0" dirty="0" err="1">
                <a:solidFill>
                  <a:srgbClr val="374151"/>
                </a:solidFill>
                <a:effectLst/>
              </a:rPr>
              <a:t>Invention</a:t>
            </a:r>
            <a:r>
              <a:rPr lang="es-ES" b="1" i="0" dirty="0">
                <a:solidFill>
                  <a:srgbClr val="374151"/>
                </a:solidFill>
                <a:effectLst/>
              </a:rPr>
              <a:t>: </a:t>
            </a:r>
            <a:r>
              <a:rPr lang="es-ES" b="0" i="0" dirty="0">
                <a:solidFill>
                  <a:srgbClr val="374151"/>
                </a:solidFill>
                <a:effectLst/>
              </a:rPr>
              <a:t>Wireless radio.</a:t>
            </a:r>
          </a:p>
          <a:p>
            <a:endParaRPr lang="es-ES" b="0" i="0" dirty="0">
              <a:solidFill>
                <a:srgbClr val="374151"/>
              </a:solidFill>
              <a:effectLst/>
            </a:endParaRPr>
          </a:p>
          <a:p>
            <a:r>
              <a:rPr lang="es-ES" b="1" dirty="0">
                <a:solidFill>
                  <a:srgbClr val="374151"/>
                </a:solidFill>
              </a:rPr>
              <a:t>Inventor: </a:t>
            </a:r>
            <a:r>
              <a:rPr lang="es-ES" dirty="0">
                <a:solidFill>
                  <a:srgbClr val="374151"/>
                </a:solidFill>
              </a:rPr>
              <a:t>Eldorado Jones. </a:t>
            </a:r>
            <a:r>
              <a:rPr lang="es-ES" b="1" dirty="0" err="1">
                <a:solidFill>
                  <a:srgbClr val="374151"/>
                </a:solidFill>
              </a:rPr>
              <a:t>Invention</a:t>
            </a:r>
            <a:r>
              <a:rPr lang="es-ES" b="1" dirty="0">
                <a:solidFill>
                  <a:srgbClr val="374151"/>
                </a:solidFill>
              </a:rPr>
              <a:t>:</a:t>
            </a:r>
            <a:r>
              <a:rPr lang="es-ES" dirty="0">
                <a:solidFill>
                  <a:srgbClr val="374151"/>
                </a:solidFill>
              </a:rPr>
              <a:t> </a:t>
            </a:r>
            <a:r>
              <a:rPr lang="es-ES" dirty="0" err="1">
                <a:solidFill>
                  <a:srgbClr val="374151"/>
                </a:solidFill>
              </a:rPr>
              <a:t>airplane</a:t>
            </a:r>
            <a:r>
              <a:rPr lang="es-ES" dirty="0">
                <a:solidFill>
                  <a:srgbClr val="374151"/>
                </a:solidFill>
              </a:rPr>
              <a:t> </a:t>
            </a:r>
            <a:r>
              <a:rPr lang="es-ES" dirty="0" err="1">
                <a:solidFill>
                  <a:srgbClr val="374151"/>
                </a:solidFill>
              </a:rPr>
              <a:t>muffler</a:t>
            </a:r>
            <a:r>
              <a:rPr lang="es-ES" dirty="0">
                <a:solidFill>
                  <a:srgbClr val="374151"/>
                </a:solidFill>
              </a:rPr>
              <a:t>. </a:t>
            </a:r>
            <a:r>
              <a:rPr lang="es-ES" b="1" dirty="0" err="1">
                <a:solidFill>
                  <a:srgbClr val="374151"/>
                </a:solidFill>
              </a:rPr>
              <a:t>When</a:t>
            </a:r>
            <a:r>
              <a:rPr lang="es-ES" b="1" dirty="0">
                <a:solidFill>
                  <a:srgbClr val="374151"/>
                </a:solidFill>
              </a:rPr>
              <a:t>: </a:t>
            </a:r>
            <a:r>
              <a:rPr lang="es-ES" dirty="0">
                <a:solidFill>
                  <a:srgbClr val="374151"/>
                </a:solidFill>
              </a:rPr>
              <a:t>in 1919 </a:t>
            </a:r>
            <a:endParaRPr lang="es-ES" dirty="0"/>
          </a:p>
        </p:txBody>
      </p:sp>
    </p:spTree>
    <p:extLst>
      <p:ext uri="{BB962C8B-B14F-4D97-AF65-F5344CB8AC3E}">
        <p14:creationId xmlns:p14="http://schemas.microsoft.com/office/powerpoint/2010/main" val="4212775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F888C-B09E-B9EF-5036-B36C468518E1}"/>
              </a:ext>
            </a:extLst>
          </p:cNvPr>
          <p:cNvSpPr>
            <a:spLocks noGrp="1"/>
          </p:cNvSpPr>
          <p:nvPr>
            <p:ph type="title"/>
          </p:nvPr>
        </p:nvSpPr>
        <p:spPr/>
        <p:txBody>
          <a:bodyPr/>
          <a:lstStyle/>
          <a:p>
            <a:r>
              <a:rPr lang="en-GB" dirty="0"/>
              <a:t>Example sentences:</a:t>
            </a:r>
            <a:endParaRPr lang="es-ES" dirty="0"/>
          </a:p>
        </p:txBody>
      </p:sp>
      <p:sp>
        <p:nvSpPr>
          <p:cNvPr id="3" name="Content Placeholder 2">
            <a:extLst>
              <a:ext uri="{FF2B5EF4-FFF2-40B4-BE49-F238E27FC236}">
                <a16:creationId xmlns:a16="http://schemas.microsoft.com/office/drawing/2014/main" id="{9F280873-38CF-56F0-DBDD-05F86619E3BA}"/>
              </a:ext>
            </a:extLst>
          </p:cNvPr>
          <p:cNvSpPr>
            <a:spLocks noGrp="1"/>
          </p:cNvSpPr>
          <p:nvPr>
            <p:ph idx="1"/>
          </p:nvPr>
        </p:nvSpPr>
        <p:spPr/>
        <p:txBody>
          <a:bodyPr>
            <a:normAutofit lnSpcReduction="10000"/>
          </a:bodyPr>
          <a:lstStyle/>
          <a:p>
            <a:r>
              <a:rPr lang="en-GB" b="0" i="0" dirty="0">
                <a:solidFill>
                  <a:srgbClr val="374151"/>
                </a:solidFill>
                <a:effectLst/>
              </a:rPr>
              <a:t>"Thomas Edison, who invented the phonograph, greatly impacted the music industry.”</a:t>
            </a:r>
          </a:p>
          <a:p>
            <a:pPr marL="0" indent="0">
              <a:buNone/>
            </a:pPr>
            <a:endParaRPr lang="en-GB" b="0" i="0" dirty="0">
              <a:solidFill>
                <a:srgbClr val="374151"/>
              </a:solidFill>
              <a:effectLst/>
            </a:endParaRPr>
          </a:p>
          <a:p>
            <a:r>
              <a:rPr lang="en-GB" b="0" i="0" dirty="0">
                <a:solidFill>
                  <a:srgbClr val="374151"/>
                </a:solidFill>
                <a:effectLst/>
              </a:rPr>
              <a:t>"The Wright brothers, who were from Ohio, invented the airplane.”</a:t>
            </a:r>
          </a:p>
          <a:p>
            <a:endParaRPr lang="en-GB" dirty="0">
              <a:solidFill>
                <a:srgbClr val="374151"/>
              </a:solidFill>
            </a:endParaRPr>
          </a:p>
          <a:p>
            <a:r>
              <a:rPr lang="en-GB" b="0" i="0" dirty="0">
                <a:solidFill>
                  <a:srgbClr val="374151"/>
                </a:solidFill>
                <a:effectLst/>
              </a:rPr>
              <a:t>"The invention, whose inventor was Guglielmo Marconi, revolutionized communication with the use of wireless signals.”</a:t>
            </a:r>
          </a:p>
          <a:p>
            <a:endParaRPr lang="en-GB" b="0" i="0" dirty="0">
              <a:solidFill>
                <a:srgbClr val="374151"/>
              </a:solidFill>
              <a:effectLst/>
            </a:endParaRPr>
          </a:p>
          <a:p>
            <a:r>
              <a:rPr lang="en-GB" dirty="0">
                <a:solidFill>
                  <a:srgbClr val="374151"/>
                </a:solidFill>
              </a:rPr>
              <a:t>“The woman, who invented the airplane muffler in 1919, was Eldorado Jones.” </a:t>
            </a:r>
            <a:endParaRPr lang="es-ES" dirty="0"/>
          </a:p>
        </p:txBody>
      </p:sp>
    </p:spTree>
    <p:extLst>
      <p:ext uri="{BB962C8B-B14F-4D97-AF65-F5344CB8AC3E}">
        <p14:creationId xmlns:p14="http://schemas.microsoft.com/office/powerpoint/2010/main" val="3535556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F888C-B09E-B9EF-5036-B36C468518E1}"/>
              </a:ext>
            </a:extLst>
          </p:cNvPr>
          <p:cNvSpPr>
            <a:spLocks noGrp="1"/>
          </p:cNvSpPr>
          <p:nvPr>
            <p:ph type="title"/>
          </p:nvPr>
        </p:nvSpPr>
        <p:spPr/>
        <p:txBody>
          <a:bodyPr/>
          <a:lstStyle/>
          <a:p>
            <a:r>
              <a:rPr lang="en-GB" dirty="0"/>
              <a:t>Delayed Feedback</a:t>
            </a:r>
            <a:endParaRPr lang="es-ES" dirty="0"/>
          </a:p>
        </p:txBody>
      </p:sp>
      <p:sp>
        <p:nvSpPr>
          <p:cNvPr id="3" name="Content Placeholder 2">
            <a:extLst>
              <a:ext uri="{FF2B5EF4-FFF2-40B4-BE49-F238E27FC236}">
                <a16:creationId xmlns:a16="http://schemas.microsoft.com/office/drawing/2014/main" id="{9F280873-38CF-56F0-DBDD-05F86619E3BA}"/>
              </a:ext>
            </a:extLst>
          </p:cNvPr>
          <p:cNvSpPr>
            <a:spLocks noGrp="1"/>
          </p:cNvSpPr>
          <p:nvPr>
            <p:ph idx="1"/>
          </p:nvPr>
        </p:nvSpPr>
        <p:spPr/>
        <p:txBody>
          <a:bodyPr>
            <a:normAutofit/>
          </a:bodyPr>
          <a:lstStyle/>
          <a:p>
            <a:pPr marL="0" indent="0">
              <a:buNone/>
            </a:pPr>
            <a:endParaRPr lang="es-ES" dirty="0"/>
          </a:p>
        </p:txBody>
      </p:sp>
      <p:pic>
        <p:nvPicPr>
          <p:cNvPr id="4" name="Picture 3" descr="A blue text on a black background&#10;&#10;Description automatically generated">
            <a:extLst>
              <a:ext uri="{FF2B5EF4-FFF2-40B4-BE49-F238E27FC236}">
                <a16:creationId xmlns:a16="http://schemas.microsoft.com/office/drawing/2014/main" id="{F6BB5059-887C-C1B6-0EDA-861CB08C7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9610" y="253147"/>
            <a:ext cx="1636779" cy="762002"/>
          </a:xfrm>
          <a:prstGeom prst="rect">
            <a:avLst/>
          </a:prstGeom>
        </p:spPr>
      </p:pic>
    </p:spTree>
    <p:extLst>
      <p:ext uri="{BB962C8B-B14F-4D97-AF65-F5344CB8AC3E}">
        <p14:creationId xmlns:p14="http://schemas.microsoft.com/office/powerpoint/2010/main" val="32449539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601</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Science and technology</vt:lpstr>
      <vt:lpstr>Invention or innovation Do you know the difference?</vt:lpstr>
      <vt:lpstr>Invention or innovation</vt:lpstr>
      <vt:lpstr>Conversation questions</vt:lpstr>
      <vt:lpstr>Grammar focus – Relative clauses</vt:lpstr>
      <vt:lpstr>Grammar focus – Relative clauses</vt:lpstr>
      <vt:lpstr>Grammar focus – Relative clauses</vt:lpstr>
      <vt:lpstr>Grammar focus – Relative clauses</vt:lpstr>
      <vt:lpstr>Practice </vt:lpstr>
      <vt:lpstr>Example sentences:</vt:lpstr>
      <vt:lpstr>Delayed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and technology</dc:title>
  <dc:creator>Theo Clarke</dc:creator>
  <cp:lastModifiedBy>Clarke, Theodore James Dalgliesh</cp:lastModifiedBy>
  <cp:revision>2</cp:revision>
  <dcterms:created xsi:type="dcterms:W3CDTF">2024-01-09T10:25:02Z</dcterms:created>
  <dcterms:modified xsi:type="dcterms:W3CDTF">2024-06-17T09:12:29Z</dcterms:modified>
</cp:coreProperties>
</file>