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Lst>
  <p:notesMasterIdLst>
    <p:notesMasterId r:id="rId30"/>
  </p:notesMasterIdLst>
  <p:sldIdLst>
    <p:sldId id="256" r:id="rId2"/>
    <p:sldId id="257" r:id="rId3"/>
    <p:sldId id="258" r:id="rId4"/>
    <p:sldId id="259" r:id="rId5"/>
    <p:sldId id="284"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embeddedFontLst>
    <p:embeddedFont>
      <p:font typeface="Century Gothic" panose="020B0502020202020204" pitchFamily="34" charset="0"/>
      <p:regular r:id="rId31"/>
      <p:bold r:id="rId32"/>
      <p:italic r:id="rId33"/>
      <p:boldItalic r:id="rId34"/>
    </p:embeddedFont>
    <p:embeddedFont>
      <p:font typeface="Lato" panose="020F0502020204030203" pitchFamily="34" charset="0"/>
      <p:regular r:id="rId35"/>
      <p:bold r:id="rId36"/>
      <p:italic r:id="rId37"/>
      <p:boldItalic r:id="rId38"/>
    </p:embeddedFont>
    <p:embeddedFont>
      <p:font typeface="Raleway" pitchFamily="2" charset="0"/>
      <p:regular r:id="rId39"/>
      <p:bold r:id="rId40"/>
      <p:italic r:id="rId41"/>
      <p:boldItalic r:id="rId42"/>
    </p:embeddedFont>
    <p:embeddedFont>
      <p:font typeface="Raleway Light"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4" d="100"/>
          <a:sy n="134" d="100"/>
        </p:scale>
        <p:origin x="144"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f391192_057: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644fc807b5_0_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644fc807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72397a7ab8_1_61: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72397a7ab8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8a44286d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8a44286d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8a44286d3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8a44286d3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56403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8a44286d35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8a44286d35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8a44286d35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8a44286d3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8a44286d3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a44286d3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8a44286d35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8a44286d35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81baf728a9_2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81baf728a9_2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71e3084bea_0_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71e3084b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8a44286d35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8a44286d3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a44286d35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a44286d3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8a44286d35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8a44286d35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8a44286d35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8a44286d35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8a44286d35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8a44286d35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8a44286d35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8a44286d35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8a44286d35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8a44286d35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81baf728a9_2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81baf728a9_2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8a44286d35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8a44286d35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8a44286d35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8a44286d35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8a44286d35_0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8a44286d35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8a44286d35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8a44286d35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8a44286d35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8a44286d35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71e3084bea_0_55: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71e3084bea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8a44286d35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8a44286d3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8a44286d35_0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8a44286d35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35f391192_00:notes"/>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p:cSld name="TITLE_1">
    <p:bg>
      <p:bgPr>
        <a:solidFill>
          <a:srgbClr val="FF5C5C"/>
        </a:solidFill>
        <a:effectLst/>
      </p:bgPr>
    </p:bg>
    <p:spTree>
      <p:nvGrpSpPr>
        <p:cNvPr id="1" name="Shape 82"/>
        <p:cNvGrpSpPr/>
        <p:nvPr/>
      </p:nvGrpSpPr>
      <p:grpSpPr>
        <a:xfrm>
          <a:off x="0" y="0"/>
          <a:ext cx="0" cy="0"/>
          <a:chOff x="0" y="0"/>
          <a:chExt cx="0" cy="0"/>
        </a:xfrm>
      </p:grpSpPr>
      <p:sp>
        <p:nvSpPr>
          <p:cNvPr id="83" name="Google Shape;83;p13"/>
          <p:cNvSpPr txBox="1">
            <a:spLocks noGrp="1"/>
          </p:cNvSpPr>
          <p:nvPr>
            <p:ph type="ctrTitle"/>
          </p:nvPr>
        </p:nvSpPr>
        <p:spPr>
          <a:xfrm>
            <a:off x="685800" y="3287213"/>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Clr>
                <a:srgbClr val="FFFFFF"/>
              </a:buClr>
              <a:buSzPts val="6000"/>
              <a:buFont typeface="Century Gothic"/>
              <a:buNone/>
              <a:defRPr sz="6000" b="1">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6000"/>
              <a:buNone/>
              <a:defRPr sz="6000">
                <a:solidFill>
                  <a:srgbClr val="FFFFFF"/>
                </a:solidFill>
              </a:defRPr>
            </a:lvl2pPr>
            <a:lvl3pPr lvl="2" rtl="0">
              <a:spcBef>
                <a:spcPts val="0"/>
              </a:spcBef>
              <a:spcAft>
                <a:spcPts val="0"/>
              </a:spcAft>
              <a:buClr>
                <a:srgbClr val="FFFFFF"/>
              </a:buClr>
              <a:buSzPts val="6000"/>
              <a:buNone/>
              <a:defRPr sz="6000">
                <a:solidFill>
                  <a:srgbClr val="FFFFFF"/>
                </a:solidFill>
              </a:defRPr>
            </a:lvl3pPr>
            <a:lvl4pPr lvl="3" rtl="0">
              <a:spcBef>
                <a:spcPts val="0"/>
              </a:spcBef>
              <a:spcAft>
                <a:spcPts val="0"/>
              </a:spcAft>
              <a:buClr>
                <a:srgbClr val="FFFFFF"/>
              </a:buClr>
              <a:buSzPts val="6000"/>
              <a:buNone/>
              <a:defRPr sz="6000">
                <a:solidFill>
                  <a:srgbClr val="FFFFFF"/>
                </a:solidFill>
              </a:defRPr>
            </a:lvl4pPr>
            <a:lvl5pPr lvl="4" rtl="0">
              <a:spcBef>
                <a:spcPts val="0"/>
              </a:spcBef>
              <a:spcAft>
                <a:spcPts val="0"/>
              </a:spcAft>
              <a:buClr>
                <a:srgbClr val="FFFFFF"/>
              </a:buClr>
              <a:buSzPts val="6000"/>
              <a:buNone/>
              <a:defRPr sz="6000">
                <a:solidFill>
                  <a:srgbClr val="FFFFFF"/>
                </a:solidFill>
              </a:defRPr>
            </a:lvl5pPr>
            <a:lvl6pPr lvl="5" rtl="0">
              <a:spcBef>
                <a:spcPts val="0"/>
              </a:spcBef>
              <a:spcAft>
                <a:spcPts val="0"/>
              </a:spcAft>
              <a:buClr>
                <a:srgbClr val="FFFFFF"/>
              </a:buClr>
              <a:buSzPts val="6000"/>
              <a:buNone/>
              <a:defRPr sz="6000">
                <a:solidFill>
                  <a:srgbClr val="FFFFFF"/>
                </a:solidFill>
              </a:defRPr>
            </a:lvl6pPr>
            <a:lvl7pPr lvl="6" rtl="0">
              <a:spcBef>
                <a:spcPts val="0"/>
              </a:spcBef>
              <a:spcAft>
                <a:spcPts val="0"/>
              </a:spcAft>
              <a:buClr>
                <a:srgbClr val="FFFFFF"/>
              </a:buClr>
              <a:buSzPts val="6000"/>
              <a:buNone/>
              <a:defRPr sz="6000">
                <a:solidFill>
                  <a:srgbClr val="FFFFFF"/>
                </a:solidFill>
              </a:defRPr>
            </a:lvl7pPr>
            <a:lvl8pPr lvl="7" rtl="0">
              <a:spcBef>
                <a:spcPts val="0"/>
              </a:spcBef>
              <a:spcAft>
                <a:spcPts val="0"/>
              </a:spcAft>
              <a:buClr>
                <a:srgbClr val="FFFFFF"/>
              </a:buClr>
              <a:buSzPts val="6000"/>
              <a:buNone/>
              <a:defRPr sz="6000">
                <a:solidFill>
                  <a:srgbClr val="FFFFFF"/>
                </a:solidFill>
              </a:defRPr>
            </a:lvl8pPr>
            <a:lvl9pPr lvl="8" rtl="0">
              <a:spcBef>
                <a:spcPts val="0"/>
              </a:spcBef>
              <a:spcAft>
                <a:spcPts val="0"/>
              </a:spcAft>
              <a:buClr>
                <a:srgbClr val="FFFFFF"/>
              </a:buClr>
              <a:buSzPts val="6000"/>
              <a:buNone/>
              <a:defRPr sz="6000">
                <a:solidFill>
                  <a:srgbClr val="FFFFFF"/>
                </a:solidFill>
              </a:defRPr>
            </a:lvl9pPr>
          </a:lstStyle>
          <a:p>
            <a:endParaRPr/>
          </a:p>
        </p:txBody>
      </p:sp>
      <p:sp>
        <p:nvSpPr>
          <p:cNvPr id="84" name="Google Shape;84;p13"/>
          <p:cNvSpPr/>
          <p:nvPr/>
        </p:nvSpPr>
        <p:spPr>
          <a:xfrm>
            <a:off x="122175" y="254525"/>
            <a:ext cx="8582370" cy="4634439"/>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TITLE_1_1">
    <p:bg>
      <p:bgPr>
        <a:solidFill>
          <a:srgbClr val="FF5C5C"/>
        </a:solidFill>
        <a:effectLst/>
      </p:bgPr>
    </p:bg>
    <p:spTree>
      <p:nvGrpSpPr>
        <p:cNvPr id="1" name="Shape 85"/>
        <p:cNvGrpSpPr/>
        <p:nvPr/>
      </p:nvGrpSpPr>
      <p:grpSpPr>
        <a:xfrm>
          <a:off x="0" y="0"/>
          <a:ext cx="0" cy="0"/>
          <a:chOff x="0" y="0"/>
          <a:chExt cx="0" cy="0"/>
        </a:xfrm>
      </p:grpSpPr>
      <p:sp>
        <p:nvSpPr>
          <p:cNvPr id="86" name="Google Shape;86;p14"/>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SzPts val="4800"/>
              <a:buFont typeface="Century Gothic"/>
              <a:buNone/>
              <a:defRPr sz="4800" b="1">
                <a:latin typeface="Century Gothic"/>
                <a:ea typeface="Century Gothic"/>
                <a:cs typeface="Century Gothic"/>
                <a:sym typeface="Century Gothic"/>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7" name="Google Shape;87;p14"/>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FFFFFF"/>
              </a:buClr>
              <a:buSzPts val="1300"/>
              <a:buFont typeface="Century Gothic"/>
              <a:buNone/>
              <a:defRPr>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88" name="Google Shape;88;p14"/>
          <p:cNvSpPr/>
          <p:nvPr/>
        </p:nvSpPr>
        <p:spPr>
          <a:xfrm>
            <a:off x="122175" y="254525"/>
            <a:ext cx="8582370" cy="4634439"/>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title 1">
  <p:cSld name="TITLE_1_2">
    <p:bg>
      <p:bgPr>
        <a:solidFill>
          <a:srgbClr val="FF5C5C"/>
        </a:solidFill>
        <a:effectLst/>
      </p:bgPr>
    </p:bg>
    <p:spTree>
      <p:nvGrpSpPr>
        <p:cNvPr id="1" name="Shape 89"/>
        <p:cNvGrpSpPr/>
        <p:nvPr/>
      </p:nvGrpSpPr>
      <p:grpSpPr>
        <a:xfrm>
          <a:off x="0" y="0"/>
          <a:ext cx="0" cy="0"/>
          <a:chOff x="0" y="0"/>
          <a:chExt cx="0" cy="0"/>
        </a:xfrm>
      </p:grpSpPr>
      <p:sp>
        <p:nvSpPr>
          <p:cNvPr id="90" name="Google Shape;90;p15"/>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lvl1pPr lvl="0" rtl="0">
              <a:spcBef>
                <a:spcPts val="0"/>
              </a:spcBef>
              <a:spcAft>
                <a:spcPts val="0"/>
              </a:spcAft>
              <a:buSzPts val="4800"/>
              <a:buFont typeface="Century Gothic"/>
              <a:buNone/>
              <a:defRPr sz="4800" b="1">
                <a:latin typeface="Century Gothic"/>
                <a:ea typeface="Century Gothic"/>
                <a:cs typeface="Century Gothic"/>
                <a:sym typeface="Century Gothic"/>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91" name="Google Shape;91;p15"/>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FFFFFF"/>
              </a:buClr>
              <a:buSzPts val="1300"/>
              <a:buFont typeface="Century Gothic"/>
              <a:buNone/>
              <a:defRPr>
                <a:solidFill>
                  <a:srgbClr val="FFFFFF"/>
                </a:solidFill>
                <a:latin typeface="Century Gothic"/>
                <a:ea typeface="Century Gothic"/>
                <a:cs typeface="Century Gothic"/>
                <a:sym typeface="Century Gothic"/>
              </a:defRPr>
            </a:lvl1pPr>
            <a:lvl2pPr lvl="1" rtl="0">
              <a:spcBef>
                <a:spcPts val="0"/>
              </a:spcBef>
              <a:spcAft>
                <a:spcPts val="0"/>
              </a:spcAft>
              <a:buClr>
                <a:srgbClr val="FFFFFF"/>
              </a:buClr>
              <a:buSzPts val="3000"/>
              <a:buNone/>
              <a:defRPr sz="3000">
                <a:solidFill>
                  <a:srgbClr val="FFFFFF"/>
                </a:solidFill>
              </a:defRPr>
            </a:lvl2pPr>
            <a:lvl3pPr lvl="2" rtl="0">
              <a:spcBef>
                <a:spcPts val="0"/>
              </a:spcBef>
              <a:spcAft>
                <a:spcPts val="0"/>
              </a:spcAft>
              <a:buClr>
                <a:srgbClr val="FFFFFF"/>
              </a:buClr>
              <a:buSzPts val="3000"/>
              <a:buNone/>
              <a:defRPr sz="3000">
                <a:solidFill>
                  <a:srgbClr val="FFFFFF"/>
                </a:solidFill>
              </a:defRPr>
            </a:lvl3pPr>
            <a:lvl4pPr lvl="3" rtl="0">
              <a:spcBef>
                <a:spcPts val="0"/>
              </a:spcBef>
              <a:spcAft>
                <a:spcPts val="0"/>
              </a:spcAft>
              <a:buClr>
                <a:srgbClr val="FFFFFF"/>
              </a:buClr>
              <a:buSzPts val="3000"/>
              <a:buNone/>
              <a:defRPr sz="3000">
                <a:solidFill>
                  <a:srgbClr val="FFFFFF"/>
                </a:solidFill>
              </a:defRPr>
            </a:lvl4pPr>
            <a:lvl5pPr lvl="4" rtl="0">
              <a:spcBef>
                <a:spcPts val="0"/>
              </a:spcBef>
              <a:spcAft>
                <a:spcPts val="0"/>
              </a:spcAft>
              <a:buClr>
                <a:srgbClr val="FFFFFF"/>
              </a:buClr>
              <a:buSzPts val="3000"/>
              <a:buNone/>
              <a:defRPr sz="3000">
                <a:solidFill>
                  <a:srgbClr val="FFFFFF"/>
                </a:solidFill>
              </a:defRPr>
            </a:lvl5pPr>
            <a:lvl6pPr lvl="5" rtl="0">
              <a:spcBef>
                <a:spcPts val="0"/>
              </a:spcBef>
              <a:spcAft>
                <a:spcPts val="0"/>
              </a:spcAft>
              <a:buClr>
                <a:srgbClr val="FFFFFF"/>
              </a:buClr>
              <a:buSzPts val="3000"/>
              <a:buNone/>
              <a:defRPr sz="3000">
                <a:solidFill>
                  <a:srgbClr val="FFFFFF"/>
                </a:solidFill>
              </a:defRPr>
            </a:lvl6pPr>
            <a:lvl7pPr lvl="6" rtl="0">
              <a:spcBef>
                <a:spcPts val="0"/>
              </a:spcBef>
              <a:spcAft>
                <a:spcPts val="0"/>
              </a:spcAft>
              <a:buClr>
                <a:srgbClr val="FFFFFF"/>
              </a:buClr>
              <a:buSzPts val="3000"/>
              <a:buNone/>
              <a:defRPr sz="3000">
                <a:solidFill>
                  <a:srgbClr val="FFFFFF"/>
                </a:solidFill>
              </a:defRPr>
            </a:lvl7pPr>
            <a:lvl8pPr lvl="7" rtl="0">
              <a:spcBef>
                <a:spcPts val="0"/>
              </a:spcBef>
              <a:spcAft>
                <a:spcPts val="0"/>
              </a:spcAft>
              <a:buClr>
                <a:srgbClr val="FFFFFF"/>
              </a:buClr>
              <a:buSzPts val="3000"/>
              <a:buNone/>
              <a:defRPr sz="3000">
                <a:solidFill>
                  <a:srgbClr val="FFFFFF"/>
                </a:solidFill>
              </a:defRPr>
            </a:lvl8pPr>
            <a:lvl9pPr lvl="8" rtl="0">
              <a:spcBef>
                <a:spcPts val="0"/>
              </a:spcBef>
              <a:spcAft>
                <a:spcPts val="0"/>
              </a:spcAft>
              <a:buClr>
                <a:srgbClr val="FFFFFF"/>
              </a:buClr>
              <a:buSzPts val="3000"/>
              <a:buNone/>
              <a:defRPr sz="3000">
                <a:solidFill>
                  <a:srgbClr val="FFFFFF"/>
                </a:solidFill>
              </a:defRPr>
            </a:lvl9pPr>
          </a:lstStyle>
          <a:p>
            <a:endParaRPr/>
          </a:p>
        </p:txBody>
      </p:sp>
      <p:sp>
        <p:nvSpPr>
          <p:cNvPr id="92" name="Google Shape;92;p15"/>
          <p:cNvSpPr/>
          <p:nvPr/>
        </p:nvSpPr>
        <p:spPr>
          <a:xfrm>
            <a:off x="122175" y="254525"/>
            <a:ext cx="8582370" cy="4634439"/>
          </a:xfrm>
          <a:custGeom>
            <a:avLst/>
            <a:gdLst/>
            <a:ahLst/>
            <a:cxnLst/>
            <a:rect l="l" t="t" r="r" b="b"/>
            <a:pathLst>
              <a:path w="285508" h="149667" fill="none" extrusionOk="0">
                <a:moveTo>
                  <a:pt x="252882" y="0"/>
                </a:moveTo>
                <a:lnTo>
                  <a:pt x="13220" y="0"/>
                </a:lnTo>
                <a:lnTo>
                  <a:pt x="13220" y="0"/>
                </a:lnTo>
                <a:lnTo>
                  <a:pt x="11826" y="61"/>
                </a:lnTo>
                <a:lnTo>
                  <a:pt x="10552" y="243"/>
                </a:lnTo>
                <a:lnTo>
                  <a:pt x="9279" y="607"/>
                </a:lnTo>
                <a:lnTo>
                  <a:pt x="8066" y="1031"/>
                </a:lnTo>
                <a:lnTo>
                  <a:pt x="6914" y="1577"/>
                </a:lnTo>
                <a:lnTo>
                  <a:pt x="5822" y="2244"/>
                </a:lnTo>
                <a:lnTo>
                  <a:pt x="4791" y="3032"/>
                </a:lnTo>
                <a:lnTo>
                  <a:pt x="3881" y="3881"/>
                </a:lnTo>
                <a:lnTo>
                  <a:pt x="3032" y="4791"/>
                </a:lnTo>
                <a:lnTo>
                  <a:pt x="2244" y="5822"/>
                </a:lnTo>
                <a:lnTo>
                  <a:pt x="1577" y="6914"/>
                </a:lnTo>
                <a:lnTo>
                  <a:pt x="1031" y="8066"/>
                </a:lnTo>
                <a:lnTo>
                  <a:pt x="607" y="9279"/>
                </a:lnTo>
                <a:lnTo>
                  <a:pt x="243" y="10552"/>
                </a:lnTo>
                <a:lnTo>
                  <a:pt x="61" y="11826"/>
                </a:lnTo>
                <a:lnTo>
                  <a:pt x="0" y="13220"/>
                </a:lnTo>
                <a:lnTo>
                  <a:pt x="0" y="136447"/>
                </a:lnTo>
                <a:lnTo>
                  <a:pt x="0" y="136447"/>
                </a:lnTo>
                <a:lnTo>
                  <a:pt x="61" y="137841"/>
                </a:lnTo>
                <a:lnTo>
                  <a:pt x="243" y="139115"/>
                </a:lnTo>
                <a:lnTo>
                  <a:pt x="607" y="140388"/>
                </a:lnTo>
                <a:lnTo>
                  <a:pt x="1031" y="141601"/>
                </a:lnTo>
                <a:lnTo>
                  <a:pt x="1577" y="142753"/>
                </a:lnTo>
                <a:lnTo>
                  <a:pt x="2244" y="143845"/>
                </a:lnTo>
                <a:lnTo>
                  <a:pt x="3032" y="144876"/>
                </a:lnTo>
                <a:lnTo>
                  <a:pt x="3881" y="145786"/>
                </a:lnTo>
                <a:lnTo>
                  <a:pt x="4791" y="146635"/>
                </a:lnTo>
                <a:lnTo>
                  <a:pt x="5822" y="147423"/>
                </a:lnTo>
                <a:lnTo>
                  <a:pt x="6914" y="148090"/>
                </a:lnTo>
                <a:lnTo>
                  <a:pt x="8066" y="148636"/>
                </a:lnTo>
                <a:lnTo>
                  <a:pt x="9279" y="149060"/>
                </a:lnTo>
                <a:lnTo>
                  <a:pt x="10552" y="149424"/>
                </a:lnTo>
                <a:lnTo>
                  <a:pt x="11826" y="149606"/>
                </a:lnTo>
                <a:lnTo>
                  <a:pt x="13220" y="149667"/>
                </a:lnTo>
                <a:lnTo>
                  <a:pt x="272288" y="149667"/>
                </a:lnTo>
                <a:lnTo>
                  <a:pt x="272288" y="149667"/>
                </a:lnTo>
                <a:lnTo>
                  <a:pt x="273682" y="149606"/>
                </a:lnTo>
                <a:lnTo>
                  <a:pt x="274956" y="149424"/>
                </a:lnTo>
                <a:lnTo>
                  <a:pt x="276229" y="149060"/>
                </a:lnTo>
                <a:lnTo>
                  <a:pt x="277442" y="148636"/>
                </a:lnTo>
                <a:lnTo>
                  <a:pt x="278594" y="148090"/>
                </a:lnTo>
                <a:lnTo>
                  <a:pt x="279686" y="147423"/>
                </a:lnTo>
                <a:lnTo>
                  <a:pt x="280717" y="146635"/>
                </a:lnTo>
                <a:lnTo>
                  <a:pt x="281627" y="145786"/>
                </a:lnTo>
                <a:lnTo>
                  <a:pt x="282476" y="144876"/>
                </a:lnTo>
                <a:lnTo>
                  <a:pt x="283264" y="143845"/>
                </a:lnTo>
                <a:lnTo>
                  <a:pt x="283931" y="142753"/>
                </a:lnTo>
                <a:lnTo>
                  <a:pt x="284477" y="141601"/>
                </a:lnTo>
                <a:lnTo>
                  <a:pt x="284901" y="140388"/>
                </a:lnTo>
                <a:lnTo>
                  <a:pt x="285265" y="139115"/>
                </a:lnTo>
                <a:lnTo>
                  <a:pt x="285447" y="137841"/>
                </a:lnTo>
                <a:lnTo>
                  <a:pt x="285508" y="136447"/>
                </a:lnTo>
                <a:lnTo>
                  <a:pt x="285508" y="32626"/>
                </a:lnTo>
              </a:path>
            </a:pathLst>
          </a:custGeom>
          <a:noFill/>
          <a:ln w="19050" cap="flat" cmpd="sng">
            <a:solidFill>
              <a:srgbClr val="FFFFFF"/>
            </a:solidFill>
            <a:prstDash val="dot"/>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hyperlink" Target="http://www.youtube.com/watch?v=91qx0LMdJtI" TargetMode="External"/><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5.jp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hyperlink" Target="http://www.youtube.com/watch?v=91qx0LMdJtI" TargetMode="External"/><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5.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6"/>
          <p:cNvSpPr txBox="1">
            <a:spLocks noGrp="1"/>
          </p:cNvSpPr>
          <p:nvPr>
            <p:ph type="title" idx="4294967295"/>
          </p:nvPr>
        </p:nvSpPr>
        <p:spPr>
          <a:xfrm>
            <a:off x="3796700" y="1699950"/>
            <a:ext cx="6866100" cy="85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technology </a:t>
            </a:r>
            <a:endParaRPr/>
          </a:p>
          <a:p>
            <a:pPr marL="0" lvl="0" indent="0" algn="l" rtl="0">
              <a:spcBef>
                <a:spcPts val="0"/>
              </a:spcBef>
              <a:spcAft>
                <a:spcPts val="0"/>
              </a:spcAft>
              <a:buNone/>
            </a:pPr>
            <a:r>
              <a:rPr lang="en"/>
              <a:t>can enhance </a:t>
            </a:r>
            <a:endParaRPr/>
          </a:p>
          <a:p>
            <a:pPr marL="0" lvl="0" indent="0" algn="l" rtl="0">
              <a:spcBef>
                <a:spcPts val="0"/>
              </a:spcBef>
              <a:spcAft>
                <a:spcPts val="0"/>
              </a:spcAft>
              <a:buNone/>
            </a:pPr>
            <a:r>
              <a:rPr lang="en"/>
              <a:t>our brain</a:t>
            </a:r>
            <a:endParaRPr sz="4800"/>
          </a:p>
        </p:txBody>
      </p:sp>
      <p:pic>
        <p:nvPicPr>
          <p:cNvPr id="98" name="Google Shape;98;p16"/>
          <p:cNvPicPr preferRelativeResize="0"/>
          <p:nvPr/>
        </p:nvPicPr>
        <p:blipFill rotWithShape="1">
          <a:blip r:embed="rId3">
            <a:alphaModFix/>
          </a:blip>
          <a:srcRect l="5017" t="-12537" r="2739" b="-3122"/>
          <a:stretch/>
        </p:blipFill>
        <p:spPr>
          <a:xfrm>
            <a:off x="336475" y="1041375"/>
            <a:ext cx="3360300" cy="3360300"/>
          </a:xfrm>
          <a:prstGeom prst="ellipse">
            <a:avLst/>
          </a:prstGeom>
          <a:noFill/>
          <a:ln w="9525" cap="flat" cmpd="sng">
            <a:solidFill>
              <a:schemeClr val="lt2"/>
            </a:solidFill>
            <a:prstDash val="solid"/>
            <a:round/>
            <a:headEnd type="none" w="sm" len="sm"/>
            <a:tailEnd type="none" w="sm" len="sm"/>
          </a:ln>
        </p:spPr>
      </p:pic>
      <p:sp>
        <p:nvSpPr>
          <p:cNvPr id="99" name="Google Shape;99;p1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a:t>
            </a:fld>
            <a:endParaRPr sz="1000">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a:t>
            </a:fld>
            <a:endParaRPr sz="1000">
              <a:solidFill>
                <a:schemeClr val="accent1"/>
              </a:solidFill>
              <a:latin typeface="Lato"/>
              <a:ea typeface="Lato"/>
              <a:cs typeface="Lato"/>
              <a:sym typeface="Lato"/>
            </a:endParaRPr>
          </a:p>
        </p:txBody>
      </p:sp>
      <p:sp>
        <p:nvSpPr>
          <p:cNvPr id="105" name="Google Shape;105;p17"/>
          <p:cNvSpPr txBox="1"/>
          <p:nvPr/>
        </p:nvSpPr>
        <p:spPr>
          <a:xfrm>
            <a:off x="2469250" y="1229975"/>
            <a:ext cx="3000000" cy="187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800"/>
              </a:spcBef>
              <a:spcAft>
                <a:spcPts val="0"/>
              </a:spcAft>
              <a:buNone/>
            </a:pPr>
            <a:r>
              <a:rPr lang="en" b="1">
                <a:solidFill>
                  <a:srgbClr val="000032"/>
                </a:solidFill>
                <a:highlight>
                  <a:srgbClr val="FFFFFF"/>
                </a:highlight>
              </a:rPr>
              <a:t>LESSON OVERVIEW</a:t>
            </a:r>
            <a:endParaRPr b="1">
              <a:solidFill>
                <a:srgbClr val="000032"/>
              </a:solidFill>
              <a:highlight>
                <a:srgbClr val="FFFFFF"/>
              </a:highlight>
            </a:endParaRPr>
          </a:p>
          <a:p>
            <a:pPr marL="0" lvl="0" indent="0" algn="l" rtl="0">
              <a:lnSpc>
                <a:spcPct val="120000"/>
              </a:lnSpc>
              <a:spcBef>
                <a:spcPts val="1200"/>
              </a:spcBef>
              <a:spcAft>
                <a:spcPts val="1800"/>
              </a:spcAft>
              <a:buNone/>
            </a:pPr>
            <a:r>
              <a:rPr lang="en" sz="1200">
                <a:solidFill>
                  <a:srgbClr val="000032"/>
                </a:solidFill>
                <a:highlight>
                  <a:srgbClr val="FFFFFF"/>
                </a:highlight>
              </a:rPr>
              <a:t>This technology lesson plan touches upon melding minds with machines, that is a brain-computer interface. It is based on a very interesting video which will definitely make your students eager to talk.</a:t>
            </a:r>
            <a:endParaRPr sz="1200">
              <a:solidFill>
                <a:srgbClr val="000032"/>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8"/>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solidFill>
                  <a:schemeClr val="lt1"/>
                </a:solidFill>
              </a:rPr>
              <a:t>Let’s get started</a:t>
            </a:r>
            <a:r>
              <a:rPr lang="en"/>
              <a:t> </a:t>
            </a:r>
            <a:endParaRPr/>
          </a:p>
        </p:txBody>
      </p:sp>
      <p:sp>
        <p:nvSpPr>
          <p:cNvPr id="111" name="Google Shape;111;p18"/>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with a vocabulary warm-up </a:t>
            </a:r>
            <a:endParaRPr/>
          </a:p>
        </p:txBody>
      </p:sp>
      <p:pic>
        <p:nvPicPr>
          <p:cNvPr id="112" name="Google Shape;112;p18"/>
          <p:cNvPicPr preferRelativeResize="0"/>
          <p:nvPr/>
        </p:nvPicPr>
        <p:blipFill>
          <a:blip r:embed="rId3">
            <a:alphaModFix/>
          </a:blip>
          <a:stretch>
            <a:fillRect/>
          </a:stretch>
        </p:blipFill>
        <p:spPr>
          <a:xfrm>
            <a:off x="7713875" y="857913"/>
            <a:ext cx="886968" cy="88696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4</a:t>
            </a:fld>
            <a:endParaRPr sz="1000">
              <a:solidFill>
                <a:schemeClr val="accent1"/>
              </a:solidFill>
              <a:latin typeface="Lato"/>
              <a:ea typeface="Lato"/>
              <a:cs typeface="Lato"/>
              <a:sym typeface="Lato"/>
            </a:endParaRPr>
          </a:p>
        </p:txBody>
      </p:sp>
      <p:sp>
        <p:nvSpPr>
          <p:cNvPr id="118" name="Google Shape;118;p19"/>
          <p:cNvSpPr txBox="1"/>
          <p:nvPr/>
        </p:nvSpPr>
        <p:spPr>
          <a:xfrm>
            <a:off x="452400" y="298375"/>
            <a:ext cx="7303200" cy="44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Choose which word doesn't belong in each line.</a:t>
            </a:r>
            <a:endParaRPr sz="1800" b="1">
              <a:latin typeface="Raleway"/>
              <a:ea typeface="Raleway"/>
              <a:cs typeface="Raleway"/>
              <a:sym typeface="Raleway"/>
            </a:endParaRPr>
          </a:p>
        </p:txBody>
      </p:sp>
      <p:sp>
        <p:nvSpPr>
          <p:cNvPr id="119" name="Google Shape;119;p19"/>
          <p:cNvSpPr txBox="1"/>
          <p:nvPr/>
        </p:nvSpPr>
        <p:spPr>
          <a:xfrm>
            <a:off x="374310" y="738775"/>
            <a:ext cx="7828800" cy="3807900"/>
          </a:xfrm>
          <a:prstGeom prst="rect">
            <a:avLst/>
          </a:prstGeom>
          <a:noFill/>
          <a:ln>
            <a:noFill/>
          </a:ln>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meld		mend		combine		merge  </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impair	enhance 		elevate		improve</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evoke	convert		transform		transfigure</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complex	intricate		elaborate		intrinsic</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imminent	eminent		approaching	looming</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contemplate	consider		debunk		deliberate</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legal 		equitable		fair		just</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implication	consequence  	ramification	obligation</a:t>
            </a:r>
            <a:endParaRPr dirty="0">
              <a:latin typeface="Raleway Light"/>
              <a:ea typeface="Raleway Light"/>
              <a:cs typeface="Raleway Light"/>
              <a:sym typeface="Raleway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5</a:t>
            </a:fld>
            <a:endParaRPr sz="1000">
              <a:solidFill>
                <a:schemeClr val="accent1"/>
              </a:solidFill>
              <a:latin typeface="Lato"/>
              <a:ea typeface="Lato"/>
              <a:cs typeface="Lato"/>
              <a:sym typeface="Lato"/>
            </a:endParaRPr>
          </a:p>
        </p:txBody>
      </p:sp>
      <p:sp>
        <p:nvSpPr>
          <p:cNvPr id="118" name="Google Shape;118;p19"/>
          <p:cNvSpPr txBox="1"/>
          <p:nvPr/>
        </p:nvSpPr>
        <p:spPr>
          <a:xfrm>
            <a:off x="452400" y="298375"/>
            <a:ext cx="7303200" cy="44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dirty="0">
                <a:latin typeface="Raleway"/>
                <a:ea typeface="Raleway"/>
                <a:cs typeface="Raleway"/>
                <a:sym typeface="Raleway"/>
              </a:rPr>
              <a:t>Let’s check the answers.</a:t>
            </a:r>
            <a:endParaRPr sz="1800" b="1" dirty="0">
              <a:latin typeface="Raleway"/>
              <a:ea typeface="Raleway"/>
              <a:cs typeface="Raleway"/>
              <a:sym typeface="Raleway"/>
            </a:endParaRPr>
          </a:p>
        </p:txBody>
      </p:sp>
      <p:sp>
        <p:nvSpPr>
          <p:cNvPr id="119" name="Google Shape;119;p19"/>
          <p:cNvSpPr txBox="1"/>
          <p:nvPr/>
        </p:nvSpPr>
        <p:spPr>
          <a:xfrm>
            <a:off x="374310" y="738775"/>
            <a:ext cx="7828800" cy="3807900"/>
          </a:xfrm>
          <a:prstGeom prst="rect">
            <a:avLst/>
          </a:prstGeom>
          <a:noFill/>
          <a:ln>
            <a:noFill/>
          </a:ln>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meld		mend		combine		merge  </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impair	enhance 		elevate		improve</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evoke	convert		transform		transfigure</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complex	intricate		elaborate		intrinsic</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imminent	eminent		approaching	looming</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contemplate	consider		debunk		deliberate</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legal 		equitable		fair		just</a:t>
            </a:r>
            <a:endParaRPr dirty="0">
              <a:latin typeface="Raleway Light"/>
              <a:ea typeface="Raleway Light"/>
              <a:cs typeface="Raleway Light"/>
              <a:sym typeface="Raleway Light"/>
            </a:endParaRPr>
          </a:p>
          <a:p>
            <a:pPr marL="457200" lvl="0" indent="-330200" algn="l" rtl="0">
              <a:lnSpc>
                <a:spcPct val="200000"/>
              </a:lnSpc>
              <a:spcBef>
                <a:spcPts val="0"/>
              </a:spcBef>
              <a:spcAft>
                <a:spcPts val="0"/>
              </a:spcAft>
              <a:buSzPts val="1600"/>
              <a:buFont typeface="Raleway Light"/>
              <a:buAutoNum type="alphaUcPeriod"/>
            </a:pPr>
            <a:r>
              <a:rPr lang="en" dirty="0">
                <a:latin typeface="Raleway Light"/>
                <a:ea typeface="Raleway Light"/>
                <a:cs typeface="Raleway Light"/>
                <a:sym typeface="Raleway Light"/>
              </a:rPr>
              <a:t>implication	consequence  	ramification	obligation</a:t>
            </a:r>
            <a:endParaRPr dirty="0">
              <a:latin typeface="Raleway Light"/>
              <a:ea typeface="Raleway Light"/>
              <a:cs typeface="Raleway Light"/>
              <a:sym typeface="Raleway Light"/>
            </a:endParaRPr>
          </a:p>
        </p:txBody>
      </p:sp>
      <p:sp>
        <p:nvSpPr>
          <p:cNvPr id="2" name="Oval 1">
            <a:extLst>
              <a:ext uri="{FF2B5EF4-FFF2-40B4-BE49-F238E27FC236}">
                <a16:creationId xmlns:a16="http://schemas.microsoft.com/office/drawing/2014/main" id="{DC5709C8-8E9D-4A95-6786-F9D45E2B216C}"/>
              </a:ext>
            </a:extLst>
          </p:cNvPr>
          <p:cNvSpPr/>
          <p:nvPr/>
        </p:nvSpPr>
        <p:spPr>
          <a:xfrm>
            <a:off x="2147777" y="893135"/>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Oval 2">
            <a:extLst>
              <a:ext uri="{FF2B5EF4-FFF2-40B4-BE49-F238E27FC236}">
                <a16:creationId xmlns:a16="http://schemas.microsoft.com/office/drawing/2014/main" id="{CC4C4062-E57E-9A8A-7123-21C7E059D466}"/>
              </a:ext>
            </a:extLst>
          </p:cNvPr>
          <p:cNvSpPr/>
          <p:nvPr/>
        </p:nvSpPr>
        <p:spPr>
          <a:xfrm>
            <a:off x="783266" y="1321981"/>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Oval 3">
            <a:extLst>
              <a:ext uri="{FF2B5EF4-FFF2-40B4-BE49-F238E27FC236}">
                <a16:creationId xmlns:a16="http://schemas.microsoft.com/office/drawing/2014/main" id="{AFBC8038-498C-84A9-CD49-BB539FF02BD6}"/>
              </a:ext>
            </a:extLst>
          </p:cNvPr>
          <p:cNvSpPr/>
          <p:nvPr/>
        </p:nvSpPr>
        <p:spPr>
          <a:xfrm>
            <a:off x="783266" y="1804911"/>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Oval 4">
            <a:extLst>
              <a:ext uri="{FF2B5EF4-FFF2-40B4-BE49-F238E27FC236}">
                <a16:creationId xmlns:a16="http://schemas.microsoft.com/office/drawing/2014/main" id="{09972A5F-5AD7-3415-6FCB-5046B58ED602}"/>
              </a:ext>
            </a:extLst>
          </p:cNvPr>
          <p:cNvSpPr/>
          <p:nvPr/>
        </p:nvSpPr>
        <p:spPr>
          <a:xfrm>
            <a:off x="5808921" y="2194770"/>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Oval 5">
            <a:extLst>
              <a:ext uri="{FF2B5EF4-FFF2-40B4-BE49-F238E27FC236}">
                <a16:creationId xmlns:a16="http://schemas.microsoft.com/office/drawing/2014/main" id="{7E9516EB-FB05-F1F5-8B8B-659B6357272C}"/>
              </a:ext>
            </a:extLst>
          </p:cNvPr>
          <p:cNvSpPr/>
          <p:nvPr/>
        </p:nvSpPr>
        <p:spPr>
          <a:xfrm>
            <a:off x="2229293" y="2617304"/>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Oval 6">
            <a:extLst>
              <a:ext uri="{FF2B5EF4-FFF2-40B4-BE49-F238E27FC236}">
                <a16:creationId xmlns:a16="http://schemas.microsoft.com/office/drawing/2014/main" id="{25C197BA-9178-77AF-AA1F-309CC1DCEB07}"/>
              </a:ext>
            </a:extLst>
          </p:cNvPr>
          <p:cNvSpPr/>
          <p:nvPr/>
        </p:nvSpPr>
        <p:spPr>
          <a:xfrm>
            <a:off x="4008474" y="3028429"/>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Oval 7">
            <a:extLst>
              <a:ext uri="{FF2B5EF4-FFF2-40B4-BE49-F238E27FC236}">
                <a16:creationId xmlns:a16="http://schemas.microsoft.com/office/drawing/2014/main" id="{4629EC04-2012-015D-DE87-34FD50995EF8}"/>
              </a:ext>
            </a:extLst>
          </p:cNvPr>
          <p:cNvSpPr/>
          <p:nvPr/>
        </p:nvSpPr>
        <p:spPr>
          <a:xfrm>
            <a:off x="754912" y="3456755"/>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Oval 8">
            <a:extLst>
              <a:ext uri="{FF2B5EF4-FFF2-40B4-BE49-F238E27FC236}">
                <a16:creationId xmlns:a16="http://schemas.microsoft.com/office/drawing/2014/main" id="{21EE65FF-3BAC-227E-321A-53FD4B6C4896}"/>
              </a:ext>
            </a:extLst>
          </p:cNvPr>
          <p:cNvSpPr/>
          <p:nvPr/>
        </p:nvSpPr>
        <p:spPr>
          <a:xfrm>
            <a:off x="5908158" y="3892169"/>
            <a:ext cx="864781" cy="4111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906923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6</a:t>
            </a:fld>
            <a:endParaRPr sz="1000">
              <a:solidFill>
                <a:schemeClr val="accent1"/>
              </a:solidFill>
              <a:latin typeface="Lato"/>
              <a:ea typeface="Lato"/>
              <a:cs typeface="Lato"/>
              <a:sym typeface="Lato"/>
            </a:endParaRPr>
          </a:p>
        </p:txBody>
      </p:sp>
      <p:sp>
        <p:nvSpPr>
          <p:cNvPr id="140" name="Google Shape;140;p21"/>
          <p:cNvSpPr txBox="1"/>
          <p:nvPr/>
        </p:nvSpPr>
        <p:spPr>
          <a:xfrm>
            <a:off x="409775" y="255750"/>
            <a:ext cx="78288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Complete the second sentence so that it has a similar meaning to the first sentence. Use the word given in brackets and no more than five words. Do not change the word given. [1/2]</a:t>
            </a:r>
            <a:endParaRPr sz="1800" b="1">
              <a:latin typeface="Raleway"/>
              <a:ea typeface="Raleway"/>
              <a:cs typeface="Raleway"/>
              <a:sym typeface="Raleway"/>
            </a:endParaRPr>
          </a:p>
        </p:txBody>
      </p:sp>
      <p:sp>
        <p:nvSpPr>
          <p:cNvPr id="141" name="Google Shape;141;p21"/>
          <p:cNvSpPr txBox="1"/>
          <p:nvPr/>
        </p:nvSpPr>
        <p:spPr>
          <a:xfrm>
            <a:off x="409775" y="1307250"/>
            <a:ext cx="8194500" cy="33249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Raleway Light"/>
              <a:buAutoNum type="alphaUcPeriod"/>
            </a:pPr>
            <a:r>
              <a:rPr lang="en">
                <a:latin typeface="Raleway Light"/>
                <a:ea typeface="Raleway Light"/>
                <a:cs typeface="Raleway Light"/>
                <a:sym typeface="Raleway Light"/>
              </a:rPr>
              <a:t>The enhancement of the quality of life of people with disabilities is what technology should focus on.</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Technology should ………………………………………………………………… the quality of life of people with disabilities. [BE]</a:t>
            </a:r>
            <a:endParaRPr>
              <a:latin typeface="Raleway Light"/>
              <a:ea typeface="Raleway Light"/>
              <a:cs typeface="Raleway Light"/>
              <a:sym typeface="Raleway Light"/>
            </a:endParaRPr>
          </a:p>
          <a:p>
            <a:pPr marL="457200" lvl="0" indent="-317500" algn="l" rtl="0">
              <a:lnSpc>
                <a:spcPct val="150000"/>
              </a:lnSpc>
              <a:spcBef>
                <a:spcPts val="0"/>
              </a:spcBef>
              <a:spcAft>
                <a:spcPts val="0"/>
              </a:spcAft>
              <a:buSzPts val="1400"/>
              <a:buFont typeface="Raleway Light"/>
              <a:buAutoNum type="alphaUcPeriod"/>
            </a:pPr>
            <a:r>
              <a:rPr lang="en">
                <a:latin typeface="Raleway Light"/>
                <a:ea typeface="Raleway Light"/>
                <a:cs typeface="Raleway Light"/>
                <a:sym typeface="Raleway Light"/>
              </a:rPr>
              <a:t>New technologies aren’t accessible to the masses and only the privileged few make use of them.</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There </a:t>
            </a:r>
            <a:r>
              <a:rPr lang="en">
                <a:solidFill>
                  <a:schemeClr val="dk1"/>
                </a:solidFill>
                <a:latin typeface="Raleway Light"/>
                <a:ea typeface="Raleway Light"/>
                <a:cs typeface="Raleway Light"/>
                <a:sym typeface="Raleway Light"/>
              </a:rPr>
              <a:t>…………………………………………………………………</a:t>
            </a:r>
            <a:r>
              <a:rPr lang="en">
                <a:latin typeface="Raleway Light"/>
                <a:ea typeface="Raleway Light"/>
                <a:cs typeface="Raleway Light"/>
                <a:sym typeface="Raleway Light"/>
              </a:rPr>
              <a:t> to new technologies and only the privileged few make use of them. [EQUITABLE]</a:t>
            </a:r>
            <a:endParaRPr>
              <a:latin typeface="Raleway Light"/>
              <a:ea typeface="Raleway Light"/>
              <a:cs typeface="Raleway Light"/>
              <a:sym typeface="Raleway Light"/>
            </a:endParaRPr>
          </a:p>
          <a:p>
            <a:pPr marL="457200" lvl="0" indent="-317500" algn="l" rtl="0">
              <a:lnSpc>
                <a:spcPct val="150000"/>
              </a:lnSpc>
              <a:spcBef>
                <a:spcPts val="0"/>
              </a:spcBef>
              <a:spcAft>
                <a:spcPts val="0"/>
              </a:spcAft>
              <a:buSzPts val="1400"/>
              <a:buFont typeface="Raleway Light"/>
              <a:buAutoNum type="alphaUcPeriod"/>
            </a:pPr>
            <a:r>
              <a:rPr lang="en">
                <a:latin typeface="Raleway Light"/>
                <a:ea typeface="Raleway Light"/>
                <a:cs typeface="Raleway Light"/>
                <a:sym typeface="Raleway Light"/>
              </a:rPr>
              <a:t>We can’t see any imminent breakthrough that would change the way we live.</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There are </a:t>
            </a:r>
            <a:r>
              <a:rPr lang="en">
                <a:solidFill>
                  <a:schemeClr val="dk1"/>
                </a:solidFill>
                <a:latin typeface="Raleway Light"/>
                <a:ea typeface="Raleway Light"/>
                <a:cs typeface="Raleway Light"/>
                <a:sym typeface="Raleway Light"/>
              </a:rPr>
              <a:t>…………………………………………………………………</a:t>
            </a:r>
            <a:r>
              <a:rPr lang="en">
                <a:latin typeface="Raleway Light"/>
                <a:ea typeface="Raleway Light"/>
                <a:cs typeface="Raleway Light"/>
                <a:sym typeface="Raleway Light"/>
              </a:rPr>
              <a:t> an imminent breakthrough that would change the way we live. [SIGNS]</a:t>
            </a:r>
            <a:endParaRPr>
              <a:latin typeface="Raleway Light"/>
              <a:ea typeface="Raleway Light"/>
              <a:cs typeface="Raleway Light"/>
              <a:sym typeface="Raleway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7</a:t>
            </a:fld>
            <a:endParaRPr sz="1000">
              <a:solidFill>
                <a:schemeClr val="accent1"/>
              </a:solidFill>
              <a:latin typeface="Lato"/>
              <a:ea typeface="Lato"/>
              <a:cs typeface="Lato"/>
              <a:sym typeface="Lato"/>
            </a:endParaRPr>
          </a:p>
        </p:txBody>
      </p:sp>
      <p:sp>
        <p:nvSpPr>
          <p:cNvPr id="147" name="Google Shape;147;p22"/>
          <p:cNvSpPr txBox="1"/>
          <p:nvPr/>
        </p:nvSpPr>
        <p:spPr>
          <a:xfrm>
            <a:off x="409775" y="255750"/>
            <a:ext cx="78288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aleway"/>
                <a:ea typeface="Raleway"/>
                <a:cs typeface="Raleway"/>
                <a:sym typeface="Raleway"/>
              </a:rPr>
              <a:t>Complete the second sentence so that it has a similar meaning to the first sentence. Use the word given in brackets and no more than five words. Do not change the word given. [2/2]</a:t>
            </a:r>
            <a:endParaRPr sz="1800" b="1">
              <a:latin typeface="Raleway"/>
              <a:ea typeface="Raleway"/>
              <a:cs typeface="Raleway"/>
              <a:sym typeface="Raleway"/>
            </a:endParaRPr>
          </a:p>
        </p:txBody>
      </p:sp>
      <p:sp>
        <p:nvSpPr>
          <p:cNvPr id="148" name="Google Shape;148;p22"/>
          <p:cNvSpPr txBox="1"/>
          <p:nvPr/>
        </p:nvSpPr>
        <p:spPr>
          <a:xfrm>
            <a:off x="409775" y="1662400"/>
            <a:ext cx="8194500" cy="29697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Raleway Light"/>
              <a:buAutoNum type="alphaUcPeriod" startAt="4"/>
            </a:pPr>
            <a:r>
              <a:rPr lang="en">
                <a:latin typeface="Raleway Light"/>
                <a:ea typeface="Raleway Light"/>
                <a:cs typeface="Raleway Light"/>
                <a:sym typeface="Raleway Light"/>
              </a:rPr>
              <a:t>Scientists never contemplate the ethical implications of research they work on.</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What scientists </a:t>
            </a:r>
            <a:r>
              <a:rPr lang="en">
                <a:solidFill>
                  <a:schemeClr val="dk1"/>
                </a:solidFill>
                <a:latin typeface="Raleway Light"/>
                <a:ea typeface="Raleway Light"/>
                <a:cs typeface="Raleway Light"/>
                <a:sym typeface="Raleway Light"/>
              </a:rPr>
              <a:t>…………………………………………………………………</a:t>
            </a:r>
            <a:r>
              <a:rPr lang="en">
                <a:latin typeface="Raleway Light"/>
                <a:ea typeface="Raleway Light"/>
                <a:cs typeface="Raleway Light"/>
                <a:sym typeface="Raleway Light"/>
              </a:rPr>
              <a:t> contemplate the ethical implications of the research they work on. [NEVER]</a:t>
            </a:r>
            <a:endParaRPr>
              <a:latin typeface="Raleway Light"/>
              <a:ea typeface="Raleway Light"/>
              <a:cs typeface="Raleway Light"/>
              <a:sym typeface="Raleway Light"/>
            </a:endParaRPr>
          </a:p>
          <a:p>
            <a:pPr marL="457200" lvl="0" indent="-317500" algn="l" rtl="0">
              <a:lnSpc>
                <a:spcPct val="150000"/>
              </a:lnSpc>
              <a:spcBef>
                <a:spcPts val="0"/>
              </a:spcBef>
              <a:spcAft>
                <a:spcPts val="0"/>
              </a:spcAft>
              <a:buSzPts val="1400"/>
              <a:buFont typeface="Raleway Light"/>
              <a:buAutoNum type="alphaUcPeriod" startAt="4"/>
            </a:pPr>
            <a:r>
              <a:rPr lang="en">
                <a:latin typeface="Raleway Light"/>
                <a:ea typeface="Raleway Light"/>
                <a:cs typeface="Raleway Light"/>
                <a:sym typeface="Raleway Light"/>
              </a:rPr>
              <a:t>Melding our minds with machines appears to be an idea taken straight from a Hollywood movie.</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Melding our minds with machines </a:t>
            </a:r>
            <a:r>
              <a:rPr lang="en">
                <a:solidFill>
                  <a:schemeClr val="dk1"/>
                </a:solidFill>
                <a:latin typeface="Raleway Light"/>
                <a:ea typeface="Raleway Light"/>
                <a:cs typeface="Raleway Light"/>
                <a:sym typeface="Raleway Light"/>
              </a:rPr>
              <a:t>…………………………………………………………………</a:t>
            </a:r>
            <a:r>
              <a:rPr lang="en">
                <a:latin typeface="Raleway Light"/>
                <a:ea typeface="Raleway Light"/>
                <a:cs typeface="Raleway Light"/>
                <a:sym typeface="Raleway Light"/>
              </a:rPr>
              <a:t> idea taken straight from a Hollywood movie. [SOUNDS]</a:t>
            </a:r>
            <a:endParaRPr>
              <a:latin typeface="Raleway Light"/>
              <a:ea typeface="Raleway Light"/>
              <a:cs typeface="Raleway Light"/>
              <a:sym typeface="Raleway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152"/>
        <p:cNvGrpSpPr/>
        <p:nvPr/>
      </p:nvGrpSpPr>
      <p:grpSpPr>
        <a:xfrm>
          <a:off x="0" y="0"/>
          <a:ext cx="0" cy="0"/>
          <a:chOff x="0" y="0"/>
          <a:chExt cx="0" cy="0"/>
        </a:xfrm>
      </p:grpSpPr>
      <p:sp>
        <p:nvSpPr>
          <p:cNvPr id="153" name="Google Shape;153;p2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8</a:t>
            </a:fld>
            <a:endParaRPr sz="1000">
              <a:solidFill>
                <a:schemeClr val="accent1"/>
              </a:solidFill>
              <a:latin typeface="Lato"/>
              <a:ea typeface="Lato"/>
              <a:cs typeface="Lato"/>
              <a:sym typeface="Lato"/>
            </a:endParaRPr>
          </a:p>
        </p:txBody>
      </p:sp>
      <p:sp>
        <p:nvSpPr>
          <p:cNvPr id="154" name="Google Shape;154;p23"/>
          <p:cNvSpPr txBox="1"/>
          <p:nvPr/>
        </p:nvSpPr>
        <p:spPr>
          <a:xfrm>
            <a:off x="409775" y="255750"/>
            <a:ext cx="78288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Let’s check the answers [1/2].</a:t>
            </a:r>
            <a:endParaRPr sz="1800" b="1">
              <a:latin typeface="Raleway"/>
              <a:ea typeface="Raleway"/>
              <a:cs typeface="Raleway"/>
              <a:sym typeface="Raleway"/>
            </a:endParaRPr>
          </a:p>
        </p:txBody>
      </p:sp>
      <p:sp>
        <p:nvSpPr>
          <p:cNvPr id="155" name="Google Shape;155;p23"/>
          <p:cNvSpPr txBox="1"/>
          <p:nvPr/>
        </p:nvSpPr>
        <p:spPr>
          <a:xfrm>
            <a:off x="409775" y="1307250"/>
            <a:ext cx="8194500" cy="33249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Raleway Light"/>
              <a:buAutoNum type="alphaUcPeriod"/>
            </a:pPr>
            <a:r>
              <a:rPr lang="en">
                <a:latin typeface="Raleway Light"/>
                <a:ea typeface="Raleway Light"/>
                <a:cs typeface="Raleway Light"/>
                <a:sym typeface="Raleway Light"/>
              </a:rPr>
              <a:t>The enhancement of the quality of life of people with disabilities is what technology should focus on.</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Technology should …………………………………………………………………………………… the quality of life of people with disabilities. [BE]</a:t>
            </a:r>
            <a:endParaRPr>
              <a:latin typeface="Raleway Light"/>
              <a:ea typeface="Raleway Light"/>
              <a:cs typeface="Raleway Light"/>
              <a:sym typeface="Raleway Light"/>
            </a:endParaRPr>
          </a:p>
          <a:p>
            <a:pPr marL="457200" lvl="0" indent="-317500" algn="l" rtl="0">
              <a:lnSpc>
                <a:spcPct val="150000"/>
              </a:lnSpc>
              <a:spcBef>
                <a:spcPts val="0"/>
              </a:spcBef>
              <a:spcAft>
                <a:spcPts val="0"/>
              </a:spcAft>
              <a:buSzPts val="1400"/>
              <a:buFont typeface="Raleway Light"/>
              <a:buAutoNum type="alphaUcPeriod"/>
            </a:pPr>
            <a:r>
              <a:rPr lang="en">
                <a:latin typeface="Raleway Light"/>
                <a:ea typeface="Raleway Light"/>
                <a:cs typeface="Raleway Light"/>
                <a:sym typeface="Raleway Light"/>
              </a:rPr>
              <a:t>New technologies aren’t accessible to the masses and only the privileged few make use of them.</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There </a:t>
            </a:r>
            <a:r>
              <a:rPr lang="en">
                <a:solidFill>
                  <a:schemeClr val="dk1"/>
                </a:solidFill>
                <a:latin typeface="Raleway Light"/>
                <a:ea typeface="Raleway Light"/>
                <a:cs typeface="Raleway Light"/>
                <a:sym typeface="Raleway Light"/>
              </a:rPr>
              <a:t>…………………………………………………………………...……</a:t>
            </a:r>
            <a:r>
              <a:rPr lang="en">
                <a:latin typeface="Raleway Light"/>
                <a:ea typeface="Raleway Light"/>
                <a:cs typeface="Raleway Light"/>
                <a:sym typeface="Raleway Light"/>
              </a:rPr>
              <a:t> to new technologies and only the privileged few make use of them. [EQUITABLE]</a:t>
            </a:r>
            <a:endParaRPr>
              <a:latin typeface="Raleway Light"/>
              <a:ea typeface="Raleway Light"/>
              <a:cs typeface="Raleway Light"/>
              <a:sym typeface="Raleway Light"/>
            </a:endParaRPr>
          </a:p>
          <a:p>
            <a:pPr marL="457200" lvl="0" indent="-317500" algn="l" rtl="0">
              <a:lnSpc>
                <a:spcPct val="150000"/>
              </a:lnSpc>
              <a:spcBef>
                <a:spcPts val="0"/>
              </a:spcBef>
              <a:spcAft>
                <a:spcPts val="0"/>
              </a:spcAft>
              <a:buSzPts val="1400"/>
              <a:buFont typeface="Raleway Light"/>
              <a:buAutoNum type="alphaUcPeriod"/>
            </a:pPr>
            <a:r>
              <a:rPr lang="en">
                <a:latin typeface="Raleway Light"/>
                <a:ea typeface="Raleway Light"/>
                <a:cs typeface="Raleway Light"/>
                <a:sym typeface="Raleway Light"/>
              </a:rPr>
              <a:t>We can’t see any imminent breakthrough that would change the way we live.</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There are </a:t>
            </a:r>
            <a:r>
              <a:rPr lang="en">
                <a:solidFill>
                  <a:schemeClr val="dk1"/>
                </a:solidFill>
                <a:latin typeface="Raleway Light"/>
                <a:ea typeface="Raleway Light"/>
                <a:cs typeface="Raleway Light"/>
                <a:sym typeface="Raleway Light"/>
              </a:rPr>
              <a:t>………………………………………… </a:t>
            </a:r>
            <a:r>
              <a:rPr lang="en">
                <a:latin typeface="Raleway Light"/>
                <a:ea typeface="Raleway Light"/>
                <a:cs typeface="Raleway Light"/>
                <a:sym typeface="Raleway Light"/>
              </a:rPr>
              <a:t>an imminent breakthrough that would change the way we live. [SIGNS]</a:t>
            </a:r>
            <a:endParaRPr>
              <a:latin typeface="Raleway Light"/>
              <a:ea typeface="Raleway Light"/>
              <a:cs typeface="Raleway Light"/>
              <a:sym typeface="Raleway Light"/>
            </a:endParaRPr>
          </a:p>
        </p:txBody>
      </p:sp>
      <p:sp>
        <p:nvSpPr>
          <p:cNvPr id="156" name="Google Shape;156;p23"/>
          <p:cNvSpPr/>
          <p:nvPr/>
        </p:nvSpPr>
        <p:spPr>
          <a:xfrm>
            <a:off x="2557050" y="1990950"/>
            <a:ext cx="2356500" cy="298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aleway Light"/>
                <a:ea typeface="Raleway Light"/>
                <a:cs typeface="Raleway Light"/>
                <a:sym typeface="Raleway Light"/>
              </a:rPr>
              <a:t>be focused on enhancing</a:t>
            </a:r>
            <a:endParaRPr>
              <a:solidFill>
                <a:srgbClr val="FFFFFF"/>
              </a:solidFill>
              <a:latin typeface="Raleway Light"/>
              <a:ea typeface="Raleway Light"/>
              <a:cs typeface="Raleway Light"/>
              <a:sym typeface="Raleway Light"/>
            </a:endParaRPr>
          </a:p>
        </p:txBody>
      </p:sp>
      <p:sp>
        <p:nvSpPr>
          <p:cNvPr id="157" name="Google Shape;157;p23"/>
          <p:cNvSpPr/>
          <p:nvPr/>
        </p:nvSpPr>
        <p:spPr>
          <a:xfrm>
            <a:off x="1478225" y="3289300"/>
            <a:ext cx="2128500" cy="298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aleway Light"/>
                <a:ea typeface="Raleway Light"/>
                <a:cs typeface="Raleway Light"/>
                <a:sym typeface="Raleway Light"/>
              </a:rPr>
              <a:t>is no equitable access</a:t>
            </a:r>
            <a:endParaRPr>
              <a:solidFill>
                <a:srgbClr val="FFFFFF"/>
              </a:solidFill>
              <a:latin typeface="Raleway Light"/>
              <a:ea typeface="Raleway Light"/>
              <a:cs typeface="Raleway Light"/>
              <a:sym typeface="Raleway Light"/>
            </a:endParaRPr>
          </a:p>
        </p:txBody>
      </p:sp>
      <p:sp>
        <p:nvSpPr>
          <p:cNvPr id="158" name="Google Shape;158;p23"/>
          <p:cNvSpPr/>
          <p:nvPr/>
        </p:nvSpPr>
        <p:spPr>
          <a:xfrm>
            <a:off x="1777100" y="4255325"/>
            <a:ext cx="1201200" cy="298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aleway Light"/>
                <a:ea typeface="Raleway Light"/>
                <a:cs typeface="Raleway Light"/>
                <a:sym typeface="Raleway Light"/>
              </a:rPr>
              <a:t>no signs of</a:t>
            </a:r>
            <a:endParaRPr>
              <a:solidFill>
                <a:srgbClr val="FFFFFF"/>
              </a:solidFill>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1"/>
                                        <p:tgtEl>
                                          <p:spTgt spid="1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7"/>
                                        </p:tgtEl>
                                        <p:attrNameLst>
                                          <p:attrName>style.visibility</p:attrName>
                                        </p:attrNameLst>
                                      </p:cBhvr>
                                      <p:to>
                                        <p:strVal val="visible"/>
                                      </p:to>
                                    </p:set>
                                    <p:animEffect transition="in" filter="fade">
                                      <p:cBhvr>
                                        <p:cTn id="12" dur="1"/>
                                        <p:tgtEl>
                                          <p:spTgt spid="15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8"/>
                                        </p:tgtEl>
                                        <p:attrNameLst>
                                          <p:attrName>style.visibility</p:attrName>
                                        </p:attrNameLst>
                                      </p:cBhvr>
                                      <p:to>
                                        <p:strVal val="visible"/>
                                      </p:to>
                                    </p:set>
                                    <p:animEffect transition="in" filter="fade">
                                      <p:cBhvr>
                                        <p:cTn id="17" dur="1"/>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62"/>
        <p:cNvGrpSpPr/>
        <p:nvPr/>
      </p:nvGrpSpPr>
      <p:grpSpPr>
        <a:xfrm>
          <a:off x="0" y="0"/>
          <a:ext cx="0" cy="0"/>
          <a:chOff x="0" y="0"/>
          <a:chExt cx="0" cy="0"/>
        </a:xfrm>
      </p:grpSpPr>
      <p:sp>
        <p:nvSpPr>
          <p:cNvPr id="163" name="Google Shape;163;p2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9</a:t>
            </a:fld>
            <a:endParaRPr sz="1000">
              <a:solidFill>
                <a:schemeClr val="accent1"/>
              </a:solidFill>
              <a:latin typeface="Lato"/>
              <a:ea typeface="Lato"/>
              <a:cs typeface="Lato"/>
              <a:sym typeface="Lato"/>
            </a:endParaRPr>
          </a:p>
        </p:txBody>
      </p:sp>
      <p:sp>
        <p:nvSpPr>
          <p:cNvPr id="164" name="Google Shape;164;p24"/>
          <p:cNvSpPr txBox="1"/>
          <p:nvPr/>
        </p:nvSpPr>
        <p:spPr>
          <a:xfrm>
            <a:off x="409775" y="255750"/>
            <a:ext cx="7828800" cy="55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b="1">
                <a:solidFill>
                  <a:schemeClr val="dk1"/>
                </a:solidFill>
                <a:latin typeface="Raleway"/>
                <a:ea typeface="Raleway"/>
                <a:cs typeface="Raleway"/>
                <a:sym typeface="Raleway"/>
              </a:rPr>
              <a:t>Let’s check the answers [2/2].</a:t>
            </a:r>
            <a:endParaRPr sz="1800" b="1">
              <a:latin typeface="Raleway"/>
              <a:ea typeface="Raleway"/>
              <a:cs typeface="Raleway"/>
              <a:sym typeface="Raleway"/>
            </a:endParaRPr>
          </a:p>
        </p:txBody>
      </p:sp>
      <p:sp>
        <p:nvSpPr>
          <p:cNvPr id="165" name="Google Shape;165;p24"/>
          <p:cNvSpPr txBox="1"/>
          <p:nvPr/>
        </p:nvSpPr>
        <p:spPr>
          <a:xfrm>
            <a:off x="409775" y="1662400"/>
            <a:ext cx="8194500" cy="29697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Raleway Light"/>
              <a:buAutoNum type="alphaUcPeriod" startAt="4"/>
            </a:pPr>
            <a:r>
              <a:rPr lang="en">
                <a:latin typeface="Raleway Light"/>
                <a:ea typeface="Raleway Light"/>
                <a:cs typeface="Raleway Light"/>
                <a:sym typeface="Raleway Light"/>
              </a:rPr>
              <a:t>Scientists never contemplate the ethical implications of research they work on.</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What scientists  </a:t>
            </a:r>
            <a:r>
              <a:rPr lang="en">
                <a:solidFill>
                  <a:schemeClr val="dk1"/>
                </a:solidFill>
                <a:latin typeface="Raleway Light"/>
                <a:ea typeface="Raleway Light"/>
                <a:cs typeface="Raleway Light"/>
                <a:sym typeface="Raleway Light"/>
              </a:rPr>
              <a:t>………………………………………</a:t>
            </a:r>
            <a:r>
              <a:rPr lang="en">
                <a:latin typeface="Raleway Light"/>
                <a:ea typeface="Raleway Light"/>
                <a:cs typeface="Raleway Light"/>
                <a:sym typeface="Raleway Light"/>
              </a:rPr>
              <a:t> contemplate the ethical implications of the research they work on. [NEVER]</a:t>
            </a:r>
            <a:endParaRPr>
              <a:latin typeface="Raleway Light"/>
              <a:ea typeface="Raleway Light"/>
              <a:cs typeface="Raleway Light"/>
              <a:sym typeface="Raleway Light"/>
            </a:endParaRPr>
          </a:p>
          <a:p>
            <a:pPr marL="457200" lvl="0" indent="-317500" algn="l" rtl="0">
              <a:lnSpc>
                <a:spcPct val="150000"/>
              </a:lnSpc>
              <a:spcBef>
                <a:spcPts val="0"/>
              </a:spcBef>
              <a:spcAft>
                <a:spcPts val="0"/>
              </a:spcAft>
              <a:buSzPts val="1400"/>
              <a:buFont typeface="Raleway Light"/>
              <a:buAutoNum type="alphaUcPeriod" startAt="4"/>
            </a:pPr>
            <a:r>
              <a:rPr lang="en">
                <a:latin typeface="Raleway Light"/>
                <a:ea typeface="Raleway Light"/>
                <a:cs typeface="Raleway Light"/>
                <a:sym typeface="Raleway Light"/>
              </a:rPr>
              <a:t>Melding our minds with machines appears to be an idea taken straight from a Hollywood movie.</a:t>
            </a:r>
            <a:endParaRPr>
              <a:latin typeface="Raleway Light"/>
              <a:ea typeface="Raleway Light"/>
              <a:cs typeface="Raleway Light"/>
              <a:sym typeface="Raleway Light"/>
            </a:endParaRPr>
          </a:p>
          <a:p>
            <a:pPr marL="457200" lvl="0" indent="0" algn="l" rtl="0">
              <a:lnSpc>
                <a:spcPct val="150000"/>
              </a:lnSpc>
              <a:spcBef>
                <a:spcPts val="0"/>
              </a:spcBef>
              <a:spcAft>
                <a:spcPts val="0"/>
              </a:spcAft>
              <a:buNone/>
            </a:pPr>
            <a:r>
              <a:rPr lang="en">
                <a:latin typeface="Raleway Light"/>
                <a:ea typeface="Raleway Light"/>
                <a:cs typeface="Raleway Light"/>
                <a:sym typeface="Raleway Light"/>
              </a:rPr>
              <a:t>Melding our minds with machines  </a:t>
            </a:r>
            <a:r>
              <a:rPr lang="en">
                <a:solidFill>
                  <a:schemeClr val="dk1"/>
                </a:solidFill>
                <a:latin typeface="Raleway Light"/>
                <a:ea typeface="Raleway Light"/>
                <a:cs typeface="Raleway Light"/>
                <a:sym typeface="Raleway Light"/>
              </a:rPr>
              <a:t>………………………………………………….</a:t>
            </a:r>
            <a:r>
              <a:rPr lang="en">
                <a:latin typeface="Raleway Light"/>
                <a:ea typeface="Raleway Light"/>
                <a:cs typeface="Raleway Light"/>
                <a:sym typeface="Raleway Light"/>
              </a:rPr>
              <a:t> idea taken straight from a Hollywood movie. [SOUNDS]</a:t>
            </a:r>
            <a:endParaRPr>
              <a:latin typeface="Raleway Light"/>
              <a:ea typeface="Raleway Light"/>
              <a:cs typeface="Raleway Light"/>
              <a:sym typeface="Raleway Light"/>
            </a:endParaRPr>
          </a:p>
        </p:txBody>
      </p:sp>
      <p:sp>
        <p:nvSpPr>
          <p:cNvPr id="166" name="Google Shape;166;p24"/>
          <p:cNvSpPr/>
          <p:nvPr/>
        </p:nvSpPr>
        <p:spPr>
          <a:xfrm>
            <a:off x="2248375" y="2034450"/>
            <a:ext cx="1157100" cy="298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aleway Light"/>
                <a:ea typeface="Raleway Light"/>
                <a:cs typeface="Raleway Light"/>
                <a:sym typeface="Raleway Light"/>
              </a:rPr>
              <a:t>never do is</a:t>
            </a:r>
            <a:endParaRPr>
              <a:solidFill>
                <a:srgbClr val="FFFFFF"/>
              </a:solidFill>
              <a:latin typeface="Raleway Light"/>
              <a:ea typeface="Raleway Light"/>
              <a:cs typeface="Raleway Light"/>
              <a:sym typeface="Raleway Light"/>
            </a:endParaRPr>
          </a:p>
        </p:txBody>
      </p:sp>
      <p:sp>
        <p:nvSpPr>
          <p:cNvPr id="167" name="Google Shape;167;p24"/>
          <p:cNvSpPr/>
          <p:nvPr/>
        </p:nvSpPr>
        <p:spPr>
          <a:xfrm>
            <a:off x="3778325" y="3314625"/>
            <a:ext cx="1457400" cy="2985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aleway Light"/>
                <a:ea typeface="Raleway Light"/>
                <a:cs typeface="Raleway Light"/>
                <a:sym typeface="Raleway Light"/>
              </a:rPr>
              <a:t>sounds like an</a:t>
            </a:r>
            <a:endParaRPr>
              <a:solidFill>
                <a:srgbClr val="FFFFFF"/>
              </a:solidFill>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1"/>
                                        <p:tgtEl>
                                          <p:spTgt spid="1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7"/>
                                        </p:tgtEl>
                                        <p:attrNameLst>
                                          <p:attrName>style.visibility</p:attrName>
                                        </p:attrNameLst>
                                      </p:cBhvr>
                                      <p:to>
                                        <p:strVal val="visible"/>
                                      </p:to>
                                    </p:set>
                                    <p:animEffect transition="in" filter="fade">
                                      <p:cBhvr>
                                        <p:cTn id="12" dur="1"/>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10</a:t>
            </a:fld>
            <a:endParaRPr sz="1000">
              <a:solidFill>
                <a:schemeClr val="accent1"/>
              </a:solidFill>
              <a:latin typeface="Lato"/>
              <a:ea typeface="Lato"/>
              <a:cs typeface="Lato"/>
              <a:sym typeface="Lato"/>
            </a:endParaRPr>
          </a:p>
        </p:txBody>
      </p:sp>
      <p:sp>
        <p:nvSpPr>
          <p:cNvPr id="173" name="Google Shape;173;p25"/>
          <p:cNvSpPr txBox="1"/>
          <p:nvPr/>
        </p:nvSpPr>
        <p:spPr>
          <a:xfrm>
            <a:off x="1496250" y="556800"/>
            <a:ext cx="6151500" cy="55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Discuss the sentences. Do you agree or disagree with them? Why?</a:t>
            </a:r>
            <a:endParaRPr sz="1800" b="1">
              <a:latin typeface="Raleway"/>
              <a:ea typeface="Raleway"/>
              <a:cs typeface="Raleway"/>
              <a:sym typeface="Raleway"/>
            </a:endParaRPr>
          </a:p>
        </p:txBody>
      </p:sp>
      <p:sp>
        <p:nvSpPr>
          <p:cNvPr id="174" name="Google Shape;174;p25"/>
          <p:cNvSpPr txBox="1"/>
          <p:nvPr/>
        </p:nvSpPr>
        <p:spPr>
          <a:xfrm>
            <a:off x="1006525" y="1378750"/>
            <a:ext cx="7530600" cy="28377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Font typeface="Raleway Light"/>
              <a:buChar char="➔"/>
            </a:pPr>
            <a:r>
              <a:rPr lang="en" sz="1600">
                <a:latin typeface="Raleway Light"/>
                <a:ea typeface="Raleway Light"/>
                <a:cs typeface="Raleway Light"/>
                <a:sym typeface="Raleway Light"/>
              </a:rPr>
              <a:t>Technology should be focused on the quality of life of people with disabilities. </a:t>
            </a:r>
            <a:endParaRPr sz="1600">
              <a:latin typeface="Raleway Light"/>
              <a:ea typeface="Raleway Light"/>
              <a:cs typeface="Raleway Light"/>
              <a:sym typeface="Raleway Light"/>
            </a:endParaRPr>
          </a:p>
          <a:p>
            <a:pPr marL="457200" lvl="0" indent="-330200" algn="l" rtl="0">
              <a:lnSpc>
                <a:spcPct val="115000"/>
              </a:lnSpc>
              <a:spcBef>
                <a:spcPts val="1000"/>
              </a:spcBef>
              <a:spcAft>
                <a:spcPts val="0"/>
              </a:spcAft>
              <a:buSzPts val="1600"/>
              <a:buFont typeface="Raleway Light"/>
              <a:buChar char="➔"/>
            </a:pPr>
            <a:r>
              <a:rPr lang="en" sz="1600">
                <a:latin typeface="Raleway Light"/>
                <a:ea typeface="Raleway Light"/>
                <a:cs typeface="Raleway Light"/>
                <a:sym typeface="Raleway Light"/>
              </a:rPr>
              <a:t>There is no equitable access to new technologies and only the privileged few make use of them.</a:t>
            </a:r>
            <a:endParaRPr sz="1600">
              <a:latin typeface="Raleway Light"/>
              <a:ea typeface="Raleway Light"/>
              <a:cs typeface="Raleway Light"/>
              <a:sym typeface="Raleway Light"/>
            </a:endParaRPr>
          </a:p>
          <a:p>
            <a:pPr marL="457200" lvl="0" indent="-330200" algn="l" rtl="0">
              <a:lnSpc>
                <a:spcPct val="115000"/>
              </a:lnSpc>
              <a:spcBef>
                <a:spcPts val="1000"/>
              </a:spcBef>
              <a:spcAft>
                <a:spcPts val="0"/>
              </a:spcAft>
              <a:buSzPts val="1600"/>
              <a:buFont typeface="Raleway Light"/>
              <a:buChar char="➔"/>
            </a:pPr>
            <a:r>
              <a:rPr lang="en" sz="1600">
                <a:latin typeface="Raleway Light"/>
                <a:ea typeface="Raleway Light"/>
                <a:cs typeface="Raleway Light"/>
                <a:sym typeface="Raleway Light"/>
              </a:rPr>
              <a:t>There are no signs of an imminent breakthrough that would change the way we live. </a:t>
            </a:r>
            <a:endParaRPr sz="1600">
              <a:latin typeface="Raleway Light"/>
              <a:ea typeface="Raleway Light"/>
              <a:cs typeface="Raleway Light"/>
              <a:sym typeface="Raleway Light"/>
            </a:endParaRPr>
          </a:p>
          <a:p>
            <a:pPr marL="457200" lvl="0" indent="-330200" algn="l" rtl="0">
              <a:lnSpc>
                <a:spcPct val="115000"/>
              </a:lnSpc>
              <a:spcBef>
                <a:spcPts val="1000"/>
              </a:spcBef>
              <a:spcAft>
                <a:spcPts val="0"/>
              </a:spcAft>
              <a:buSzPts val="1600"/>
              <a:buFont typeface="Raleway Light"/>
              <a:buChar char="➔"/>
            </a:pPr>
            <a:r>
              <a:rPr lang="en" sz="1600">
                <a:latin typeface="Raleway Light"/>
                <a:ea typeface="Raleway Light"/>
                <a:cs typeface="Raleway Light"/>
                <a:sym typeface="Raleway Light"/>
              </a:rPr>
              <a:t>Scientists never contemplate the ethical implications of the research they work on.</a:t>
            </a:r>
            <a:endParaRPr sz="1600">
              <a:latin typeface="Raleway Light"/>
              <a:ea typeface="Raleway Light"/>
              <a:cs typeface="Raleway Light"/>
              <a:sym typeface="Raleway Light"/>
            </a:endParaRPr>
          </a:p>
          <a:p>
            <a:pPr marL="457200" lvl="0" indent="-330200" algn="l" rtl="0">
              <a:lnSpc>
                <a:spcPct val="115000"/>
              </a:lnSpc>
              <a:spcBef>
                <a:spcPts val="1000"/>
              </a:spcBef>
              <a:spcAft>
                <a:spcPts val="0"/>
              </a:spcAft>
              <a:buSzPts val="1600"/>
              <a:buFont typeface="Raleway Light"/>
              <a:buChar char="➔"/>
            </a:pPr>
            <a:r>
              <a:rPr lang="en" sz="1600">
                <a:latin typeface="Raleway Light"/>
                <a:ea typeface="Raleway Light"/>
                <a:cs typeface="Raleway Light"/>
                <a:sym typeface="Raleway Light"/>
              </a:rPr>
              <a:t>Melding our minds with machines sounds like an idea taken straight from a Hollywood movie. </a:t>
            </a:r>
            <a:endParaRPr sz="1600">
              <a:latin typeface="Raleway Light"/>
              <a:ea typeface="Raleway Light"/>
              <a:cs typeface="Raleway Light"/>
              <a:sym typeface="Raleway Light"/>
            </a:endParaRPr>
          </a:p>
          <a:p>
            <a:pPr marL="0" lvl="0" indent="0" algn="l" rtl="0">
              <a:spcBef>
                <a:spcPts val="1000"/>
              </a:spcBef>
              <a:spcAft>
                <a:spcPts val="0"/>
              </a:spcAft>
              <a:buNone/>
            </a:pPr>
            <a:endParaRPr sz="1200">
              <a:latin typeface="Raleway Light"/>
              <a:ea typeface="Raleway Light"/>
              <a:cs typeface="Raleway Light"/>
              <a:sym typeface="Raleway Light"/>
            </a:endParaRPr>
          </a:p>
          <a:p>
            <a:pPr marL="0" lvl="0" indent="0" algn="l" rtl="0">
              <a:spcBef>
                <a:spcPts val="0"/>
              </a:spcBef>
              <a:spcAft>
                <a:spcPts val="0"/>
              </a:spcAft>
              <a:buNone/>
            </a:pPr>
            <a:endParaRPr sz="1200">
              <a:latin typeface="Raleway Light"/>
              <a:ea typeface="Raleway Light"/>
              <a:cs typeface="Raleway Light"/>
              <a:sym typeface="Raleway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5C5C"/>
        </a:solidFill>
        <a:effectLst/>
      </p:bgPr>
    </p:bg>
    <p:spTree>
      <p:nvGrpSpPr>
        <p:cNvPr id="1" name="Shape 178"/>
        <p:cNvGrpSpPr/>
        <p:nvPr/>
      </p:nvGrpSpPr>
      <p:grpSpPr>
        <a:xfrm>
          <a:off x="0" y="0"/>
          <a:ext cx="0" cy="0"/>
          <a:chOff x="0" y="0"/>
          <a:chExt cx="0" cy="0"/>
        </a:xfrm>
      </p:grpSpPr>
      <p:pic>
        <p:nvPicPr>
          <p:cNvPr id="179" name="Google Shape;179;p26"/>
          <p:cNvPicPr preferRelativeResize="0"/>
          <p:nvPr/>
        </p:nvPicPr>
        <p:blipFill>
          <a:blip r:embed="rId3">
            <a:alphaModFix/>
          </a:blip>
          <a:stretch>
            <a:fillRect/>
          </a:stretch>
        </p:blipFill>
        <p:spPr>
          <a:xfrm>
            <a:off x="8025763" y="135838"/>
            <a:ext cx="886968" cy="886968"/>
          </a:xfrm>
          <a:prstGeom prst="rect">
            <a:avLst/>
          </a:prstGeom>
          <a:noFill/>
          <a:ln>
            <a:noFill/>
          </a:ln>
        </p:spPr>
      </p:pic>
      <p:sp>
        <p:nvSpPr>
          <p:cNvPr id="180" name="Google Shape;180;p26"/>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4400">
                <a:solidFill>
                  <a:schemeClr val="lt1"/>
                </a:solidFill>
              </a:rPr>
              <a:t>Let’s learn some vocabulary</a:t>
            </a:r>
            <a:endParaRPr sz="44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12</a:t>
            </a:fld>
            <a:endParaRPr sz="1000">
              <a:solidFill>
                <a:schemeClr val="accent1"/>
              </a:solidFill>
              <a:latin typeface="Lato"/>
              <a:ea typeface="Lato"/>
              <a:cs typeface="Lato"/>
              <a:sym typeface="Lato"/>
            </a:endParaRPr>
          </a:p>
        </p:txBody>
      </p:sp>
      <p:sp>
        <p:nvSpPr>
          <p:cNvPr id="186" name="Google Shape;186;p27"/>
          <p:cNvSpPr txBox="1"/>
          <p:nvPr/>
        </p:nvSpPr>
        <p:spPr>
          <a:xfrm>
            <a:off x="466600" y="284175"/>
            <a:ext cx="74736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For each pair of sentences choose a verb from the box which can be used in both of them. You may need to change the form of the verbs. [1/6]</a:t>
            </a:r>
            <a:endParaRPr sz="1800" b="1">
              <a:latin typeface="Raleway"/>
              <a:ea typeface="Raleway"/>
              <a:cs typeface="Raleway"/>
              <a:sym typeface="Raleway"/>
            </a:endParaRPr>
          </a:p>
        </p:txBody>
      </p:sp>
      <p:sp>
        <p:nvSpPr>
          <p:cNvPr id="187" name="Google Shape;187;p27"/>
          <p:cNvSpPr/>
          <p:nvPr/>
        </p:nvSpPr>
        <p:spPr>
          <a:xfrm>
            <a:off x="907000" y="1406650"/>
            <a:ext cx="7033200" cy="483000"/>
          </a:xfrm>
          <a:prstGeom prst="roundRect">
            <a:avLst>
              <a:gd name="adj" fmla="val 16667"/>
            </a:avLst>
          </a:prstGeom>
          <a:solidFill>
            <a:srgbClr val="FF5C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600" dirty="0">
                <a:solidFill>
                  <a:srgbClr val="FFFFFF"/>
                </a:solidFill>
                <a:latin typeface="Raleway Light"/>
                <a:ea typeface="Raleway Light"/>
                <a:cs typeface="Raleway Light"/>
                <a:sym typeface="Raleway Light"/>
              </a:rPr>
              <a:t>give             keep    	reap         	  remain            unlock   	    tap</a:t>
            </a:r>
            <a:endParaRPr sz="1600" dirty="0">
              <a:solidFill>
                <a:srgbClr val="FFFFFF"/>
              </a:solidFill>
              <a:latin typeface="Raleway Light"/>
              <a:ea typeface="Raleway Light"/>
              <a:cs typeface="Raleway Light"/>
              <a:sym typeface="Raleway Light"/>
            </a:endParaRPr>
          </a:p>
        </p:txBody>
      </p:sp>
      <p:sp>
        <p:nvSpPr>
          <p:cNvPr id="188" name="Google Shape;188;p27"/>
          <p:cNvSpPr txBox="1"/>
          <p:nvPr/>
        </p:nvSpPr>
        <p:spPr>
          <a:xfrm>
            <a:off x="771150" y="2244950"/>
            <a:ext cx="7601700" cy="25434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SzPts val="1600"/>
              <a:buFont typeface="Raleway Light"/>
              <a:buAutoNum type="alphaUcPeriod"/>
            </a:pPr>
            <a:r>
              <a:rPr lang="en" sz="1600">
                <a:latin typeface="Raleway Light"/>
                <a:ea typeface="Raleway Light"/>
                <a:cs typeface="Raleway Light"/>
                <a:sym typeface="Raleway Light"/>
              </a:rPr>
              <a:t>Some farmers have been told only to ……………… the current harvest, but not to prepare the land for new crops.</a:t>
            </a:r>
            <a:endParaRPr sz="1600">
              <a:latin typeface="Raleway Light"/>
              <a:ea typeface="Raleway Light"/>
              <a:cs typeface="Raleway Light"/>
              <a:sym typeface="Raleway Light"/>
            </a:endParaRPr>
          </a:p>
          <a:p>
            <a:pPr marL="457200" lvl="0" indent="0" algn="l" rtl="0">
              <a:lnSpc>
                <a:spcPct val="150000"/>
              </a:lnSpc>
              <a:spcBef>
                <a:spcPts val="1000"/>
              </a:spcBef>
              <a:spcAft>
                <a:spcPts val="0"/>
              </a:spcAft>
              <a:buNone/>
            </a:pPr>
            <a:r>
              <a:rPr lang="en" sz="1600">
                <a:latin typeface="Raleway Light"/>
                <a:ea typeface="Raleway Light"/>
                <a:cs typeface="Raleway Light"/>
                <a:sym typeface="Raleway Light"/>
              </a:rPr>
              <a:t>We will all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the benefits of this important research.</a:t>
            </a:r>
            <a:endParaRPr sz="1600">
              <a:latin typeface="Raleway Light"/>
              <a:ea typeface="Raleway Light"/>
              <a:cs typeface="Raleway Light"/>
              <a:sym typeface="Raleway Light"/>
            </a:endParaRPr>
          </a:p>
          <a:p>
            <a:pPr marL="457200" lvl="0" indent="0" algn="l" rtl="0">
              <a:lnSpc>
                <a:spcPct val="150000"/>
              </a:lnSpc>
              <a:spcBef>
                <a:spcPts val="1000"/>
              </a:spcBef>
              <a:spcAft>
                <a:spcPts val="1000"/>
              </a:spcAft>
              <a:buNone/>
            </a:pPr>
            <a:endParaRPr sz="1600">
              <a:latin typeface="Raleway Light"/>
              <a:ea typeface="Raleway Light"/>
              <a:cs typeface="Raleway Light"/>
              <a:sym typeface="Raleway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13</a:t>
            </a:fld>
            <a:endParaRPr sz="1000">
              <a:solidFill>
                <a:schemeClr val="accent1"/>
              </a:solidFill>
              <a:latin typeface="Lato"/>
              <a:ea typeface="Lato"/>
              <a:cs typeface="Lato"/>
              <a:sym typeface="Lato"/>
            </a:endParaRPr>
          </a:p>
        </p:txBody>
      </p:sp>
      <p:sp>
        <p:nvSpPr>
          <p:cNvPr id="194" name="Google Shape;194;p28"/>
          <p:cNvSpPr txBox="1"/>
          <p:nvPr/>
        </p:nvSpPr>
        <p:spPr>
          <a:xfrm>
            <a:off x="466600" y="284175"/>
            <a:ext cx="74736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aleway"/>
                <a:ea typeface="Raleway"/>
                <a:cs typeface="Raleway"/>
                <a:sym typeface="Raleway"/>
              </a:rPr>
              <a:t>For each pair of sentences choose a verb from the box which can be used in both of them. </a:t>
            </a:r>
            <a:r>
              <a:rPr lang="en" sz="1800" b="1">
                <a:latin typeface="Raleway"/>
                <a:ea typeface="Raleway"/>
                <a:cs typeface="Raleway"/>
                <a:sym typeface="Raleway"/>
              </a:rPr>
              <a:t>You may need to change the form of the verbs. [2/6]</a:t>
            </a:r>
            <a:endParaRPr sz="1800" b="1">
              <a:latin typeface="Raleway"/>
              <a:ea typeface="Raleway"/>
              <a:cs typeface="Raleway"/>
              <a:sym typeface="Raleway"/>
            </a:endParaRPr>
          </a:p>
        </p:txBody>
      </p:sp>
      <p:sp>
        <p:nvSpPr>
          <p:cNvPr id="195" name="Google Shape;195;p28"/>
          <p:cNvSpPr txBox="1"/>
          <p:nvPr/>
        </p:nvSpPr>
        <p:spPr>
          <a:xfrm>
            <a:off x="771150" y="2301775"/>
            <a:ext cx="7601700" cy="24864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SzPts val="1600"/>
              <a:buFont typeface="Raleway Light"/>
              <a:buAutoNum type="alphaUcPeriod" startAt="2"/>
            </a:pPr>
            <a:r>
              <a:rPr lang="en" sz="1600">
                <a:latin typeface="Raleway Light"/>
                <a:ea typeface="Raleway Light"/>
                <a:cs typeface="Raleway Light"/>
                <a:sym typeface="Raleway Light"/>
              </a:rPr>
              <a:t>She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birth to twins.</a:t>
            </a:r>
            <a:endParaRPr sz="1600">
              <a:latin typeface="Raleway Light"/>
              <a:ea typeface="Raleway Light"/>
              <a:cs typeface="Raleway Light"/>
              <a:sym typeface="Raleway Light"/>
            </a:endParaRPr>
          </a:p>
          <a:p>
            <a:pPr marL="457200" lvl="0" indent="0" algn="l" rtl="0">
              <a:lnSpc>
                <a:spcPct val="150000"/>
              </a:lnSpc>
              <a:spcBef>
                <a:spcPts val="1000"/>
              </a:spcBef>
              <a:spcAft>
                <a:spcPts val="0"/>
              </a:spcAft>
              <a:buNone/>
            </a:pPr>
            <a:r>
              <a:rPr lang="en" sz="1600">
                <a:latin typeface="Raleway Light"/>
                <a:ea typeface="Raleway Light"/>
                <a:cs typeface="Raleway Light"/>
                <a:sym typeface="Raleway Light"/>
              </a:rPr>
              <a:t>This research might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birth to a new form of intelligence.</a:t>
            </a:r>
            <a:r>
              <a:rPr lang="en" sz="1600">
                <a:solidFill>
                  <a:schemeClr val="dk1"/>
                </a:solidFill>
                <a:latin typeface="Raleway Light"/>
                <a:ea typeface="Raleway Light"/>
                <a:cs typeface="Raleway Light"/>
                <a:sym typeface="Raleway Light"/>
              </a:rPr>
              <a:t> </a:t>
            </a:r>
            <a:endParaRPr sz="1600">
              <a:latin typeface="Raleway Light"/>
              <a:ea typeface="Raleway Light"/>
              <a:cs typeface="Raleway Light"/>
              <a:sym typeface="Raleway Light"/>
            </a:endParaRPr>
          </a:p>
          <a:p>
            <a:pPr marL="457200" lvl="0" indent="0" algn="l" rtl="0">
              <a:lnSpc>
                <a:spcPct val="150000"/>
              </a:lnSpc>
              <a:spcBef>
                <a:spcPts val="1000"/>
              </a:spcBef>
              <a:spcAft>
                <a:spcPts val="1000"/>
              </a:spcAft>
              <a:buNone/>
            </a:pPr>
            <a:endParaRPr sz="1600">
              <a:latin typeface="Raleway Light"/>
              <a:ea typeface="Raleway Light"/>
              <a:cs typeface="Raleway Light"/>
              <a:sym typeface="Raleway Light"/>
            </a:endParaRPr>
          </a:p>
        </p:txBody>
      </p:sp>
      <p:sp>
        <p:nvSpPr>
          <p:cNvPr id="196" name="Google Shape;196;p28"/>
          <p:cNvSpPr/>
          <p:nvPr/>
        </p:nvSpPr>
        <p:spPr>
          <a:xfrm>
            <a:off x="907000" y="1406650"/>
            <a:ext cx="7033200" cy="483000"/>
          </a:xfrm>
          <a:prstGeom prst="roundRect">
            <a:avLst>
              <a:gd name="adj" fmla="val 16667"/>
            </a:avLst>
          </a:prstGeom>
          <a:solidFill>
            <a:srgbClr val="FF5C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600" dirty="0">
                <a:solidFill>
                  <a:srgbClr val="FFFFFF"/>
                </a:solidFill>
                <a:latin typeface="Raleway Light"/>
                <a:ea typeface="Raleway Light"/>
                <a:cs typeface="Raleway Light"/>
                <a:sym typeface="Raleway Light"/>
              </a:rPr>
              <a:t>give             keep    	reap         	  remain            unlock   	    tap</a:t>
            </a:r>
            <a:endParaRPr sz="1600" dirty="0">
              <a:solidFill>
                <a:srgbClr val="FFFFFF"/>
              </a:solidFill>
              <a:latin typeface="Raleway Light"/>
              <a:ea typeface="Raleway Light"/>
              <a:cs typeface="Raleway Light"/>
              <a:sym typeface="Raleway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14</a:t>
            </a:fld>
            <a:endParaRPr sz="1000">
              <a:solidFill>
                <a:schemeClr val="accent1"/>
              </a:solidFill>
              <a:latin typeface="Lato"/>
              <a:ea typeface="Lato"/>
              <a:cs typeface="Lato"/>
              <a:sym typeface="Lato"/>
            </a:endParaRPr>
          </a:p>
        </p:txBody>
      </p:sp>
      <p:sp>
        <p:nvSpPr>
          <p:cNvPr id="202" name="Google Shape;202;p29"/>
          <p:cNvSpPr txBox="1"/>
          <p:nvPr/>
        </p:nvSpPr>
        <p:spPr>
          <a:xfrm>
            <a:off x="466600" y="284175"/>
            <a:ext cx="74736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aleway"/>
                <a:ea typeface="Raleway"/>
                <a:cs typeface="Raleway"/>
                <a:sym typeface="Raleway"/>
              </a:rPr>
              <a:t>For each pair of sentences choose a verb from the box which can be used in both of them. </a:t>
            </a:r>
            <a:r>
              <a:rPr lang="en" sz="1800" b="1">
                <a:latin typeface="Raleway"/>
                <a:ea typeface="Raleway"/>
                <a:cs typeface="Raleway"/>
                <a:sym typeface="Raleway"/>
              </a:rPr>
              <a:t>You may need to change the form of the verbs. [3/6]</a:t>
            </a:r>
            <a:endParaRPr sz="1800" b="1">
              <a:latin typeface="Raleway"/>
              <a:ea typeface="Raleway"/>
              <a:cs typeface="Raleway"/>
              <a:sym typeface="Raleway"/>
            </a:endParaRPr>
          </a:p>
        </p:txBody>
      </p:sp>
      <p:sp>
        <p:nvSpPr>
          <p:cNvPr id="203" name="Google Shape;203;p29"/>
          <p:cNvSpPr txBox="1"/>
          <p:nvPr/>
        </p:nvSpPr>
        <p:spPr>
          <a:xfrm>
            <a:off x="771150" y="2330200"/>
            <a:ext cx="7601700" cy="24582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SzPts val="1600"/>
              <a:buFont typeface="Raleway Light"/>
              <a:buAutoNum type="alphaUcPeriod" startAt="3"/>
            </a:pPr>
            <a:r>
              <a:rPr lang="en" sz="1600">
                <a:latin typeface="Raleway Light"/>
                <a:ea typeface="Raleway Light"/>
                <a:cs typeface="Raleway Light"/>
                <a:sym typeface="Raleway Light"/>
              </a:rPr>
              <a:t>Could you slow down - I can't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pace with you.</a:t>
            </a:r>
            <a:endParaRPr sz="1600">
              <a:latin typeface="Raleway Light"/>
              <a:ea typeface="Raleway Light"/>
              <a:cs typeface="Raleway Light"/>
              <a:sym typeface="Raleway Light"/>
            </a:endParaRPr>
          </a:p>
          <a:p>
            <a:pPr marL="457200" lvl="0" indent="0" algn="l" rtl="0">
              <a:lnSpc>
                <a:spcPct val="150000"/>
              </a:lnSpc>
              <a:spcBef>
                <a:spcPts val="1000"/>
              </a:spcBef>
              <a:spcAft>
                <a:spcPts val="0"/>
              </a:spcAft>
              <a:buNone/>
            </a:pPr>
            <a:r>
              <a:rPr lang="en" sz="1600">
                <a:latin typeface="Raleway Light"/>
                <a:ea typeface="Raleway Light"/>
                <a:cs typeface="Raleway Light"/>
                <a:sym typeface="Raleway Light"/>
              </a:rPr>
              <a:t>We need to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pace with advancing technologies.</a:t>
            </a:r>
            <a:endParaRPr sz="1600">
              <a:latin typeface="Raleway Light"/>
              <a:ea typeface="Raleway Light"/>
              <a:cs typeface="Raleway Light"/>
              <a:sym typeface="Raleway Light"/>
            </a:endParaRPr>
          </a:p>
          <a:p>
            <a:pPr marL="457200" lvl="0" indent="0" algn="l" rtl="0">
              <a:lnSpc>
                <a:spcPct val="150000"/>
              </a:lnSpc>
              <a:spcBef>
                <a:spcPts val="1000"/>
              </a:spcBef>
              <a:spcAft>
                <a:spcPts val="1000"/>
              </a:spcAft>
              <a:buNone/>
            </a:pPr>
            <a:endParaRPr sz="1600">
              <a:latin typeface="Raleway Light"/>
              <a:ea typeface="Raleway Light"/>
              <a:cs typeface="Raleway Light"/>
              <a:sym typeface="Raleway Light"/>
            </a:endParaRPr>
          </a:p>
        </p:txBody>
      </p:sp>
      <p:sp>
        <p:nvSpPr>
          <p:cNvPr id="204" name="Google Shape;204;p29"/>
          <p:cNvSpPr/>
          <p:nvPr/>
        </p:nvSpPr>
        <p:spPr>
          <a:xfrm>
            <a:off x="907000" y="1406650"/>
            <a:ext cx="7033200" cy="483000"/>
          </a:xfrm>
          <a:prstGeom prst="roundRect">
            <a:avLst>
              <a:gd name="adj" fmla="val 16667"/>
            </a:avLst>
          </a:prstGeom>
          <a:solidFill>
            <a:srgbClr val="FF5C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600" dirty="0">
                <a:solidFill>
                  <a:srgbClr val="FFFFFF"/>
                </a:solidFill>
                <a:latin typeface="Raleway Light"/>
                <a:ea typeface="Raleway Light"/>
                <a:cs typeface="Raleway Light"/>
                <a:sym typeface="Raleway Light"/>
              </a:rPr>
              <a:t>give         	  keep    	reap         	  remain            unlock   	    tap</a:t>
            </a:r>
            <a:endParaRPr sz="1600" dirty="0">
              <a:solidFill>
                <a:srgbClr val="FFFFFF"/>
              </a:solidFill>
              <a:latin typeface="Raleway Light"/>
              <a:ea typeface="Raleway Light"/>
              <a:cs typeface="Raleway Light"/>
              <a:sym typeface="Raleway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15</a:t>
            </a:fld>
            <a:endParaRPr sz="1000">
              <a:solidFill>
                <a:schemeClr val="accent1"/>
              </a:solidFill>
              <a:latin typeface="Lato"/>
              <a:ea typeface="Lato"/>
              <a:cs typeface="Lato"/>
              <a:sym typeface="Lato"/>
            </a:endParaRPr>
          </a:p>
        </p:txBody>
      </p:sp>
      <p:sp>
        <p:nvSpPr>
          <p:cNvPr id="210" name="Google Shape;210;p30"/>
          <p:cNvSpPr txBox="1"/>
          <p:nvPr/>
        </p:nvSpPr>
        <p:spPr>
          <a:xfrm>
            <a:off x="466600" y="284175"/>
            <a:ext cx="74736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aleway"/>
                <a:ea typeface="Raleway"/>
                <a:cs typeface="Raleway"/>
                <a:sym typeface="Raleway"/>
              </a:rPr>
              <a:t>For each pair of sentences choose a verb from the box which can be used in both of them. </a:t>
            </a:r>
            <a:r>
              <a:rPr lang="en" sz="1800" b="1">
                <a:latin typeface="Raleway"/>
                <a:ea typeface="Raleway"/>
                <a:cs typeface="Raleway"/>
                <a:sym typeface="Raleway"/>
              </a:rPr>
              <a:t>You may need to change the form of the verbs. [4/6]</a:t>
            </a:r>
            <a:endParaRPr sz="1800" b="1">
              <a:latin typeface="Raleway"/>
              <a:ea typeface="Raleway"/>
              <a:cs typeface="Raleway"/>
              <a:sym typeface="Raleway"/>
            </a:endParaRPr>
          </a:p>
        </p:txBody>
      </p:sp>
      <p:sp>
        <p:nvSpPr>
          <p:cNvPr id="211" name="Google Shape;211;p30"/>
          <p:cNvSpPr txBox="1"/>
          <p:nvPr/>
        </p:nvSpPr>
        <p:spPr>
          <a:xfrm>
            <a:off x="771150" y="2330200"/>
            <a:ext cx="7601700" cy="24582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SzPts val="1600"/>
              <a:buFont typeface="Raleway Light"/>
              <a:buAutoNum type="alphaUcPeriod" startAt="4"/>
            </a:pPr>
            <a:r>
              <a:rPr lang="en" sz="1600">
                <a:latin typeface="Raleway Light"/>
                <a:ea typeface="Raleway Light"/>
                <a:cs typeface="Raleway Light"/>
                <a:sym typeface="Raleway Light"/>
              </a:rPr>
              <a:t>Could you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the door for me?</a:t>
            </a:r>
            <a:endParaRPr sz="1600">
              <a:latin typeface="Raleway Light"/>
              <a:ea typeface="Raleway Light"/>
              <a:cs typeface="Raleway Light"/>
              <a:sym typeface="Raleway Light"/>
            </a:endParaRPr>
          </a:p>
          <a:p>
            <a:pPr marL="457200" lvl="0" indent="0" algn="l" rtl="0">
              <a:lnSpc>
                <a:spcPct val="150000"/>
              </a:lnSpc>
              <a:spcBef>
                <a:spcPts val="1000"/>
              </a:spcBef>
              <a:spcAft>
                <a:spcPts val="0"/>
              </a:spcAft>
              <a:buNone/>
            </a:pPr>
            <a:r>
              <a:rPr lang="en" sz="1600">
                <a:latin typeface="Raleway Light"/>
                <a:ea typeface="Raleway Light"/>
                <a:cs typeface="Raleway Light"/>
                <a:sym typeface="Raleway Light"/>
              </a:rPr>
              <a:t>A chemical has been discovered that may be the key to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the mysteries of this disease.</a:t>
            </a:r>
            <a:endParaRPr sz="1600">
              <a:latin typeface="Raleway Light"/>
              <a:ea typeface="Raleway Light"/>
              <a:cs typeface="Raleway Light"/>
              <a:sym typeface="Raleway Light"/>
            </a:endParaRPr>
          </a:p>
          <a:p>
            <a:pPr marL="457200" lvl="0" indent="0" algn="l" rtl="0">
              <a:lnSpc>
                <a:spcPct val="150000"/>
              </a:lnSpc>
              <a:spcBef>
                <a:spcPts val="1000"/>
              </a:spcBef>
              <a:spcAft>
                <a:spcPts val="1000"/>
              </a:spcAft>
              <a:buNone/>
            </a:pPr>
            <a:endParaRPr sz="1600">
              <a:latin typeface="Raleway Light"/>
              <a:ea typeface="Raleway Light"/>
              <a:cs typeface="Raleway Light"/>
              <a:sym typeface="Raleway Light"/>
            </a:endParaRPr>
          </a:p>
        </p:txBody>
      </p:sp>
      <p:sp>
        <p:nvSpPr>
          <p:cNvPr id="212" name="Google Shape;212;p30"/>
          <p:cNvSpPr/>
          <p:nvPr/>
        </p:nvSpPr>
        <p:spPr>
          <a:xfrm>
            <a:off x="907000" y="1406650"/>
            <a:ext cx="7033200" cy="483000"/>
          </a:xfrm>
          <a:prstGeom prst="roundRect">
            <a:avLst>
              <a:gd name="adj" fmla="val 16667"/>
            </a:avLst>
          </a:prstGeom>
          <a:solidFill>
            <a:srgbClr val="FF5C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600" dirty="0">
                <a:solidFill>
                  <a:srgbClr val="FFFFFF"/>
                </a:solidFill>
                <a:latin typeface="Raleway Light"/>
                <a:ea typeface="Raleway Light"/>
                <a:cs typeface="Raleway Light"/>
                <a:sym typeface="Raleway Light"/>
              </a:rPr>
              <a:t>give             keep    	reap         	  remain            unlock   	    tap</a:t>
            </a:r>
            <a:endParaRPr sz="1600" dirty="0">
              <a:solidFill>
                <a:srgbClr val="FFFFFF"/>
              </a:solidFill>
              <a:latin typeface="Raleway Light"/>
              <a:ea typeface="Raleway Light"/>
              <a:cs typeface="Raleway Light"/>
              <a:sym typeface="Raleway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16</a:t>
            </a:fld>
            <a:endParaRPr sz="1000">
              <a:solidFill>
                <a:schemeClr val="accent1"/>
              </a:solidFill>
              <a:latin typeface="Lato"/>
              <a:ea typeface="Lato"/>
              <a:cs typeface="Lato"/>
              <a:sym typeface="Lato"/>
            </a:endParaRPr>
          </a:p>
        </p:txBody>
      </p:sp>
      <p:sp>
        <p:nvSpPr>
          <p:cNvPr id="218" name="Google Shape;218;p31"/>
          <p:cNvSpPr txBox="1"/>
          <p:nvPr/>
        </p:nvSpPr>
        <p:spPr>
          <a:xfrm>
            <a:off x="466600" y="284175"/>
            <a:ext cx="74736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aleway"/>
                <a:ea typeface="Raleway"/>
                <a:cs typeface="Raleway"/>
                <a:sym typeface="Raleway"/>
              </a:rPr>
              <a:t>For each pair of sentences choose a verb from the box which can be used in both of them. </a:t>
            </a:r>
            <a:r>
              <a:rPr lang="en" sz="1800" b="1">
                <a:latin typeface="Raleway"/>
                <a:ea typeface="Raleway"/>
                <a:cs typeface="Raleway"/>
                <a:sym typeface="Raleway"/>
              </a:rPr>
              <a:t>You may need to change the form of the verbs. [5/6]</a:t>
            </a:r>
            <a:endParaRPr sz="1800" b="1">
              <a:latin typeface="Raleway"/>
              <a:ea typeface="Raleway"/>
              <a:cs typeface="Raleway"/>
              <a:sym typeface="Raleway"/>
            </a:endParaRPr>
          </a:p>
        </p:txBody>
      </p:sp>
      <p:sp>
        <p:nvSpPr>
          <p:cNvPr id="219" name="Google Shape;219;p31"/>
          <p:cNvSpPr txBox="1"/>
          <p:nvPr/>
        </p:nvSpPr>
        <p:spPr>
          <a:xfrm>
            <a:off x="771150" y="2330200"/>
            <a:ext cx="7601700" cy="24582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SzPts val="1600"/>
              <a:buFont typeface="Raleway Light"/>
              <a:buAutoNum type="alphaUcPeriod" startAt="5"/>
            </a:pPr>
            <a:r>
              <a:rPr lang="en" sz="1600">
                <a:latin typeface="Raleway Light"/>
                <a:ea typeface="Raleway Light"/>
                <a:cs typeface="Raleway Light"/>
                <a:sym typeface="Raleway Light"/>
              </a:rPr>
              <a:t>He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his password into the computer.</a:t>
            </a:r>
            <a:endParaRPr sz="1600">
              <a:latin typeface="Raleway Light"/>
              <a:ea typeface="Raleway Light"/>
              <a:cs typeface="Raleway Light"/>
              <a:sym typeface="Raleway Light"/>
            </a:endParaRPr>
          </a:p>
          <a:p>
            <a:pPr marL="457200" lvl="0" indent="0" algn="l" rtl="0">
              <a:lnSpc>
                <a:spcPct val="150000"/>
              </a:lnSpc>
              <a:spcBef>
                <a:spcPts val="1000"/>
              </a:spcBef>
              <a:spcAft>
                <a:spcPts val="0"/>
              </a:spcAft>
              <a:buNone/>
            </a:pPr>
            <a:r>
              <a:rPr lang="en" sz="1600">
                <a:latin typeface="Raleway Light"/>
                <a:ea typeface="Raleway Light"/>
                <a:cs typeface="Raleway Light"/>
                <a:sym typeface="Raleway Light"/>
              </a:rPr>
              <a:t>If we could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into this part of the brain, it would be a major breakthrough.</a:t>
            </a:r>
            <a:endParaRPr sz="1600">
              <a:latin typeface="Raleway Light"/>
              <a:ea typeface="Raleway Light"/>
              <a:cs typeface="Raleway Light"/>
              <a:sym typeface="Raleway Light"/>
            </a:endParaRPr>
          </a:p>
          <a:p>
            <a:pPr marL="457200" lvl="0" indent="0" algn="l" rtl="0">
              <a:lnSpc>
                <a:spcPct val="150000"/>
              </a:lnSpc>
              <a:spcBef>
                <a:spcPts val="1000"/>
              </a:spcBef>
              <a:spcAft>
                <a:spcPts val="1000"/>
              </a:spcAft>
              <a:buNone/>
            </a:pPr>
            <a:endParaRPr sz="1600">
              <a:latin typeface="Raleway Light"/>
              <a:ea typeface="Raleway Light"/>
              <a:cs typeface="Raleway Light"/>
              <a:sym typeface="Raleway Light"/>
            </a:endParaRPr>
          </a:p>
        </p:txBody>
      </p:sp>
      <p:sp>
        <p:nvSpPr>
          <p:cNvPr id="220" name="Google Shape;220;p31"/>
          <p:cNvSpPr/>
          <p:nvPr/>
        </p:nvSpPr>
        <p:spPr>
          <a:xfrm>
            <a:off x="907000" y="1406650"/>
            <a:ext cx="7033200" cy="483000"/>
          </a:xfrm>
          <a:prstGeom prst="roundRect">
            <a:avLst>
              <a:gd name="adj" fmla="val 16667"/>
            </a:avLst>
          </a:prstGeom>
          <a:solidFill>
            <a:srgbClr val="FF5C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600" dirty="0">
                <a:solidFill>
                  <a:srgbClr val="FFFFFF"/>
                </a:solidFill>
                <a:latin typeface="Raleway Light"/>
                <a:ea typeface="Raleway Light"/>
                <a:cs typeface="Raleway Light"/>
                <a:sym typeface="Raleway Light"/>
              </a:rPr>
              <a:t>give             keep    	reap         	  remain            unlock   	    tap</a:t>
            </a:r>
            <a:endParaRPr sz="1600" dirty="0">
              <a:solidFill>
                <a:srgbClr val="FFFFFF"/>
              </a:solidFill>
              <a:latin typeface="Raleway Light"/>
              <a:ea typeface="Raleway Light"/>
              <a:cs typeface="Raleway Light"/>
              <a:sym typeface="Raleway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17</a:t>
            </a:fld>
            <a:endParaRPr sz="1000">
              <a:solidFill>
                <a:schemeClr val="accent1"/>
              </a:solidFill>
              <a:latin typeface="Lato"/>
              <a:ea typeface="Lato"/>
              <a:cs typeface="Lato"/>
              <a:sym typeface="Lato"/>
            </a:endParaRPr>
          </a:p>
        </p:txBody>
      </p:sp>
      <p:sp>
        <p:nvSpPr>
          <p:cNvPr id="226" name="Google Shape;226;p32"/>
          <p:cNvSpPr txBox="1"/>
          <p:nvPr/>
        </p:nvSpPr>
        <p:spPr>
          <a:xfrm>
            <a:off x="466600" y="284175"/>
            <a:ext cx="7473600" cy="38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Raleway"/>
                <a:ea typeface="Raleway"/>
                <a:cs typeface="Raleway"/>
                <a:sym typeface="Raleway"/>
              </a:rPr>
              <a:t>For each pair of sentences choose a verb from the box which can be used in both of them. </a:t>
            </a:r>
            <a:r>
              <a:rPr lang="en" sz="1800" b="1">
                <a:latin typeface="Raleway"/>
                <a:ea typeface="Raleway"/>
                <a:cs typeface="Raleway"/>
                <a:sym typeface="Raleway"/>
              </a:rPr>
              <a:t>You may need to change the form of the verbs. [6/6]</a:t>
            </a:r>
            <a:endParaRPr sz="1800" b="1">
              <a:latin typeface="Raleway"/>
              <a:ea typeface="Raleway"/>
              <a:cs typeface="Raleway"/>
              <a:sym typeface="Raleway"/>
            </a:endParaRPr>
          </a:p>
        </p:txBody>
      </p:sp>
      <p:sp>
        <p:nvSpPr>
          <p:cNvPr id="227" name="Google Shape;227;p32"/>
          <p:cNvSpPr txBox="1"/>
          <p:nvPr/>
        </p:nvSpPr>
        <p:spPr>
          <a:xfrm>
            <a:off x="771150" y="2330200"/>
            <a:ext cx="7601700" cy="2458200"/>
          </a:xfrm>
          <a:prstGeom prst="rect">
            <a:avLst/>
          </a:prstGeom>
          <a:noFill/>
          <a:ln>
            <a:noFill/>
          </a:ln>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SzPts val="1600"/>
              <a:buFont typeface="Raleway Light"/>
              <a:buAutoNum type="alphaUcPeriod" startAt="6"/>
            </a:pPr>
            <a:r>
              <a:rPr lang="en" sz="1600">
                <a:latin typeface="Raleway Light"/>
                <a:ea typeface="Raleway Light"/>
                <a:cs typeface="Raleway Light"/>
                <a:sym typeface="Raleway Light"/>
              </a:rPr>
              <a:t>The doctor ordered him to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in bed for a few days.</a:t>
            </a:r>
            <a:endParaRPr sz="1600">
              <a:latin typeface="Raleway Light"/>
              <a:ea typeface="Raleway Light"/>
              <a:cs typeface="Raleway Light"/>
              <a:sym typeface="Raleway Light"/>
            </a:endParaRPr>
          </a:p>
          <a:p>
            <a:pPr marL="457200" lvl="0" indent="0" algn="l" rtl="0">
              <a:lnSpc>
                <a:spcPct val="150000"/>
              </a:lnSpc>
              <a:spcBef>
                <a:spcPts val="1000"/>
              </a:spcBef>
              <a:spcAft>
                <a:spcPts val="0"/>
              </a:spcAft>
              <a:buNone/>
            </a:pPr>
            <a:r>
              <a:rPr lang="en" sz="1600">
                <a:latin typeface="Raleway Light"/>
                <a:ea typeface="Raleway Light"/>
                <a:cs typeface="Raleway Light"/>
                <a:sym typeface="Raleway Light"/>
              </a:rPr>
              <a:t>The trip to Mars still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a huge technological challenge.</a:t>
            </a:r>
            <a:endParaRPr sz="1600">
              <a:latin typeface="Raleway Light"/>
              <a:ea typeface="Raleway Light"/>
              <a:cs typeface="Raleway Light"/>
              <a:sym typeface="Raleway Light"/>
            </a:endParaRPr>
          </a:p>
          <a:p>
            <a:pPr marL="457200" lvl="0" indent="0" algn="l" rtl="0">
              <a:lnSpc>
                <a:spcPct val="150000"/>
              </a:lnSpc>
              <a:spcBef>
                <a:spcPts val="1000"/>
              </a:spcBef>
              <a:spcAft>
                <a:spcPts val="1000"/>
              </a:spcAft>
              <a:buNone/>
            </a:pPr>
            <a:endParaRPr sz="1600">
              <a:latin typeface="Raleway Light"/>
              <a:ea typeface="Raleway Light"/>
              <a:cs typeface="Raleway Light"/>
              <a:sym typeface="Raleway Light"/>
            </a:endParaRPr>
          </a:p>
        </p:txBody>
      </p:sp>
      <p:sp>
        <p:nvSpPr>
          <p:cNvPr id="228" name="Google Shape;228;p32"/>
          <p:cNvSpPr/>
          <p:nvPr/>
        </p:nvSpPr>
        <p:spPr>
          <a:xfrm>
            <a:off x="907000" y="1406650"/>
            <a:ext cx="7033200" cy="483000"/>
          </a:xfrm>
          <a:prstGeom prst="roundRect">
            <a:avLst>
              <a:gd name="adj" fmla="val 16667"/>
            </a:avLst>
          </a:prstGeom>
          <a:solidFill>
            <a:srgbClr val="FF5C5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1200"/>
              </a:spcBef>
              <a:spcAft>
                <a:spcPts val="1200"/>
              </a:spcAft>
              <a:buNone/>
            </a:pPr>
            <a:r>
              <a:rPr lang="en" sz="1600">
                <a:solidFill>
                  <a:srgbClr val="FFFFFF"/>
                </a:solidFill>
                <a:latin typeface="Raleway Light"/>
                <a:ea typeface="Raleway Light"/>
                <a:cs typeface="Raleway Light"/>
                <a:sym typeface="Raleway Light"/>
              </a:rPr>
              <a:t>give          	   keep    		reap         	  remain            unlock   	    tap</a:t>
            </a:r>
            <a:endParaRPr sz="1600">
              <a:solidFill>
                <a:srgbClr val="FFFFFF"/>
              </a:solidFill>
              <a:latin typeface="Raleway Light"/>
              <a:ea typeface="Raleway Light"/>
              <a:cs typeface="Raleway Light"/>
              <a:sym typeface="Raleway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32"/>
        <p:cNvGrpSpPr/>
        <p:nvPr/>
      </p:nvGrpSpPr>
      <p:grpSpPr>
        <a:xfrm>
          <a:off x="0" y="0"/>
          <a:ext cx="0" cy="0"/>
          <a:chOff x="0" y="0"/>
          <a:chExt cx="0" cy="0"/>
        </a:xfrm>
      </p:grpSpPr>
      <p:sp>
        <p:nvSpPr>
          <p:cNvPr id="233" name="Google Shape;233;p3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18</a:t>
            </a:fld>
            <a:endParaRPr sz="1000">
              <a:solidFill>
                <a:schemeClr val="accent1"/>
              </a:solidFill>
              <a:latin typeface="Lato"/>
              <a:ea typeface="Lato"/>
              <a:cs typeface="Lato"/>
              <a:sym typeface="Lato"/>
            </a:endParaRPr>
          </a:p>
        </p:txBody>
      </p:sp>
      <p:sp>
        <p:nvSpPr>
          <p:cNvPr id="234" name="Google Shape;234;p33"/>
          <p:cNvSpPr txBox="1"/>
          <p:nvPr/>
        </p:nvSpPr>
        <p:spPr>
          <a:xfrm>
            <a:off x="466600" y="184875"/>
            <a:ext cx="7473600" cy="48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Let’s check the answers.</a:t>
            </a:r>
            <a:endParaRPr sz="1800" b="1">
              <a:latin typeface="Raleway"/>
              <a:ea typeface="Raleway"/>
              <a:cs typeface="Raleway"/>
              <a:sym typeface="Raleway"/>
            </a:endParaRPr>
          </a:p>
        </p:txBody>
      </p:sp>
      <p:sp>
        <p:nvSpPr>
          <p:cNvPr id="235" name="Google Shape;235;p33"/>
          <p:cNvSpPr txBox="1"/>
          <p:nvPr/>
        </p:nvSpPr>
        <p:spPr>
          <a:xfrm>
            <a:off x="281900" y="667875"/>
            <a:ext cx="7914300" cy="42882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Some farmers have been told only to …………...…….  the current harvest, but not to prepare the land for new crops.</a:t>
            </a:r>
            <a:endParaRPr sz="1600">
              <a:solidFill>
                <a:schemeClr val="dk1"/>
              </a:solidFill>
              <a:latin typeface="Raleway Light"/>
              <a:ea typeface="Raleway Light"/>
              <a:cs typeface="Raleway Light"/>
              <a:sym typeface="Raleway Light"/>
            </a:endParaRPr>
          </a:p>
          <a:p>
            <a:pPr marL="457200" lvl="0" indent="0" algn="l" rtl="0">
              <a:lnSpc>
                <a:spcPct val="115000"/>
              </a:lnSpc>
              <a:spcBef>
                <a:spcPts val="0"/>
              </a:spcBef>
              <a:spcAft>
                <a:spcPts val="0"/>
              </a:spcAft>
              <a:buNone/>
            </a:pPr>
            <a:r>
              <a:rPr lang="en" sz="1600">
                <a:solidFill>
                  <a:schemeClr val="dk1"/>
                </a:solidFill>
                <a:latin typeface="Raleway Light"/>
                <a:ea typeface="Raleway Light"/>
                <a:cs typeface="Raleway Light"/>
                <a:sym typeface="Raleway Light"/>
              </a:rPr>
              <a:t>We will all …………...……. the benefits of this important research.</a:t>
            </a:r>
            <a:endParaRPr sz="1600">
              <a:solidFill>
                <a:schemeClr val="dk1"/>
              </a:solidFill>
              <a:latin typeface="Raleway Light"/>
              <a:ea typeface="Raleway Light"/>
              <a:cs typeface="Raleway Light"/>
              <a:sym typeface="Raleway Light"/>
            </a:endParaRPr>
          </a:p>
          <a:p>
            <a:pPr marL="457200" lvl="0" indent="-330200" algn="l" rtl="0">
              <a:lnSpc>
                <a:spcPct val="115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She …………...……. birth to twins.</a:t>
            </a:r>
            <a:endParaRPr sz="1600">
              <a:solidFill>
                <a:schemeClr val="dk1"/>
              </a:solidFill>
              <a:latin typeface="Raleway Light"/>
              <a:ea typeface="Raleway Light"/>
              <a:cs typeface="Raleway Light"/>
              <a:sym typeface="Raleway Light"/>
            </a:endParaRPr>
          </a:p>
          <a:p>
            <a:pPr marL="457200" lvl="0" indent="0" algn="l" rtl="0">
              <a:lnSpc>
                <a:spcPct val="115000"/>
              </a:lnSpc>
              <a:spcBef>
                <a:spcPts val="0"/>
              </a:spcBef>
              <a:spcAft>
                <a:spcPts val="0"/>
              </a:spcAft>
              <a:buNone/>
            </a:pPr>
            <a:r>
              <a:rPr lang="en" sz="1600">
                <a:solidFill>
                  <a:schemeClr val="dk1"/>
                </a:solidFill>
                <a:latin typeface="Raleway Light"/>
                <a:ea typeface="Raleway Light"/>
                <a:cs typeface="Raleway Light"/>
                <a:sym typeface="Raleway Light"/>
              </a:rPr>
              <a:t>This research might …………...……. birth to a new form of intelligence. </a:t>
            </a:r>
            <a:endParaRPr sz="1600">
              <a:solidFill>
                <a:schemeClr val="dk1"/>
              </a:solidFill>
              <a:latin typeface="Raleway Light"/>
              <a:ea typeface="Raleway Light"/>
              <a:cs typeface="Raleway Light"/>
              <a:sym typeface="Raleway Light"/>
            </a:endParaRPr>
          </a:p>
          <a:p>
            <a:pPr marL="457200" lvl="0" indent="-330200" algn="l" rtl="0">
              <a:lnSpc>
                <a:spcPct val="115000"/>
              </a:lnSpc>
              <a:spcBef>
                <a:spcPts val="0"/>
              </a:spcBef>
              <a:spcAft>
                <a:spcPts val="0"/>
              </a:spcAft>
              <a:buClr>
                <a:schemeClr val="dk1"/>
              </a:buClr>
              <a:buSzPts val="1600"/>
              <a:buFont typeface="Raleway Light"/>
              <a:buAutoNum type="alphaUcPeriod"/>
            </a:pPr>
            <a:r>
              <a:rPr lang="en" sz="1600">
                <a:solidFill>
                  <a:schemeClr val="dk1"/>
                </a:solidFill>
                <a:latin typeface="Raleway Light"/>
                <a:ea typeface="Raleway Light"/>
                <a:cs typeface="Raleway Light"/>
                <a:sym typeface="Raleway Light"/>
              </a:rPr>
              <a:t>Could you slow down - I can't ……………....…… pace with you.</a:t>
            </a:r>
            <a:endParaRPr sz="1600">
              <a:solidFill>
                <a:schemeClr val="dk1"/>
              </a:solidFill>
              <a:latin typeface="Raleway Light"/>
              <a:ea typeface="Raleway Light"/>
              <a:cs typeface="Raleway Light"/>
              <a:sym typeface="Raleway Light"/>
            </a:endParaRPr>
          </a:p>
          <a:p>
            <a:pPr marL="457200" lvl="0" indent="0" algn="l" rtl="0">
              <a:lnSpc>
                <a:spcPct val="115000"/>
              </a:lnSpc>
              <a:spcBef>
                <a:spcPts val="0"/>
              </a:spcBef>
              <a:spcAft>
                <a:spcPts val="0"/>
              </a:spcAft>
              <a:buNone/>
            </a:pPr>
            <a:r>
              <a:rPr lang="en" sz="1600">
                <a:solidFill>
                  <a:schemeClr val="dk1"/>
                </a:solidFill>
                <a:latin typeface="Raleway Light"/>
                <a:ea typeface="Raleway Light"/>
                <a:cs typeface="Raleway Light"/>
                <a:sym typeface="Raleway Light"/>
              </a:rPr>
              <a:t>We need to ……………...…… pace with advancing technologies.</a:t>
            </a:r>
            <a:endParaRPr sz="1600">
              <a:solidFill>
                <a:schemeClr val="dk1"/>
              </a:solidFill>
              <a:latin typeface="Raleway Light"/>
              <a:ea typeface="Raleway Light"/>
              <a:cs typeface="Raleway Light"/>
              <a:sym typeface="Raleway Light"/>
            </a:endParaRPr>
          </a:p>
          <a:p>
            <a:pPr marL="457200" lvl="0" indent="-330200" algn="l" rtl="0">
              <a:lnSpc>
                <a:spcPct val="115000"/>
              </a:lnSpc>
              <a:spcBef>
                <a:spcPts val="0"/>
              </a:spcBef>
              <a:spcAft>
                <a:spcPts val="0"/>
              </a:spcAft>
              <a:buSzPts val="1600"/>
              <a:buFont typeface="Raleway Light"/>
              <a:buAutoNum type="alphaUcPeriod"/>
            </a:pPr>
            <a:r>
              <a:rPr lang="en" sz="1600">
                <a:latin typeface="Raleway Light"/>
                <a:ea typeface="Raleway Light"/>
                <a:cs typeface="Raleway Light"/>
                <a:sym typeface="Raleway Light"/>
              </a:rPr>
              <a:t>Could you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the door for me?</a:t>
            </a:r>
            <a:endParaRPr sz="1600">
              <a:latin typeface="Raleway Light"/>
              <a:ea typeface="Raleway Light"/>
              <a:cs typeface="Raleway Light"/>
              <a:sym typeface="Raleway Light"/>
            </a:endParaRPr>
          </a:p>
          <a:p>
            <a:pPr marL="457200" lvl="0" indent="0" algn="l" rtl="0">
              <a:lnSpc>
                <a:spcPct val="115000"/>
              </a:lnSpc>
              <a:spcBef>
                <a:spcPts val="0"/>
              </a:spcBef>
              <a:spcAft>
                <a:spcPts val="0"/>
              </a:spcAft>
              <a:buNone/>
            </a:pPr>
            <a:r>
              <a:rPr lang="en" sz="1600">
                <a:latin typeface="Raleway Light"/>
                <a:ea typeface="Raleway Light"/>
                <a:cs typeface="Raleway Light"/>
                <a:sym typeface="Raleway Light"/>
              </a:rPr>
              <a:t>A chemical has been discovered that may be the key to ……………………………..……  the mysteries of this disease.</a:t>
            </a:r>
            <a:endParaRPr sz="1600">
              <a:latin typeface="Raleway Light"/>
              <a:ea typeface="Raleway Light"/>
              <a:cs typeface="Raleway Light"/>
              <a:sym typeface="Raleway Light"/>
            </a:endParaRPr>
          </a:p>
          <a:p>
            <a:pPr marL="457200" lvl="0" indent="-330200" algn="l" rtl="0">
              <a:lnSpc>
                <a:spcPct val="115000"/>
              </a:lnSpc>
              <a:spcBef>
                <a:spcPts val="0"/>
              </a:spcBef>
              <a:spcAft>
                <a:spcPts val="0"/>
              </a:spcAft>
              <a:buSzPts val="1600"/>
              <a:buFont typeface="Raleway Light"/>
              <a:buAutoNum type="alphaUcPeriod"/>
            </a:pPr>
            <a:r>
              <a:rPr lang="en" sz="1600">
                <a:latin typeface="Raleway Light"/>
                <a:ea typeface="Raleway Light"/>
                <a:cs typeface="Raleway Light"/>
                <a:sym typeface="Raleway Light"/>
              </a:rPr>
              <a:t>He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his password into the computer.</a:t>
            </a:r>
            <a:endParaRPr sz="1600">
              <a:latin typeface="Raleway Light"/>
              <a:ea typeface="Raleway Light"/>
              <a:cs typeface="Raleway Light"/>
              <a:sym typeface="Raleway Light"/>
            </a:endParaRPr>
          </a:p>
          <a:p>
            <a:pPr marL="457200" lvl="0" indent="0" algn="l" rtl="0">
              <a:lnSpc>
                <a:spcPct val="115000"/>
              </a:lnSpc>
              <a:spcBef>
                <a:spcPts val="0"/>
              </a:spcBef>
              <a:spcAft>
                <a:spcPts val="0"/>
              </a:spcAft>
              <a:buNone/>
            </a:pPr>
            <a:r>
              <a:rPr lang="en" sz="1600">
                <a:latin typeface="Raleway Light"/>
                <a:ea typeface="Raleway Light"/>
                <a:cs typeface="Raleway Light"/>
                <a:sym typeface="Raleway Light"/>
              </a:rPr>
              <a:t>If we could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into this part of the brain, it would be a major breakthrough.</a:t>
            </a:r>
            <a:endParaRPr sz="1600">
              <a:latin typeface="Raleway Light"/>
              <a:ea typeface="Raleway Light"/>
              <a:cs typeface="Raleway Light"/>
              <a:sym typeface="Raleway Light"/>
            </a:endParaRPr>
          </a:p>
          <a:p>
            <a:pPr marL="457200" lvl="0" indent="-330200" algn="l" rtl="0">
              <a:lnSpc>
                <a:spcPct val="115000"/>
              </a:lnSpc>
              <a:spcBef>
                <a:spcPts val="0"/>
              </a:spcBef>
              <a:spcAft>
                <a:spcPts val="0"/>
              </a:spcAft>
              <a:buSzPts val="1600"/>
              <a:buFont typeface="Raleway Light"/>
              <a:buAutoNum type="alphaUcPeriod"/>
            </a:pPr>
            <a:r>
              <a:rPr lang="en" sz="1600">
                <a:latin typeface="Raleway Light"/>
                <a:ea typeface="Raleway Light"/>
                <a:cs typeface="Raleway Light"/>
                <a:sym typeface="Raleway Light"/>
              </a:rPr>
              <a:t>The doctor ordered him to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in bed for a few days.</a:t>
            </a:r>
            <a:endParaRPr sz="1600">
              <a:latin typeface="Raleway Light"/>
              <a:ea typeface="Raleway Light"/>
              <a:cs typeface="Raleway Light"/>
              <a:sym typeface="Raleway Light"/>
            </a:endParaRPr>
          </a:p>
          <a:p>
            <a:pPr marL="457200" lvl="0" indent="0" algn="l" rtl="0">
              <a:lnSpc>
                <a:spcPct val="115000"/>
              </a:lnSpc>
              <a:spcBef>
                <a:spcPts val="0"/>
              </a:spcBef>
              <a:spcAft>
                <a:spcPts val="0"/>
              </a:spcAft>
              <a:buNone/>
            </a:pPr>
            <a:r>
              <a:rPr lang="en" sz="1600">
                <a:latin typeface="Raleway Light"/>
                <a:ea typeface="Raleway Light"/>
                <a:cs typeface="Raleway Light"/>
                <a:sym typeface="Raleway Light"/>
              </a:rPr>
              <a:t>The trip to Mars still </a:t>
            </a:r>
            <a:r>
              <a:rPr lang="en" sz="1600">
                <a:solidFill>
                  <a:schemeClr val="dk1"/>
                </a:solidFill>
                <a:latin typeface="Raleway Light"/>
                <a:ea typeface="Raleway Light"/>
                <a:cs typeface="Raleway Light"/>
                <a:sym typeface="Raleway Light"/>
              </a:rPr>
              <a:t>…………...…………....….  </a:t>
            </a:r>
            <a:r>
              <a:rPr lang="en" sz="1600">
                <a:latin typeface="Raleway Light"/>
                <a:ea typeface="Raleway Light"/>
                <a:cs typeface="Raleway Light"/>
                <a:sym typeface="Raleway Light"/>
              </a:rPr>
              <a:t>a huge technological challenge.</a:t>
            </a:r>
            <a:endParaRPr sz="1600">
              <a:latin typeface="Raleway Light"/>
              <a:ea typeface="Raleway Light"/>
              <a:cs typeface="Raleway Light"/>
              <a:sym typeface="Raleway Light"/>
            </a:endParaRPr>
          </a:p>
          <a:p>
            <a:pPr marL="457200" lvl="0" indent="0" algn="l" rtl="0">
              <a:lnSpc>
                <a:spcPct val="115000"/>
              </a:lnSpc>
              <a:spcBef>
                <a:spcPts val="0"/>
              </a:spcBef>
              <a:spcAft>
                <a:spcPts val="0"/>
              </a:spcAft>
              <a:buNone/>
            </a:pPr>
            <a:endParaRPr sz="1600">
              <a:latin typeface="Raleway Light"/>
              <a:ea typeface="Raleway Light"/>
              <a:cs typeface="Raleway Light"/>
              <a:sym typeface="Raleway Light"/>
            </a:endParaRPr>
          </a:p>
        </p:txBody>
      </p:sp>
      <p:sp>
        <p:nvSpPr>
          <p:cNvPr id="236" name="Google Shape;236;p33"/>
          <p:cNvSpPr/>
          <p:nvPr/>
        </p:nvSpPr>
        <p:spPr>
          <a:xfrm>
            <a:off x="4337550" y="755525"/>
            <a:ext cx="6678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reap</a:t>
            </a:r>
            <a:endParaRPr sz="1600">
              <a:solidFill>
                <a:srgbClr val="FFFFFF"/>
              </a:solidFill>
              <a:latin typeface="Raleway Light"/>
              <a:ea typeface="Raleway Light"/>
              <a:cs typeface="Raleway Light"/>
              <a:sym typeface="Raleway Light"/>
            </a:endParaRPr>
          </a:p>
        </p:txBody>
      </p:sp>
      <p:sp>
        <p:nvSpPr>
          <p:cNvPr id="237" name="Google Shape;237;p33"/>
          <p:cNvSpPr/>
          <p:nvPr/>
        </p:nvSpPr>
        <p:spPr>
          <a:xfrm>
            <a:off x="1221975" y="1598075"/>
            <a:ext cx="6678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gave</a:t>
            </a:r>
            <a:endParaRPr sz="1600">
              <a:solidFill>
                <a:srgbClr val="FFFFFF"/>
              </a:solidFill>
              <a:latin typeface="Raleway Light"/>
              <a:ea typeface="Raleway Light"/>
              <a:cs typeface="Raleway Light"/>
              <a:sym typeface="Raleway Light"/>
            </a:endParaRPr>
          </a:p>
        </p:txBody>
      </p:sp>
      <p:sp>
        <p:nvSpPr>
          <p:cNvPr id="238" name="Google Shape;238;p33"/>
          <p:cNvSpPr/>
          <p:nvPr/>
        </p:nvSpPr>
        <p:spPr>
          <a:xfrm>
            <a:off x="3590850" y="2105550"/>
            <a:ext cx="7467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keep</a:t>
            </a:r>
            <a:endParaRPr sz="1600">
              <a:solidFill>
                <a:srgbClr val="FFFFFF"/>
              </a:solidFill>
              <a:latin typeface="Raleway Light"/>
              <a:ea typeface="Raleway Light"/>
              <a:cs typeface="Raleway Light"/>
              <a:sym typeface="Raleway Light"/>
            </a:endParaRPr>
          </a:p>
        </p:txBody>
      </p:sp>
      <p:sp>
        <p:nvSpPr>
          <p:cNvPr id="239" name="Google Shape;239;p33"/>
          <p:cNvSpPr/>
          <p:nvPr/>
        </p:nvSpPr>
        <p:spPr>
          <a:xfrm>
            <a:off x="2706075" y="1849650"/>
            <a:ext cx="6678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give</a:t>
            </a:r>
            <a:endParaRPr sz="1600">
              <a:solidFill>
                <a:srgbClr val="FFFFFF"/>
              </a:solidFill>
              <a:latin typeface="Raleway Light"/>
              <a:ea typeface="Raleway Light"/>
              <a:cs typeface="Raleway Light"/>
              <a:sym typeface="Raleway Light"/>
            </a:endParaRPr>
          </a:p>
        </p:txBody>
      </p:sp>
      <p:sp>
        <p:nvSpPr>
          <p:cNvPr id="240" name="Google Shape;240;p33"/>
          <p:cNvSpPr/>
          <p:nvPr/>
        </p:nvSpPr>
        <p:spPr>
          <a:xfrm>
            <a:off x="1821275" y="1285025"/>
            <a:ext cx="6678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reap</a:t>
            </a:r>
            <a:endParaRPr sz="1600">
              <a:solidFill>
                <a:srgbClr val="FFFFFF"/>
              </a:solidFill>
              <a:latin typeface="Raleway Light"/>
              <a:ea typeface="Raleway Light"/>
              <a:cs typeface="Raleway Light"/>
              <a:sym typeface="Raleway Light"/>
            </a:endParaRPr>
          </a:p>
        </p:txBody>
      </p:sp>
      <p:sp>
        <p:nvSpPr>
          <p:cNvPr id="241" name="Google Shape;241;p33"/>
          <p:cNvSpPr/>
          <p:nvPr/>
        </p:nvSpPr>
        <p:spPr>
          <a:xfrm>
            <a:off x="1959375" y="2361450"/>
            <a:ext cx="7467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keep</a:t>
            </a:r>
            <a:endParaRPr sz="1600">
              <a:solidFill>
                <a:srgbClr val="FFFFFF"/>
              </a:solidFill>
              <a:latin typeface="Raleway Light"/>
              <a:ea typeface="Raleway Light"/>
              <a:cs typeface="Raleway Light"/>
              <a:sym typeface="Raleway Light"/>
            </a:endParaRPr>
          </a:p>
        </p:txBody>
      </p:sp>
      <p:sp>
        <p:nvSpPr>
          <p:cNvPr id="242" name="Google Shape;242;p33"/>
          <p:cNvSpPr/>
          <p:nvPr/>
        </p:nvSpPr>
        <p:spPr>
          <a:xfrm>
            <a:off x="1821275" y="2684025"/>
            <a:ext cx="8841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unlock</a:t>
            </a:r>
            <a:endParaRPr sz="1600">
              <a:solidFill>
                <a:srgbClr val="FFFFFF"/>
              </a:solidFill>
              <a:latin typeface="Raleway Light"/>
              <a:ea typeface="Raleway Light"/>
              <a:cs typeface="Raleway Light"/>
              <a:sym typeface="Raleway Light"/>
            </a:endParaRPr>
          </a:p>
        </p:txBody>
      </p:sp>
      <p:sp>
        <p:nvSpPr>
          <p:cNvPr id="243" name="Google Shape;243;p33"/>
          <p:cNvSpPr/>
          <p:nvPr/>
        </p:nvSpPr>
        <p:spPr>
          <a:xfrm>
            <a:off x="5994725" y="2939925"/>
            <a:ext cx="12210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unlocking</a:t>
            </a:r>
            <a:endParaRPr sz="1600">
              <a:solidFill>
                <a:srgbClr val="FFFFFF"/>
              </a:solidFill>
              <a:latin typeface="Raleway Light"/>
              <a:ea typeface="Raleway Light"/>
              <a:cs typeface="Raleway Light"/>
              <a:sym typeface="Raleway Light"/>
            </a:endParaRPr>
          </a:p>
        </p:txBody>
      </p:sp>
      <p:sp>
        <p:nvSpPr>
          <p:cNvPr id="244" name="Google Shape;244;p33"/>
          <p:cNvSpPr/>
          <p:nvPr/>
        </p:nvSpPr>
        <p:spPr>
          <a:xfrm>
            <a:off x="1889975" y="3822600"/>
            <a:ext cx="6678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tap</a:t>
            </a:r>
            <a:endParaRPr sz="1600">
              <a:solidFill>
                <a:srgbClr val="FFFFFF"/>
              </a:solidFill>
              <a:latin typeface="Raleway Light"/>
              <a:ea typeface="Raleway Light"/>
              <a:cs typeface="Raleway Light"/>
              <a:sym typeface="Raleway Light"/>
            </a:endParaRPr>
          </a:p>
        </p:txBody>
      </p:sp>
      <p:sp>
        <p:nvSpPr>
          <p:cNvPr id="245" name="Google Shape;245;p33"/>
          <p:cNvSpPr/>
          <p:nvPr/>
        </p:nvSpPr>
        <p:spPr>
          <a:xfrm>
            <a:off x="1113825" y="3489950"/>
            <a:ext cx="8841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tapped</a:t>
            </a:r>
            <a:endParaRPr sz="1600">
              <a:solidFill>
                <a:srgbClr val="FFFFFF"/>
              </a:solidFill>
              <a:latin typeface="Raleway Light"/>
              <a:ea typeface="Raleway Light"/>
              <a:cs typeface="Raleway Light"/>
              <a:sym typeface="Raleway Light"/>
            </a:endParaRPr>
          </a:p>
        </p:txBody>
      </p:sp>
      <p:sp>
        <p:nvSpPr>
          <p:cNvPr id="246" name="Google Shape;246;p33"/>
          <p:cNvSpPr/>
          <p:nvPr/>
        </p:nvSpPr>
        <p:spPr>
          <a:xfrm>
            <a:off x="3330050" y="4078500"/>
            <a:ext cx="8841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remain</a:t>
            </a:r>
            <a:endParaRPr sz="1600">
              <a:solidFill>
                <a:srgbClr val="FFFFFF"/>
              </a:solidFill>
              <a:latin typeface="Raleway Light"/>
              <a:ea typeface="Raleway Light"/>
              <a:cs typeface="Raleway Light"/>
              <a:sym typeface="Raleway Light"/>
            </a:endParaRPr>
          </a:p>
        </p:txBody>
      </p:sp>
      <p:sp>
        <p:nvSpPr>
          <p:cNvPr id="247" name="Google Shape;247;p33"/>
          <p:cNvSpPr/>
          <p:nvPr/>
        </p:nvSpPr>
        <p:spPr>
          <a:xfrm>
            <a:off x="2705375" y="4334400"/>
            <a:ext cx="1062300" cy="255900"/>
          </a:xfrm>
          <a:prstGeom prst="roundRect">
            <a:avLst>
              <a:gd name="adj" fmla="val 16667"/>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rgbClr val="FFFFFF"/>
                </a:solidFill>
                <a:latin typeface="Raleway Light"/>
                <a:ea typeface="Raleway Light"/>
                <a:cs typeface="Raleway Light"/>
                <a:sym typeface="Raleway Light"/>
              </a:rPr>
              <a:t>remains</a:t>
            </a:r>
            <a:endParaRPr sz="1600">
              <a:solidFill>
                <a:srgbClr val="FFFFFF"/>
              </a:solidFill>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6"/>
                                        </p:tgtEl>
                                        <p:attrNameLst>
                                          <p:attrName>style.visibility</p:attrName>
                                        </p:attrNameLst>
                                      </p:cBhvr>
                                      <p:to>
                                        <p:strVal val="visible"/>
                                      </p:to>
                                    </p:set>
                                    <p:animEffect transition="in" filter="fade">
                                      <p:cBhvr>
                                        <p:cTn id="7" dur="1"/>
                                        <p:tgtEl>
                                          <p:spTgt spid="236"/>
                                        </p:tgtEl>
                                      </p:cBhvr>
                                    </p:animEffect>
                                  </p:childTnLst>
                                </p:cTn>
                              </p:par>
                              <p:par>
                                <p:cTn id="8" presetID="10" presetClass="entr" presetSubtype="0" fill="hold" nodeType="withEffect">
                                  <p:stCondLst>
                                    <p:cond delay="0"/>
                                  </p:stCondLst>
                                  <p:childTnLst>
                                    <p:set>
                                      <p:cBhvr>
                                        <p:cTn id="9" dur="1" fill="hold">
                                          <p:stCondLst>
                                            <p:cond delay="0"/>
                                          </p:stCondLst>
                                        </p:cTn>
                                        <p:tgtEl>
                                          <p:spTgt spid="240"/>
                                        </p:tgtEl>
                                        <p:attrNameLst>
                                          <p:attrName>style.visibility</p:attrName>
                                        </p:attrNameLst>
                                      </p:cBhvr>
                                      <p:to>
                                        <p:strVal val="visible"/>
                                      </p:to>
                                    </p:set>
                                    <p:animEffect transition="in" filter="fade">
                                      <p:cBhvr>
                                        <p:cTn id="10" dur="1"/>
                                        <p:tgtEl>
                                          <p:spTgt spid="24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7"/>
                                        </p:tgtEl>
                                        <p:attrNameLst>
                                          <p:attrName>style.visibility</p:attrName>
                                        </p:attrNameLst>
                                      </p:cBhvr>
                                      <p:to>
                                        <p:strVal val="visible"/>
                                      </p:to>
                                    </p:set>
                                    <p:animEffect transition="in" filter="fade">
                                      <p:cBhvr>
                                        <p:cTn id="15" dur="1"/>
                                        <p:tgtEl>
                                          <p:spTgt spid="237"/>
                                        </p:tgtEl>
                                      </p:cBhvr>
                                    </p:animEffect>
                                  </p:childTnLst>
                                </p:cTn>
                              </p:par>
                              <p:par>
                                <p:cTn id="16" presetID="10" presetClass="entr" presetSubtype="0" fill="hold" nodeType="withEffect">
                                  <p:stCondLst>
                                    <p:cond delay="0"/>
                                  </p:stCondLst>
                                  <p:childTnLst>
                                    <p:set>
                                      <p:cBhvr>
                                        <p:cTn id="17" dur="1" fill="hold">
                                          <p:stCondLst>
                                            <p:cond delay="0"/>
                                          </p:stCondLst>
                                        </p:cTn>
                                        <p:tgtEl>
                                          <p:spTgt spid="239"/>
                                        </p:tgtEl>
                                        <p:attrNameLst>
                                          <p:attrName>style.visibility</p:attrName>
                                        </p:attrNameLst>
                                      </p:cBhvr>
                                      <p:to>
                                        <p:strVal val="visible"/>
                                      </p:to>
                                    </p:set>
                                    <p:animEffect transition="in" filter="fade">
                                      <p:cBhvr>
                                        <p:cTn id="18" dur="1"/>
                                        <p:tgtEl>
                                          <p:spTgt spid="23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8"/>
                                        </p:tgtEl>
                                        <p:attrNameLst>
                                          <p:attrName>style.visibility</p:attrName>
                                        </p:attrNameLst>
                                      </p:cBhvr>
                                      <p:to>
                                        <p:strVal val="visible"/>
                                      </p:to>
                                    </p:set>
                                    <p:animEffect transition="in" filter="fade">
                                      <p:cBhvr>
                                        <p:cTn id="23" dur="1"/>
                                        <p:tgtEl>
                                          <p:spTgt spid="238"/>
                                        </p:tgtEl>
                                      </p:cBhvr>
                                    </p:animEffect>
                                  </p:childTnLst>
                                </p:cTn>
                              </p:par>
                              <p:par>
                                <p:cTn id="24" presetID="10" presetClass="entr" presetSubtype="0" fill="hold" nodeType="with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fade">
                                      <p:cBhvr>
                                        <p:cTn id="26" dur="1"/>
                                        <p:tgtEl>
                                          <p:spTgt spid="24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2"/>
                                        </p:tgtEl>
                                        <p:attrNameLst>
                                          <p:attrName>style.visibility</p:attrName>
                                        </p:attrNameLst>
                                      </p:cBhvr>
                                      <p:to>
                                        <p:strVal val="visible"/>
                                      </p:to>
                                    </p:set>
                                    <p:animEffect transition="in" filter="fade">
                                      <p:cBhvr>
                                        <p:cTn id="31" dur="1"/>
                                        <p:tgtEl>
                                          <p:spTgt spid="242"/>
                                        </p:tgtEl>
                                      </p:cBhvr>
                                    </p:animEffect>
                                  </p:childTnLst>
                                </p:cTn>
                              </p:par>
                              <p:par>
                                <p:cTn id="32" presetID="10" presetClass="entr" presetSubtype="0" fill="hold" nodeType="withEffect">
                                  <p:stCondLst>
                                    <p:cond delay="0"/>
                                  </p:stCondLst>
                                  <p:childTnLst>
                                    <p:set>
                                      <p:cBhvr>
                                        <p:cTn id="33" dur="1" fill="hold">
                                          <p:stCondLst>
                                            <p:cond delay="0"/>
                                          </p:stCondLst>
                                        </p:cTn>
                                        <p:tgtEl>
                                          <p:spTgt spid="243"/>
                                        </p:tgtEl>
                                        <p:attrNameLst>
                                          <p:attrName>style.visibility</p:attrName>
                                        </p:attrNameLst>
                                      </p:cBhvr>
                                      <p:to>
                                        <p:strVal val="visible"/>
                                      </p:to>
                                    </p:set>
                                    <p:animEffect transition="in" filter="fade">
                                      <p:cBhvr>
                                        <p:cTn id="34" dur="1"/>
                                        <p:tgtEl>
                                          <p:spTgt spid="24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45"/>
                                        </p:tgtEl>
                                        <p:attrNameLst>
                                          <p:attrName>style.visibility</p:attrName>
                                        </p:attrNameLst>
                                      </p:cBhvr>
                                      <p:to>
                                        <p:strVal val="visible"/>
                                      </p:to>
                                    </p:set>
                                    <p:animEffect transition="in" filter="fade">
                                      <p:cBhvr>
                                        <p:cTn id="39" dur="1"/>
                                        <p:tgtEl>
                                          <p:spTgt spid="245"/>
                                        </p:tgtEl>
                                      </p:cBhvr>
                                    </p:animEffect>
                                  </p:childTnLst>
                                </p:cTn>
                              </p:par>
                              <p:par>
                                <p:cTn id="40" presetID="10" presetClass="entr" presetSubtype="0" fill="hold" nodeType="withEffect">
                                  <p:stCondLst>
                                    <p:cond delay="0"/>
                                  </p:stCondLst>
                                  <p:childTnLst>
                                    <p:set>
                                      <p:cBhvr>
                                        <p:cTn id="41" dur="1" fill="hold">
                                          <p:stCondLst>
                                            <p:cond delay="0"/>
                                          </p:stCondLst>
                                        </p:cTn>
                                        <p:tgtEl>
                                          <p:spTgt spid="244"/>
                                        </p:tgtEl>
                                        <p:attrNameLst>
                                          <p:attrName>style.visibility</p:attrName>
                                        </p:attrNameLst>
                                      </p:cBhvr>
                                      <p:to>
                                        <p:strVal val="visible"/>
                                      </p:to>
                                    </p:set>
                                    <p:animEffect transition="in" filter="fade">
                                      <p:cBhvr>
                                        <p:cTn id="42" dur="1"/>
                                        <p:tgtEl>
                                          <p:spTgt spid="24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6"/>
                                        </p:tgtEl>
                                        <p:attrNameLst>
                                          <p:attrName>style.visibility</p:attrName>
                                        </p:attrNameLst>
                                      </p:cBhvr>
                                      <p:to>
                                        <p:strVal val="visible"/>
                                      </p:to>
                                    </p:set>
                                    <p:animEffect transition="in" filter="fade">
                                      <p:cBhvr>
                                        <p:cTn id="47" dur="1"/>
                                        <p:tgtEl>
                                          <p:spTgt spid="246"/>
                                        </p:tgtEl>
                                      </p:cBhvr>
                                    </p:animEffect>
                                  </p:childTnLst>
                                </p:cTn>
                              </p:par>
                              <p:par>
                                <p:cTn id="48" presetID="10" presetClass="entr" presetSubtype="0" fill="hold" nodeType="withEffect">
                                  <p:stCondLst>
                                    <p:cond delay="0"/>
                                  </p:stCondLst>
                                  <p:childTnLst>
                                    <p:set>
                                      <p:cBhvr>
                                        <p:cTn id="49" dur="1" fill="hold">
                                          <p:stCondLst>
                                            <p:cond delay="0"/>
                                          </p:stCondLst>
                                        </p:cTn>
                                        <p:tgtEl>
                                          <p:spTgt spid="247"/>
                                        </p:tgtEl>
                                        <p:attrNameLst>
                                          <p:attrName>style.visibility</p:attrName>
                                        </p:attrNameLst>
                                      </p:cBhvr>
                                      <p:to>
                                        <p:strVal val="visible"/>
                                      </p:to>
                                    </p:set>
                                    <p:animEffect transition="in" filter="fade">
                                      <p:cBhvr>
                                        <p:cTn id="50" dur="1"/>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5C5C"/>
        </a:solidFill>
        <a:effectLst/>
      </p:bgPr>
    </p:bg>
    <p:spTree>
      <p:nvGrpSpPr>
        <p:cNvPr id="1" name="Shape 251"/>
        <p:cNvGrpSpPr/>
        <p:nvPr/>
      </p:nvGrpSpPr>
      <p:grpSpPr>
        <a:xfrm>
          <a:off x="0" y="0"/>
          <a:ext cx="0" cy="0"/>
          <a:chOff x="0" y="0"/>
          <a:chExt cx="0" cy="0"/>
        </a:xfrm>
      </p:grpSpPr>
      <p:sp>
        <p:nvSpPr>
          <p:cNvPr id="252" name="Google Shape;252;p34"/>
          <p:cNvSpPr txBox="1">
            <a:spLocks noGrp="1"/>
          </p:cNvSpPr>
          <p:nvPr>
            <p:ph type="ctrTitle"/>
          </p:nvPr>
        </p:nvSpPr>
        <p:spPr>
          <a:xfrm>
            <a:off x="685800" y="3002000"/>
            <a:ext cx="7772400" cy="784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3700"/>
              <a:t>When thoughts control machines</a:t>
            </a:r>
            <a:endParaRPr sz="3700"/>
          </a:p>
        </p:txBody>
      </p:sp>
      <p:sp>
        <p:nvSpPr>
          <p:cNvPr id="253" name="Google Shape;253;p34"/>
          <p:cNvSpPr txBox="1">
            <a:spLocks noGrp="1"/>
          </p:cNvSpPr>
          <p:nvPr>
            <p:ph type="subTitle" idx="1"/>
          </p:nvPr>
        </p:nvSpPr>
        <p:spPr>
          <a:xfrm>
            <a:off x="685800" y="3830653"/>
            <a:ext cx="7772400" cy="784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u="sng"/>
              <a:t>Before watching...</a:t>
            </a:r>
            <a:endParaRPr u="sng"/>
          </a:p>
        </p:txBody>
      </p:sp>
      <p:sp>
        <p:nvSpPr>
          <p:cNvPr id="254" name="Google Shape;254;p34"/>
          <p:cNvSpPr txBox="1">
            <a:spLocks noGrp="1"/>
          </p:cNvSpPr>
          <p:nvPr>
            <p:ph type="subTitle" idx="1"/>
          </p:nvPr>
        </p:nvSpPr>
        <p:spPr>
          <a:xfrm>
            <a:off x="685800" y="2508775"/>
            <a:ext cx="7848600" cy="4545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1200"/>
              </a:spcAft>
              <a:buNone/>
            </a:pPr>
            <a:r>
              <a:rPr lang="en"/>
              <a:t>In a moment, you’ll watch a video titled:</a:t>
            </a:r>
            <a:endParaRPr/>
          </a:p>
        </p:txBody>
      </p:sp>
      <p:pic>
        <p:nvPicPr>
          <p:cNvPr id="255" name="Google Shape;255;p34"/>
          <p:cNvPicPr preferRelativeResize="0"/>
          <p:nvPr/>
        </p:nvPicPr>
        <p:blipFill>
          <a:blip r:embed="rId3">
            <a:alphaModFix/>
          </a:blip>
          <a:stretch>
            <a:fillRect/>
          </a:stretch>
        </p:blipFill>
        <p:spPr>
          <a:xfrm>
            <a:off x="8027175" y="137250"/>
            <a:ext cx="884150" cy="884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3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20</a:t>
            </a:fld>
            <a:endParaRPr sz="1000">
              <a:solidFill>
                <a:schemeClr val="accent1"/>
              </a:solidFill>
              <a:latin typeface="Lato"/>
              <a:ea typeface="Lato"/>
              <a:cs typeface="Lato"/>
              <a:sym typeface="Lato"/>
            </a:endParaRPr>
          </a:p>
        </p:txBody>
      </p:sp>
      <p:sp>
        <p:nvSpPr>
          <p:cNvPr id="261" name="Google Shape;261;p35"/>
          <p:cNvSpPr txBox="1"/>
          <p:nvPr/>
        </p:nvSpPr>
        <p:spPr>
          <a:xfrm>
            <a:off x="438200" y="298375"/>
            <a:ext cx="7416900" cy="42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Read the extract from the video you’re going to watch and answer the questions below.</a:t>
            </a:r>
            <a:endParaRPr sz="1800" b="1">
              <a:latin typeface="Raleway"/>
              <a:ea typeface="Raleway"/>
              <a:cs typeface="Raleway"/>
              <a:sym typeface="Raleway"/>
            </a:endParaRPr>
          </a:p>
        </p:txBody>
      </p:sp>
      <p:sp>
        <p:nvSpPr>
          <p:cNvPr id="262" name="Google Shape;262;p35"/>
          <p:cNvSpPr txBox="1"/>
          <p:nvPr/>
        </p:nvSpPr>
        <p:spPr>
          <a:xfrm>
            <a:off x="992325" y="3449075"/>
            <a:ext cx="6862800" cy="12681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SzPts val="1600"/>
              <a:buFont typeface="Raleway Light"/>
              <a:buChar char="➔"/>
            </a:pPr>
            <a:r>
              <a:rPr lang="en" sz="1600">
                <a:latin typeface="Raleway Light"/>
                <a:ea typeface="Raleway Light"/>
                <a:cs typeface="Raleway Light"/>
                <a:sym typeface="Raleway Light"/>
              </a:rPr>
              <a:t>Can you imagine such a world? </a:t>
            </a:r>
            <a:endParaRPr sz="1600">
              <a:latin typeface="Raleway Light"/>
              <a:ea typeface="Raleway Light"/>
              <a:cs typeface="Raleway Light"/>
              <a:sym typeface="Raleway Light"/>
            </a:endParaRPr>
          </a:p>
          <a:p>
            <a:pPr marL="457200" lvl="0" indent="-330200" algn="l" rtl="0">
              <a:lnSpc>
                <a:spcPct val="115000"/>
              </a:lnSpc>
              <a:spcBef>
                <a:spcPts val="0"/>
              </a:spcBef>
              <a:spcAft>
                <a:spcPts val="0"/>
              </a:spcAft>
              <a:buSzPts val="1600"/>
              <a:buFont typeface="Raleway Light"/>
              <a:buChar char="➔"/>
            </a:pPr>
            <a:r>
              <a:rPr lang="en" sz="1600">
                <a:latin typeface="Raleway Light"/>
                <a:ea typeface="Raleway Light"/>
                <a:cs typeface="Raleway Light"/>
                <a:sym typeface="Raleway Light"/>
              </a:rPr>
              <a:t>What are the advantages and disadvantages of the melding of minds with machines?</a:t>
            </a:r>
            <a:endParaRPr sz="1600">
              <a:latin typeface="Raleway Light"/>
              <a:ea typeface="Raleway Light"/>
              <a:cs typeface="Raleway Light"/>
              <a:sym typeface="Raleway Light"/>
            </a:endParaRPr>
          </a:p>
          <a:p>
            <a:pPr marL="457200" lvl="0" indent="-330200" algn="l" rtl="0">
              <a:lnSpc>
                <a:spcPct val="115000"/>
              </a:lnSpc>
              <a:spcBef>
                <a:spcPts val="0"/>
              </a:spcBef>
              <a:spcAft>
                <a:spcPts val="0"/>
              </a:spcAft>
              <a:buSzPts val="1600"/>
              <a:buFont typeface="Raleway Light"/>
              <a:buChar char="➔"/>
            </a:pPr>
            <a:r>
              <a:rPr lang="en" sz="1600">
                <a:latin typeface="Raleway Light"/>
                <a:ea typeface="Raleway Light"/>
                <a:cs typeface="Raleway Light"/>
                <a:sym typeface="Raleway Light"/>
              </a:rPr>
              <a:t>Do you think this vision will come true in the near future?</a:t>
            </a:r>
            <a:endParaRPr sz="1600">
              <a:latin typeface="Raleway Light"/>
              <a:ea typeface="Raleway Light"/>
              <a:cs typeface="Raleway Light"/>
              <a:sym typeface="Raleway Light"/>
            </a:endParaRPr>
          </a:p>
        </p:txBody>
      </p:sp>
      <p:sp>
        <p:nvSpPr>
          <p:cNvPr id="263" name="Google Shape;263;p35"/>
          <p:cNvSpPr/>
          <p:nvPr/>
        </p:nvSpPr>
        <p:spPr>
          <a:xfrm>
            <a:off x="771150" y="1122750"/>
            <a:ext cx="7175400" cy="22698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600" i="1">
                <a:solidFill>
                  <a:schemeClr val="dk1"/>
                </a:solidFill>
                <a:latin typeface="Raleway Light"/>
                <a:ea typeface="Raleway Light"/>
                <a:cs typeface="Raleway Light"/>
                <a:sym typeface="Raleway Light"/>
              </a:rPr>
              <a:t>“Imagine if you could connect your brain to the internet. You wouldn't need to type into a search engine, you could just think your query and download the relevant knowledge directly into your mind. Such a world would involve the biggest single upgrade in human intelligence since our species evolved. Seamless brain computer interfaces are a long way off but the melding of minds with machines is already under way.”</a:t>
            </a:r>
            <a:endParaRPr sz="1600">
              <a:latin typeface="Raleway Light"/>
              <a:ea typeface="Raleway Light"/>
              <a:cs typeface="Raleway Light"/>
              <a:sym typeface="Raleway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21</a:t>
            </a:fld>
            <a:endParaRPr sz="1000">
              <a:solidFill>
                <a:schemeClr val="accent1"/>
              </a:solidFill>
              <a:latin typeface="Lato"/>
              <a:ea typeface="Lato"/>
              <a:cs typeface="Lato"/>
              <a:sym typeface="Lato"/>
            </a:endParaRPr>
          </a:p>
        </p:txBody>
      </p:sp>
      <p:sp>
        <p:nvSpPr>
          <p:cNvPr id="269" name="Google Shape;269;p36"/>
          <p:cNvSpPr txBox="1"/>
          <p:nvPr/>
        </p:nvSpPr>
        <p:spPr>
          <a:xfrm>
            <a:off x="423975" y="255750"/>
            <a:ext cx="7359900" cy="4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Watch the first part of the video (to 02:02) and answer the questions.</a:t>
            </a:r>
            <a:endParaRPr sz="1800" b="1">
              <a:latin typeface="Raleway"/>
              <a:ea typeface="Raleway"/>
              <a:cs typeface="Raleway"/>
              <a:sym typeface="Raleway"/>
            </a:endParaRPr>
          </a:p>
        </p:txBody>
      </p:sp>
      <p:pic>
        <p:nvPicPr>
          <p:cNvPr id="270" name="Google Shape;270;p36" descr="Efforts to connect human brains to computers have taken big leaps forward in recent years. Melding our minds with machines could provide the biggest single upgrade to human intelligence since our species evolved. But are we ready?&#10;&#10;Click here to subscribe to The Economist on YouTube: https://econ.st/2Fzn4ON &#10;&#10;&#10;Daily Watch: mind-stretching short films throughout the working week.&#10;&#10;For more from Economist Films visit: https://econ.st/2Fzez6w &#10;Check out The Economist’s full video catalogue: http://econ.st/20IehQk &#10;Like The Economist on Facebook: https://econ.st/2FBxRIp &#10;Follow The Economist on Twitter: https://econ.st/2FBdYRC &#10;Follow us on Instagram: https://econ.st/2FCDEgK &#10;Follow us on Medium: https://econ.st/2FByz8v" title="When thoughts control machines | The Economist">
            <a:hlinkClick r:id="rId3"/>
          </p:cNvPr>
          <p:cNvPicPr preferRelativeResize="0"/>
          <p:nvPr/>
        </p:nvPicPr>
        <p:blipFill>
          <a:blip r:embed="rId4">
            <a:alphaModFix/>
          </a:blip>
          <a:stretch>
            <a:fillRect/>
          </a:stretch>
        </p:blipFill>
        <p:spPr>
          <a:xfrm>
            <a:off x="4089800" y="1132825"/>
            <a:ext cx="4344100" cy="3258075"/>
          </a:xfrm>
          <a:prstGeom prst="rect">
            <a:avLst/>
          </a:prstGeom>
          <a:noFill/>
          <a:ln>
            <a:noFill/>
          </a:ln>
        </p:spPr>
      </p:pic>
      <p:sp>
        <p:nvSpPr>
          <p:cNvPr id="271" name="Google Shape;271;p36"/>
          <p:cNvSpPr txBox="1"/>
          <p:nvPr/>
        </p:nvSpPr>
        <p:spPr>
          <a:xfrm>
            <a:off x="281900" y="1468875"/>
            <a:ext cx="3514500" cy="25860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Font typeface="Raleway Light"/>
              <a:buAutoNum type="alphaUcPeriod"/>
            </a:pPr>
            <a:r>
              <a:rPr lang="en" sz="1600">
                <a:latin typeface="Raleway Light"/>
                <a:ea typeface="Raleway Light"/>
                <a:cs typeface="Raleway Light"/>
                <a:sym typeface="Raleway Light"/>
              </a:rPr>
              <a:t>What is the neurotechnology the speaker talks about designed for?</a:t>
            </a:r>
            <a:endParaRPr sz="1600">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How do the volunteers in the trial control devices?</a:t>
            </a:r>
            <a:endParaRPr sz="1600">
              <a:latin typeface="Raleway Light"/>
              <a:ea typeface="Raleway Light"/>
              <a:cs typeface="Raleway Light"/>
              <a:sym typeface="Raleway Light"/>
            </a:endParaRPr>
          </a:p>
          <a:p>
            <a:pPr marL="457200" lvl="0" indent="-330200" algn="l" rtl="0">
              <a:spcBef>
                <a:spcPts val="1000"/>
              </a:spcBef>
              <a:spcAft>
                <a:spcPts val="1000"/>
              </a:spcAft>
              <a:buSzPts val="1600"/>
              <a:buFont typeface="Raleway Light"/>
              <a:buAutoNum type="alphaUcPeriod"/>
            </a:pPr>
            <a:r>
              <a:rPr lang="en" sz="1600">
                <a:latin typeface="Raleway Light"/>
                <a:ea typeface="Raleway Light"/>
                <a:cs typeface="Raleway Light"/>
                <a:sym typeface="Raleway Light"/>
              </a:rPr>
              <a:t>How could this technology transform the lives of people with disabilities?</a:t>
            </a:r>
            <a:endParaRPr sz="1600">
              <a:latin typeface="Raleway Light"/>
              <a:ea typeface="Raleway Light"/>
              <a:cs typeface="Raleway Light"/>
              <a:sym typeface="Raleway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275"/>
        <p:cNvGrpSpPr/>
        <p:nvPr/>
      </p:nvGrpSpPr>
      <p:grpSpPr>
        <a:xfrm>
          <a:off x="0" y="0"/>
          <a:ext cx="0" cy="0"/>
          <a:chOff x="0" y="0"/>
          <a:chExt cx="0" cy="0"/>
        </a:xfrm>
      </p:grpSpPr>
      <p:sp>
        <p:nvSpPr>
          <p:cNvPr id="276" name="Google Shape;276;p3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22</a:t>
            </a:fld>
            <a:endParaRPr sz="1000">
              <a:solidFill>
                <a:schemeClr val="accent1"/>
              </a:solidFill>
              <a:latin typeface="Lato"/>
              <a:ea typeface="Lato"/>
              <a:cs typeface="Lato"/>
              <a:sym typeface="Lato"/>
            </a:endParaRPr>
          </a:p>
        </p:txBody>
      </p:sp>
      <p:sp>
        <p:nvSpPr>
          <p:cNvPr id="277" name="Google Shape;277;p37"/>
          <p:cNvSpPr txBox="1"/>
          <p:nvPr/>
        </p:nvSpPr>
        <p:spPr>
          <a:xfrm>
            <a:off x="423975" y="255750"/>
            <a:ext cx="7359900" cy="4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Let’s check your answers.</a:t>
            </a:r>
            <a:endParaRPr sz="1800" b="1">
              <a:latin typeface="Raleway"/>
              <a:ea typeface="Raleway"/>
              <a:cs typeface="Raleway"/>
              <a:sym typeface="Raleway"/>
            </a:endParaRPr>
          </a:p>
        </p:txBody>
      </p:sp>
      <p:sp>
        <p:nvSpPr>
          <p:cNvPr id="278" name="Google Shape;278;p37"/>
          <p:cNvSpPr txBox="1"/>
          <p:nvPr/>
        </p:nvSpPr>
        <p:spPr>
          <a:xfrm>
            <a:off x="281900" y="937775"/>
            <a:ext cx="7928400" cy="31170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Font typeface="Raleway Light"/>
              <a:buAutoNum type="alphaUcPeriod"/>
            </a:pPr>
            <a:r>
              <a:rPr lang="en" sz="1600">
                <a:latin typeface="Raleway Light"/>
                <a:ea typeface="Raleway Light"/>
                <a:cs typeface="Raleway Light"/>
                <a:sym typeface="Raleway Light"/>
              </a:rPr>
              <a:t>What is the neurotechnology the speaker talks about designed for?</a:t>
            </a:r>
            <a:endParaRPr sz="1600">
              <a:latin typeface="Raleway Light"/>
              <a:ea typeface="Raleway Light"/>
              <a:cs typeface="Raleway Light"/>
              <a:sym typeface="Raleway Light"/>
            </a:endParaRPr>
          </a:p>
          <a:p>
            <a:pPr marL="457200" lvl="0" indent="0" algn="l" rtl="0">
              <a:spcBef>
                <a:spcPts val="1000"/>
              </a:spcBef>
              <a:spcAft>
                <a:spcPts val="0"/>
              </a:spcAft>
              <a:buNone/>
            </a:pPr>
            <a:r>
              <a:rPr lang="en" sz="1600">
                <a:highlight>
                  <a:srgbClr val="FFCD00"/>
                </a:highlight>
                <a:latin typeface="Raleway Light"/>
                <a:ea typeface="Raleway Light"/>
                <a:cs typeface="Raleway Light"/>
                <a:sym typeface="Raleway Light"/>
              </a:rPr>
              <a:t>It should help restore or replace function, or enhance independence for people who are paralysed.</a:t>
            </a:r>
            <a:endParaRPr sz="1600">
              <a:highlight>
                <a:srgbClr val="FFCD00"/>
              </a:highlight>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How do the volunteers in the trial control devices?</a:t>
            </a:r>
            <a:endParaRPr sz="1600">
              <a:latin typeface="Raleway Light"/>
              <a:ea typeface="Raleway Light"/>
              <a:cs typeface="Raleway Light"/>
              <a:sym typeface="Raleway Light"/>
            </a:endParaRPr>
          </a:p>
          <a:p>
            <a:pPr marL="457200" lvl="0" indent="0" algn="l" rtl="0">
              <a:spcBef>
                <a:spcPts val="1000"/>
              </a:spcBef>
              <a:spcAft>
                <a:spcPts val="0"/>
              </a:spcAft>
              <a:buNone/>
            </a:pPr>
            <a:r>
              <a:rPr lang="en" sz="1600">
                <a:highlight>
                  <a:srgbClr val="FFCD00"/>
                </a:highlight>
                <a:latin typeface="Raleway Light"/>
                <a:ea typeface="Raleway Light"/>
                <a:cs typeface="Raleway Light"/>
                <a:sym typeface="Raleway Light"/>
              </a:rPr>
              <a:t>The volunteers have been given brain implants that allow them to control devices using thought alone.</a:t>
            </a:r>
            <a:endParaRPr sz="1600">
              <a:highlight>
                <a:srgbClr val="FFCD00"/>
              </a:highlight>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How could this technology transform the lives of people with disabilities?</a:t>
            </a:r>
            <a:endParaRPr sz="1600">
              <a:latin typeface="Raleway Light"/>
              <a:ea typeface="Raleway Light"/>
              <a:cs typeface="Raleway Light"/>
              <a:sym typeface="Raleway Light"/>
            </a:endParaRPr>
          </a:p>
          <a:p>
            <a:pPr marL="457200" lvl="0" indent="0" algn="l" rtl="0">
              <a:spcBef>
                <a:spcPts val="1000"/>
              </a:spcBef>
              <a:spcAft>
                <a:spcPts val="1000"/>
              </a:spcAft>
              <a:buNone/>
            </a:pPr>
            <a:r>
              <a:rPr lang="en" sz="1600">
                <a:highlight>
                  <a:srgbClr val="FFCD00"/>
                </a:highlight>
                <a:latin typeface="Raleway Light"/>
                <a:ea typeface="Raleway Light"/>
                <a:cs typeface="Raleway Light"/>
                <a:sym typeface="Raleway Light"/>
              </a:rPr>
              <a:t>People with disabilities could control a prosthetic limb or a robotic limb moving through space to reach and grab objects. Simply by imagining intuitive movements, people could immediately control a robotic device.</a:t>
            </a:r>
            <a:endParaRPr sz="1600">
              <a:highlight>
                <a:srgbClr val="FFCD00"/>
              </a:highlight>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8">
                                            <p:txEl>
                                              <p:pRg st="0" end="0"/>
                                            </p:txEl>
                                          </p:spTgt>
                                        </p:tgtEl>
                                        <p:attrNameLst>
                                          <p:attrName>style.visibility</p:attrName>
                                        </p:attrNameLst>
                                      </p:cBhvr>
                                      <p:to>
                                        <p:strVal val="visible"/>
                                      </p:to>
                                    </p:set>
                                    <p:animEffect transition="in" filter="fade">
                                      <p:cBhvr>
                                        <p:cTn id="7" dur="1000"/>
                                        <p:tgtEl>
                                          <p:spTgt spid="2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8">
                                            <p:txEl>
                                              <p:pRg st="1" end="1"/>
                                            </p:txEl>
                                          </p:spTgt>
                                        </p:tgtEl>
                                        <p:attrNameLst>
                                          <p:attrName>style.visibility</p:attrName>
                                        </p:attrNameLst>
                                      </p:cBhvr>
                                      <p:to>
                                        <p:strVal val="visible"/>
                                      </p:to>
                                    </p:set>
                                    <p:animEffect transition="in" filter="fade">
                                      <p:cBhvr>
                                        <p:cTn id="12" dur="1000"/>
                                        <p:tgtEl>
                                          <p:spTgt spid="2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8">
                                            <p:txEl>
                                              <p:pRg st="2" end="2"/>
                                            </p:txEl>
                                          </p:spTgt>
                                        </p:tgtEl>
                                        <p:attrNameLst>
                                          <p:attrName>style.visibility</p:attrName>
                                        </p:attrNameLst>
                                      </p:cBhvr>
                                      <p:to>
                                        <p:strVal val="visible"/>
                                      </p:to>
                                    </p:set>
                                    <p:animEffect transition="in" filter="fade">
                                      <p:cBhvr>
                                        <p:cTn id="17" dur="1000"/>
                                        <p:tgtEl>
                                          <p:spTgt spid="2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8">
                                            <p:txEl>
                                              <p:pRg st="3" end="3"/>
                                            </p:txEl>
                                          </p:spTgt>
                                        </p:tgtEl>
                                        <p:attrNameLst>
                                          <p:attrName>style.visibility</p:attrName>
                                        </p:attrNameLst>
                                      </p:cBhvr>
                                      <p:to>
                                        <p:strVal val="visible"/>
                                      </p:to>
                                    </p:set>
                                    <p:animEffect transition="in" filter="fade">
                                      <p:cBhvr>
                                        <p:cTn id="22" dur="1000"/>
                                        <p:tgtEl>
                                          <p:spTgt spid="27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8">
                                            <p:txEl>
                                              <p:pRg st="4" end="4"/>
                                            </p:txEl>
                                          </p:spTgt>
                                        </p:tgtEl>
                                        <p:attrNameLst>
                                          <p:attrName>style.visibility</p:attrName>
                                        </p:attrNameLst>
                                      </p:cBhvr>
                                      <p:to>
                                        <p:strVal val="visible"/>
                                      </p:to>
                                    </p:set>
                                    <p:animEffect transition="in" filter="fade">
                                      <p:cBhvr>
                                        <p:cTn id="27" dur="1000"/>
                                        <p:tgtEl>
                                          <p:spTgt spid="27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8">
                                            <p:txEl>
                                              <p:pRg st="5" end="5"/>
                                            </p:txEl>
                                          </p:spTgt>
                                        </p:tgtEl>
                                        <p:attrNameLst>
                                          <p:attrName>style.visibility</p:attrName>
                                        </p:attrNameLst>
                                      </p:cBhvr>
                                      <p:to>
                                        <p:strVal val="visible"/>
                                      </p:to>
                                    </p:set>
                                    <p:animEffect transition="in" filter="fade">
                                      <p:cBhvr>
                                        <p:cTn id="32" dur="1000"/>
                                        <p:tgtEl>
                                          <p:spTgt spid="27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23</a:t>
            </a:fld>
            <a:endParaRPr sz="1000">
              <a:solidFill>
                <a:schemeClr val="accent1"/>
              </a:solidFill>
              <a:latin typeface="Lato"/>
              <a:ea typeface="Lato"/>
              <a:cs typeface="Lato"/>
              <a:sym typeface="Lato"/>
            </a:endParaRPr>
          </a:p>
        </p:txBody>
      </p:sp>
      <p:sp>
        <p:nvSpPr>
          <p:cNvPr id="284" name="Google Shape;284;p38"/>
          <p:cNvSpPr txBox="1"/>
          <p:nvPr/>
        </p:nvSpPr>
        <p:spPr>
          <a:xfrm>
            <a:off x="423975" y="255750"/>
            <a:ext cx="7359900" cy="4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Watch the second part of the video (from 02:02) and note down what the figures and names below refer to.</a:t>
            </a:r>
            <a:endParaRPr sz="1800" b="1">
              <a:latin typeface="Raleway"/>
              <a:ea typeface="Raleway"/>
              <a:cs typeface="Raleway"/>
              <a:sym typeface="Raleway"/>
            </a:endParaRPr>
          </a:p>
        </p:txBody>
      </p:sp>
      <p:pic>
        <p:nvPicPr>
          <p:cNvPr id="285" name="Google Shape;285;p38" descr="Efforts to connect human brains to computers have taken big leaps forward in recent years. Melding our minds with machines could provide the biggest single upgrade to human intelligence since our species evolved. But are we ready?&#10;&#10;Click here to subscribe to The Economist on YouTube: https://econ.st/2Fzn4ON &#10;&#10;&#10;Daily Watch: mind-stretching short films throughout the working week.&#10;&#10;For more from Economist Films visit: https://econ.st/2Fzez6w &#10;Check out The Economist’s full video catalogue: http://econ.st/20IehQk &#10;Like The Economist on Facebook: https://econ.st/2FBxRIp &#10;Follow The Economist on Twitter: https://econ.st/2FBdYRC &#10;Follow us on Instagram: https://econ.st/2FCDEgK &#10;Follow us on Medium: https://econ.st/2FByz8v" title="When thoughts control machines | The Economist">
            <a:hlinkClick r:id="rId3"/>
          </p:cNvPr>
          <p:cNvPicPr preferRelativeResize="0"/>
          <p:nvPr/>
        </p:nvPicPr>
        <p:blipFill>
          <a:blip r:embed="rId4">
            <a:alphaModFix/>
          </a:blip>
          <a:stretch>
            <a:fillRect/>
          </a:stretch>
        </p:blipFill>
        <p:spPr>
          <a:xfrm>
            <a:off x="4089800" y="1132825"/>
            <a:ext cx="4344100" cy="3258075"/>
          </a:xfrm>
          <a:prstGeom prst="rect">
            <a:avLst/>
          </a:prstGeom>
          <a:noFill/>
          <a:ln>
            <a:noFill/>
          </a:ln>
        </p:spPr>
      </p:pic>
      <p:sp>
        <p:nvSpPr>
          <p:cNvPr id="286" name="Google Shape;286;p38"/>
          <p:cNvSpPr txBox="1"/>
          <p:nvPr/>
        </p:nvSpPr>
        <p:spPr>
          <a:xfrm>
            <a:off x="622900" y="1468863"/>
            <a:ext cx="2813400" cy="25860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Font typeface="Raleway Light"/>
              <a:buAutoNum type="alphaUcPeriod"/>
            </a:pPr>
            <a:r>
              <a:rPr lang="en" sz="1600">
                <a:latin typeface="Raleway Light"/>
                <a:ea typeface="Raleway Light"/>
                <a:cs typeface="Raleway Light"/>
                <a:sym typeface="Raleway Light"/>
              </a:rPr>
              <a:t>85 billion</a:t>
            </a:r>
            <a:endParaRPr sz="1600">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$6 billion</a:t>
            </a:r>
            <a:endParaRPr sz="1600">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hydra</a:t>
            </a:r>
            <a:endParaRPr sz="1600">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$100 million</a:t>
            </a:r>
            <a:endParaRPr sz="1600">
              <a:latin typeface="Raleway Light"/>
              <a:ea typeface="Raleway Light"/>
              <a:cs typeface="Raleway Light"/>
              <a:sym typeface="Raleway Light"/>
            </a:endParaRPr>
          </a:p>
          <a:p>
            <a:pPr marL="457200" lvl="0" indent="-330200" algn="l" rtl="0">
              <a:spcBef>
                <a:spcPts val="1000"/>
              </a:spcBef>
              <a:spcAft>
                <a:spcPts val="1000"/>
              </a:spcAft>
              <a:buSzPts val="1600"/>
              <a:buFont typeface="Raleway Light"/>
              <a:buAutoNum type="alphaUcPeriod"/>
            </a:pPr>
            <a:r>
              <a:rPr lang="en" sz="1600">
                <a:latin typeface="Raleway Light"/>
                <a:ea typeface="Raleway Light"/>
                <a:cs typeface="Raleway Light"/>
                <a:sym typeface="Raleway Light"/>
              </a:rPr>
              <a:t>Neuralink</a:t>
            </a:r>
            <a:endParaRPr sz="1600">
              <a:latin typeface="Raleway Light"/>
              <a:ea typeface="Raleway Light"/>
              <a:cs typeface="Raleway Light"/>
              <a:sym typeface="Raleway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290"/>
        <p:cNvGrpSpPr/>
        <p:nvPr/>
      </p:nvGrpSpPr>
      <p:grpSpPr>
        <a:xfrm>
          <a:off x="0" y="0"/>
          <a:ext cx="0" cy="0"/>
          <a:chOff x="0" y="0"/>
          <a:chExt cx="0" cy="0"/>
        </a:xfrm>
      </p:grpSpPr>
      <p:sp>
        <p:nvSpPr>
          <p:cNvPr id="291" name="Google Shape;291;p3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24</a:t>
            </a:fld>
            <a:endParaRPr sz="1000">
              <a:solidFill>
                <a:schemeClr val="accent1"/>
              </a:solidFill>
              <a:latin typeface="Lato"/>
              <a:ea typeface="Lato"/>
              <a:cs typeface="Lato"/>
              <a:sym typeface="Lato"/>
            </a:endParaRPr>
          </a:p>
        </p:txBody>
      </p:sp>
      <p:sp>
        <p:nvSpPr>
          <p:cNvPr id="292" name="Google Shape;292;p39"/>
          <p:cNvSpPr txBox="1"/>
          <p:nvPr/>
        </p:nvSpPr>
        <p:spPr>
          <a:xfrm>
            <a:off x="495025" y="269975"/>
            <a:ext cx="7260600" cy="55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Let’s check the answers.</a:t>
            </a:r>
            <a:endParaRPr sz="1800" b="1">
              <a:latin typeface="Raleway"/>
              <a:ea typeface="Raleway"/>
              <a:cs typeface="Raleway"/>
              <a:sym typeface="Raleway"/>
            </a:endParaRPr>
          </a:p>
        </p:txBody>
      </p:sp>
      <p:sp>
        <p:nvSpPr>
          <p:cNvPr id="293" name="Google Shape;293;p39"/>
          <p:cNvSpPr txBox="1"/>
          <p:nvPr/>
        </p:nvSpPr>
        <p:spPr>
          <a:xfrm>
            <a:off x="495025" y="823175"/>
            <a:ext cx="7345800" cy="39084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Font typeface="Raleway Light"/>
              <a:buAutoNum type="alphaUcPeriod"/>
            </a:pPr>
            <a:r>
              <a:rPr lang="en" sz="1600">
                <a:latin typeface="Raleway Light"/>
                <a:ea typeface="Raleway Light"/>
                <a:cs typeface="Raleway Light"/>
                <a:sym typeface="Raleway Light"/>
              </a:rPr>
              <a:t>85 billion</a:t>
            </a:r>
            <a:endParaRPr sz="1600">
              <a:latin typeface="Raleway Light"/>
              <a:ea typeface="Raleway Light"/>
              <a:cs typeface="Raleway Light"/>
              <a:sym typeface="Raleway Light"/>
            </a:endParaRPr>
          </a:p>
          <a:p>
            <a:pPr marL="457200" lvl="0" indent="0" algn="l" rtl="0">
              <a:spcBef>
                <a:spcPts val="1000"/>
              </a:spcBef>
              <a:spcAft>
                <a:spcPts val="0"/>
              </a:spcAft>
              <a:buNone/>
            </a:pPr>
            <a:r>
              <a:rPr lang="en" sz="1600">
                <a:highlight>
                  <a:srgbClr val="FFCD00"/>
                </a:highlight>
                <a:latin typeface="Raleway Light"/>
                <a:ea typeface="Raleway Light"/>
                <a:cs typeface="Raleway Light"/>
                <a:sym typeface="Raleway Light"/>
              </a:rPr>
              <a:t>the number of neurons in the human brain</a:t>
            </a:r>
            <a:endParaRPr sz="1600">
              <a:highlight>
                <a:srgbClr val="FFCD00"/>
              </a:highlight>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$6 billion</a:t>
            </a:r>
            <a:endParaRPr sz="1600">
              <a:latin typeface="Raleway Light"/>
              <a:ea typeface="Raleway Light"/>
              <a:cs typeface="Raleway Light"/>
              <a:sym typeface="Raleway Light"/>
            </a:endParaRPr>
          </a:p>
          <a:p>
            <a:pPr marL="457200" lvl="0" indent="0" algn="l" rtl="0">
              <a:spcBef>
                <a:spcPts val="1000"/>
              </a:spcBef>
              <a:spcAft>
                <a:spcPts val="0"/>
              </a:spcAft>
              <a:buNone/>
            </a:pPr>
            <a:r>
              <a:rPr lang="en" sz="1600">
                <a:highlight>
                  <a:srgbClr val="FFCD00"/>
                </a:highlight>
                <a:latin typeface="Raleway Light"/>
                <a:ea typeface="Raleway Light"/>
                <a:cs typeface="Raleway Light"/>
                <a:sym typeface="Raleway Light"/>
              </a:rPr>
              <a:t>the amount of money allocated to the Brain Initiative</a:t>
            </a:r>
            <a:r>
              <a:rPr lang="en" sz="1600">
                <a:latin typeface="Raleway Light"/>
                <a:ea typeface="Raleway Light"/>
                <a:cs typeface="Raleway Light"/>
                <a:sym typeface="Raleway Light"/>
              </a:rPr>
              <a:t> </a:t>
            </a:r>
            <a:endParaRPr sz="1600">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hydra</a:t>
            </a:r>
            <a:endParaRPr sz="1600">
              <a:latin typeface="Raleway Light"/>
              <a:ea typeface="Raleway Light"/>
              <a:cs typeface="Raleway Light"/>
              <a:sym typeface="Raleway Light"/>
            </a:endParaRPr>
          </a:p>
          <a:p>
            <a:pPr marL="457200" lvl="0" indent="0" algn="l" rtl="0">
              <a:spcBef>
                <a:spcPts val="1000"/>
              </a:spcBef>
              <a:spcAft>
                <a:spcPts val="0"/>
              </a:spcAft>
              <a:buNone/>
            </a:pPr>
            <a:r>
              <a:rPr lang="en" sz="1600">
                <a:highlight>
                  <a:srgbClr val="FFCD00"/>
                </a:highlight>
                <a:latin typeface="Raleway Light"/>
                <a:ea typeface="Raleway Light"/>
                <a:cs typeface="Raleway Light"/>
                <a:sym typeface="Raleway Light"/>
              </a:rPr>
              <a:t>a small animal which neuron activity Prof Yuste’s team mapped in full</a:t>
            </a:r>
            <a:endParaRPr sz="1600">
              <a:highlight>
                <a:srgbClr val="FFCD00"/>
              </a:highlight>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$100 million</a:t>
            </a:r>
            <a:endParaRPr sz="1600">
              <a:latin typeface="Raleway Light"/>
              <a:ea typeface="Raleway Light"/>
              <a:cs typeface="Raleway Light"/>
              <a:sym typeface="Raleway Light"/>
            </a:endParaRPr>
          </a:p>
          <a:p>
            <a:pPr marL="457200" lvl="0" indent="0" algn="l" rtl="0">
              <a:spcBef>
                <a:spcPts val="1000"/>
              </a:spcBef>
              <a:spcAft>
                <a:spcPts val="0"/>
              </a:spcAft>
              <a:buNone/>
            </a:pPr>
            <a:r>
              <a:rPr lang="en" sz="1600">
                <a:highlight>
                  <a:srgbClr val="FFCD00"/>
                </a:highlight>
                <a:latin typeface="Raleway Light"/>
                <a:ea typeface="Raleway Light"/>
                <a:cs typeface="Raleway Light"/>
                <a:sym typeface="Raleway Light"/>
              </a:rPr>
              <a:t>the money Bryan Johnson invested in Kernel</a:t>
            </a:r>
            <a:endParaRPr sz="1600">
              <a:highlight>
                <a:srgbClr val="FFCD00"/>
              </a:highlight>
              <a:latin typeface="Raleway Light"/>
              <a:ea typeface="Raleway Light"/>
              <a:cs typeface="Raleway Light"/>
              <a:sym typeface="Raleway Light"/>
            </a:endParaRPr>
          </a:p>
          <a:p>
            <a:pPr marL="457200" lvl="0" indent="-330200" algn="l" rtl="0">
              <a:spcBef>
                <a:spcPts val="1000"/>
              </a:spcBef>
              <a:spcAft>
                <a:spcPts val="0"/>
              </a:spcAft>
              <a:buSzPts val="1600"/>
              <a:buFont typeface="Raleway Light"/>
              <a:buAutoNum type="alphaUcPeriod"/>
            </a:pPr>
            <a:r>
              <a:rPr lang="en" sz="1600">
                <a:latin typeface="Raleway Light"/>
                <a:ea typeface="Raleway Light"/>
                <a:cs typeface="Raleway Light"/>
                <a:sym typeface="Raleway Light"/>
              </a:rPr>
              <a:t>Neuralink</a:t>
            </a:r>
            <a:endParaRPr sz="1600">
              <a:latin typeface="Raleway Light"/>
              <a:ea typeface="Raleway Light"/>
              <a:cs typeface="Raleway Light"/>
              <a:sym typeface="Raleway Light"/>
            </a:endParaRPr>
          </a:p>
          <a:p>
            <a:pPr marL="457200" lvl="0" indent="0" algn="l" rtl="0">
              <a:spcBef>
                <a:spcPts val="1000"/>
              </a:spcBef>
              <a:spcAft>
                <a:spcPts val="1000"/>
              </a:spcAft>
              <a:buNone/>
            </a:pPr>
            <a:r>
              <a:rPr lang="en" sz="1600">
                <a:highlight>
                  <a:srgbClr val="FFCD00"/>
                </a:highlight>
                <a:latin typeface="Raleway Light"/>
                <a:ea typeface="Raleway Light"/>
                <a:cs typeface="Raleway Light"/>
                <a:sym typeface="Raleway Light"/>
              </a:rPr>
              <a:t>Elon Musk’s company whose goal is to connect humans to computers</a:t>
            </a:r>
            <a:endParaRPr sz="1600">
              <a:highlight>
                <a:srgbClr val="FFCD00"/>
              </a:highlight>
              <a:latin typeface="Raleway Light"/>
              <a:ea typeface="Raleway Light"/>
              <a:cs typeface="Raleway Light"/>
              <a:sym typeface="Raleway Ligh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3">
                                            <p:txEl>
                                              <p:pRg st="0" end="0"/>
                                            </p:txEl>
                                          </p:spTgt>
                                        </p:tgtEl>
                                        <p:attrNameLst>
                                          <p:attrName>style.visibility</p:attrName>
                                        </p:attrNameLst>
                                      </p:cBhvr>
                                      <p:to>
                                        <p:strVal val="visible"/>
                                      </p:to>
                                    </p:set>
                                    <p:animEffect transition="in" filter="fade">
                                      <p:cBhvr>
                                        <p:cTn id="7" dur="1000"/>
                                        <p:tgtEl>
                                          <p:spTgt spid="2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3">
                                            <p:txEl>
                                              <p:pRg st="1" end="1"/>
                                            </p:txEl>
                                          </p:spTgt>
                                        </p:tgtEl>
                                        <p:attrNameLst>
                                          <p:attrName>style.visibility</p:attrName>
                                        </p:attrNameLst>
                                      </p:cBhvr>
                                      <p:to>
                                        <p:strVal val="visible"/>
                                      </p:to>
                                    </p:set>
                                    <p:animEffect transition="in" filter="fade">
                                      <p:cBhvr>
                                        <p:cTn id="12" dur="1000"/>
                                        <p:tgtEl>
                                          <p:spTgt spid="2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3">
                                            <p:txEl>
                                              <p:pRg st="2" end="2"/>
                                            </p:txEl>
                                          </p:spTgt>
                                        </p:tgtEl>
                                        <p:attrNameLst>
                                          <p:attrName>style.visibility</p:attrName>
                                        </p:attrNameLst>
                                      </p:cBhvr>
                                      <p:to>
                                        <p:strVal val="visible"/>
                                      </p:to>
                                    </p:set>
                                    <p:animEffect transition="in" filter="fade">
                                      <p:cBhvr>
                                        <p:cTn id="17" dur="1000"/>
                                        <p:tgtEl>
                                          <p:spTgt spid="2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3">
                                            <p:txEl>
                                              <p:pRg st="3" end="3"/>
                                            </p:txEl>
                                          </p:spTgt>
                                        </p:tgtEl>
                                        <p:attrNameLst>
                                          <p:attrName>style.visibility</p:attrName>
                                        </p:attrNameLst>
                                      </p:cBhvr>
                                      <p:to>
                                        <p:strVal val="visible"/>
                                      </p:to>
                                    </p:set>
                                    <p:animEffect transition="in" filter="fade">
                                      <p:cBhvr>
                                        <p:cTn id="22" dur="1000"/>
                                        <p:tgtEl>
                                          <p:spTgt spid="29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3">
                                            <p:txEl>
                                              <p:pRg st="4" end="4"/>
                                            </p:txEl>
                                          </p:spTgt>
                                        </p:tgtEl>
                                        <p:attrNameLst>
                                          <p:attrName>style.visibility</p:attrName>
                                        </p:attrNameLst>
                                      </p:cBhvr>
                                      <p:to>
                                        <p:strVal val="visible"/>
                                      </p:to>
                                    </p:set>
                                    <p:animEffect transition="in" filter="fade">
                                      <p:cBhvr>
                                        <p:cTn id="27" dur="1000"/>
                                        <p:tgtEl>
                                          <p:spTgt spid="29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3">
                                            <p:txEl>
                                              <p:pRg st="5" end="5"/>
                                            </p:txEl>
                                          </p:spTgt>
                                        </p:tgtEl>
                                        <p:attrNameLst>
                                          <p:attrName>style.visibility</p:attrName>
                                        </p:attrNameLst>
                                      </p:cBhvr>
                                      <p:to>
                                        <p:strVal val="visible"/>
                                      </p:to>
                                    </p:set>
                                    <p:animEffect transition="in" filter="fade">
                                      <p:cBhvr>
                                        <p:cTn id="32" dur="1000"/>
                                        <p:tgtEl>
                                          <p:spTgt spid="29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3">
                                            <p:txEl>
                                              <p:pRg st="6" end="6"/>
                                            </p:txEl>
                                          </p:spTgt>
                                        </p:tgtEl>
                                        <p:attrNameLst>
                                          <p:attrName>style.visibility</p:attrName>
                                        </p:attrNameLst>
                                      </p:cBhvr>
                                      <p:to>
                                        <p:strVal val="visible"/>
                                      </p:to>
                                    </p:set>
                                    <p:animEffect transition="in" filter="fade">
                                      <p:cBhvr>
                                        <p:cTn id="37" dur="1000"/>
                                        <p:tgtEl>
                                          <p:spTgt spid="29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3">
                                            <p:txEl>
                                              <p:pRg st="7" end="7"/>
                                            </p:txEl>
                                          </p:spTgt>
                                        </p:tgtEl>
                                        <p:attrNameLst>
                                          <p:attrName>style.visibility</p:attrName>
                                        </p:attrNameLst>
                                      </p:cBhvr>
                                      <p:to>
                                        <p:strVal val="visible"/>
                                      </p:to>
                                    </p:set>
                                    <p:animEffect transition="in" filter="fade">
                                      <p:cBhvr>
                                        <p:cTn id="42" dur="1000"/>
                                        <p:tgtEl>
                                          <p:spTgt spid="29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93">
                                            <p:txEl>
                                              <p:pRg st="8" end="8"/>
                                            </p:txEl>
                                          </p:spTgt>
                                        </p:tgtEl>
                                        <p:attrNameLst>
                                          <p:attrName>style.visibility</p:attrName>
                                        </p:attrNameLst>
                                      </p:cBhvr>
                                      <p:to>
                                        <p:strVal val="visible"/>
                                      </p:to>
                                    </p:set>
                                    <p:animEffect transition="in" filter="fade">
                                      <p:cBhvr>
                                        <p:cTn id="47" dur="1000"/>
                                        <p:tgtEl>
                                          <p:spTgt spid="29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93">
                                            <p:txEl>
                                              <p:pRg st="9" end="9"/>
                                            </p:txEl>
                                          </p:spTgt>
                                        </p:tgtEl>
                                        <p:attrNameLst>
                                          <p:attrName>style.visibility</p:attrName>
                                        </p:attrNameLst>
                                      </p:cBhvr>
                                      <p:to>
                                        <p:strVal val="visible"/>
                                      </p:to>
                                    </p:set>
                                    <p:animEffect transition="in" filter="fade">
                                      <p:cBhvr>
                                        <p:cTn id="52" dur="1000"/>
                                        <p:tgtEl>
                                          <p:spTgt spid="29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5C5C"/>
        </a:solidFill>
        <a:effectLst/>
      </p:bgPr>
    </p:bg>
    <p:spTree>
      <p:nvGrpSpPr>
        <p:cNvPr id="1" name="Shape 297"/>
        <p:cNvGrpSpPr/>
        <p:nvPr/>
      </p:nvGrpSpPr>
      <p:grpSpPr>
        <a:xfrm>
          <a:off x="0" y="0"/>
          <a:ext cx="0" cy="0"/>
          <a:chOff x="0" y="0"/>
          <a:chExt cx="0" cy="0"/>
        </a:xfrm>
      </p:grpSpPr>
      <p:sp>
        <p:nvSpPr>
          <p:cNvPr id="298" name="Google Shape;298;p40"/>
          <p:cNvSpPr txBox="1">
            <a:spLocks noGrp="1"/>
          </p:cNvSpPr>
          <p:nvPr>
            <p:ph type="ctrTitle"/>
          </p:nvPr>
        </p:nvSpPr>
        <p:spPr>
          <a:xfrm>
            <a:off x="685800" y="2726342"/>
            <a:ext cx="7772400" cy="1159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4400">
                <a:solidFill>
                  <a:schemeClr val="lt1"/>
                </a:solidFill>
              </a:rPr>
              <a:t>Let’s talk!</a:t>
            </a:r>
            <a:endParaRPr sz="4400">
              <a:solidFill>
                <a:schemeClr val="lt1"/>
              </a:solidFill>
            </a:endParaRPr>
          </a:p>
        </p:txBody>
      </p:sp>
      <p:pic>
        <p:nvPicPr>
          <p:cNvPr id="299" name="Google Shape;299;p40"/>
          <p:cNvPicPr preferRelativeResize="0"/>
          <p:nvPr/>
        </p:nvPicPr>
        <p:blipFill>
          <a:blip r:embed="rId3">
            <a:alphaModFix/>
          </a:blip>
          <a:stretch>
            <a:fillRect/>
          </a:stretch>
        </p:blipFill>
        <p:spPr>
          <a:xfrm>
            <a:off x="8062750" y="135850"/>
            <a:ext cx="886968" cy="88696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26</a:t>
            </a:fld>
            <a:endParaRPr sz="1000">
              <a:solidFill>
                <a:schemeClr val="accent1"/>
              </a:solidFill>
              <a:latin typeface="Lato"/>
              <a:ea typeface="Lato"/>
              <a:cs typeface="Lato"/>
              <a:sym typeface="Lato"/>
            </a:endParaRPr>
          </a:p>
        </p:txBody>
      </p:sp>
      <p:pic>
        <p:nvPicPr>
          <p:cNvPr id="305" name="Google Shape;305;p41"/>
          <p:cNvPicPr preferRelativeResize="0"/>
          <p:nvPr/>
        </p:nvPicPr>
        <p:blipFill>
          <a:blip r:embed="rId3">
            <a:alphaModFix/>
          </a:blip>
          <a:stretch>
            <a:fillRect/>
          </a:stretch>
        </p:blipFill>
        <p:spPr>
          <a:xfrm>
            <a:off x="434950" y="479200"/>
            <a:ext cx="899550" cy="899550"/>
          </a:xfrm>
          <a:prstGeom prst="rect">
            <a:avLst/>
          </a:prstGeom>
          <a:noFill/>
          <a:ln>
            <a:noFill/>
          </a:ln>
        </p:spPr>
      </p:pic>
      <p:sp>
        <p:nvSpPr>
          <p:cNvPr id="306" name="Google Shape;306;p41"/>
          <p:cNvSpPr txBox="1"/>
          <p:nvPr/>
        </p:nvSpPr>
        <p:spPr>
          <a:xfrm>
            <a:off x="1496250" y="625175"/>
            <a:ext cx="6151500"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Discuss the questions. [part 1/2]</a:t>
            </a:r>
            <a:endParaRPr sz="1800" b="1">
              <a:latin typeface="Raleway"/>
              <a:ea typeface="Raleway"/>
              <a:cs typeface="Raleway"/>
              <a:sym typeface="Raleway"/>
            </a:endParaRPr>
          </a:p>
        </p:txBody>
      </p:sp>
      <p:sp>
        <p:nvSpPr>
          <p:cNvPr id="307" name="Google Shape;307;p41"/>
          <p:cNvSpPr txBox="1"/>
          <p:nvPr/>
        </p:nvSpPr>
        <p:spPr>
          <a:xfrm>
            <a:off x="1073550" y="1378750"/>
            <a:ext cx="6574200" cy="28377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Font typeface="Raleway Light"/>
              <a:buChar char="➔"/>
            </a:pPr>
            <a:r>
              <a:rPr lang="en" sz="1800">
                <a:latin typeface="Raleway Light"/>
                <a:ea typeface="Raleway Light"/>
                <a:cs typeface="Raleway Light"/>
                <a:sym typeface="Raleway Light"/>
              </a:rPr>
              <a:t>What do you think the potential implications of melding our minds with machines might be?</a:t>
            </a:r>
            <a:endParaRPr sz="1800">
              <a:latin typeface="Raleway Light"/>
              <a:ea typeface="Raleway Light"/>
              <a:cs typeface="Raleway Light"/>
              <a:sym typeface="Raleway Light"/>
            </a:endParaRPr>
          </a:p>
          <a:p>
            <a:pPr marL="457200" lvl="0" indent="-342900" algn="l" rtl="0">
              <a:lnSpc>
                <a:spcPct val="150000"/>
              </a:lnSpc>
              <a:spcBef>
                <a:spcPts val="0"/>
              </a:spcBef>
              <a:spcAft>
                <a:spcPts val="0"/>
              </a:spcAft>
              <a:buSzPts val="1800"/>
              <a:buFont typeface="Raleway Light"/>
              <a:buChar char="➔"/>
            </a:pPr>
            <a:r>
              <a:rPr lang="en" sz="1800">
                <a:latin typeface="Raleway Light"/>
                <a:ea typeface="Raleway Light"/>
                <a:cs typeface="Raleway Light"/>
                <a:sym typeface="Raleway Light"/>
              </a:rPr>
              <a:t>Will this technology give birth to a superhuman?</a:t>
            </a:r>
            <a:endParaRPr sz="1800">
              <a:latin typeface="Raleway Light"/>
              <a:ea typeface="Raleway Light"/>
              <a:cs typeface="Raleway Light"/>
              <a:sym typeface="Raleway Light"/>
            </a:endParaRPr>
          </a:p>
          <a:p>
            <a:pPr marL="457200" lvl="0" indent="-342900" algn="l" rtl="0">
              <a:lnSpc>
                <a:spcPct val="150000"/>
              </a:lnSpc>
              <a:spcBef>
                <a:spcPts val="0"/>
              </a:spcBef>
              <a:spcAft>
                <a:spcPts val="0"/>
              </a:spcAft>
              <a:buSzPts val="1800"/>
              <a:buFont typeface="Raleway Light"/>
              <a:buChar char="➔"/>
            </a:pPr>
            <a:r>
              <a:rPr lang="en" sz="1800">
                <a:latin typeface="Raleway Light"/>
                <a:ea typeface="Raleway Light"/>
                <a:cs typeface="Raleway Light"/>
                <a:sym typeface="Raleway Light"/>
              </a:rPr>
              <a:t>What benefits could humanity reap if superhuman intelligence was created?</a:t>
            </a:r>
            <a:endParaRPr sz="1800">
              <a:latin typeface="Raleway Light"/>
              <a:ea typeface="Raleway Light"/>
              <a:cs typeface="Raleway Light"/>
              <a:sym typeface="Raleway Light"/>
            </a:endParaRPr>
          </a:p>
          <a:p>
            <a:pPr marL="0" lvl="0" indent="0" algn="l" rtl="0">
              <a:spcBef>
                <a:spcPts val="0"/>
              </a:spcBef>
              <a:spcAft>
                <a:spcPts val="0"/>
              </a:spcAft>
              <a:buNone/>
            </a:pPr>
            <a:endParaRPr>
              <a:latin typeface="Raleway Light"/>
              <a:ea typeface="Raleway Light"/>
              <a:cs typeface="Raleway Light"/>
              <a:sym typeface="Raleway Light"/>
            </a:endParaRPr>
          </a:p>
          <a:p>
            <a:pPr marL="0" lvl="0" indent="0" algn="l" rtl="0">
              <a:spcBef>
                <a:spcPts val="0"/>
              </a:spcBef>
              <a:spcAft>
                <a:spcPts val="0"/>
              </a:spcAft>
              <a:buNone/>
            </a:pPr>
            <a:endParaRPr>
              <a:latin typeface="Raleway Light"/>
              <a:ea typeface="Raleway Light"/>
              <a:cs typeface="Raleway Light"/>
              <a:sym typeface="Raleway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4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chemeClr val="accent1"/>
                </a:solidFill>
                <a:latin typeface="Lato"/>
                <a:ea typeface="Lato"/>
                <a:cs typeface="Lato"/>
                <a:sym typeface="Lato"/>
              </a:rPr>
              <a:t>27</a:t>
            </a:fld>
            <a:endParaRPr sz="1000">
              <a:solidFill>
                <a:schemeClr val="accent1"/>
              </a:solidFill>
              <a:latin typeface="Lato"/>
              <a:ea typeface="Lato"/>
              <a:cs typeface="Lato"/>
              <a:sym typeface="Lato"/>
            </a:endParaRPr>
          </a:p>
        </p:txBody>
      </p:sp>
      <p:pic>
        <p:nvPicPr>
          <p:cNvPr id="313" name="Google Shape;313;p42"/>
          <p:cNvPicPr preferRelativeResize="0"/>
          <p:nvPr/>
        </p:nvPicPr>
        <p:blipFill>
          <a:blip r:embed="rId3">
            <a:alphaModFix/>
          </a:blip>
          <a:stretch>
            <a:fillRect/>
          </a:stretch>
        </p:blipFill>
        <p:spPr>
          <a:xfrm>
            <a:off x="434950" y="479200"/>
            <a:ext cx="899550" cy="899550"/>
          </a:xfrm>
          <a:prstGeom prst="rect">
            <a:avLst/>
          </a:prstGeom>
          <a:noFill/>
          <a:ln>
            <a:noFill/>
          </a:ln>
        </p:spPr>
      </p:pic>
      <p:sp>
        <p:nvSpPr>
          <p:cNvPr id="314" name="Google Shape;314;p42"/>
          <p:cNvSpPr txBox="1"/>
          <p:nvPr/>
        </p:nvSpPr>
        <p:spPr>
          <a:xfrm>
            <a:off x="1496250" y="625175"/>
            <a:ext cx="6151500" cy="48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latin typeface="Raleway"/>
                <a:ea typeface="Raleway"/>
                <a:cs typeface="Raleway"/>
                <a:sym typeface="Raleway"/>
              </a:rPr>
              <a:t>Discuss the questions. [part 2/2]</a:t>
            </a:r>
            <a:endParaRPr sz="1800" b="1">
              <a:latin typeface="Raleway"/>
              <a:ea typeface="Raleway"/>
              <a:cs typeface="Raleway"/>
              <a:sym typeface="Raleway"/>
            </a:endParaRPr>
          </a:p>
        </p:txBody>
      </p:sp>
      <p:sp>
        <p:nvSpPr>
          <p:cNvPr id="315" name="Google Shape;315;p42"/>
          <p:cNvSpPr txBox="1"/>
          <p:nvPr/>
        </p:nvSpPr>
        <p:spPr>
          <a:xfrm>
            <a:off x="1073550" y="1378750"/>
            <a:ext cx="6574200" cy="2837700"/>
          </a:xfrm>
          <a:prstGeom prst="rect">
            <a:avLst/>
          </a:prstGeom>
          <a:noFill/>
          <a:ln>
            <a:noFill/>
          </a:ln>
        </p:spPr>
        <p:txBody>
          <a:bodyPr spcFirstLastPara="1" wrap="square" lIns="91425" tIns="91425" rIns="91425" bIns="91425" anchor="t" anchorCtr="0">
            <a:noAutofit/>
          </a:bodyPr>
          <a:lstStyle/>
          <a:p>
            <a:pPr marL="457200" lvl="0" indent="-342900" algn="l" rtl="0">
              <a:lnSpc>
                <a:spcPct val="150000"/>
              </a:lnSpc>
              <a:spcBef>
                <a:spcPts val="0"/>
              </a:spcBef>
              <a:spcAft>
                <a:spcPts val="0"/>
              </a:spcAft>
              <a:buSzPts val="1800"/>
              <a:buFont typeface="Raleway Light"/>
              <a:buChar char="➔"/>
            </a:pPr>
            <a:r>
              <a:rPr lang="en" sz="1800">
                <a:latin typeface="Raleway Light"/>
                <a:ea typeface="Raleway Light"/>
                <a:cs typeface="Raleway Light"/>
                <a:sym typeface="Raleway Light"/>
              </a:rPr>
              <a:t>Is it possible to ensure equitable access to this technology across society?</a:t>
            </a:r>
            <a:endParaRPr sz="1800">
              <a:latin typeface="Raleway Light"/>
              <a:ea typeface="Raleway Light"/>
              <a:cs typeface="Raleway Light"/>
              <a:sym typeface="Raleway Light"/>
            </a:endParaRPr>
          </a:p>
          <a:p>
            <a:pPr marL="457200" lvl="0" indent="-342900" algn="l" rtl="0">
              <a:lnSpc>
                <a:spcPct val="150000"/>
              </a:lnSpc>
              <a:spcBef>
                <a:spcPts val="0"/>
              </a:spcBef>
              <a:spcAft>
                <a:spcPts val="0"/>
              </a:spcAft>
              <a:buSzPts val="1800"/>
              <a:buFont typeface="Raleway Light"/>
              <a:buChar char="➔"/>
            </a:pPr>
            <a:r>
              <a:rPr lang="en" sz="1800">
                <a:latin typeface="Raleway Light"/>
                <a:ea typeface="Raleway Light"/>
                <a:cs typeface="Raleway Light"/>
                <a:sym typeface="Raleway Light"/>
              </a:rPr>
              <a:t>Are there limits that brain-computer interface scientists shouldn’t surpass?</a:t>
            </a:r>
            <a:endParaRPr sz="1800">
              <a:latin typeface="Raleway Light"/>
              <a:ea typeface="Raleway Light"/>
              <a:cs typeface="Raleway Light"/>
              <a:sym typeface="Raleway Light"/>
            </a:endParaRPr>
          </a:p>
          <a:p>
            <a:pPr marL="457200" lvl="0" indent="-342900" algn="l" rtl="0">
              <a:lnSpc>
                <a:spcPct val="150000"/>
              </a:lnSpc>
              <a:spcBef>
                <a:spcPts val="0"/>
              </a:spcBef>
              <a:spcAft>
                <a:spcPts val="0"/>
              </a:spcAft>
              <a:buSzPts val="1800"/>
              <a:buFont typeface="Raleway Light"/>
              <a:buChar char="➔"/>
            </a:pPr>
            <a:r>
              <a:rPr lang="en" sz="1800">
                <a:latin typeface="Raleway Light"/>
                <a:ea typeface="Raleway Light"/>
                <a:cs typeface="Raleway Light"/>
                <a:sym typeface="Raleway Light"/>
              </a:rPr>
              <a:t>Do you think this is the only way we can keep pace with artificial intelligence?</a:t>
            </a:r>
            <a:endParaRPr sz="1800">
              <a:latin typeface="Raleway Light"/>
              <a:ea typeface="Raleway Light"/>
              <a:cs typeface="Raleway Light"/>
              <a:sym typeface="Raleway Light"/>
            </a:endParaRPr>
          </a:p>
          <a:p>
            <a:pPr marL="0" lvl="0" indent="0" algn="l" rtl="0">
              <a:spcBef>
                <a:spcPts val="0"/>
              </a:spcBef>
              <a:spcAft>
                <a:spcPts val="0"/>
              </a:spcAft>
              <a:buNone/>
            </a:pPr>
            <a:endParaRPr>
              <a:latin typeface="Raleway Light"/>
              <a:ea typeface="Raleway Light"/>
              <a:cs typeface="Raleway Light"/>
              <a:sym typeface="Raleway Light"/>
            </a:endParaRPr>
          </a:p>
          <a:p>
            <a:pPr marL="0" lvl="0" indent="0" algn="l" rtl="0">
              <a:spcBef>
                <a:spcPts val="0"/>
              </a:spcBef>
              <a:spcAft>
                <a:spcPts val="0"/>
              </a:spcAft>
              <a:buNone/>
            </a:pPr>
            <a:endParaRPr>
              <a:latin typeface="Raleway Light"/>
              <a:ea typeface="Raleway Light"/>
              <a:cs typeface="Raleway Light"/>
              <a:sym typeface="Raleway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5C5C"/>
        </a:solidFill>
        <a:effectLst/>
      </p:bgPr>
    </p:bg>
    <p:spTree>
      <p:nvGrpSpPr>
        <p:cNvPr id="1" name="Shape 319"/>
        <p:cNvGrpSpPr/>
        <p:nvPr/>
      </p:nvGrpSpPr>
      <p:grpSpPr>
        <a:xfrm>
          <a:off x="0" y="0"/>
          <a:ext cx="0" cy="0"/>
          <a:chOff x="0" y="0"/>
          <a:chExt cx="0" cy="0"/>
        </a:xfrm>
      </p:grpSpPr>
      <p:sp>
        <p:nvSpPr>
          <p:cNvPr id="320" name="Google Shape;320;p43"/>
          <p:cNvSpPr txBox="1">
            <a:spLocks noGrp="1"/>
          </p:cNvSpPr>
          <p:nvPr>
            <p:ph type="ctrTitle"/>
          </p:nvPr>
        </p:nvSpPr>
        <p:spPr>
          <a:xfrm>
            <a:off x="685800" y="3287213"/>
            <a:ext cx="7772400" cy="1159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1836</Words>
  <Application>Microsoft Office PowerPoint</Application>
  <PresentationFormat>On-screen Show (16:9)</PresentationFormat>
  <Paragraphs>179</Paragraphs>
  <Slides>28</Slides>
  <Notes>28</Notes>
  <HiddenSlides>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Lato</vt:lpstr>
      <vt:lpstr>Raleway</vt:lpstr>
      <vt:lpstr>Raleway Light</vt:lpstr>
      <vt:lpstr>Century Gothic</vt:lpstr>
      <vt:lpstr>Streamline</vt:lpstr>
      <vt:lpstr>How technology  can enhance  our brain</vt:lpstr>
      <vt:lpstr>PowerPoint Presentation</vt:lpstr>
      <vt:lpstr>Let’s get started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Let’s learn some vocabulary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When thoughts control machines</vt:lpstr>
      <vt:lpstr>PowerPoint Presentation</vt:lpstr>
      <vt:lpstr>PowerPoint Presentation</vt:lpstr>
      <vt:lpstr>PowerPoint Presentation</vt:lpstr>
      <vt:lpstr>PowerPoint Presentation</vt:lpstr>
      <vt:lpstr>PowerPoint Presentation</vt:lpstr>
      <vt:lpstr>Let’s talk!</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technology  can enhance  our brain</dc:title>
  <cp:lastModifiedBy>Theo Clarke</cp:lastModifiedBy>
  <cp:revision>1</cp:revision>
  <dcterms:modified xsi:type="dcterms:W3CDTF">2024-01-11T16:28:57Z</dcterms:modified>
</cp:coreProperties>
</file>