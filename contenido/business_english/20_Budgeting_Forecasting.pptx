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69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68" r:id="rId1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8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DC5FC-6D57-EAD2-8799-5529324803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F85887-BC2F-96B5-E0D1-E5252ABEE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6F410-7337-82C9-88F8-5F17EE8B8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22DC-40B1-4861-85E6-44F945E42327}" type="datetimeFigureOut">
              <a:rPr lang="es-ES" smtClean="0"/>
              <a:t>15/08/2024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37B87-53D7-252F-4AF0-CF0AD2EC2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8CE54-71C6-31B7-9E95-34267674B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2AA7-3C37-4291-9F4B-D8003392E81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8237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CB008-9E4F-36F6-D294-6AF94FDF3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18C4B-DEA8-2E3A-3F7E-DD9CD8884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47020-DE41-0A20-EE92-52D23BBBB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22DC-40B1-4861-85E6-44F945E42327}" type="datetimeFigureOut">
              <a:rPr lang="es-ES" smtClean="0"/>
              <a:t>15/08/2024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E8B44-4F93-B5E2-6BAB-55FE347AE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4AF1C-C3BC-F099-DFDC-031DB9FBC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2AA7-3C37-4291-9F4B-D8003392E81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5305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D6AFD-0292-28B4-48DA-D107C7375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5D2F66-64DB-D05F-3ABE-1FFA1CED7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F5945-D0AE-C218-03A1-405DC62FF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22DC-40B1-4861-85E6-44F945E42327}" type="datetimeFigureOut">
              <a:rPr lang="es-ES" smtClean="0"/>
              <a:t>15/08/2024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29971-6FEB-4A8E-C938-F7302E550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95198-91C3-6DF4-DCF0-243B2162F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2AA7-3C37-4291-9F4B-D8003392E81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8138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449EB-721E-C6C6-9D4B-B09F8FA6C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8596C-9790-E9BD-9050-EB95278E16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90D3BF-FB6C-9529-757D-E202118037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F6868C-DD44-3263-4071-1918EFDA0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22DC-40B1-4861-85E6-44F945E42327}" type="datetimeFigureOut">
              <a:rPr lang="es-ES" smtClean="0"/>
              <a:t>15/08/2024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D58E7F-F95A-E6A0-E0B8-E93A0EA5C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5248FF-596A-DF5A-0B2C-0BF1CA49F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2AA7-3C37-4291-9F4B-D8003392E81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197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748D5-9A81-DEAB-A169-84E78B32C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5F521-EA80-2656-2F66-4AD70D763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F3964-06E8-2E3B-AB65-E3DDE8989D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E49C99-E63A-967A-3674-4CB0AE9B48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6A9F22-BD08-0C75-9009-BA33EEC47D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6E6AA5-EF9E-3FDC-803E-FF493E79A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22DC-40B1-4861-85E6-44F945E42327}" type="datetimeFigureOut">
              <a:rPr lang="es-ES" smtClean="0"/>
              <a:t>15/08/2024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24DB0A-1585-FD08-48A9-0F916400C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36CFAC-66D4-CC1A-19F3-673EEE548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2AA7-3C37-4291-9F4B-D8003392E81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4924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60CFD-6C85-A085-2B9C-F0AF1F258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D2A5D8-E869-5F1D-F2E2-3A9B45C11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22DC-40B1-4861-85E6-44F945E42327}" type="datetimeFigureOut">
              <a:rPr lang="es-ES" smtClean="0"/>
              <a:t>15/08/2024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DED394-FB2E-AB8A-66AF-9A18C7546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489CFB-613A-452F-F2E0-E9E948207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2AA7-3C37-4291-9F4B-D8003392E81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6242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D9AFA8-4BD5-9AF7-90FC-D092015EE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22DC-40B1-4861-85E6-44F945E42327}" type="datetimeFigureOut">
              <a:rPr lang="es-ES" smtClean="0"/>
              <a:t>15/08/2024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51FBB6-55C6-5CDF-88F4-BEADA552B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2BD2F0-4E2B-253B-0E96-FE212464E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2AA7-3C37-4291-9F4B-D8003392E81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79927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7869F-EC5F-6C94-76B2-10353D91E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D1ED8-4CA0-D97B-9CF2-8B86C7971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7C3B98-0869-7929-0FE8-8925C95581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54735C-B59E-4258-2702-AA53CC3C2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22DC-40B1-4861-85E6-44F945E42327}" type="datetimeFigureOut">
              <a:rPr lang="es-ES" smtClean="0"/>
              <a:t>15/08/2024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25DF63-0EC3-825A-F064-0F29E6A9A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76E9DC-6ED1-169F-70A4-EA38E7DC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2AA7-3C37-4291-9F4B-D8003392E81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871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9AE59-8AC1-96B1-3CE9-A0D4FF8A3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B950F2-2490-EF61-CA26-C5F653E566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C8F227-703C-02E6-CDDF-D6567CAEB7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F63A0D-7EBE-1900-4D51-9A7B80F8E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22DC-40B1-4861-85E6-44F945E42327}" type="datetimeFigureOut">
              <a:rPr lang="es-ES" smtClean="0"/>
              <a:t>15/08/2024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9E8129-1A0F-0D1F-B870-7727C0C2E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65AECA-2992-78AF-A203-F141049BB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2AA7-3C37-4291-9F4B-D8003392E81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1120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CB840-CAEA-43E5-8F5E-7CB281AA3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6C93EA-34AF-D6C4-2670-579262778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AB165-20EB-662C-404E-2FC13231E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22DC-40B1-4861-85E6-44F945E42327}" type="datetimeFigureOut">
              <a:rPr lang="es-ES" smtClean="0"/>
              <a:t>15/08/2024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0380B-65DE-8A73-54D6-8381181C9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22BD4-2F42-4113-26A0-EF778D389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2AA7-3C37-4291-9F4B-D8003392E81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2268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1EFDA2-845E-31D1-8644-DEFEC3C27F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852BE0-D511-7735-B08F-CC6883E506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079C4-C794-1BC7-3CA1-585E4DA47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22DC-40B1-4861-85E6-44F945E42327}" type="datetimeFigureOut">
              <a:rPr lang="es-ES" smtClean="0"/>
              <a:t>15/08/2024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70537-4CEF-52FC-DF64-83FE92379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224C2-0389-AAC3-D7EF-0CF3DC216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2AA7-3C37-4291-9F4B-D8003392E81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5198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F6258-59DB-D502-2310-F5E6CA954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9FB25F-05D3-5D68-F41D-C4C4489F3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B5EA1-D7AB-395B-7E38-9FD252650B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3D22DC-40B1-4861-85E6-44F945E42327}" type="datetimeFigureOut">
              <a:rPr lang="es-ES" smtClean="0"/>
              <a:t>15/08/2024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BFAC8-E278-AC78-7372-2A9B61DB55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3BD0F-3768-2266-1A60-90767DC1DE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192AA7-3C37-4291-9F4B-D8003392E81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55391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39F8A-3458-0384-D3DE-6A953FEF50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</a:rPr>
              <a:t>Understanding key financial statements </a:t>
            </a:r>
            <a:endParaRPr kumimoji="0" lang="en-US" altLang="en-US" sz="9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81C2AD-45C1-9E0A-1F74-60E9AAD105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Business English B1</a:t>
            </a:r>
            <a:endParaRPr lang="es-E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68ECA0-33E9-141C-6226-3CEEEEA04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3691" y="360363"/>
            <a:ext cx="1638300" cy="762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69BF2F2-9290-F3AC-390E-225DA13AEF5D}"/>
              </a:ext>
            </a:extLst>
          </p:cNvPr>
          <p:cNvSpPr txBox="1"/>
          <p:nvPr/>
        </p:nvSpPr>
        <p:spPr>
          <a:xfrm>
            <a:off x="585369" y="5963513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800" b="0" i="0" kern="1200" spc="0" baseline="0" dirty="0" err="1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TuSpeaking</a:t>
            </a:r>
            <a:r>
              <a:rPr lang="en-GB" sz="1800" b="0" i="0" kern="1200" spc="0" baseline="0" dirty="0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2024,  All rights reserved</a:t>
            </a:r>
            <a:endParaRPr lang="es-ES" dirty="0">
              <a:effectLst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B8728C-D0F4-541F-78BB-ED65C690B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050"/>
            <a:ext cx="65" cy="341099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1994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34ED06-4AB6-70F4-21A6-2CE2567A0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0574" y="-1"/>
            <a:ext cx="4977976" cy="1454051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tx2"/>
                </a:solidFill>
              </a:rPr>
              <a:t>Warm up</a:t>
            </a:r>
          </a:p>
        </p:txBody>
      </p:sp>
      <p:pic>
        <p:nvPicPr>
          <p:cNvPr id="8" name="Graphic 7" descr="Money">
            <a:extLst>
              <a:ext uri="{FF2B5EF4-FFF2-40B4-BE49-F238E27FC236}">
                <a16:creationId xmlns:a16="http://schemas.microsoft.com/office/drawing/2014/main" id="{BDCEFC08-197B-0AC1-3C12-550F0A3BEF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56BE4580-77CC-15A8-8EF6-ABCA53157C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0574" y="1793846"/>
            <a:ext cx="4977578" cy="4267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Do you have a monthly budget for your personal expenses? What do you usually include in it?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Have you ever saved money for something special, like a vacation or a big purchase? How did you plan for it?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What are some things you spend money on regularly? Can you think of any ways to reduce these expenses?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Why do you think it’s important to plan how you spend your money?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154788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D13CC36-B950-4F02-9BAF-9A7EB267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BDED99-B35B-4FEE-A274-8E8DB6FEE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02473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Desk with productivity items">
            <a:extLst>
              <a:ext uri="{FF2B5EF4-FFF2-40B4-BE49-F238E27FC236}">
                <a16:creationId xmlns:a16="http://schemas.microsoft.com/office/drawing/2014/main" id="{9B9CF568-72F6-FADE-3A41-519B7D3CFD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069" r="21819" b="-1"/>
          <a:stretch/>
        </p:blipFill>
        <p:spPr>
          <a:xfrm>
            <a:off x="7968222" y="10"/>
            <a:ext cx="4223778" cy="6857990"/>
          </a:xfrm>
          <a:custGeom>
            <a:avLst/>
            <a:gdLst/>
            <a:ahLst/>
            <a:cxnLst/>
            <a:rect l="l" t="t" r="r" b="b"/>
            <a:pathLst>
              <a:path w="4223778" h="6865951">
                <a:moveTo>
                  <a:pt x="478794" y="0"/>
                </a:moveTo>
                <a:lnTo>
                  <a:pt x="4223778" y="0"/>
                </a:lnTo>
                <a:lnTo>
                  <a:pt x="4223778" y="6865951"/>
                </a:lnTo>
                <a:lnTo>
                  <a:pt x="52221" y="6865951"/>
                </a:lnTo>
                <a:lnTo>
                  <a:pt x="49989" y="6844695"/>
                </a:lnTo>
                <a:cubicBezTo>
                  <a:pt x="46440" y="6810509"/>
                  <a:pt x="42891" y="6776323"/>
                  <a:pt x="41304" y="6765443"/>
                </a:cubicBezTo>
                <a:cubicBezTo>
                  <a:pt x="35681" y="6732842"/>
                  <a:pt x="13533" y="6716945"/>
                  <a:pt x="11182" y="6694817"/>
                </a:cubicBezTo>
                <a:cubicBezTo>
                  <a:pt x="16764" y="6697663"/>
                  <a:pt x="14835" y="6635151"/>
                  <a:pt x="10913" y="6627127"/>
                </a:cubicBezTo>
                <a:cubicBezTo>
                  <a:pt x="19564" y="6579282"/>
                  <a:pt x="-12861" y="6585665"/>
                  <a:pt x="5999" y="6527525"/>
                </a:cubicBezTo>
                <a:cubicBezTo>
                  <a:pt x="12287" y="6468687"/>
                  <a:pt x="19003" y="6409739"/>
                  <a:pt x="7685" y="6346547"/>
                </a:cubicBezTo>
                <a:cubicBezTo>
                  <a:pt x="31149" y="6240430"/>
                  <a:pt x="5895" y="6134229"/>
                  <a:pt x="12535" y="6084924"/>
                </a:cubicBezTo>
                <a:cubicBezTo>
                  <a:pt x="14696" y="6024961"/>
                  <a:pt x="53867" y="6020785"/>
                  <a:pt x="45320" y="5989742"/>
                </a:cubicBezTo>
                <a:cubicBezTo>
                  <a:pt x="41264" y="5940899"/>
                  <a:pt x="43258" y="5932095"/>
                  <a:pt x="40418" y="5889597"/>
                </a:cubicBezTo>
                <a:cubicBezTo>
                  <a:pt x="20860" y="5848611"/>
                  <a:pt x="51187" y="5792775"/>
                  <a:pt x="49796" y="5755774"/>
                </a:cubicBezTo>
                <a:cubicBezTo>
                  <a:pt x="43522" y="5734342"/>
                  <a:pt x="37368" y="5692606"/>
                  <a:pt x="49956" y="5684909"/>
                </a:cubicBezTo>
                <a:cubicBezTo>
                  <a:pt x="52825" y="5660429"/>
                  <a:pt x="62553" y="5623499"/>
                  <a:pt x="67011" y="5608897"/>
                </a:cubicBezTo>
                <a:lnTo>
                  <a:pt x="76701" y="5597290"/>
                </a:lnTo>
                <a:cubicBezTo>
                  <a:pt x="87717" y="5587442"/>
                  <a:pt x="82431" y="5550877"/>
                  <a:pt x="89120" y="5529641"/>
                </a:cubicBezTo>
                <a:cubicBezTo>
                  <a:pt x="69291" y="5496375"/>
                  <a:pt x="118554" y="5526326"/>
                  <a:pt x="94330" y="5470852"/>
                </a:cubicBezTo>
                <a:cubicBezTo>
                  <a:pt x="95483" y="5449506"/>
                  <a:pt x="114690" y="5429653"/>
                  <a:pt x="116139" y="5390946"/>
                </a:cubicBezTo>
                <a:cubicBezTo>
                  <a:pt x="127589" y="5337323"/>
                  <a:pt x="132794" y="5338384"/>
                  <a:pt x="135560" y="5284344"/>
                </a:cubicBezTo>
                <a:cubicBezTo>
                  <a:pt x="143629" y="5226223"/>
                  <a:pt x="148113" y="5192743"/>
                  <a:pt x="158141" y="5143920"/>
                </a:cubicBezTo>
                <a:cubicBezTo>
                  <a:pt x="170128" y="5118849"/>
                  <a:pt x="159838" y="5102006"/>
                  <a:pt x="174950" y="5088188"/>
                </a:cubicBezTo>
                <a:cubicBezTo>
                  <a:pt x="197620" y="5107654"/>
                  <a:pt x="181875" y="4983257"/>
                  <a:pt x="203603" y="5010764"/>
                </a:cubicBezTo>
                <a:lnTo>
                  <a:pt x="258582" y="4919969"/>
                </a:lnTo>
                <a:cubicBezTo>
                  <a:pt x="238838" y="4883087"/>
                  <a:pt x="271098" y="4853332"/>
                  <a:pt x="287910" y="4849612"/>
                </a:cubicBezTo>
                <a:cubicBezTo>
                  <a:pt x="294156" y="4811643"/>
                  <a:pt x="286101" y="4834074"/>
                  <a:pt x="305439" y="4799017"/>
                </a:cubicBezTo>
                <a:cubicBezTo>
                  <a:pt x="322572" y="4758926"/>
                  <a:pt x="352642" y="4705848"/>
                  <a:pt x="373456" y="4667754"/>
                </a:cubicBezTo>
                <a:cubicBezTo>
                  <a:pt x="384080" y="4649919"/>
                  <a:pt x="401158" y="4670663"/>
                  <a:pt x="407944" y="4574050"/>
                </a:cubicBezTo>
                <a:cubicBezTo>
                  <a:pt x="408098" y="4548109"/>
                  <a:pt x="427782" y="4503327"/>
                  <a:pt x="425133" y="4462469"/>
                </a:cubicBezTo>
                <a:lnTo>
                  <a:pt x="433890" y="4364681"/>
                </a:lnTo>
                <a:cubicBezTo>
                  <a:pt x="430018" y="4339230"/>
                  <a:pt x="435361" y="4287915"/>
                  <a:pt x="440691" y="4222147"/>
                </a:cubicBezTo>
                <a:cubicBezTo>
                  <a:pt x="451463" y="4164562"/>
                  <a:pt x="497377" y="4067298"/>
                  <a:pt x="503057" y="3977136"/>
                </a:cubicBezTo>
                <a:cubicBezTo>
                  <a:pt x="519229" y="3939837"/>
                  <a:pt x="472839" y="3875689"/>
                  <a:pt x="507582" y="3776020"/>
                </a:cubicBezTo>
                <a:cubicBezTo>
                  <a:pt x="497716" y="3757477"/>
                  <a:pt x="518006" y="3707185"/>
                  <a:pt x="521577" y="3692206"/>
                </a:cubicBezTo>
                <a:cubicBezTo>
                  <a:pt x="525148" y="3677227"/>
                  <a:pt x="526352" y="3687655"/>
                  <a:pt x="529009" y="3686147"/>
                </a:cubicBezTo>
                <a:cubicBezTo>
                  <a:pt x="531848" y="3650325"/>
                  <a:pt x="545504" y="3563351"/>
                  <a:pt x="551870" y="3514534"/>
                </a:cubicBezTo>
                <a:cubicBezTo>
                  <a:pt x="561331" y="3487751"/>
                  <a:pt x="581973" y="3426419"/>
                  <a:pt x="567205" y="3393248"/>
                </a:cubicBezTo>
                <a:cubicBezTo>
                  <a:pt x="585208" y="3400657"/>
                  <a:pt x="563566" y="3353906"/>
                  <a:pt x="579630" y="3344723"/>
                </a:cubicBezTo>
                <a:cubicBezTo>
                  <a:pt x="592861" y="3339338"/>
                  <a:pt x="589379" y="3323900"/>
                  <a:pt x="592672" y="3310978"/>
                </a:cubicBezTo>
                <a:cubicBezTo>
                  <a:pt x="605351" y="3299735"/>
                  <a:pt x="594296" y="3237176"/>
                  <a:pt x="589270" y="3216655"/>
                </a:cubicBezTo>
                <a:cubicBezTo>
                  <a:pt x="566909" y="3160431"/>
                  <a:pt x="626099" y="3142203"/>
                  <a:pt x="609663" y="3096973"/>
                </a:cubicBezTo>
                <a:cubicBezTo>
                  <a:pt x="609191" y="3084373"/>
                  <a:pt x="615889" y="3033331"/>
                  <a:pt x="618886" y="3023628"/>
                </a:cubicBezTo>
                <a:lnTo>
                  <a:pt x="630425" y="2998646"/>
                </a:lnTo>
                <a:lnTo>
                  <a:pt x="640017" y="2995914"/>
                </a:lnTo>
                <a:lnTo>
                  <a:pt x="643600" y="2978244"/>
                </a:lnTo>
                <a:lnTo>
                  <a:pt x="659520" y="2950805"/>
                </a:lnTo>
                <a:cubicBezTo>
                  <a:pt x="620152" y="2937671"/>
                  <a:pt x="687598" y="2860550"/>
                  <a:pt x="650890" y="2864933"/>
                </a:cubicBezTo>
                <a:cubicBezTo>
                  <a:pt x="663707" y="2817056"/>
                  <a:pt x="662078" y="2779813"/>
                  <a:pt x="640210" y="2741864"/>
                </a:cubicBezTo>
                <a:cubicBezTo>
                  <a:pt x="634452" y="2649732"/>
                  <a:pt x="665268" y="2597914"/>
                  <a:pt x="639387" y="2510931"/>
                </a:cubicBezTo>
                <a:cubicBezTo>
                  <a:pt x="645574" y="2407642"/>
                  <a:pt x="671719" y="2317589"/>
                  <a:pt x="680438" y="2227415"/>
                </a:cubicBezTo>
                <a:cubicBezTo>
                  <a:pt x="664175" y="2189847"/>
                  <a:pt x="704423" y="2141655"/>
                  <a:pt x="688135" y="2054289"/>
                </a:cubicBezTo>
                <a:cubicBezTo>
                  <a:pt x="683239" y="2048201"/>
                  <a:pt x="684029" y="1979567"/>
                  <a:pt x="681480" y="1972202"/>
                </a:cubicBezTo>
                <a:lnTo>
                  <a:pt x="686247" y="1917474"/>
                </a:lnTo>
                <a:lnTo>
                  <a:pt x="679783" y="1862721"/>
                </a:lnTo>
                <a:cubicBezTo>
                  <a:pt x="683677" y="1851209"/>
                  <a:pt x="688980" y="1824057"/>
                  <a:pt x="686639" y="1818227"/>
                </a:cubicBezTo>
                <a:lnTo>
                  <a:pt x="658235" y="1742488"/>
                </a:lnTo>
                <a:cubicBezTo>
                  <a:pt x="645662" y="1715201"/>
                  <a:pt x="661423" y="1719638"/>
                  <a:pt x="636990" y="1638389"/>
                </a:cubicBezTo>
                <a:cubicBezTo>
                  <a:pt x="626351" y="1601441"/>
                  <a:pt x="629414" y="1617134"/>
                  <a:pt x="602059" y="1570807"/>
                </a:cubicBezTo>
                <a:lnTo>
                  <a:pt x="570903" y="1513173"/>
                </a:lnTo>
                <a:cubicBezTo>
                  <a:pt x="570781" y="1503175"/>
                  <a:pt x="550561" y="1468055"/>
                  <a:pt x="550438" y="1458058"/>
                </a:cubicBezTo>
                <a:cubicBezTo>
                  <a:pt x="556848" y="1428101"/>
                  <a:pt x="546263" y="1422712"/>
                  <a:pt x="531416" y="1385478"/>
                </a:cubicBezTo>
                <a:cubicBezTo>
                  <a:pt x="527790" y="1370753"/>
                  <a:pt x="490725" y="1304050"/>
                  <a:pt x="501981" y="1265452"/>
                </a:cubicBezTo>
                <a:cubicBezTo>
                  <a:pt x="501825" y="1234781"/>
                  <a:pt x="490462" y="1187660"/>
                  <a:pt x="487370" y="1141743"/>
                </a:cubicBezTo>
                <a:cubicBezTo>
                  <a:pt x="484278" y="1095826"/>
                  <a:pt x="483852" y="1028118"/>
                  <a:pt x="483427" y="989948"/>
                </a:cubicBezTo>
                <a:cubicBezTo>
                  <a:pt x="483001" y="951779"/>
                  <a:pt x="494678" y="945984"/>
                  <a:pt x="484820" y="912725"/>
                </a:cubicBezTo>
                <a:cubicBezTo>
                  <a:pt x="467566" y="854951"/>
                  <a:pt x="510777" y="860797"/>
                  <a:pt x="475093" y="812798"/>
                </a:cubicBezTo>
                <a:cubicBezTo>
                  <a:pt x="461960" y="787034"/>
                  <a:pt x="498505" y="551948"/>
                  <a:pt x="461972" y="450605"/>
                </a:cubicBezTo>
                <a:cubicBezTo>
                  <a:pt x="470167" y="357604"/>
                  <a:pt x="458694" y="431306"/>
                  <a:pt x="465015" y="372906"/>
                </a:cubicBezTo>
                <a:cubicBezTo>
                  <a:pt x="503427" y="364177"/>
                  <a:pt x="489736" y="290341"/>
                  <a:pt x="490377" y="246134"/>
                </a:cubicBezTo>
                <a:cubicBezTo>
                  <a:pt x="491019" y="201927"/>
                  <a:pt x="449725" y="138160"/>
                  <a:pt x="468864" y="107666"/>
                </a:cubicBezTo>
                <a:cubicBezTo>
                  <a:pt x="468282" y="89794"/>
                  <a:pt x="477749" y="76947"/>
                  <a:pt x="477167" y="59075"/>
                </a:cubicBezTo>
                <a:lnTo>
                  <a:pt x="472992" y="1456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D3C140-ED75-D97A-7620-15EA47B02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6831188" cy="1322887"/>
          </a:xfrm>
        </p:spPr>
        <p:txBody>
          <a:bodyPr>
            <a:normAutofit/>
          </a:bodyPr>
          <a:lstStyle/>
          <a:p>
            <a:r>
              <a:rPr lang="en-GB" dirty="0"/>
              <a:t>Vocabulary and Concepts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D0FF9C4-C70E-6C00-9A9C-2661F11F4C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7035" y="2194102"/>
            <a:ext cx="6516216" cy="39085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</a:rPr>
              <a:t>Capital Expenditure: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</a:rPr>
              <a:t> Money spent on buying or improving long-term assets like buildings or equipment.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</a:rPr>
              <a:t>Operating Expenses: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</a:rPr>
              <a:t> Regular costs of running a business, like rent and salaries.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</a:rPr>
              <a:t>ROI (Return on Investment):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</a:rPr>
              <a:t> Measure of how much profit you make from an investment compared to its cost.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</a:rPr>
              <a:t>Cost-Benefit Analysis: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</a:rPr>
              <a:t> Comparing the costs of something to the benefits it provides to decide if it’s worth doing.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</a:rPr>
              <a:t>Working Capital: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</a:rPr>
              <a:t> The money a company has for day-to-day operations, calculated as current assets minus current liabilities. </a:t>
            </a:r>
          </a:p>
        </p:txBody>
      </p:sp>
    </p:spTree>
    <p:extLst>
      <p:ext uri="{BB962C8B-B14F-4D97-AF65-F5344CB8AC3E}">
        <p14:creationId xmlns:p14="http://schemas.microsoft.com/office/powerpoint/2010/main" val="2755074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268CB8-11F6-2534-FB3E-9B4EA5003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GB" sz="4000" dirty="0"/>
              <a:t>Budgeting and Forecasting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6D29005-5CD9-D7BB-A246-28AC05A5B0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1800" y="2470244"/>
            <a:ext cx="5334197" cy="376983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</a:rPr>
              <a:t>What is budgeting?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</a:rPr>
              <a:t>Why is it important?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lang="en-US" altLang="en-US" sz="2000" dirty="0"/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</a:rPr>
              <a:t>What is forecasting?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</a:rPr>
              <a:t>Why is it useful?</a:t>
            </a:r>
          </a:p>
        </p:txBody>
      </p:sp>
      <p:pic>
        <p:nvPicPr>
          <p:cNvPr id="6" name="Picture 5" descr="Calculator, pen, compass, money and a paper with graphs printed on it">
            <a:extLst>
              <a:ext uri="{FF2B5EF4-FFF2-40B4-BE49-F238E27FC236}">
                <a16:creationId xmlns:a16="http://schemas.microsoft.com/office/drawing/2014/main" id="{0C89F761-E458-232E-397A-4168247DF8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716" r="24496" b="1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32288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Magnifying glass showing decling performance">
            <a:extLst>
              <a:ext uri="{FF2B5EF4-FFF2-40B4-BE49-F238E27FC236}">
                <a16:creationId xmlns:a16="http://schemas.microsoft.com/office/drawing/2014/main" id="{8F50E25D-9D09-42AF-D653-1EC33A3633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89" r="38952" b="-2"/>
          <a:stretch/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26794C-4203-A4CF-A367-AA6B321E3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GB" sz="4000"/>
              <a:t>Budgeting and Forecasting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F8F8CDA-15A2-95F8-2A5A-F3E4897320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15317" y="2743200"/>
            <a:ext cx="5247340" cy="349687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</a:rPr>
              <a:t>What is Budgeting?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: Planning how to spend money over a period (e.g., a year).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</a:rPr>
              <a:t>Why is it Important?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: Helps businesses plan their expenses and savings.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2000" b="1" i="0" u="none" strike="noStrike" cap="none" normalizeH="0" baseline="0">
              <a:ln>
                <a:noFill/>
              </a:ln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</a:rPr>
              <a:t>What is Forecasting?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: Predicting future financial performance based on past data and trends.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</a:rPr>
              <a:t>Why is it Useful?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: Helps businesses prepare for future financial needs and make informed decisions.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31077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9E77DB-0C77-A9EC-2F1F-7B49BED2A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609" y="679731"/>
            <a:ext cx="4171994" cy="373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Basic Budget Example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EA1670-266C-590E-C3EC-6485B5C3E477}"/>
              </a:ext>
            </a:extLst>
          </p:cNvPr>
          <p:cNvSpPr txBox="1"/>
          <p:nvPr/>
        </p:nvSpPr>
        <p:spPr>
          <a:xfrm>
            <a:off x="599609" y="4685288"/>
            <a:ext cx="4171994" cy="10357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Sweet Treats Monthly Budget</a:t>
            </a:r>
            <a:br>
              <a:rPr lang="en-US" sz="2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2200" i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(For the Month of August 2024)</a:t>
            </a:r>
            <a:endParaRPr lang="en-US" sz="2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0451F8B-E544-1921-FABA-075AF47550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0193315"/>
              </p:ext>
            </p:extLst>
          </p:nvPr>
        </p:nvGraphicFramePr>
        <p:xfrm>
          <a:off x="5640572" y="1006188"/>
          <a:ext cx="5608831" cy="4735055"/>
        </p:xfrm>
        <a:graphic>
          <a:graphicData uri="http://schemas.openxmlformats.org/drawingml/2006/table">
            <a:tbl>
              <a:tblPr/>
              <a:tblGrid>
                <a:gridCol w="3849749">
                  <a:extLst>
                    <a:ext uri="{9D8B030D-6E8A-4147-A177-3AD203B41FA5}">
                      <a16:colId xmlns:a16="http://schemas.microsoft.com/office/drawing/2014/main" val="251006921"/>
                    </a:ext>
                  </a:extLst>
                </a:gridCol>
                <a:gridCol w="1759082">
                  <a:extLst>
                    <a:ext uri="{9D8B030D-6E8A-4147-A177-3AD203B41FA5}">
                      <a16:colId xmlns:a16="http://schemas.microsoft.com/office/drawing/2014/main" val="2914633522"/>
                    </a:ext>
                  </a:extLst>
                </a:gridCol>
              </a:tblGrid>
              <a:tr h="311225">
                <a:tc>
                  <a:txBody>
                    <a:bodyPr/>
                    <a:lstStyle/>
                    <a:p>
                      <a:r>
                        <a:rPr lang="en-GB" sz="1400" b="1"/>
                        <a:t>Category</a:t>
                      </a:r>
                      <a:endParaRPr lang="en-GB" sz="1400"/>
                    </a:p>
                  </a:txBody>
                  <a:tcPr marL="69996" marR="69996" marT="34998" marB="34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/>
                        <a:t>Amount ($)</a:t>
                      </a:r>
                      <a:endParaRPr lang="en-GB" sz="1400"/>
                    </a:p>
                  </a:txBody>
                  <a:tcPr marL="69996" marR="69996" marT="34998" marB="34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800442"/>
                  </a:ext>
                </a:extLst>
              </a:tr>
              <a:tr h="311225">
                <a:tc>
                  <a:txBody>
                    <a:bodyPr/>
                    <a:lstStyle/>
                    <a:p>
                      <a:r>
                        <a:rPr lang="en-GB" sz="1400" b="1"/>
                        <a:t>Income</a:t>
                      </a:r>
                      <a:endParaRPr lang="en-GB" sz="1400"/>
                    </a:p>
                  </a:txBody>
                  <a:tcPr marL="69996" marR="69996" marT="34998" marB="34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9996" marR="69996" marT="34998" marB="34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3545297"/>
                  </a:ext>
                </a:extLst>
              </a:tr>
              <a:tr h="311225">
                <a:tc>
                  <a:txBody>
                    <a:bodyPr/>
                    <a:lstStyle/>
                    <a:p>
                      <a:r>
                        <a:rPr lang="en-GB" sz="1400"/>
                        <a:t>Sales Revenue</a:t>
                      </a:r>
                    </a:p>
                  </a:txBody>
                  <a:tcPr marL="69996" marR="69996" marT="34998" marB="34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8,000</a:t>
                      </a:r>
                    </a:p>
                  </a:txBody>
                  <a:tcPr marL="69996" marR="69996" marT="34998" marB="34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3594831"/>
                  </a:ext>
                </a:extLst>
              </a:tr>
              <a:tr h="311225">
                <a:tc>
                  <a:txBody>
                    <a:bodyPr/>
                    <a:lstStyle/>
                    <a:p>
                      <a:r>
                        <a:rPr lang="en-GB" sz="1400" b="1"/>
                        <a:t>Total Income</a:t>
                      </a:r>
                      <a:endParaRPr lang="en-GB" sz="1400"/>
                    </a:p>
                  </a:txBody>
                  <a:tcPr marL="69996" marR="69996" marT="34998" marB="34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/>
                        <a:t>8,000</a:t>
                      </a:r>
                      <a:endParaRPr lang="en-GB" sz="1400"/>
                    </a:p>
                  </a:txBody>
                  <a:tcPr marL="69996" marR="69996" marT="34998" marB="34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2607707"/>
                  </a:ext>
                </a:extLst>
              </a:tr>
              <a:tr h="344565"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9996" marR="69996" marT="34998" marB="34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9996" marR="69996" marT="34998" marB="34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7924911"/>
                  </a:ext>
                </a:extLst>
              </a:tr>
              <a:tr h="311225">
                <a:tc>
                  <a:txBody>
                    <a:bodyPr/>
                    <a:lstStyle/>
                    <a:p>
                      <a:r>
                        <a:rPr lang="en-GB" sz="1400" b="1"/>
                        <a:t>Expenses</a:t>
                      </a:r>
                      <a:endParaRPr lang="en-GB" sz="1400"/>
                    </a:p>
                  </a:txBody>
                  <a:tcPr marL="69996" marR="69996" marT="34998" marB="34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9996" marR="69996" marT="34998" marB="34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6138797"/>
                  </a:ext>
                </a:extLst>
              </a:tr>
              <a:tr h="311225">
                <a:tc>
                  <a:txBody>
                    <a:bodyPr/>
                    <a:lstStyle/>
                    <a:p>
                      <a:r>
                        <a:rPr lang="en-GB" sz="1400"/>
                        <a:t>Rent</a:t>
                      </a:r>
                    </a:p>
                  </a:txBody>
                  <a:tcPr marL="69996" marR="69996" marT="34998" marB="34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1,200</a:t>
                      </a:r>
                    </a:p>
                  </a:txBody>
                  <a:tcPr marL="69996" marR="69996" marT="34998" marB="34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3773273"/>
                  </a:ext>
                </a:extLst>
              </a:tr>
              <a:tr h="311225">
                <a:tc>
                  <a:txBody>
                    <a:bodyPr/>
                    <a:lstStyle/>
                    <a:p>
                      <a:r>
                        <a:rPr lang="en-GB" sz="1400"/>
                        <a:t>Utilities (electricity, water)</a:t>
                      </a:r>
                    </a:p>
                  </a:txBody>
                  <a:tcPr marL="69996" marR="69996" marT="34998" marB="34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300</a:t>
                      </a:r>
                    </a:p>
                  </a:txBody>
                  <a:tcPr marL="69996" marR="69996" marT="34998" marB="34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2689538"/>
                  </a:ext>
                </a:extLst>
              </a:tr>
              <a:tr h="311225">
                <a:tc>
                  <a:txBody>
                    <a:bodyPr/>
                    <a:lstStyle/>
                    <a:p>
                      <a:r>
                        <a:rPr lang="en-GB" sz="1400"/>
                        <a:t>Ingredients (flour, sugar, etc.)</a:t>
                      </a:r>
                    </a:p>
                  </a:txBody>
                  <a:tcPr marL="69996" marR="69996" marT="34998" marB="34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1,500</a:t>
                      </a:r>
                    </a:p>
                  </a:txBody>
                  <a:tcPr marL="69996" marR="69996" marT="34998" marB="34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0870286"/>
                  </a:ext>
                </a:extLst>
              </a:tr>
              <a:tr h="311225">
                <a:tc>
                  <a:txBody>
                    <a:bodyPr/>
                    <a:lstStyle/>
                    <a:p>
                      <a:r>
                        <a:rPr lang="en-GB" sz="1400"/>
                        <a:t>Salaries (staff wages)</a:t>
                      </a:r>
                    </a:p>
                  </a:txBody>
                  <a:tcPr marL="69996" marR="69996" marT="34998" marB="34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2,000</a:t>
                      </a:r>
                    </a:p>
                  </a:txBody>
                  <a:tcPr marL="69996" marR="69996" marT="34998" marB="34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8593714"/>
                  </a:ext>
                </a:extLst>
              </a:tr>
              <a:tr h="311225">
                <a:tc>
                  <a:txBody>
                    <a:bodyPr/>
                    <a:lstStyle/>
                    <a:p>
                      <a:r>
                        <a:rPr lang="en-GB" sz="1400"/>
                        <a:t>Marketing (advertising)</a:t>
                      </a:r>
                    </a:p>
                  </a:txBody>
                  <a:tcPr marL="69996" marR="69996" marT="34998" marB="34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400</a:t>
                      </a:r>
                    </a:p>
                  </a:txBody>
                  <a:tcPr marL="69996" marR="69996" marT="34998" marB="34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1895274"/>
                  </a:ext>
                </a:extLst>
              </a:tr>
              <a:tr h="311225">
                <a:tc>
                  <a:txBody>
                    <a:bodyPr/>
                    <a:lstStyle/>
                    <a:p>
                      <a:r>
                        <a:rPr lang="en-GB" sz="1400"/>
                        <a:t>Miscellaneous</a:t>
                      </a:r>
                    </a:p>
                  </a:txBody>
                  <a:tcPr marL="69996" marR="69996" marT="34998" marB="34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100</a:t>
                      </a:r>
                    </a:p>
                  </a:txBody>
                  <a:tcPr marL="69996" marR="69996" marT="34998" marB="34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914177"/>
                  </a:ext>
                </a:extLst>
              </a:tr>
              <a:tr h="311225">
                <a:tc>
                  <a:txBody>
                    <a:bodyPr/>
                    <a:lstStyle/>
                    <a:p>
                      <a:r>
                        <a:rPr lang="en-GB" sz="1400" b="1"/>
                        <a:t>Total Expenses</a:t>
                      </a:r>
                      <a:endParaRPr lang="en-GB" sz="1400"/>
                    </a:p>
                  </a:txBody>
                  <a:tcPr marL="69996" marR="69996" marT="34998" marB="34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/>
                        <a:t>5,500</a:t>
                      </a:r>
                      <a:endParaRPr lang="en-GB" sz="1400"/>
                    </a:p>
                  </a:txBody>
                  <a:tcPr marL="69996" marR="69996" marT="34998" marB="34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8056681"/>
                  </a:ext>
                </a:extLst>
              </a:tr>
              <a:tr h="344565"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9996" marR="69996" marT="34998" marB="34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 marL="69996" marR="69996" marT="34998" marB="34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4169858"/>
                  </a:ext>
                </a:extLst>
              </a:tr>
              <a:tr h="311225">
                <a:tc>
                  <a:txBody>
                    <a:bodyPr/>
                    <a:lstStyle/>
                    <a:p>
                      <a:r>
                        <a:rPr lang="en-GB" sz="1400" b="1"/>
                        <a:t>Net Income</a:t>
                      </a:r>
                      <a:endParaRPr lang="en-GB" sz="1400"/>
                    </a:p>
                  </a:txBody>
                  <a:tcPr marL="69996" marR="69996" marT="34998" marB="34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2,500</a:t>
                      </a:r>
                      <a:endParaRPr lang="en-GB" sz="1400" dirty="0"/>
                    </a:p>
                  </a:txBody>
                  <a:tcPr marL="69996" marR="69996" marT="34998" marB="349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6193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6464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62FE6F-6BA1-FFC0-8514-4CC454B71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GB" sz="4000" dirty="0"/>
              <a:t>Discuss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4D739A4-43C8-B264-D8DC-8F42759C41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1802" y="2743200"/>
            <a:ext cx="4646905" cy="361314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What are the main sources of income for Sweet Treats?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What are the major expenses? How are they categorized?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How much profit is Sweet Treats expected to make this month? </a:t>
            </a:r>
          </a:p>
        </p:txBody>
      </p:sp>
      <p:pic>
        <p:nvPicPr>
          <p:cNvPr id="18" name="Picture 17" descr="Chocolates on a table">
            <a:extLst>
              <a:ext uri="{FF2B5EF4-FFF2-40B4-BE49-F238E27FC236}">
                <a16:creationId xmlns:a16="http://schemas.microsoft.com/office/drawing/2014/main" id="{D6BF2A20-0966-B2BD-CC26-EEAB841587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326" r="13274" b="-2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047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C993B6-289E-6770-ECE6-500D2826B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609" y="679731"/>
            <a:ext cx="4171994" cy="373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Simple Forecast Example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2E4034-7231-F715-3D6A-2E016390AC23}"/>
              </a:ext>
            </a:extLst>
          </p:cNvPr>
          <p:cNvSpPr txBox="1"/>
          <p:nvPr/>
        </p:nvSpPr>
        <p:spPr>
          <a:xfrm>
            <a:off x="599609" y="4685288"/>
            <a:ext cx="4171994" cy="10357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Sweet Treats Sales Forecast</a:t>
            </a:r>
            <a:b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2400" i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(For September 2024)</a:t>
            </a:r>
            <a:endParaRPr lang="en-US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4" name="Content Placeholder 23">
            <a:extLst>
              <a:ext uri="{FF2B5EF4-FFF2-40B4-BE49-F238E27FC236}">
                <a16:creationId xmlns:a16="http://schemas.microsoft.com/office/drawing/2014/main" id="{05FDEA9A-1EBD-02DC-15D3-4CA041B877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2087440"/>
              </p:ext>
            </p:extLst>
          </p:nvPr>
        </p:nvGraphicFramePr>
        <p:xfrm>
          <a:off x="5640572" y="1728281"/>
          <a:ext cx="5608831" cy="3290864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130890">
                  <a:extLst>
                    <a:ext uri="{9D8B030D-6E8A-4147-A177-3AD203B41FA5}">
                      <a16:colId xmlns:a16="http://schemas.microsoft.com/office/drawing/2014/main" val="585598782"/>
                    </a:ext>
                  </a:extLst>
                </a:gridCol>
                <a:gridCol w="2477941">
                  <a:extLst>
                    <a:ext uri="{9D8B030D-6E8A-4147-A177-3AD203B41FA5}">
                      <a16:colId xmlns:a16="http://schemas.microsoft.com/office/drawing/2014/main" val="1272255921"/>
                    </a:ext>
                  </a:extLst>
                </a:gridCol>
              </a:tblGrid>
              <a:tr h="869728">
                <a:tc>
                  <a:txBody>
                    <a:bodyPr/>
                    <a:lstStyle/>
                    <a:p>
                      <a:r>
                        <a:rPr lang="en-GB" sz="2300" b="1"/>
                        <a:t>Month</a:t>
                      </a:r>
                      <a:endParaRPr lang="en-GB" sz="2300"/>
                    </a:p>
                  </a:txBody>
                  <a:tcPr marL="117531" marR="117531" marT="58765" marB="58765" anchor="ctr"/>
                </a:tc>
                <a:tc>
                  <a:txBody>
                    <a:bodyPr/>
                    <a:lstStyle/>
                    <a:p>
                      <a:r>
                        <a:rPr lang="en-GB" sz="2300" b="1"/>
                        <a:t>Sales Revenue ($)</a:t>
                      </a:r>
                      <a:endParaRPr lang="en-GB" sz="2300"/>
                    </a:p>
                  </a:txBody>
                  <a:tcPr marL="117531" marR="117531" marT="58765" marB="58765" anchor="ctr"/>
                </a:tc>
                <a:extLst>
                  <a:ext uri="{0D108BD9-81ED-4DB2-BD59-A6C34878D82A}">
                    <a16:rowId xmlns:a16="http://schemas.microsoft.com/office/drawing/2014/main" val="3569367910"/>
                  </a:ext>
                </a:extLst>
              </a:tr>
              <a:tr h="517136">
                <a:tc>
                  <a:txBody>
                    <a:bodyPr/>
                    <a:lstStyle/>
                    <a:p>
                      <a:r>
                        <a:rPr lang="en-GB" sz="2300"/>
                        <a:t>June 2024</a:t>
                      </a:r>
                    </a:p>
                  </a:txBody>
                  <a:tcPr marL="117531" marR="117531" marT="58765" marB="58765" anchor="ctr"/>
                </a:tc>
                <a:tc>
                  <a:txBody>
                    <a:bodyPr/>
                    <a:lstStyle/>
                    <a:p>
                      <a:r>
                        <a:rPr lang="en-GB" sz="2300"/>
                        <a:t>7,500</a:t>
                      </a:r>
                    </a:p>
                  </a:txBody>
                  <a:tcPr marL="117531" marR="117531" marT="58765" marB="58765" anchor="ctr"/>
                </a:tc>
                <a:extLst>
                  <a:ext uri="{0D108BD9-81ED-4DB2-BD59-A6C34878D82A}">
                    <a16:rowId xmlns:a16="http://schemas.microsoft.com/office/drawing/2014/main" val="2676269100"/>
                  </a:ext>
                </a:extLst>
              </a:tr>
              <a:tr h="517136">
                <a:tc>
                  <a:txBody>
                    <a:bodyPr/>
                    <a:lstStyle/>
                    <a:p>
                      <a:r>
                        <a:rPr lang="en-GB" sz="2300"/>
                        <a:t>July 2024</a:t>
                      </a:r>
                    </a:p>
                  </a:txBody>
                  <a:tcPr marL="117531" marR="117531" marT="58765" marB="58765" anchor="ctr"/>
                </a:tc>
                <a:tc>
                  <a:txBody>
                    <a:bodyPr/>
                    <a:lstStyle/>
                    <a:p>
                      <a:r>
                        <a:rPr lang="en-GB" sz="2300"/>
                        <a:t>8,000</a:t>
                      </a:r>
                    </a:p>
                  </a:txBody>
                  <a:tcPr marL="117531" marR="117531" marT="58765" marB="58765" anchor="ctr"/>
                </a:tc>
                <a:extLst>
                  <a:ext uri="{0D108BD9-81ED-4DB2-BD59-A6C34878D82A}">
                    <a16:rowId xmlns:a16="http://schemas.microsoft.com/office/drawing/2014/main" val="1580212136"/>
                  </a:ext>
                </a:extLst>
              </a:tr>
              <a:tr h="517136">
                <a:tc>
                  <a:txBody>
                    <a:bodyPr/>
                    <a:lstStyle/>
                    <a:p>
                      <a:r>
                        <a:rPr lang="en-GB" sz="2300"/>
                        <a:t>August 2024</a:t>
                      </a:r>
                    </a:p>
                  </a:txBody>
                  <a:tcPr marL="117531" marR="117531" marT="58765" marB="58765" anchor="ctr"/>
                </a:tc>
                <a:tc>
                  <a:txBody>
                    <a:bodyPr/>
                    <a:lstStyle/>
                    <a:p>
                      <a:r>
                        <a:rPr lang="en-GB" sz="2300"/>
                        <a:t>8,000</a:t>
                      </a:r>
                    </a:p>
                  </a:txBody>
                  <a:tcPr marL="117531" marR="117531" marT="58765" marB="58765" anchor="ctr"/>
                </a:tc>
                <a:extLst>
                  <a:ext uri="{0D108BD9-81ED-4DB2-BD59-A6C34878D82A}">
                    <a16:rowId xmlns:a16="http://schemas.microsoft.com/office/drawing/2014/main" val="1157069117"/>
                  </a:ext>
                </a:extLst>
              </a:tr>
              <a:tr h="869728">
                <a:tc>
                  <a:txBody>
                    <a:bodyPr/>
                    <a:lstStyle/>
                    <a:p>
                      <a:r>
                        <a:rPr lang="en-GB" sz="2300" b="1"/>
                        <a:t>Estimated Sales for September 2024</a:t>
                      </a:r>
                      <a:endParaRPr lang="en-GB" sz="2300"/>
                    </a:p>
                  </a:txBody>
                  <a:tcPr marL="117531" marR="117531" marT="58765" marB="58765" anchor="ctr"/>
                </a:tc>
                <a:tc>
                  <a:txBody>
                    <a:bodyPr/>
                    <a:lstStyle/>
                    <a:p>
                      <a:r>
                        <a:rPr lang="en-GB" sz="2300" b="1"/>
                        <a:t>8,200</a:t>
                      </a:r>
                      <a:endParaRPr lang="en-GB" sz="2300"/>
                    </a:p>
                  </a:txBody>
                  <a:tcPr marL="117531" marR="117531" marT="58765" marB="58765" anchor="ctr"/>
                </a:tc>
                <a:extLst>
                  <a:ext uri="{0D108BD9-81ED-4DB2-BD59-A6C34878D82A}">
                    <a16:rowId xmlns:a16="http://schemas.microsoft.com/office/drawing/2014/main" val="3273464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1284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9D557E-C97F-92E4-B2AA-2AE72C7FC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GB" sz="4000" dirty="0"/>
              <a:t>Discuss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975E9-1D9F-57BB-9A34-6D5D2E502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GB" sz="2000" dirty="0"/>
              <a:t>What’s wrong with this forecast? If anything?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How did they estimate the sales for September?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Why might we expect sales to increase?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What other factors could affect the actual sales in September? </a:t>
            </a:r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</p:txBody>
      </p:sp>
      <p:pic>
        <p:nvPicPr>
          <p:cNvPr id="6" name="Picture 5" descr="Graph on document with pen">
            <a:extLst>
              <a:ext uri="{FF2B5EF4-FFF2-40B4-BE49-F238E27FC236}">
                <a16:creationId xmlns:a16="http://schemas.microsoft.com/office/drawing/2014/main" id="{513D5AD8-0619-08C9-F4A0-86BCD47AF6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943" r="17221" b="-1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0137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1857A1-0758-6200-A4D1-5993FEB0A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GB" sz="3600">
                <a:solidFill>
                  <a:schemeClr val="tx2"/>
                </a:solidFill>
              </a:rPr>
              <a:t>Discussion Points</a:t>
            </a:r>
          </a:p>
        </p:txBody>
      </p:sp>
      <p:pic>
        <p:nvPicPr>
          <p:cNvPr id="7" name="Graphic 6" descr="Money">
            <a:extLst>
              <a:ext uri="{FF2B5EF4-FFF2-40B4-BE49-F238E27FC236}">
                <a16:creationId xmlns:a16="http://schemas.microsoft.com/office/drawing/2014/main" id="{C5D379CA-2500-7FC7-084E-8F62CE2A84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AF841-98CD-571C-0EEB-C9F53B4C2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800" b="1">
                <a:solidFill>
                  <a:schemeClr val="tx2"/>
                </a:solidFill>
              </a:rPr>
              <a:t>Budgeting:</a:t>
            </a:r>
            <a:endParaRPr lang="en-GB" sz="1800">
              <a:solidFill>
                <a:schemeClr val="tx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1800" b="1">
                <a:solidFill>
                  <a:schemeClr val="tx2"/>
                </a:solidFill>
              </a:rPr>
              <a:t>Plan Spending:</a:t>
            </a:r>
            <a:endParaRPr lang="en-GB" sz="1800">
              <a:solidFill>
                <a:schemeClr val="tx2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b="1">
                <a:solidFill>
                  <a:schemeClr val="tx2"/>
                </a:solidFill>
              </a:rPr>
              <a:t>Explanation:</a:t>
            </a:r>
            <a:r>
              <a:rPr lang="en-GB" sz="1800">
                <a:solidFill>
                  <a:schemeClr val="tx2"/>
                </a:solidFill>
              </a:rPr>
              <a:t> Budgeting helps businesses plan their expenses in advance. By setting limits on spending, businesses can avoid overspending and stay within their financial means.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800" b="1">
                <a:solidFill>
                  <a:schemeClr val="tx2"/>
                </a:solidFill>
              </a:rPr>
              <a:t>Example:</a:t>
            </a:r>
            <a:r>
              <a:rPr lang="en-GB" sz="1800">
                <a:solidFill>
                  <a:schemeClr val="tx2"/>
                </a:solidFill>
              </a:rPr>
              <a:t> For a small business like Sweet Treats, creating a budget allows them to allocate funds to essential areas such as rent, salaries, and ingredients while ensuring they don’t spend too much on unnecessary items.</a:t>
            </a:r>
          </a:p>
          <a:p>
            <a:endParaRPr lang="en-GB" sz="18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29408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6414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1857A1-0758-6200-A4D1-5993FEB0A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409" y="762001"/>
            <a:ext cx="4156512" cy="1708244"/>
          </a:xfrm>
        </p:spPr>
        <p:txBody>
          <a:bodyPr anchor="ctr">
            <a:normAutofit/>
          </a:bodyPr>
          <a:lstStyle/>
          <a:p>
            <a:r>
              <a:rPr lang="en-GB" sz="4000"/>
              <a:t>Discussion Points</a:t>
            </a:r>
          </a:p>
        </p:txBody>
      </p:sp>
      <p:pic>
        <p:nvPicPr>
          <p:cNvPr id="5" name="Picture 4" descr="Stock exchange numbers">
            <a:extLst>
              <a:ext uri="{FF2B5EF4-FFF2-40B4-BE49-F238E27FC236}">
                <a16:creationId xmlns:a16="http://schemas.microsoft.com/office/drawing/2014/main" id="{F59F2F6A-9A1F-34EE-B9CC-1C1FAAE114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074" r="19592" b="-2"/>
          <a:stretch/>
        </p:blipFill>
        <p:spPr>
          <a:xfrm>
            <a:off x="-1" y="-2"/>
            <a:ext cx="6096001" cy="685800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AF841-98CD-571C-0EEB-C9F53B4C2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409" y="2470245"/>
            <a:ext cx="4156512" cy="376983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900" b="1"/>
              <a:t>Clear Financial Picture: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900" b="1"/>
              <a:t>Explanation:</a:t>
            </a:r>
            <a:r>
              <a:rPr lang="en-GB" sz="1900"/>
              <a:t> A budget provides a detailed overview of how much money is available and how it should be used. This helps businesses make sure they are using their resources effectively.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900" b="1"/>
              <a:t>Example:</a:t>
            </a:r>
            <a:r>
              <a:rPr lang="en-GB" sz="1900"/>
              <a:t> By reviewing the monthly budget, Sweet Treats can see how much money is left after covering all expenses, helping them plan for savings or future investments.</a:t>
            </a:r>
          </a:p>
          <a:p>
            <a:endParaRPr lang="en-GB" sz="1900"/>
          </a:p>
        </p:txBody>
      </p:sp>
    </p:spTree>
    <p:extLst>
      <p:ext uri="{BB962C8B-B14F-4D97-AF65-F5344CB8AC3E}">
        <p14:creationId xmlns:p14="http://schemas.microsoft.com/office/powerpoint/2010/main" val="4258362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Graph on document with pen">
            <a:extLst>
              <a:ext uri="{FF2B5EF4-FFF2-40B4-BE49-F238E27FC236}">
                <a16:creationId xmlns:a16="http://schemas.microsoft.com/office/drawing/2014/main" id="{A91672F9-398E-413B-CA44-AED273D286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532" r="16809" b="-2"/>
          <a:stretch/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1857A1-0758-6200-A4D1-5993FEB0A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GB" sz="4000"/>
              <a:t>Discussion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AF841-98CD-571C-0EEB-C9F53B4C2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 b="1"/>
              <a:t>Predict Future Performance: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/>
              <a:t>Explanation:</a:t>
            </a:r>
            <a:r>
              <a:rPr lang="en-GB" sz="2000"/>
              <a:t> Forecasting uses past data and trends to predict future financial performance. This helps businesses estimate how much money they will make and spend in the future.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/>
              <a:t>Example:</a:t>
            </a:r>
            <a:r>
              <a:rPr lang="en-GB" sz="2000"/>
              <a:t> If Sweet Treats saw an increase in sales over the last few months, forecasting might show a potential increase in sales for the next month, helping them prepare for higher demand.</a:t>
            </a:r>
          </a:p>
          <a:p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664715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3F1C26-6C52-791A-2360-A2B493724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GB" sz="4000"/>
              <a:t>Discussion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28A4D-2757-DDAF-D3A1-D8F26DC17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 b="1"/>
              <a:t>Plan for Future Expenses and Income: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/>
              <a:t>Explanation:</a:t>
            </a:r>
            <a:r>
              <a:rPr lang="en-GB" sz="2000"/>
              <a:t> Forecasting allows businesses to plan ahead for expected changes in income and expenses, making it easier to manage finances and make strategic decisions.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/>
              <a:t>Example:</a:t>
            </a:r>
            <a:r>
              <a:rPr lang="en-GB" sz="2000"/>
              <a:t> If the forecast indicates higher sales, Sweet Treats might decide to invest in additional equipment or hire more staff to meet the increased demand.</a:t>
            </a:r>
          </a:p>
          <a:p>
            <a:endParaRPr lang="en-GB" sz="2000"/>
          </a:p>
        </p:txBody>
      </p:sp>
      <p:pic>
        <p:nvPicPr>
          <p:cNvPr id="5" name="Picture 4" descr="Calculator, pen, compass, money and a paper with graphs printed on it">
            <a:extLst>
              <a:ext uri="{FF2B5EF4-FFF2-40B4-BE49-F238E27FC236}">
                <a16:creationId xmlns:a16="http://schemas.microsoft.com/office/drawing/2014/main" id="{508FEEFE-067A-7CAC-BEF4-AFD323154C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303" r="21080" b="-2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383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16F199-5441-2689-62D4-554377CBD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GB" sz="4000"/>
              <a:t>Conversation points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D514E-E72F-D183-46A8-B6534988F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GB" sz="2000"/>
              <a:t>How do you think budgeting and forecasting can help a business if something unexpected happens, like a sudden increase in demand or an unexpected expense?</a:t>
            </a:r>
          </a:p>
          <a:p>
            <a:r>
              <a:rPr lang="en-GB" sz="2000"/>
              <a:t>Can you think of other ways businesses might use budgeting and forecasting to make important decisions?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F6D2E2-28F3-3A75-1722-1AE6DB574D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80" r="39137" b="-1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553057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AC526-9C89-01BE-A1ED-2CD0D17E5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Delayed feedback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29F1-FA1F-8085-B0AF-C47D4070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75481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776</Words>
  <Application>Microsoft Office PowerPoint</Application>
  <PresentationFormat>Widescreen</PresentationFormat>
  <Paragraphs>102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 Theme</vt:lpstr>
      <vt:lpstr>Understanding key financial statements </vt:lpstr>
      <vt:lpstr>Warm up</vt:lpstr>
      <vt:lpstr>Vocabulary and Concepts</vt:lpstr>
      <vt:lpstr>Budgeting and Forecasting</vt:lpstr>
      <vt:lpstr>Budgeting and Forecasting</vt:lpstr>
      <vt:lpstr>Basic Budget Example</vt:lpstr>
      <vt:lpstr>Discuss</vt:lpstr>
      <vt:lpstr>Simple Forecast Example</vt:lpstr>
      <vt:lpstr>Discuss</vt:lpstr>
      <vt:lpstr>Discussion Points</vt:lpstr>
      <vt:lpstr>Discussion Points</vt:lpstr>
      <vt:lpstr>Discussion Points</vt:lpstr>
      <vt:lpstr>Discussion points</vt:lpstr>
      <vt:lpstr>Conversation points </vt:lpstr>
      <vt:lpstr>Delayed feedback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</dc:title>
  <dc:creator>Theo Clarke</dc:creator>
  <cp:lastModifiedBy>Clarke, Theodore James Dalgliesh</cp:lastModifiedBy>
  <cp:revision>18</cp:revision>
  <dcterms:created xsi:type="dcterms:W3CDTF">2024-03-22T11:49:07Z</dcterms:created>
  <dcterms:modified xsi:type="dcterms:W3CDTF">2024-08-15T13:11:41Z</dcterms:modified>
</cp:coreProperties>
</file>