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6" r:id="rId4"/>
  </p:sldMasterIdLst>
  <p:notesMasterIdLst>
    <p:notesMasterId r:id="rId48"/>
  </p:notesMasterIdLst>
  <p:sldIdLst>
    <p:sldId id="3825" r:id="rId5"/>
    <p:sldId id="3842" r:id="rId6"/>
    <p:sldId id="3843" r:id="rId7"/>
    <p:sldId id="3844" r:id="rId8"/>
    <p:sldId id="3845" r:id="rId9"/>
    <p:sldId id="3846" r:id="rId10"/>
    <p:sldId id="3847" r:id="rId11"/>
    <p:sldId id="3848" r:id="rId12"/>
    <p:sldId id="3849" r:id="rId13"/>
    <p:sldId id="3850" r:id="rId14"/>
    <p:sldId id="3851" r:id="rId15"/>
    <p:sldId id="3852" r:id="rId16"/>
    <p:sldId id="3853" r:id="rId17"/>
    <p:sldId id="3854" r:id="rId18"/>
    <p:sldId id="3855" r:id="rId19"/>
    <p:sldId id="3856" r:id="rId20"/>
    <p:sldId id="3857" r:id="rId21"/>
    <p:sldId id="3858" r:id="rId22"/>
    <p:sldId id="3859" r:id="rId23"/>
    <p:sldId id="3860" r:id="rId24"/>
    <p:sldId id="3861" r:id="rId25"/>
    <p:sldId id="3862" r:id="rId26"/>
    <p:sldId id="3863" r:id="rId27"/>
    <p:sldId id="3864" r:id="rId28"/>
    <p:sldId id="3865" r:id="rId29"/>
    <p:sldId id="3866" r:id="rId30"/>
    <p:sldId id="3867" r:id="rId31"/>
    <p:sldId id="3868" r:id="rId32"/>
    <p:sldId id="3869" r:id="rId33"/>
    <p:sldId id="3870" r:id="rId34"/>
    <p:sldId id="3871" r:id="rId35"/>
    <p:sldId id="3872" r:id="rId36"/>
    <p:sldId id="3873" r:id="rId37"/>
    <p:sldId id="3874" r:id="rId38"/>
    <p:sldId id="3875" r:id="rId39"/>
    <p:sldId id="3876" r:id="rId40"/>
    <p:sldId id="3877" r:id="rId41"/>
    <p:sldId id="3878" r:id="rId42"/>
    <p:sldId id="3879" r:id="rId43"/>
    <p:sldId id="3880" r:id="rId44"/>
    <p:sldId id="3881" r:id="rId45"/>
    <p:sldId id="3841" r:id="rId46"/>
    <p:sldId id="383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guide orient="horz" pos="1200"/>
        <p:guide orient="horz" pos="3408"/>
        <p:guide pos="6936"/>
        <p:guide pos="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5/4/2023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6277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pic>
        <p:nvPicPr>
          <p:cNvPr id="7" name="Picture 6" descr="Logo  Description automatically generated">
            <a:extLst>
              <a:ext uri="{FF2B5EF4-FFF2-40B4-BE49-F238E27FC236}">
                <a16:creationId xmlns:a16="http://schemas.microsoft.com/office/drawing/2014/main" id="{50D7D42C-B56E-2002-0498-CE88D769DFE6}"/>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601120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DF0731B2-198C-03B1-6C26-17F767EED75A}"/>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8735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large pictur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pic>
        <p:nvPicPr>
          <p:cNvPr id="8" name="Picture 7" descr="Logo  Description automatically generated">
            <a:extLst>
              <a:ext uri="{FF2B5EF4-FFF2-40B4-BE49-F238E27FC236}">
                <a16:creationId xmlns:a16="http://schemas.microsoft.com/office/drawing/2014/main" id="{6B19892D-C6FC-6DEA-BC94-7ACF19FFB8E9}"/>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934892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descr="Logo  Description automatically generated">
            <a:extLst>
              <a:ext uri="{FF2B5EF4-FFF2-40B4-BE49-F238E27FC236}">
                <a16:creationId xmlns:a16="http://schemas.microsoft.com/office/drawing/2014/main" id="{C4E608A4-5FE4-007F-03B2-71BFE7A80D9F}"/>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888410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descr="Logo  Description automatically generated">
            <a:extLst>
              <a:ext uri="{FF2B5EF4-FFF2-40B4-BE49-F238E27FC236}">
                <a16:creationId xmlns:a16="http://schemas.microsoft.com/office/drawing/2014/main" id="{9E5919BF-BCFB-D7D2-4275-4DB20EECC9E7}"/>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07404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descr="Logo  Description automatically generated">
            <a:extLst>
              <a:ext uri="{FF2B5EF4-FFF2-40B4-BE49-F238E27FC236}">
                <a16:creationId xmlns:a16="http://schemas.microsoft.com/office/drawing/2014/main" id="{9FDA2D69-3D2E-7CC9-65E2-48E1AF036011}"/>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04567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white"/>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white"/>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white"/>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white"/>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solidFill>
              <a:effectLst/>
              <a:uLnTx/>
              <a:uFillTx/>
              <a:latin typeface="Avenir Next LT Pro"/>
              <a:ea typeface="+mn-ea"/>
              <a:cs typeface="+mn-cs"/>
            </a:endParaRPr>
          </a:p>
        </p:txBody>
      </p:sp>
    </p:spTree>
    <p:extLst>
      <p:ext uri="{BB962C8B-B14F-4D97-AF65-F5344CB8AC3E}">
        <p14:creationId xmlns:p14="http://schemas.microsoft.com/office/powerpoint/2010/main" val="3609650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D6941D18-88EA-EE13-DA04-12834369CE40}"/>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1359863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Logo  Description automatically generated">
            <a:extLst>
              <a:ext uri="{FF2B5EF4-FFF2-40B4-BE49-F238E27FC236}">
                <a16:creationId xmlns:a16="http://schemas.microsoft.com/office/drawing/2014/main" id="{59CDC33D-E4B8-82EA-FCC7-0F88F8DA1A2D}"/>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1230263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  Description automatically generated">
            <a:extLst>
              <a:ext uri="{FF2B5EF4-FFF2-40B4-BE49-F238E27FC236}">
                <a16:creationId xmlns:a16="http://schemas.microsoft.com/office/drawing/2014/main" id="{54132E07-6B69-FD48-AF4F-207926113140}"/>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77929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6" name="Picture 5" descr="Logo  Description automatically generated">
            <a:extLst>
              <a:ext uri="{FF2B5EF4-FFF2-40B4-BE49-F238E27FC236}">
                <a16:creationId xmlns:a16="http://schemas.microsoft.com/office/drawing/2014/main" id="{64B18F1F-BB25-6E8B-718B-1E6EE792B4EA}"/>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3229116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pic>
        <p:nvPicPr>
          <p:cNvPr id="6" name="Picture 5" descr="Logo  Description automatically generated">
            <a:extLst>
              <a:ext uri="{FF2B5EF4-FFF2-40B4-BE49-F238E27FC236}">
                <a16:creationId xmlns:a16="http://schemas.microsoft.com/office/drawing/2014/main" id="{6DFFC9EE-3430-9BF8-F5F9-E9A9D9E0D1D2}"/>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872322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Logo  Description automatically generated">
            <a:extLst>
              <a:ext uri="{FF2B5EF4-FFF2-40B4-BE49-F238E27FC236}">
                <a16:creationId xmlns:a16="http://schemas.microsoft.com/office/drawing/2014/main" id="{2F5302F5-B6A7-DA9A-672B-BC62F4D0EAAC}"/>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419701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pic>
        <p:nvPicPr>
          <p:cNvPr id="8" name="Picture 7" descr="Logo  Description automatically generated">
            <a:extLst>
              <a:ext uri="{FF2B5EF4-FFF2-40B4-BE49-F238E27FC236}">
                <a16:creationId xmlns:a16="http://schemas.microsoft.com/office/drawing/2014/main" id="{78AB3098-5EC9-C275-0EDB-E83545E15CF8}"/>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1194954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E4FA05E5-0669-BBF8-8E37-FF3157065FE2}"/>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637874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Logo  Description automatically generated">
            <a:extLst>
              <a:ext uri="{FF2B5EF4-FFF2-40B4-BE49-F238E27FC236}">
                <a16:creationId xmlns:a16="http://schemas.microsoft.com/office/drawing/2014/main" id="{B14C3C37-633F-54AF-8613-783EB1E431AC}"/>
              </a:ext>
            </a:extLst>
          </p:cNvPr>
          <p:cNvPicPr>
            <a:picLocks noChangeAspect="1"/>
          </p:cNvPicPr>
          <p:nvPr userDrawn="1"/>
        </p:nvPicPr>
        <p:blipFill>
          <a:blip r:embed="rId2"/>
          <a:stretch>
            <a:fillRect/>
          </a:stretch>
        </p:blipFill>
        <p:spPr>
          <a:xfrm>
            <a:off x="10104011" y="325160"/>
            <a:ext cx="1636779" cy="762002"/>
          </a:xfrm>
          <a:prstGeom prst="rect">
            <a:avLst/>
          </a:prstGeom>
        </p:spPr>
      </p:pic>
    </p:spTree>
    <p:extLst>
      <p:ext uri="{BB962C8B-B14F-4D97-AF65-F5344CB8AC3E}">
        <p14:creationId xmlns:p14="http://schemas.microsoft.com/office/powerpoint/2010/main" val="2112136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err="1">
                <a:ln>
                  <a:noFill/>
                </a:ln>
                <a:solidFill>
                  <a:prstClr val="black">
                    <a:tint val="75000"/>
                  </a:prstClr>
                </a:solidFill>
                <a:effectLst/>
                <a:uLnTx/>
                <a:uFillTx/>
                <a:latin typeface="Avenir Next LT Pro"/>
                <a:ea typeface="+mn-ea"/>
                <a:cs typeface="+mn-cs"/>
              </a:rPr>
              <a:t>TuSpeaking</a:t>
            </a: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 2023,  All rights reserved</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Avenir Next LT Pro"/>
                <a:ea typeface="+mn-ea"/>
                <a:cs typeface="+mn-cs"/>
              </a:rPr>
              <a:t>Personal information 1</a:t>
            </a:r>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venir Next LT Pro"/>
              <a:ea typeface="+mn-ea"/>
              <a:cs typeface="+mn-cs"/>
            </a:endParaRPr>
          </a:p>
        </p:txBody>
      </p:sp>
    </p:spTree>
    <p:extLst>
      <p:ext uri="{BB962C8B-B14F-4D97-AF65-F5344CB8AC3E}">
        <p14:creationId xmlns:p14="http://schemas.microsoft.com/office/powerpoint/2010/main" val="1676725123"/>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41"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a:lstStyle/>
          <a:p>
            <a:r>
              <a:rPr lang="en-US" dirty="0">
                <a:solidFill>
                  <a:srgbClr val="FFFFFF"/>
                </a:solidFill>
              </a:rPr>
              <a:t>General English</a:t>
            </a:r>
            <a:endParaRPr lang="en-US" dirty="0"/>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a:lstStyle/>
          <a:p>
            <a:r>
              <a:rPr lang="en-US" err="1">
                <a:solidFill>
                  <a:srgbClr val="FFFFFF"/>
                </a:solidFill>
              </a:rPr>
              <a:t>TuSpeaking</a:t>
            </a:r>
            <a:endParaRPr lang="en-US">
              <a:solidFill>
                <a:srgbClr val="FFFFFF"/>
              </a:solidFill>
            </a:endParaRPr>
          </a:p>
          <a:p>
            <a:endParaRPr lang="en-US"/>
          </a:p>
        </p:txBody>
      </p:sp>
      <p:pic>
        <p:nvPicPr>
          <p:cNvPr id="5" name="Picture 4" descr="Icon  Description automatically generated">
            <a:extLst>
              <a:ext uri="{FF2B5EF4-FFF2-40B4-BE49-F238E27FC236}">
                <a16:creationId xmlns:a16="http://schemas.microsoft.com/office/drawing/2014/main" id="{FBBF2D84-E7BF-DBDA-F182-78A399D6E8B9}"/>
              </a:ext>
            </a:extLst>
          </p:cNvPr>
          <p:cNvPicPr>
            <a:picLocks noChangeAspect="1"/>
          </p:cNvPicPr>
          <p:nvPr/>
        </p:nvPicPr>
        <p:blipFill>
          <a:blip r:embed="rId2"/>
          <a:stretch>
            <a:fillRect/>
          </a:stretch>
        </p:blipFill>
        <p:spPr>
          <a:xfrm>
            <a:off x="1920515" y="1028700"/>
            <a:ext cx="1714500" cy="1714500"/>
          </a:xfrm>
          <a:prstGeom prst="rect">
            <a:avLst/>
          </a:prstGeom>
        </p:spPr>
      </p:pic>
      <p:pic>
        <p:nvPicPr>
          <p:cNvPr id="7" name="Picture 6" descr="Logo  Description automatically generated">
            <a:extLst>
              <a:ext uri="{FF2B5EF4-FFF2-40B4-BE49-F238E27FC236}">
                <a16:creationId xmlns:a16="http://schemas.microsoft.com/office/drawing/2014/main" id="{7D462DAB-12EB-B67E-2CC1-A8F197514C75}"/>
              </a:ext>
            </a:extLst>
          </p:cNvPr>
          <p:cNvPicPr>
            <a:picLocks noChangeAspect="1"/>
          </p:cNvPicPr>
          <p:nvPr/>
        </p:nvPicPr>
        <p:blipFill>
          <a:blip r:embed="rId3"/>
          <a:stretch>
            <a:fillRect/>
          </a:stretch>
        </p:blipFill>
        <p:spPr>
          <a:xfrm>
            <a:off x="1998236" y="4957570"/>
            <a:ext cx="1636779" cy="762002"/>
          </a:xfrm>
          <a:prstGeom prst="rect">
            <a:avLst/>
          </a:prstGeom>
        </p:spPr>
      </p:pic>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dirty="0"/>
              <a:t>B2-NEGOTIATIONS-CESCE</a:t>
            </a:r>
          </a:p>
        </p:txBody>
      </p:sp>
      <p:sp>
        <p:nvSpPr>
          <p:cNvPr id="5" name="Title 4">
            <a:extLst>
              <a:ext uri="{FF2B5EF4-FFF2-40B4-BE49-F238E27FC236}">
                <a16:creationId xmlns:a16="http://schemas.microsoft.com/office/drawing/2014/main" id="{D8312576-4059-3C7D-6DED-117FF60B1F8F}"/>
              </a:ext>
            </a:extLst>
          </p:cNvPr>
          <p:cNvSpPr>
            <a:spLocks noGrp="1"/>
          </p:cNvSpPr>
          <p:nvPr>
            <p:ph type="title"/>
          </p:nvPr>
        </p:nvSpPr>
        <p:spPr/>
        <p:txBody>
          <a:bodyPr/>
          <a:lstStyle/>
          <a:p>
            <a:r>
              <a:rPr lang="en-US" dirty="0">
                <a:solidFill>
                  <a:srgbClr val="FFFFFF"/>
                </a:solidFill>
              </a:rPr>
              <a:t>General English</a:t>
            </a:r>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WARM-UP</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691004"/>
            <a:ext cx="5806440" cy="4352544"/>
          </a:xfrm>
        </p:spPr>
        <p:txBody>
          <a:bodyPr>
            <a:normAutofit fontScale="850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Here's a warm-up activity related to negotiations discussion for B2 English level:</a:t>
            </a:r>
          </a:p>
          <a:p>
            <a:pPr lvl="0"/>
            <a:r>
              <a:rPr lang="en-US" dirty="0"/>
              <a:t>Activity: Negotiation Role Play</a:t>
            </a:r>
          </a:p>
          <a:p>
            <a:pPr lvl="0"/>
            <a:r>
              <a:rPr lang="en-US" dirty="0"/>
              <a:t>Instructions:</a:t>
            </a:r>
          </a:p>
          <a:p>
            <a:pPr lvl="0"/>
            <a:r>
              <a:rPr lang="en-US" dirty="0"/>
              <a:t>1. Divide the class into pairs.</a:t>
            </a:r>
          </a:p>
          <a:p>
            <a:pPr lvl="0"/>
            <a:r>
              <a:rPr lang="en-US" dirty="0"/>
              <a:t>2. Assign each pair a scenario involving a negotiation.</a:t>
            </a:r>
          </a:p>
          <a:p>
            <a:pPr lvl="0"/>
            <a:r>
              <a:rPr lang="en-US" dirty="0"/>
              <a:t>Examples of scenarios could include:</a:t>
            </a:r>
          </a:p>
          <a:p>
            <a:pPr lvl="0"/>
            <a:r>
              <a:rPr lang="en-US" dirty="0"/>
              <a:t>- A salary negotiation between an employer and employee</a:t>
            </a:r>
          </a:p>
          <a:p>
            <a:pPr lvl="0"/>
            <a:r>
              <a:rPr lang="en-US" dirty="0"/>
              <a:t>- Negotiating the price of a car with a salesperson</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dirty="0"/>
              <a:t>WARM-UP</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454150"/>
            <a:ext cx="5806440" cy="5038726"/>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 A negotiation between two coworkers over an office project</a:t>
            </a:r>
          </a:p>
          <a:p>
            <a:pPr lvl="0"/>
            <a:r>
              <a:rPr lang="en-US" dirty="0"/>
              <a:t>- A landlord-tenant negotiation over rent</a:t>
            </a:r>
          </a:p>
          <a:p>
            <a:pPr lvl="0"/>
            <a:r>
              <a:rPr lang="en-US" dirty="0"/>
              <a:t>3. Give each pair some time to prepare their negotiation.</a:t>
            </a:r>
          </a:p>
          <a:p>
            <a:pPr lvl="0"/>
            <a:r>
              <a:rPr lang="en-US" dirty="0"/>
              <a:t>4. Once the pairs are ready, have them role play the negotiation in front of the class.</a:t>
            </a:r>
          </a:p>
          <a:p>
            <a:pPr lvl="0"/>
            <a:r>
              <a:rPr lang="en-US" dirty="0"/>
              <a:t>5. After each negotiation, have a class discussion about what went well and what could be improved.</a:t>
            </a:r>
          </a:p>
          <a:p>
            <a:pPr lvl="0"/>
            <a:endParaRPr lang="en-US"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WARM-UP</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Encourage the class to discuss negotiation techniques and strategies that were effective or ineffective.</a:t>
            </a:r>
          </a:p>
          <a:p>
            <a:pPr lvl="0"/>
            <a:r>
              <a:rPr lang="en-US"/>
              <a:t>This activity will not only help students practice their negotiation skills, but also improve their listening and speaking abilities in English.</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TERMS AND CONCEPTS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1. BATNA (Best Alternative to a Negotiated Agreement) - This is the alternative option that a party has if a negotiation does not result in a mutually acceptable agreement. It is important to understand one's BATNA in order to determine a negotiation's value.</a:t>
            </a:r>
          </a:p>
          <a:p>
            <a:pPr lvl="0"/>
            <a:r>
              <a:rPr lang="en-US"/>
              <a:t>2. ZOPA (Zone of Possible Agreement) - This is the range of possible outcomes in a negotiation, that are acceptable to both parties.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TERMS AND CONCEPTS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765623"/>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Understanding the ZOPA can help to identify potential areas of agreement or identify where an agreement is not possible.</a:t>
            </a:r>
          </a:p>
          <a:p>
            <a:pPr lvl="0"/>
            <a:r>
              <a:rPr lang="en-US" dirty="0"/>
              <a:t>3. Reservation Price - This is the minimum acceptable outcome for a party in a negotiation. It is the lowest price or outcome that they are willing to accept.</a:t>
            </a:r>
          </a:p>
          <a:p>
            <a:pPr lvl="0"/>
            <a:r>
              <a:rPr lang="en-US" dirty="0"/>
              <a:t>4. Anchoring - This is a tactic in which one party sets the initial offer or price in a negotiation, which can influence the other party's perception of what is reasonable or acceptable.</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TERMS AND CONCEPTS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5. Distributive Negotiation - This is a negotiation in which the parties are trying to divide a limited resource, such as money or time. This type of negotiation is often competitive, with each party trying to maximize their share of the resource.</a:t>
            </a:r>
          </a:p>
          <a:p>
            <a:pPr lvl="0"/>
            <a:r>
              <a:rPr lang="en-US"/>
              <a:t>6. Integrative Negotiation - This is a negotiation in which the parties are trying to create value or find a solution that benefits both parties.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TERMS AND CONCEPTS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444625"/>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This type of negotiation is often collaborative, with each party trying to understand the other's interests and work towards a mutually beneficial outcome.</a:t>
            </a:r>
          </a:p>
          <a:p>
            <a:pPr lvl="0"/>
            <a:r>
              <a:rPr lang="en-US" dirty="0"/>
              <a:t>7. Concession - This is a compromise or agreement made by one party in a negotiation to move towards a mutually acceptable outcome.</a:t>
            </a:r>
          </a:p>
          <a:p>
            <a:pPr lvl="0"/>
            <a:r>
              <a:rPr lang="en-US" dirty="0"/>
              <a:t>8. Deadlock - This occurs when a negotiation reaches a point where neither party is willing to make further concessions or compromise, and an agreement cannot be reached.</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TERMS AND CONCEPTS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9. Power - This is the ability to influence or control the outcome of a negotiation. Power can be derived from various sources, such as expertise, status, or the ability to walk away from the negotiation.</a:t>
            </a:r>
          </a:p>
          <a:p>
            <a:pPr lvl="0"/>
            <a:r>
              <a:rPr lang="en-US"/>
              <a:t>10. Escalation of Commitment - This occurs when a party becomes more committed to a particular course of action or negotiation, even when it is no longer rational or beneficial.</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TERMS AND CONCEPTS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This can lead to a party continuing to invest time or resources in a negotiation that is not likely to lead to a favorable outcome.</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289560" y="1691004"/>
            <a:ext cx="5806440" cy="4352544"/>
          </a:xfrm>
        </p:spPr>
        <p:txBody>
          <a:bodyPr>
            <a:normAutofit fontScale="925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Sure, here are some essential negotiation vocabulary words and examples:</a:t>
            </a:r>
          </a:p>
          <a:p>
            <a:pPr lvl="0"/>
            <a:r>
              <a:rPr lang="en-US" dirty="0"/>
              <a:t>1. Compromise - to find a mutually acceptable solution</a:t>
            </a:r>
          </a:p>
          <a:p>
            <a:pPr lvl="0"/>
            <a:r>
              <a:rPr lang="en-US" dirty="0"/>
              <a:t>Example: We need to compromise to reach an agreement that works for both of us.</a:t>
            </a:r>
          </a:p>
          <a:p>
            <a:pPr lvl="0"/>
            <a:r>
              <a:rPr lang="en-US" dirty="0"/>
              <a:t>2. Concession - a compromise or agreement made in order to reach a deal</a:t>
            </a:r>
          </a:p>
          <a:p>
            <a:pPr lvl="0"/>
            <a:r>
              <a:rPr lang="en-US" dirty="0"/>
              <a:t>Example: I am willing to make concessions on certain issues if it helps us reach a deal.</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454150"/>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3. Counteroffer - a response to an initial offer, often with a different proposal</a:t>
            </a:r>
          </a:p>
          <a:p>
            <a:pPr lvl="0"/>
            <a:r>
              <a:rPr lang="en-US" dirty="0"/>
              <a:t>Example: I appreciate your offer, but I would like to present a counteroffer for your consideration.</a:t>
            </a:r>
          </a:p>
          <a:p>
            <a:pPr lvl="0"/>
            <a:r>
              <a:rPr lang="en-US" dirty="0"/>
              <a:t>4. Deadline - a date or time by which something must be completed</a:t>
            </a:r>
          </a:p>
          <a:p>
            <a:pPr lvl="0"/>
            <a:r>
              <a:rPr lang="en-US" dirty="0"/>
              <a:t>Example: We need to work within the deadline to ensure we meet the project's requirements.</a:t>
            </a:r>
          </a:p>
          <a:p>
            <a:pPr lvl="0"/>
            <a:r>
              <a:rPr lang="en-US" dirty="0"/>
              <a:t>5. Proposal - a suggestion or plan put forward for consideration</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482725"/>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Example: I have a proposal that I think could benefit both of our companies.</a:t>
            </a:r>
          </a:p>
          <a:p>
            <a:pPr lvl="0"/>
            <a:r>
              <a:rPr lang="en-US" dirty="0"/>
              <a:t>6. Terms - conditions or requirements agreed upon in a negotiation</a:t>
            </a:r>
          </a:p>
          <a:p>
            <a:pPr lvl="0"/>
            <a:r>
              <a:rPr lang="en-US" dirty="0"/>
              <a:t>Example: Let's review the terms of the agreement to make sure we're both on the same page.</a:t>
            </a:r>
          </a:p>
          <a:p>
            <a:pPr lvl="0"/>
            <a:r>
              <a:rPr lang="en-US" dirty="0"/>
              <a:t>7. Win-win - a solution that benefits both parties involved</a:t>
            </a:r>
          </a:p>
          <a:p>
            <a:pPr lvl="0"/>
            <a:r>
              <a:rPr lang="en-US" dirty="0"/>
              <a:t>Example: Let's work together to find a win-win solution that satisfies everyone's needs.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12648" y="1558925"/>
            <a:ext cx="5806440" cy="4352544"/>
          </a:xfrm>
        </p:spPr>
        <p:txBody>
          <a:bodyPr>
            <a:normAutofit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8. Bottom line - the most important or crucial aspect of a negotiation</a:t>
            </a:r>
          </a:p>
          <a:p>
            <a:pPr lvl="0"/>
            <a:r>
              <a:rPr lang="en-US" dirty="0"/>
              <a:t>Example: The bottom line is that we need to reach an agreement that is fair and beneficial for both parties.</a:t>
            </a:r>
          </a:p>
          <a:p>
            <a:pPr lvl="0"/>
            <a:r>
              <a:rPr lang="en-US" dirty="0"/>
              <a:t>9. Mediation - the involvement of a third party to help resolve a dispute</a:t>
            </a:r>
          </a:p>
          <a:p>
            <a:pPr lvl="0"/>
            <a:r>
              <a:rPr lang="en-US" dirty="0"/>
              <a:t>Example: We may need to bring in a mediator to help us reach a mutually acceptable solution.</a:t>
            </a:r>
          </a:p>
          <a:p>
            <a:pPr lvl="0"/>
            <a:endParaRPr lang="en-US"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Walk away - to end negotiations without reaching an agreement</a:t>
            </a:r>
          </a:p>
          <a:p>
            <a:pPr lvl="0"/>
            <a:r>
              <a:rPr lang="en-US" dirty="0"/>
              <a:t>Example: If we can't find a solution that works for both of us, we may have to walk away from the negotiation.</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387475"/>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r>
              <a:rPr lang="en-US" dirty="0"/>
              <a:t>1. Persuasive  -Having the ability to convince or influence others.</a:t>
            </a:r>
          </a:p>
          <a:p>
            <a:r>
              <a:rPr lang="en-US" dirty="0"/>
              <a:t>2. Compelling - Convincing, forceful, or captivating.</a:t>
            </a:r>
          </a:p>
          <a:p>
            <a:r>
              <a:rPr lang="en-US" dirty="0"/>
              <a:t>3. Argument - A set of reasons given in support of an idea or action.</a:t>
            </a:r>
          </a:p>
          <a:p>
            <a:r>
              <a:rPr lang="en-US" dirty="0"/>
              <a:t>4. Structure  - A way of organizing or arranging things in a particular pattern or order.</a:t>
            </a:r>
          </a:p>
          <a:p>
            <a:r>
              <a:rPr lang="en-US" dirty="0"/>
              <a:t>5. Logic - Coherent reasoning or a sequence of statements.</a:t>
            </a:r>
          </a:p>
          <a:p>
            <a:pPr lvl="0"/>
            <a:endParaRPr lang="en-US" dirty="0"/>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VOCABULARY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3987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"Using persuasive language, presenting compelling arguments, and structuring their ideas logically are essential skills for anyone who wants to succeed in a debate or public speaking."</a:t>
            </a:r>
          </a:p>
          <a:p>
            <a:pPr lvl="0"/>
            <a:r>
              <a:rPr lang="en-US" dirty="0"/>
              <a:t>Task:</a:t>
            </a:r>
          </a:p>
          <a:p>
            <a:pPr lvl="0"/>
            <a:r>
              <a:rPr lang="en-US" dirty="0"/>
              <a:t>Use each of the above words in a sentence that demonstrates your understanding of their meaning.</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STYLES AND STRATERGIES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612648" y="1765623"/>
            <a:ext cx="5806440" cy="4352544"/>
          </a:xfrm>
        </p:spPr>
        <p:txBody>
          <a:bodyPr>
            <a:normAutofit fontScale="850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Discussion Questions:</a:t>
            </a:r>
          </a:p>
          <a:p>
            <a:pPr lvl="0"/>
            <a:r>
              <a:rPr lang="en-US" dirty="0"/>
              <a:t>1. How important is it to be aware of cultural differences in negotiation styles and strategies?</a:t>
            </a:r>
          </a:p>
          <a:p>
            <a:pPr lvl="0"/>
            <a:r>
              <a:rPr lang="en-US" dirty="0"/>
              <a:t>2. What are some common negotiation styles and strategies in your culture?</a:t>
            </a:r>
          </a:p>
          <a:p>
            <a:pPr lvl="0"/>
            <a:r>
              <a:rPr lang="en-US" dirty="0"/>
              <a:t>3. How does your culture perceive direct communication in negotiations?</a:t>
            </a:r>
          </a:p>
          <a:p>
            <a:pPr lvl="0"/>
            <a:r>
              <a:rPr lang="en-US" dirty="0"/>
              <a:t>4. How does your culture view the role of relationships in negotiations?</a:t>
            </a:r>
          </a:p>
          <a:p>
            <a:pPr lvl="0"/>
            <a:r>
              <a:rPr lang="en-US" dirty="0"/>
              <a:t>5. Can you give an example of a negotiation that went wrong due to cultural differences in styles and strategies?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STYLES AND STRATERGIES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472821" y="1691004"/>
            <a:ext cx="5806440" cy="4352544"/>
          </a:xfrm>
        </p:spPr>
        <p:txBody>
          <a:bodyPr>
            <a:normAutofit fontScale="850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6. How can you adapt your negotiation style and strategy when negotiating with individuals from a different culture?</a:t>
            </a:r>
          </a:p>
          <a:p>
            <a:pPr lvl="0"/>
            <a:r>
              <a:rPr lang="en-US" dirty="0"/>
              <a:t>7. What are some effective cross-cultural negotiation strategies that you have used in the past?</a:t>
            </a:r>
          </a:p>
          <a:p>
            <a:pPr lvl="0"/>
            <a:r>
              <a:rPr lang="en-US" dirty="0"/>
              <a:t>8. How can cultural differences in negotiation styles and strategies be leveraged to reach mutually beneficial outcomes?</a:t>
            </a:r>
          </a:p>
          <a:p>
            <a:pPr lvl="0"/>
            <a:r>
              <a:rPr lang="en-US" dirty="0"/>
              <a:t>9. How can cultural awareness and understanding enhance the success of international negotiations?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STYLES AND STRATERGIES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10. How do power dynamics and hierarchy play a role in negotiation styles and strategies in different cultures?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Discuss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During negotiations, ethical dilemmas can arise when there is a conflict between what is morally right and what is advantageous to one's self or organization. Here are some examples of ethical dilemmas that can arise during negotiations:</a:t>
            </a:r>
          </a:p>
          <a:p>
            <a:pPr lvl="0"/>
            <a:r>
              <a:rPr lang="en-US"/>
              <a:t>1. Deception: One party may deceive the other by withholding important information or providing false information to gain an advantage.</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Discuss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01775"/>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This can be considered unethical as it violates the principle of honesty and integrity.</a:t>
            </a:r>
          </a:p>
          <a:p>
            <a:pPr lvl="0"/>
            <a:r>
              <a:rPr lang="en-US" dirty="0"/>
              <a:t>2. Bribery: Offering or accepting bribes to influence the outcome of negotiations is another ethical dilemma. This can be considered unethical as it violates the principle of fairness and impartiality.</a:t>
            </a:r>
          </a:p>
          <a:p>
            <a:pPr lvl="0"/>
            <a:r>
              <a:rPr lang="en-US" dirty="0"/>
              <a:t>3. Conflict of interest: Negotiators may have a conflict of interest where they have a personal stake in the outcome of negotiations.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Discuss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606550"/>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This can be considered unethical as it may lead to biased decision-making.</a:t>
            </a:r>
          </a:p>
          <a:p>
            <a:pPr lvl="0"/>
            <a:r>
              <a:rPr lang="en-US" dirty="0"/>
              <a:t>4. Pressure tactics: Using pressure tactics such as threats or ultimatums can be considered unethical as it violates the principle of mutual respect and may lead to coercion.</a:t>
            </a:r>
          </a:p>
          <a:p>
            <a:pPr lvl="0"/>
            <a:r>
              <a:rPr lang="en-US" dirty="0"/>
              <a:t>5. Disclosure of confidential information: Sharing confidential information that is not meant to be disclosed can be considered unethical as it violates the principle of confidentiality and may harm the other party.</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Discuss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In conclusion, ethical dilemmas can arise during negotiations when there is a conflict between what is morally right and what is advantageous to one's self or organization. It is important to be aware of these ethical concerns and to strive to maintain integrity and fairness in negotiations.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87500"/>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Here's a negotiation role-play for B2 level students:</a:t>
            </a:r>
          </a:p>
          <a:p>
            <a:pPr lvl="0"/>
            <a:r>
              <a:rPr lang="en-US" dirty="0"/>
              <a:t>Role-play: Salary Negotiation</a:t>
            </a:r>
          </a:p>
          <a:p>
            <a:pPr lvl="0"/>
            <a:r>
              <a:rPr lang="en-US" dirty="0"/>
              <a:t>Instructions:</a:t>
            </a:r>
          </a:p>
          <a:p>
            <a:pPr lvl="0"/>
            <a:r>
              <a:rPr lang="en-US" dirty="0"/>
              <a:t>You are an employee who has been offered a new job. You have been through the interview process, and the employer has made an offer that you are not happy with. Your goal is to negotiate a better salary package that is more in line with your expectations.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01775"/>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Scenario:</a:t>
            </a:r>
          </a:p>
          <a:p>
            <a:pPr lvl="0"/>
            <a:r>
              <a:rPr lang="en-US" dirty="0"/>
              <a:t>You have been offered a job as a Marketing Manager for a leading advertising agency. You have the qualifications and experience required for the role, but the salary package is not what you were expecting.</a:t>
            </a:r>
          </a:p>
          <a:p>
            <a:pPr lvl="0"/>
            <a:r>
              <a:rPr lang="en-US" dirty="0"/>
              <a:t>The employer has offered you a salary of £35,000 per year, which is lower than you were hoping for. You were expecting a salary of at least £40,000 per year, given your expertise and experience in the field.</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20825"/>
            <a:ext cx="5806440" cy="4352544"/>
          </a:xfrm>
        </p:spPr>
        <p:txBody>
          <a:bodyPr>
            <a:normAutofit fontScale="700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Your task is to negotiate a better salary package with the employer.</a:t>
            </a:r>
          </a:p>
          <a:p>
            <a:pPr lvl="0"/>
            <a:r>
              <a:rPr lang="en-US" dirty="0"/>
              <a:t>Roles:</a:t>
            </a:r>
          </a:p>
          <a:p>
            <a:pPr lvl="0"/>
            <a:r>
              <a:rPr lang="en-US" dirty="0"/>
              <a:t>Employee (you)</a:t>
            </a:r>
          </a:p>
          <a:p>
            <a:pPr lvl="0"/>
            <a:r>
              <a:rPr lang="en-US" dirty="0"/>
              <a:t>Employer</a:t>
            </a:r>
          </a:p>
          <a:p>
            <a:pPr lvl="0"/>
            <a:r>
              <a:rPr lang="en-US" dirty="0"/>
              <a:t>Dialogue:</a:t>
            </a:r>
          </a:p>
          <a:p>
            <a:pPr lvl="0"/>
            <a:r>
              <a:rPr lang="en-US" dirty="0"/>
              <a:t>Employee: Thank you for offering me the position of Marketing Manager. I'm excited about the prospect of working for your agency, but I'm concerned about the salary package you've offered.</a:t>
            </a:r>
          </a:p>
          <a:p>
            <a:pPr lvl="0"/>
            <a:r>
              <a:rPr lang="en-US" dirty="0"/>
              <a:t>Employer: I understand. What is your concern?</a:t>
            </a:r>
          </a:p>
          <a:p>
            <a:pPr lvl="0"/>
            <a:r>
              <a:rPr lang="en-US" dirty="0"/>
              <a:t>Employee: Well, I was hoping for a salary of at least £40,000 per year, given my qualifications and experience.</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30350"/>
            <a:ext cx="5806440" cy="4352544"/>
          </a:xfrm>
        </p:spPr>
        <p:txBody>
          <a:bodyPr>
            <a:normAutofit fontScale="925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Is there any room for negotiation?</a:t>
            </a:r>
          </a:p>
          <a:p>
            <a:pPr lvl="0"/>
            <a:r>
              <a:rPr lang="en-US" dirty="0"/>
              <a:t>Employer: We understand your concern, but we have a set salary range for this position. However, we're willing to consider your request. What salary range were you hoping for?</a:t>
            </a:r>
          </a:p>
          <a:p>
            <a:pPr lvl="0"/>
            <a:r>
              <a:rPr lang="en-US" dirty="0"/>
              <a:t>Employee: I was hoping for a salary range of between £40,000 and £45,000 per year.</a:t>
            </a:r>
          </a:p>
          <a:p>
            <a:pPr lvl="0"/>
            <a:r>
              <a:rPr lang="en-US" dirty="0"/>
              <a:t>Employer: I see. That's quite a jump from our initial offer.</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39875"/>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Can you justify why you think you're worth that much?</a:t>
            </a:r>
          </a:p>
          <a:p>
            <a:pPr lvl="0"/>
            <a:r>
              <a:rPr lang="en-US" dirty="0"/>
              <a:t>Employee: Yes, I have extensive experience in the field, and I've achieved some impressive results in my previous roles. I believe I can bring a lot of value to your agency, and I think my salary should reflect that.</a:t>
            </a:r>
          </a:p>
          <a:p>
            <a:pPr lvl="0"/>
            <a:r>
              <a:rPr lang="en-US" dirty="0"/>
              <a:t>Employer: I understand your point of view. Let me discuss this with my team, and I'll get back to you as soon as possible.</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751652"/>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Employee: Thank you. I appreciate your willingness to consider my request.</a:t>
            </a:r>
          </a:p>
          <a:p>
            <a:pPr lvl="0"/>
            <a:r>
              <a:rPr lang="en-US" dirty="0"/>
              <a:t>Employer: We've discussed your request, and we're willing to meet you halfway. We can offer you a salary of £37,500 per year.</a:t>
            </a:r>
          </a:p>
          <a:p>
            <a:pPr lvl="0"/>
            <a:r>
              <a:rPr lang="en-US" dirty="0"/>
              <a:t>Employee: Thank you for considering my request. I appreciate the offer, but I was hoping for something closer to my initial request.</a:t>
            </a:r>
          </a:p>
          <a:p>
            <a:pPr lvl="0"/>
            <a:r>
              <a:rPr lang="en-US" dirty="0"/>
              <a:t>Employer: We understand your position, but this is the best we can offer at this time.</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587500"/>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Is this something you would be willing to accept?</a:t>
            </a:r>
          </a:p>
          <a:p>
            <a:pPr lvl="0"/>
            <a:r>
              <a:rPr lang="en-US" dirty="0"/>
              <a:t>Employee: I appreciate your offer, but I would like some time to think it over before I make a final decision.</a:t>
            </a:r>
          </a:p>
          <a:p>
            <a:pPr lvl="0"/>
            <a:r>
              <a:rPr lang="en-US" dirty="0"/>
              <a:t>Employer: That's understandable. Please take your time, and let us know if you have any further questions or concerns.</a:t>
            </a:r>
          </a:p>
          <a:p>
            <a:pPr lvl="0"/>
            <a:r>
              <a:rPr lang="en-US" dirty="0"/>
              <a:t>Debrief:</a:t>
            </a:r>
          </a:p>
          <a:p>
            <a:pPr lvl="0"/>
            <a:r>
              <a:rPr lang="en-US" dirty="0"/>
              <a:t>After the role-play, discuss with the students what went well and what could have been improved.</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ROLE-PLAY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Ask them to reflect on their negotiation skills and strategies. What worked, what didn't, and why? Encourage them to think about how they can apply these skills in other real-life situations.</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CONCLUDE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765623"/>
            <a:ext cx="5806440" cy="4352544"/>
          </a:xfrm>
        </p:spPr>
        <p:txBody>
          <a:bodyPr>
            <a:normAutofit fontScale="92500" lnSpcReduction="1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1. How important is it to have a clear conclusion in a negotiation?</a:t>
            </a:r>
          </a:p>
          <a:p>
            <a:pPr lvl="0"/>
            <a:r>
              <a:rPr lang="en-US" dirty="0"/>
              <a:t>2. What are some effective strategies for concluding a negotiation?</a:t>
            </a:r>
          </a:p>
          <a:p>
            <a:pPr lvl="0"/>
            <a:r>
              <a:rPr lang="en-US" dirty="0"/>
              <a:t>3. How can you ensure that both parties feel satisfied with the conclusion of a negotiation?</a:t>
            </a:r>
          </a:p>
          <a:p>
            <a:pPr lvl="0"/>
            <a:r>
              <a:rPr lang="en-US" dirty="0"/>
              <a:t>4. In what ways can a poorly-concluded negotiation have negative consequences?</a:t>
            </a:r>
          </a:p>
          <a:p>
            <a:pPr lvl="0"/>
            <a:r>
              <a:rPr lang="en-US" dirty="0"/>
              <a:t>5. What role does compromise play in reaching a conclusion in a negotiation?</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6492240" y="714895"/>
            <a:ext cx="5561215" cy="5403272"/>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dirty="0"/>
              <a:t>Click icon to add picture</a:t>
            </a: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CONCLUDE </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691004"/>
            <a:ext cx="5806440" cy="4352544"/>
          </a:xfrm>
        </p:spPr>
        <p:txBody>
          <a:bodyPr>
            <a:normAutofit fontScale="92500" lnSpcReduction="20000"/>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dirty="0"/>
              <a:t>6. How do cultural differences affect the way negotiations are concluded?</a:t>
            </a:r>
          </a:p>
          <a:p>
            <a:pPr lvl="0"/>
            <a:r>
              <a:rPr lang="en-US" dirty="0"/>
              <a:t>7. Can a negotiation be considered successful if one party feels like they didn't get what they wanted?</a:t>
            </a:r>
          </a:p>
          <a:p>
            <a:pPr lvl="0"/>
            <a:r>
              <a:rPr lang="en-US" dirty="0"/>
              <a:t>8. How can you handle a situation where both parties are unable to come to a conclusion?</a:t>
            </a:r>
          </a:p>
          <a:p>
            <a:pPr lvl="0"/>
            <a:r>
              <a:rPr lang="en-US" dirty="0"/>
              <a:t>9. How can you evaluate the effectiveness of a conclusion in a negotiation?</a:t>
            </a:r>
          </a:p>
          <a:p>
            <a:pPr lvl="0"/>
            <a:r>
              <a:rPr lang="en-US" dirty="0"/>
              <a:t>10. What are some common mistakes to avoid when concluding a negotiation?</a:t>
            </a:r>
          </a:p>
        </p:txBody>
      </p:sp>
      <p:pic>
        <p:nvPicPr>
          <p:cNvPr id="4" name="Picture 4"/>
          <p:cNvPicPr>
            <a:picLocks noChangeAspect="1"/>
          </p:cNvPicPr>
          <p:nvPr/>
        </p:nvPicPr>
        <p:blipFill>
          <a:blip r:embed="rId2"/>
          <a:stretch>
            <a:fillRect/>
          </a:stretch>
        </p:blipFill>
        <p:spPr>
          <a:xfrm>
            <a:off x="6492240" y="714895"/>
            <a:ext cx="5561215" cy="5403272"/>
          </a:xfrm>
          <a:prstGeom prst="ellipse">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50052" y="1399032"/>
            <a:ext cx="5111496" cy="3931920"/>
          </a:xfrm>
        </p:spPr>
        <p:txBody>
          <a:bodyPr anchor="ctr">
            <a:normAutofit fontScale="62500" lnSpcReduction="20000"/>
          </a:bodyPr>
          <a:lstStyle>
            <a:lvl1pPr marL="0" indent="0">
              <a:buNone/>
              <a:defRPr/>
            </a:lvl1pPr>
            <a:lvl2pPr marL="228600">
              <a:defRPr/>
            </a:lvl2pPr>
            <a:lvl3pPr marL="457200">
              <a:defRPr/>
            </a:lvl3pPr>
            <a:lvl4pPr>
              <a:buNone/>
              <a:defRPr/>
            </a:lvl4pPr>
          </a:lstStyle>
          <a:p>
            <a:pPr lvl="0"/>
            <a:r>
              <a:rPr lang="en-US" dirty="0"/>
              <a:t>- BATNA (Best Alternative to a Negotiated Agreement)</a:t>
            </a:r>
          </a:p>
          <a:p>
            <a:pPr lvl="0"/>
            <a:r>
              <a:rPr lang="en-US" dirty="0"/>
              <a:t>- ZOPA (Zone of Possible Agreement)</a:t>
            </a:r>
          </a:p>
          <a:p>
            <a:pPr lvl="0"/>
            <a:r>
              <a:rPr lang="en-US" dirty="0"/>
              <a:t>- Reservation Price (minimum acceptable outcome)</a:t>
            </a:r>
          </a:p>
          <a:p>
            <a:pPr lvl="0"/>
            <a:r>
              <a:rPr lang="en-US" dirty="0"/>
              <a:t>- Anchoring (setting initial offer or price)</a:t>
            </a:r>
          </a:p>
          <a:p>
            <a:pPr lvl="0"/>
            <a:r>
              <a:rPr lang="en-US" dirty="0"/>
              <a:t>- Distributive Negotiation (dividing a limited resource)</a:t>
            </a:r>
          </a:p>
          <a:p>
            <a:pPr lvl="0"/>
            <a:r>
              <a:rPr lang="en-US" dirty="0"/>
              <a:t>- Integrative Negotiation (creating value for both parties)</a:t>
            </a:r>
          </a:p>
          <a:p>
            <a:pPr lvl="0"/>
            <a:r>
              <a:rPr lang="en-US" dirty="0"/>
              <a:t>- Concession (compromise made by one party)</a:t>
            </a:r>
          </a:p>
          <a:p>
            <a:pPr lvl="0"/>
            <a:r>
              <a:rPr lang="en-US" dirty="0"/>
              <a:t>- Deadlock (when no agreement can be reached)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835777" y="1399032"/>
            <a:ext cx="5111496" cy="3931920"/>
          </a:xfrm>
        </p:spPr>
        <p:txBody>
          <a:bodyPr anchor="ctr">
            <a:normAutofit fontScale="77500" lnSpcReduction="20000"/>
          </a:bodyPr>
          <a:lstStyle>
            <a:lvl1pPr marL="0" indent="0">
              <a:buNone/>
              <a:defRPr/>
            </a:lvl1pPr>
            <a:lvl2pPr marL="228600">
              <a:defRPr/>
            </a:lvl2pPr>
            <a:lvl3pPr marL="457200">
              <a:defRPr/>
            </a:lvl3pPr>
            <a:lvl4pPr>
              <a:buNone/>
              <a:defRPr/>
            </a:lvl4pPr>
          </a:lstStyle>
          <a:p>
            <a:pPr lvl="0"/>
            <a:r>
              <a:rPr lang="en-US" dirty="0"/>
              <a:t>- Power (ability to influence or control the outcome)</a:t>
            </a:r>
          </a:p>
          <a:p>
            <a:pPr lvl="0"/>
            <a:r>
              <a:rPr lang="en-US" dirty="0"/>
              <a:t>- Escalation of Commitment (becoming more committed to a negotiation)</a:t>
            </a:r>
          </a:p>
          <a:p>
            <a:pPr lvl="0"/>
            <a:r>
              <a:rPr lang="en-US" dirty="0"/>
              <a:t>- Compromise - finding a mutually acceptable solution</a:t>
            </a:r>
          </a:p>
          <a:p>
            <a:pPr lvl="0"/>
            <a:r>
              <a:rPr lang="en-US" dirty="0"/>
              <a:t>- Concession - a compromise or agreement made to reach a deal</a:t>
            </a:r>
          </a:p>
          <a:p>
            <a:pPr lvl="0"/>
            <a:r>
              <a:rPr lang="en-US" dirty="0"/>
              <a:t>- Counteroffer - a response to an initial offer, often with a different proposal</a:t>
            </a:r>
          </a:p>
          <a:p>
            <a:pPr lvl="0"/>
            <a:r>
              <a:rPr lang="en-US" dirty="0"/>
              <a:t>- Deadline - a date or time by which something must be completed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36192"/>
            <a:ext cx="5111496" cy="3931920"/>
          </a:xfrm>
        </p:spPr>
        <p:txBody>
          <a:bodyPr anchor="ctr">
            <a:normAutofit fontScale="77500" lnSpcReduction="20000"/>
          </a:bodyPr>
          <a:lstStyle>
            <a:lvl1pPr marL="0" indent="0">
              <a:buNone/>
              <a:defRPr/>
            </a:lvl1pPr>
            <a:lvl2pPr marL="228600">
              <a:defRPr/>
            </a:lvl2pPr>
            <a:lvl3pPr marL="457200">
              <a:defRPr/>
            </a:lvl3pPr>
            <a:lvl4pPr>
              <a:buNone/>
              <a:defRPr/>
            </a:lvl4pPr>
          </a:lstStyle>
          <a:p>
            <a:pPr lvl="0"/>
            <a:r>
              <a:rPr lang="en-US" dirty="0"/>
              <a:t>- Proposal - a suggestion or plan put forward for consideration</a:t>
            </a:r>
          </a:p>
          <a:p>
            <a:pPr lvl="0"/>
            <a:r>
              <a:rPr lang="en-US" dirty="0"/>
              <a:t>- Terms - conditions or requirements agreed upon in a negotiation</a:t>
            </a:r>
          </a:p>
          <a:p>
            <a:pPr lvl="0"/>
            <a:r>
              <a:rPr lang="en-US" dirty="0"/>
              <a:t>- Win-win - a solution that benefits both parties involved</a:t>
            </a:r>
          </a:p>
          <a:p>
            <a:pPr lvl="0"/>
            <a:r>
              <a:rPr lang="en-US" dirty="0"/>
              <a:t>- Bottom line - the most important or crucial aspect of a negotiation</a:t>
            </a:r>
          </a:p>
          <a:p>
            <a:pPr lvl="0"/>
            <a:r>
              <a:rPr lang="en-US" dirty="0"/>
              <a:t>- Mediation - the involvement of a third party to help resolve a dispute</a:t>
            </a:r>
          </a:p>
          <a:p>
            <a:pPr lvl="0"/>
            <a:r>
              <a:rPr lang="en-US" dirty="0"/>
              <a:t>- Walk away - to end negotiations without reaching an agreement.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463040"/>
            <a:ext cx="5111496" cy="3931920"/>
          </a:xfrm>
        </p:spPr>
        <p:txBody>
          <a:bodyPr anchor="ctr">
            <a:normAutofit fontScale="70000" lnSpcReduction="20000"/>
          </a:bodyPr>
          <a:lstStyle>
            <a:lvl1pPr marL="0" indent="0">
              <a:buNone/>
              <a:defRPr/>
            </a:lvl1pPr>
            <a:lvl2pPr marL="228600">
              <a:defRPr/>
            </a:lvl2pPr>
            <a:lvl3pPr marL="457200">
              <a:defRPr/>
            </a:lvl3pPr>
            <a:lvl4pPr>
              <a:buNone/>
              <a:defRPr/>
            </a:lvl4pPr>
          </a:lstStyle>
          <a:p>
            <a:pPr lvl="0"/>
            <a:r>
              <a:rPr lang="en-US" dirty="0"/>
              <a:t>- Importance of being aware of cultural differences in negotiation styles and strategies</a:t>
            </a:r>
          </a:p>
          <a:p>
            <a:pPr lvl="0"/>
            <a:r>
              <a:rPr lang="en-US" dirty="0"/>
              <a:t>- Common negotiation styles and strategies in one's culture</a:t>
            </a:r>
          </a:p>
          <a:p>
            <a:pPr lvl="0"/>
            <a:r>
              <a:rPr lang="en-US" dirty="0"/>
              <a:t>- Perception of direct communication in negotiations in one's culture</a:t>
            </a:r>
          </a:p>
          <a:p>
            <a:pPr lvl="0"/>
            <a:r>
              <a:rPr lang="en-US" dirty="0"/>
              <a:t>- Role of relationships in negotiations in one's culture</a:t>
            </a:r>
          </a:p>
          <a:p>
            <a:pPr lvl="0"/>
            <a:r>
              <a:rPr lang="en-US" dirty="0"/>
              <a:t>- Example of a negotiation that failed due to cultural differences</a:t>
            </a:r>
          </a:p>
          <a:p>
            <a:pPr lvl="0"/>
            <a:r>
              <a:rPr lang="en-US" dirty="0"/>
              <a:t>- Adapting negotiation style and strategy when negotiating with individuals from a different culture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Summary</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dirty="0"/>
              <a:t>- Effective cross-cultural negotiation strategies</a:t>
            </a:r>
          </a:p>
          <a:p>
            <a:pPr lvl="0"/>
            <a:r>
              <a:rPr lang="en-US" dirty="0"/>
              <a:t>- Leveraging cultural differences to reach mutually beneficial outcomes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Disclaimer</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The content of this slide show was in part generated using AI technology and was formatted and reviewed by Learning Like a Lioness.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BB060C-ABEA-B943-A7B2-D9025FC4C229}"/>
              </a:ext>
            </a:extLst>
          </p:cNvPr>
          <p:cNvSpPr>
            <a:spLocks noGrp="1"/>
          </p:cNvSpPr>
          <p:nvPr>
            <p:ph type="title"/>
          </p:nvPr>
        </p:nvSpPr>
        <p:spPr/>
        <p:txBody>
          <a:bodyPr/>
          <a:lstStyle/>
          <a:p>
            <a:r>
              <a:rPr lang="en-GB"/>
              <a:t>Delayed feedback</a:t>
            </a:r>
            <a:endParaRPr lang="es-ES"/>
          </a:p>
        </p:txBody>
      </p:sp>
      <p:sp>
        <p:nvSpPr>
          <p:cNvPr id="5" name="Date Placeholder 4">
            <a:extLst>
              <a:ext uri="{FF2B5EF4-FFF2-40B4-BE49-F238E27FC236}">
                <a16:creationId xmlns:a16="http://schemas.microsoft.com/office/drawing/2014/main" id="{3E82CB03-0AFA-4E81-BEF9-0279EECA138D}"/>
              </a:ext>
            </a:extLst>
          </p:cNvPr>
          <p:cNvSpPr>
            <a:spLocks noGrp="1"/>
          </p:cNvSpPr>
          <p:nvPr>
            <p:ph type="dt" sz="half" idx="10"/>
          </p:nvPr>
        </p:nvSpPr>
        <p:spPr/>
        <p:txBody>
          <a:bodyPr/>
          <a:lstStyle/>
          <a:p>
            <a:pPr>
              <a:defRPr/>
            </a:pPr>
            <a:r>
              <a:rPr lang="en-GB" err="1">
                <a:solidFill>
                  <a:prstClr val="black">
                    <a:tint val="75000"/>
                  </a:prstClr>
                </a:solidFill>
              </a:rPr>
              <a:t>TuSpeaking</a:t>
            </a:r>
            <a:r>
              <a:rPr lang="en-GB">
                <a:solidFill>
                  <a:prstClr val="black">
                    <a:tint val="75000"/>
                  </a:prstClr>
                </a:solidFill>
              </a:rPr>
              <a:t> 2023,  All rights reserved</a:t>
            </a:r>
            <a:endParaRPr lang="en-US">
              <a:solidFill>
                <a:prstClr val="black">
                  <a:tint val="75000"/>
                </a:prstClr>
              </a:solidFill>
            </a:endParaRPr>
          </a:p>
        </p:txBody>
      </p:sp>
      <p:sp>
        <p:nvSpPr>
          <p:cNvPr id="6" name="Footer Placeholder 5">
            <a:extLst>
              <a:ext uri="{FF2B5EF4-FFF2-40B4-BE49-F238E27FC236}">
                <a16:creationId xmlns:a16="http://schemas.microsoft.com/office/drawing/2014/main" id="{967E87FF-294D-B796-D213-638E6BC79181}"/>
              </a:ext>
            </a:extLst>
          </p:cNvPr>
          <p:cNvSpPr>
            <a:spLocks noGrp="1"/>
          </p:cNvSpPr>
          <p:nvPr>
            <p:ph type="ftr" sz="quarter" idx="11"/>
          </p:nvPr>
        </p:nvSpPr>
        <p:spPr/>
        <p:txBody>
          <a:bodyPr/>
          <a:lstStyle/>
          <a:p>
            <a:pPr>
              <a:defRPr/>
            </a:pPr>
            <a:r>
              <a:rPr lang="en-GB">
                <a:solidFill>
                  <a:prstClr val="black">
                    <a:tint val="75000"/>
                  </a:prstClr>
                </a:solidFill>
              </a:rPr>
              <a:t>Personal information 1</a:t>
            </a: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E3D3AFA9-12C5-B439-AAB3-1674D7565F6E}"/>
              </a:ext>
            </a:extLst>
          </p:cNvPr>
          <p:cNvSpPr>
            <a:spLocks noGrp="1"/>
          </p:cNvSpPr>
          <p:nvPr>
            <p:ph type="sldNum" sz="quarter" idx="12"/>
          </p:nvPr>
        </p:nvSpPr>
        <p:spPr/>
        <p:txBody>
          <a:bodyPr/>
          <a:lstStyle/>
          <a:p>
            <a:pPr>
              <a:defRPr/>
            </a:pPr>
            <a:fld id="{D76B855D-E9CC-4FF8-AD85-6CDC7B89A0DE}" type="slidenum">
              <a:rPr lang="en-US" smtClean="0">
                <a:solidFill>
                  <a:prstClr val="black">
                    <a:tint val="75000"/>
                  </a:prstClr>
                </a:solidFill>
              </a:rPr>
              <a:pPr>
                <a:defRPr/>
              </a:pPr>
              <a:t>42</a:t>
            </a:fld>
            <a:endParaRPr lang="en-US">
              <a:solidFill>
                <a:prstClr val="black">
                  <a:tint val="75000"/>
                </a:prstClr>
              </a:solidFill>
            </a:endParaRPr>
          </a:p>
        </p:txBody>
      </p:sp>
      <p:pic>
        <p:nvPicPr>
          <p:cNvPr id="10" name="Picture 9">
            <a:extLst>
              <a:ext uri="{FF2B5EF4-FFF2-40B4-BE49-F238E27FC236}">
                <a16:creationId xmlns:a16="http://schemas.microsoft.com/office/drawing/2014/main" id="{47AF3B66-6F27-D239-6537-CD4823575F9A}"/>
              </a:ext>
            </a:extLst>
          </p:cNvPr>
          <p:cNvPicPr>
            <a:picLocks noChangeAspect="1"/>
          </p:cNvPicPr>
          <p:nvPr/>
        </p:nvPicPr>
        <p:blipFill>
          <a:blip r:embed="rId2"/>
          <a:stretch>
            <a:fillRect/>
          </a:stretch>
        </p:blipFill>
        <p:spPr>
          <a:xfrm>
            <a:off x="9982200" y="266700"/>
            <a:ext cx="1638300" cy="762000"/>
          </a:xfrm>
          <a:prstGeom prst="rect">
            <a:avLst/>
          </a:prstGeom>
        </p:spPr>
      </p:pic>
    </p:spTree>
    <p:extLst>
      <p:ext uri="{BB962C8B-B14F-4D97-AF65-F5344CB8AC3E}">
        <p14:creationId xmlns:p14="http://schemas.microsoft.com/office/powerpoint/2010/main" val="4189554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a:xfrm>
            <a:off x="1524000" y="3349167"/>
            <a:ext cx="9144000" cy="1748373"/>
          </a:xfrm>
        </p:spPr>
        <p:txBody>
          <a:bodyPr vert="horz" lIns="91440" tIns="45720" rIns="91440" bIns="45720" rtlCol="0" anchor="b">
            <a:normAutofit/>
          </a:bodyPr>
          <a:lstStyle/>
          <a:p>
            <a:r>
              <a:rPr lang="en-US" sz="6000" kern="1200" dirty="0">
                <a:solidFill>
                  <a:schemeClr val="tx1"/>
                </a:solidFill>
                <a:latin typeface="+mj-lt"/>
                <a:ea typeface="+mj-ea"/>
                <a:cs typeface="+mj-cs"/>
              </a:rPr>
              <a:t>Thank you</a:t>
            </a:r>
          </a:p>
        </p:txBody>
      </p:sp>
      <p:sp>
        <p:nvSpPr>
          <p:cNvPr id="4" name="Date Placeholder 3">
            <a:extLst>
              <a:ext uri="{FF2B5EF4-FFF2-40B4-BE49-F238E27FC236}">
                <a16:creationId xmlns:a16="http://schemas.microsoft.com/office/drawing/2014/main" id="{6F95E0EB-F1F4-436B-A218-93E100A66902}"/>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lvl="0">
              <a:spcAft>
                <a:spcPts val="600"/>
              </a:spcAft>
            </a:pPr>
            <a:r>
              <a:rPr lang="en-US" sz="1100" noProof="0" err="1">
                <a:solidFill>
                  <a:prstClr val="black">
                    <a:tint val="75000"/>
                  </a:prstClr>
                </a:solidFill>
              </a:rPr>
              <a:t>TuSpeaking</a:t>
            </a:r>
            <a:r>
              <a:rPr lang="en-US" sz="1100" noProof="0">
                <a:solidFill>
                  <a:prstClr val="black">
                    <a:tint val="75000"/>
                  </a:prstClr>
                </a:solidFill>
              </a:rPr>
              <a:t> 2023,  All rights reserved</a:t>
            </a:r>
          </a:p>
        </p:txBody>
      </p:sp>
      <p:sp>
        <p:nvSpPr>
          <p:cNvPr id="5" name="Footer Placeholder 4">
            <a:extLst>
              <a:ext uri="{FF2B5EF4-FFF2-40B4-BE49-F238E27FC236}">
                <a16:creationId xmlns:a16="http://schemas.microsoft.com/office/drawing/2014/main" id="{C75D06EF-9416-46F7-8230-B49EE1269F53}"/>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lvl="0" algn="ctr">
              <a:spcAft>
                <a:spcPts val="600"/>
              </a:spcAft>
            </a:pPr>
            <a:r>
              <a:rPr lang="en-US" kern="1200" cap="none" spc="0" baseline="0" noProof="0">
                <a:solidFill>
                  <a:prstClr val="black">
                    <a:tint val="75000"/>
                  </a:prstClr>
                </a:solidFill>
                <a:latin typeface="+mn-lt"/>
                <a:ea typeface="+mn-ea"/>
                <a:cs typeface="+mn-cs"/>
              </a:rPr>
              <a:t>Personal information 1</a:t>
            </a:r>
          </a:p>
        </p:txBody>
      </p:sp>
      <p:sp>
        <p:nvSpPr>
          <p:cNvPr id="6" name="Slide Number Placeholder 5">
            <a:extLst>
              <a:ext uri="{FF2B5EF4-FFF2-40B4-BE49-F238E27FC236}">
                <a16:creationId xmlns:a16="http://schemas.microsoft.com/office/drawing/2014/main" id="{7359025F-68D1-4F50-8480-3F981455D4D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lvl="0">
              <a:spcAft>
                <a:spcPts val="600"/>
              </a:spcAft>
            </a:pPr>
            <a:fld id="{D76B855D-E9CC-4FF8-AD85-6CDC7B89A0DE}" type="slidenum">
              <a:rPr lang="en-US" noProof="0">
                <a:solidFill>
                  <a:prstClr val="black">
                    <a:tint val="75000"/>
                  </a:prstClr>
                </a:solidFill>
              </a:rPr>
              <a:pPr lvl="0">
                <a:spcAft>
                  <a:spcPts val="600"/>
                </a:spcAft>
              </a:pPr>
              <a:t>43</a:t>
            </a:fld>
            <a:endParaRPr lang="en-US" noProof="0">
              <a:solidFill>
                <a:prstClr val="black">
                  <a:tint val="75000"/>
                </a:prstClr>
              </a:solidFill>
            </a:endParaRPr>
          </a:p>
        </p:txBody>
      </p:sp>
      <p:pic>
        <p:nvPicPr>
          <p:cNvPr id="12" name="Graphic 11" descr="Handshake">
            <a:extLst>
              <a:ext uri="{FF2B5EF4-FFF2-40B4-BE49-F238E27FC236}">
                <a16:creationId xmlns:a16="http://schemas.microsoft.com/office/drawing/2014/main" id="{A72524B9-2327-1C75-F20F-0E5D91733C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69584" y="643467"/>
            <a:ext cx="2452830" cy="2452830"/>
          </a:xfrm>
          <a:custGeom>
            <a:avLst/>
            <a:gdLst/>
            <a:ahLst/>
            <a:cxnLst/>
            <a:rect l="l" t="t" r="r" b="b"/>
            <a:pathLst>
              <a:path w="9143998" h="2473607">
                <a:moveTo>
                  <a:pt x="64634" y="0"/>
                </a:moveTo>
                <a:lnTo>
                  <a:pt x="9079363" y="0"/>
                </a:lnTo>
                <a:cubicBezTo>
                  <a:pt x="9115060" y="0"/>
                  <a:pt x="9143998" y="28938"/>
                  <a:pt x="9143998" y="64635"/>
                </a:cubicBezTo>
                <a:lnTo>
                  <a:pt x="9143998" y="2408972"/>
                </a:lnTo>
                <a:cubicBezTo>
                  <a:pt x="9143998" y="2444669"/>
                  <a:pt x="9115060" y="2473607"/>
                  <a:pt x="9079363" y="2473607"/>
                </a:cubicBezTo>
                <a:lnTo>
                  <a:pt x="64634" y="2473607"/>
                </a:lnTo>
                <a:cubicBezTo>
                  <a:pt x="46786" y="2473607"/>
                  <a:pt x="30627" y="2466373"/>
                  <a:pt x="18930" y="2454676"/>
                </a:cubicBezTo>
                <a:lnTo>
                  <a:pt x="0" y="2408974"/>
                </a:lnTo>
                <a:lnTo>
                  <a:pt x="0" y="64633"/>
                </a:lnTo>
                <a:lnTo>
                  <a:pt x="18930" y="18931"/>
                </a:lnTo>
                <a:cubicBezTo>
                  <a:pt x="30627" y="7235"/>
                  <a:pt x="46786" y="0"/>
                  <a:pt x="64634" y="0"/>
                </a:cubicBezTo>
                <a:close/>
              </a:path>
            </a:pathLst>
          </a:custGeom>
        </p:spPr>
      </p:pic>
    </p:spTree>
    <p:extLst>
      <p:ext uri="{BB962C8B-B14F-4D97-AF65-F5344CB8AC3E}">
        <p14:creationId xmlns:p14="http://schemas.microsoft.com/office/powerpoint/2010/main" val="962258905"/>
      </p:ext>
    </p:extLst>
  </p:cSld>
  <p:clrMapOvr>
    <a:masterClrMapping/>
  </p:clrMapOvr>
</p:sld>
</file>

<file path=ppt/theme/theme1.xml><?xml version="1.0" encoding="utf-8"?>
<a:theme xmlns:a="http://schemas.openxmlformats.org/drawingml/2006/main" name="2_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DEF148-1770-458F-8F5B-C3D0A278AA97}">
  <ds:schemaRefs>
    <ds:schemaRef ds:uri="http://purl.org/dc/dcmitype/"/>
    <ds:schemaRef ds:uri="http://schemas.microsoft.com/office/2006/documentManagement/types"/>
    <ds:schemaRef ds:uri="http://schemas.microsoft.com/office/infopath/2007/PartnerControls"/>
    <ds:schemaRef ds:uri="16c05727-aa75-4e4a-9b5f-8a80a1165891"/>
    <ds:schemaRef ds:uri="71af3243-3dd4-4a8d-8c0d-dd76da1f02a5"/>
    <ds:schemaRef ds:uri="http://purl.org/dc/terms/"/>
    <ds:schemaRef ds:uri="http://schemas.microsoft.com/office/2006/metadata/properties"/>
    <ds:schemaRef ds:uri="http://www.w3.org/XML/1998/namespace"/>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449C04-64B3-4403-94B7-8D2284C38D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{8B24966A-AB44-4D33-B07C-1473B01AE46D}tf78504181_win32</Template>
  <TotalTime>51</TotalTime>
  <Words>2803</Words>
  <Application>Microsoft Office PowerPoint</Application>
  <PresentationFormat>Widescreen</PresentationFormat>
  <Paragraphs>232</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Avenir Next LT Pro</vt:lpstr>
      <vt:lpstr>Calibri</vt:lpstr>
      <vt:lpstr>Tw Cen MT</vt:lpstr>
      <vt:lpstr>2_ShapesVTI</vt:lpstr>
      <vt:lpstr>General English</vt:lpstr>
      <vt:lpstr>General English</vt:lpstr>
      <vt:lpstr>WARM-UP</vt:lpstr>
      <vt:lpstr>WARM-UP</vt:lpstr>
      <vt:lpstr>WARM-UP</vt:lpstr>
      <vt:lpstr>TERMS AND CONCEPTS </vt:lpstr>
      <vt:lpstr>TERMS AND CONCEPTS </vt:lpstr>
      <vt:lpstr>TERMS AND CONCEPTS </vt:lpstr>
      <vt:lpstr>TERMS AND CONCEPTS </vt:lpstr>
      <vt:lpstr>TERMS AND CONCEPTS </vt:lpstr>
      <vt:lpstr>TERMS AND CONCEPTS </vt:lpstr>
      <vt:lpstr>VOCABULARY </vt:lpstr>
      <vt:lpstr>VOCABULARY </vt:lpstr>
      <vt:lpstr>VOCABULARY </vt:lpstr>
      <vt:lpstr>VOCABULARY </vt:lpstr>
      <vt:lpstr>VOCABULARY </vt:lpstr>
      <vt:lpstr>VOCABULARY </vt:lpstr>
      <vt:lpstr>VOCABULARY </vt:lpstr>
      <vt:lpstr>STYLES AND STRATERGIES </vt:lpstr>
      <vt:lpstr>STYLES AND STRATERGIES </vt:lpstr>
      <vt:lpstr>STYLES AND STRATERGIES </vt:lpstr>
      <vt:lpstr>Discuss </vt:lpstr>
      <vt:lpstr>Discuss </vt:lpstr>
      <vt:lpstr>Discuss </vt:lpstr>
      <vt:lpstr>Discuss </vt:lpstr>
      <vt:lpstr>ROLE-PLAY</vt:lpstr>
      <vt:lpstr>ROLE-PLAY</vt:lpstr>
      <vt:lpstr>ROLE-PLAY</vt:lpstr>
      <vt:lpstr>ROLE-PLAY</vt:lpstr>
      <vt:lpstr>ROLE-PLAY</vt:lpstr>
      <vt:lpstr>ROLE-PLAY</vt:lpstr>
      <vt:lpstr>ROLE-PLAY</vt:lpstr>
      <vt:lpstr>ROLE-PLAY</vt:lpstr>
      <vt:lpstr>CONCLUDE </vt:lpstr>
      <vt:lpstr>CONCLUDE </vt:lpstr>
      <vt:lpstr>Summary</vt:lpstr>
      <vt:lpstr>Summary</vt:lpstr>
      <vt:lpstr>Summary</vt:lpstr>
      <vt:lpstr>Summary</vt:lpstr>
      <vt:lpstr>Summary</vt:lpstr>
      <vt:lpstr>Disclaimer</vt:lpstr>
      <vt:lpstr>Delayed feedback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for business</dc:title>
  <dc:creator>Theo Clarke</dc:creator>
  <cp:lastModifiedBy>Theo Clarke</cp:lastModifiedBy>
  <cp:revision>10</cp:revision>
  <dcterms:created xsi:type="dcterms:W3CDTF">2022-11-03T16:14:46Z</dcterms:created>
  <dcterms:modified xsi:type="dcterms:W3CDTF">2023-05-04T09:11:29Z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