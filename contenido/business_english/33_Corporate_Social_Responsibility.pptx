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9" r:id="rId3"/>
    <p:sldId id="270" r:id="rId4"/>
    <p:sldId id="271" r:id="rId5"/>
    <p:sldId id="272" r:id="rId6"/>
    <p:sldId id="273" r:id="rId7"/>
    <p:sldId id="274" r:id="rId8"/>
    <p:sldId id="281" r:id="rId9"/>
    <p:sldId id="275" r:id="rId10"/>
    <p:sldId id="276" r:id="rId11"/>
    <p:sldId id="277" r:id="rId12"/>
    <p:sldId id="278" r:id="rId13"/>
    <p:sldId id="279" r:id="rId14"/>
    <p:sldId id="280" r:id="rId15"/>
    <p:sldId id="282" r:id="rId16"/>
    <p:sldId id="268" r:id="rId17"/>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04" d="100"/>
          <a:sy n="104" d="100"/>
        </p:scale>
        <p:origin x="138" y="3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DC5FC-6D57-EAD2-8799-5529324803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ES"/>
          </a:p>
        </p:txBody>
      </p:sp>
      <p:sp>
        <p:nvSpPr>
          <p:cNvPr id="3" name="Subtitle 2">
            <a:extLst>
              <a:ext uri="{FF2B5EF4-FFF2-40B4-BE49-F238E27FC236}">
                <a16:creationId xmlns:a16="http://schemas.microsoft.com/office/drawing/2014/main" id="{B2F85887-BC2F-96B5-E0D1-E5252ABEE5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ES"/>
          </a:p>
        </p:txBody>
      </p:sp>
      <p:sp>
        <p:nvSpPr>
          <p:cNvPr id="4" name="Date Placeholder 3">
            <a:extLst>
              <a:ext uri="{FF2B5EF4-FFF2-40B4-BE49-F238E27FC236}">
                <a16:creationId xmlns:a16="http://schemas.microsoft.com/office/drawing/2014/main" id="{8796F410-7337-82C9-88F8-5F17EE8B8604}"/>
              </a:ext>
            </a:extLst>
          </p:cNvPr>
          <p:cNvSpPr>
            <a:spLocks noGrp="1"/>
          </p:cNvSpPr>
          <p:nvPr>
            <p:ph type="dt" sz="half" idx="10"/>
          </p:nvPr>
        </p:nvSpPr>
        <p:spPr/>
        <p:txBody>
          <a:bodyPr/>
          <a:lstStyle/>
          <a:p>
            <a:fld id="{073D22DC-40B1-4861-85E6-44F945E42327}" type="datetimeFigureOut">
              <a:rPr lang="es-ES" smtClean="0"/>
              <a:t>12/08/2024</a:t>
            </a:fld>
            <a:endParaRPr lang="es-ES"/>
          </a:p>
        </p:txBody>
      </p:sp>
      <p:sp>
        <p:nvSpPr>
          <p:cNvPr id="5" name="Footer Placeholder 4">
            <a:extLst>
              <a:ext uri="{FF2B5EF4-FFF2-40B4-BE49-F238E27FC236}">
                <a16:creationId xmlns:a16="http://schemas.microsoft.com/office/drawing/2014/main" id="{E2A37B87-53D7-252F-4AF0-CF0AD2EC2B82}"/>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E788CE54-71C6-31B7-9E95-34267674BA2A}"/>
              </a:ext>
            </a:extLst>
          </p:cNvPr>
          <p:cNvSpPr>
            <a:spLocks noGrp="1"/>
          </p:cNvSpPr>
          <p:nvPr>
            <p:ph type="sldNum" sz="quarter" idx="12"/>
          </p:nvPr>
        </p:nvSpPr>
        <p:spPr/>
        <p:txBody>
          <a:bodyPr/>
          <a:lstStyle/>
          <a:p>
            <a:fld id="{2A192AA7-3C37-4291-9F4B-D8003392E815}" type="slidenum">
              <a:rPr lang="es-ES" smtClean="0"/>
              <a:t>‹#›</a:t>
            </a:fld>
            <a:endParaRPr lang="es-ES"/>
          </a:p>
        </p:txBody>
      </p:sp>
    </p:spTree>
    <p:extLst>
      <p:ext uri="{BB962C8B-B14F-4D97-AF65-F5344CB8AC3E}">
        <p14:creationId xmlns:p14="http://schemas.microsoft.com/office/powerpoint/2010/main" val="3048237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CB008-9E4F-36F6-D294-6AF94FDF3A18}"/>
              </a:ext>
            </a:extLst>
          </p:cNvPr>
          <p:cNvSpPr>
            <a:spLocks noGrp="1"/>
          </p:cNvSpPr>
          <p:nvPr>
            <p:ph type="title"/>
          </p:nvPr>
        </p:nvSpPr>
        <p:spPr/>
        <p:txBody>
          <a:bodyPr/>
          <a:lstStyle/>
          <a:p>
            <a:r>
              <a:rPr lang="en-US"/>
              <a:t>Click to edit Master title style</a:t>
            </a:r>
            <a:endParaRPr lang="es-ES"/>
          </a:p>
        </p:txBody>
      </p:sp>
      <p:sp>
        <p:nvSpPr>
          <p:cNvPr id="3" name="Content Placeholder 2">
            <a:extLst>
              <a:ext uri="{FF2B5EF4-FFF2-40B4-BE49-F238E27FC236}">
                <a16:creationId xmlns:a16="http://schemas.microsoft.com/office/drawing/2014/main" id="{70618C4B-DEA8-2E3A-3F7E-DD9CD88844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68B47020-DE41-0A20-EE92-52D23BBBB8AF}"/>
              </a:ext>
            </a:extLst>
          </p:cNvPr>
          <p:cNvSpPr>
            <a:spLocks noGrp="1"/>
          </p:cNvSpPr>
          <p:nvPr>
            <p:ph type="dt" sz="half" idx="10"/>
          </p:nvPr>
        </p:nvSpPr>
        <p:spPr/>
        <p:txBody>
          <a:bodyPr/>
          <a:lstStyle/>
          <a:p>
            <a:fld id="{073D22DC-40B1-4861-85E6-44F945E42327}" type="datetimeFigureOut">
              <a:rPr lang="es-ES" smtClean="0"/>
              <a:t>12/08/2024</a:t>
            </a:fld>
            <a:endParaRPr lang="es-ES"/>
          </a:p>
        </p:txBody>
      </p:sp>
      <p:sp>
        <p:nvSpPr>
          <p:cNvPr id="5" name="Footer Placeholder 4">
            <a:extLst>
              <a:ext uri="{FF2B5EF4-FFF2-40B4-BE49-F238E27FC236}">
                <a16:creationId xmlns:a16="http://schemas.microsoft.com/office/drawing/2014/main" id="{759E8B44-4F93-B5E2-6BAB-55FE347AEC4B}"/>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B0E4AF1C-C3BC-F099-DFDC-031DB9FBCD2A}"/>
              </a:ext>
            </a:extLst>
          </p:cNvPr>
          <p:cNvSpPr>
            <a:spLocks noGrp="1"/>
          </p:cNvSpPr>
          <p:nvPr>
            <p:ph type="sldNum" sz="quarter" idx="12"/>
          </p:nvPr>
        </p:nvSpPr>
        <p:spPr/>
        <p:txBody>
          <a:bodyPr/>
          <a:lstStyle/>
          <a:p>
            <a:fld id="{2A192AA7-3C37-4291-9F4B-D8003392E815}" type="slidenum">
              <a:rPr lang="es-ES" smtClean="0"/>
              <a:t>‹#›</a:t>
            </a:fld>
            <a:endParaRPr lang="es-ES"/>
          </a:p>
        </p:txBody>
      </p:sp>
    </p:spTree>
    <p:extLst>
      <p:ext uri="{BB962C8B-B14F-4D97-AF65-F5344CB8AC3E}">
        <p14:creationId xmlns:p14="http://schemas.microsoft.com/office/powerpoint/2010/main" val="2515305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D6AFD-0292-28B4-48DA-D107C73757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ES"/>
          </a:p>
        </p:txBody>
      </p:sp>
      <p:sp>
        <p:nvSpPr>
          <p:cNvPr id="3" name="Text Placeholder 2">
            <a:extLst>
              <a:ext uri="{FF2B5EF4-FFF2-40B4-BE49-F238E27FC236}">
                <a16:creationId xmlns:a16="http://schemas.microsoft.com/office/drawing/2014/main" id="{F65D2F66-64DB-D05F-3ABE-1FFA1CED7E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6F5945-D0AE-C218-03A1-405DC62FFA3D}"/>
              </a:ext>
            </a:extLst>
          </p:cNvPr>
          <p:cNvSpPr>
            <a:spLocks noGrp="1"/>
          </p:cNvSpPr>
          <p:nvPr>
            <p:ph type="dt" sz="half" idx="10"/>
          </p:nvPr>
        </p:nvSpPr>
        <p:spPr/>
        <p:txBody>
          <a:bodyPr/>
          <a:lstStyle/>
          <a:p>
            <a:fld id="{073D22DC-40B1-4861-85E6-44F945E42327}" type="datetimeFigureOut">
              <a:rPr lang="es-ES" smtClean="0"/>
              <a:t>12/08/2024</a:t>
            </a:fld>
            <a:endParaRPr lang="es-ES"/>
          </a:p>
        </p:txBody>
      </p:sp>
      <p:sp>
        <p:nvSpPr>
          <p:cNvPr id="5" name="Footer Placeholder 4">
            <a:extLst>
              <a:ext uri="{FF2B5EF4-FFF2-40B4-BE49-F238E27FC236}">
                <a16:creationId xmlns:a16="http://schemas.microsoft.com/office/drawing/2014/main" id="{B3729971-6FEB-4A8E-C938-F7302E550256}"/>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BA395198-91C3-6DF4-DCF0-243B2162FE26}"/>
              </a:ext>
            </a:extLst>
          </p:cNvPr>
          <p:cNvSpPr>
            <a:spLocks noGrp="1"/>
          </p:cNvSpPr>
          <p:nvPr>
            <p:ph type="sldNum" sz="quarter" idx="12"/>
          </p:nvPr>
        </p:nvSpPr>
        <p:spPr/>
        <p:txBody>
          <a:bodyPr/>
          <a:lstStyle/>
          <a:p>
            <a:fld id="{2A192AA7-3C37-4291-9F4B-D8003392E815}" type="slidenum">
              <a:rPr lang="es-ES" smtClean="0"/>
              <a:t>‹#›</a:t>
            </a:fld>
            <a:endParaRPr lang="es-ES"/>
          </a:p>
        </p:txBody>
      </p:sp>
    </p:spTree>
    <p:extLst>
      <p:ext uri="{BB962C8B-B14F-4D97-AF65-F5344CB8AC3E}">
        <p14:creationId xmlns:p14="http://schemas.microsoft.com/office/powerpoint/2010/main" val="3558138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449EB-721E-C6C6-9D4B-B09F8FA6C17C}"/>
              </a:ext>
            </a:extLst>
          </p:cNvPr>
          <p:cNvSpPr>
            <a:spLocks noGrp="1"/>
          </p:cNvSpPr>
          <p:nvPr>
            <p:ph type="title"/>
          </p:nvPr>
        </p:nvSpPr>
        <p:spPr/>
        <p:txBody>
          <a:bodyPr/>
          <a:lstStyle/>
          <a:p>
            <a:r>
              <a:rPr lang="en-US"/>
              <a:t>Click to edit Master title style</a:t>
            </a:r>
            <a:endParaRPr lang="es-ES"/>
          </a:p>
        </p:txBody>
      </p:sp>
      <p:sp>
        <p:nvSpPr>
          <p:cNvPr id="3" name="Content Placeholder 2">
            <a:extLst>
              <a:ext uri="{FF2B5EF4-FFF2-40B4-BE49-F238E27FC236}">
                <a16:creationId xmlns:a16="http://schemas.microsoft.com/office/drawing/2014/main" id="{F898596C-9790-E9BD-9050-EB95278E16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Content Placeholder 3">
            <a:extLst>
              <a:ext uri="{FF2B5EF4-FFF2-40B4-BE49-F238E27FC236}">
                <a16:creationId xmlns:a16="http://schemas.microsoft.com/office/drawing/2014/main" id="{7A90D3BF-FB6C-9529-757D-E202118037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5" name="Date Placeholder 4">
            <a:extLst>
              <a:ext uri="{FF2B5EF4-FFF2-40B4-BE49-F238E27FC236}">
                <a16:creationId xmlns:a16="http://schemas.microsoft.com/office/drawing/2014/main" id="{15F6868C-DD44-3263-4071-1918EFDA0856}"/>
              </a:ext>
            </a:extLst>
          </p:cNvPr>
          <p:cNvSpPr>
            <a:spLocks noGrp="1"/>
          </p:cNvSpPr>
          <p:nvPr>
            <p:ph type="dt" sz="half" idx="10"/>
          </p:nvPr>
        </p:nvSpPr>
        <p:spPr/>
        <p:txBody>
          <a:bodyPr/>
          <a:lstStyle/>
          <a:p>
            <a:fld id="{073D22DC-40B1-4861-85E6-44F945E42327}" type="datetimeFigureOut">
              <a:rPr lang="es-ES" smtClean="0"/>
              <a:t>12/08/2024</a:t>
            </a:fld>
            <a:endParaRPr lang="es-ES"/>
          </a:p>
        </p:txBody>
      </p:sp>
      <p:sp>
        <p:nvSpPr>
          <p:cNvPr id="6" name="Footer Placeholder 5">
            <a:extLst>
              <a:ext uri="{FF2B5EF4-FFF2-40B4-BE49-F238E27FC236}">
                <a16:creationId xmlns:a16="http://schemas.microsoft.com/office/drawing/2014/main" id="{60D58E7F-F95A-E6A0-E0B8-E93A0EA5C56C}"/>
              </a:ext>
            </a:extLst>
          </p:cNvPr>
          <p:cNvSpPr>
            <a:spLocks noGrp="1"/>
          </p:cNvSpPr>
          <p:nvPr>
            <p:ph type="ftr" sz="quarter" idx="11"/>
          </p:nvPr>
        </p:nvSpPr>
        <p:spPr/>
        <p:txBody>
          <a:bodyPr/>
          <a:lstStyle/>
          <a:p>
            <a:endParaRPr lang="es-ES"/>
          </a:p>
        </p:txBody>
      </p:sp>
      <p:sp>
        <p:nvSpPr>
          <p:cNvPr id="7" name="Slide Number Placeholder 6">
            <a:extLst>
              <a:ext uri="{FF2B5EF4-FFF2-40B4-BE49-F238E27FC236}">
                <a16:creationId xmlns:a16="http://schemas.microsoft.com/office/drawing/2014/main" id="{4F5248FF-596A-DF5A-0B2C-0BF1CA49FD90}"/>
              </a:ext>
            </a:extLst>
          </p:cNvPr>
          <p:cNvSpPr>
            <a:spLocks noGrp="1"/>
          </p:cNvSpPr>
          <p:nvPr>
            <p:ph type="sldNum" sz="quarter" idx="12"/>
          </p:nvPr>
        </p:nvSpPr>
        <p:spPr/>
        <p:txBody>
          <a:bodyPr/>
          <a:lstStyle/>
          <a:p>
            <a:fld id="{2A192AA7-3C37-4291-9F4B-D8003392E815}" type="slidenum">
              <a:rPr lang="es-ES" smtClean="0"/>
              <a:t>‹#›</a:t>
            </a:fld>
            <a:endParaRPr lang="es-ES"/>
          </a:p>
        </p:txBody>
      </p:sp>
    </p:spTree>
    <p:extLst>
      <p:ext uri="{BB962C8B-B14F-4D97-AF65-F5344CB8AC3E}">
        <p14:creationId xmlns:p14="http://schemas.microsoft.com/office/powerpoint/2010/main" val="219197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748D5-9A81-DEAB-A169-84E78B32C8BA}"/>
              </a:ext>
            </a:extLst>
          </p:cNvPr>
          <p:cNvSpPr>
            <a:spLocks noGrp="1"/>
          </p:cNvSpPr>
          <p:nvPr>
            <p:ph type="title"/>
          </p:nvPr>
        </p:nvSpPr>
        <p:spPr>
          <a:xfrm>
            <a:off x="839788" y="365125"/>
            <a:ext cx="10515600" cy="1325563"/>
          </a:xfrm>
        </p:spPr>
        <p:txBody>
          <a:bodyPr/>
          <a:lstStyle/>
          <a:p>
            <a:r>
              <a:rPr lang="en-US"/>
              <a:t>Click to edit Master title style</a:t>
            </a:r>
            <a:endParaRPr lang="es-ES"/>
          </a:p>
        </p:txBody>
      </p:sp>
      <p:sp>
        <p:nvSpPr>
          <p:cNvPr id="3" name="Text Placeholder 2">
            <a:extLst>
              <a:ext uri="{FF2B5EF4-FFF2-40B4-BE49-F238E27FC236}">
                <a16:creationId xmlns:a16="http://schemas.microsoft.com/office/drawing/2014/main" id="{4A55F521-EA80-2656-2F66-4AD70D7634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BF3964-06E8-2E3B-AB65-E3DDE8989D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5" name="Text Placeholder 4">
            <a:extLst>
              <a:ext uri="{FF2B5EF4-FFF2-40B4-BE49-F238E27FC236}">
                <a16:creationId xmlns:a16="http://schemas.microsoft.com/office/drawing/2014/main" id="{87E49C99-E63A-967A-3674-4CB0AE9B48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6A9F22-BD08-0C75-9009-BA33EEC47D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7" name="Date Placeholder 6">
            <a:extLst>
              <a:ext uri="{FF2B5EF4-FFF2-40B4-BE49-F238E27FC236}">
                <a16:creationId xmlns:a16="http://schemas.microsoft.com/office/drawing/2014/main" id="{2C6E6AA5-EF9E-3FDC-803E-FF493E79A2C2}"/>
              </a:ext>
            </a:extLst>
          </p:cNvPr>
          <p:cNvSpPr>
            <a:spLocks noGrp="1"/>
          </p:cNvSpPr>
          <p:nvPr>
            <p:ph type="dt" sz="half" idx="10"/>
          </p:nvPr>
        </p:nvSpPr>
        <p:spPr/>
        <p:txBody>
          <a:bodyPr/>
          <a:lstStyle/>
          <a:p>
            <a:fld id="{073D22DC-40B1-4861-85E6-44F945E42327}" type="datetimeFigureOut">
              <a:rPr lang="es-ES" smtClean="0"/>
              <a:t>12/08/2024</a:t>
            </a:fld>
            <a:endParaRPr lang="es-ES"/>
          </a:p>
        </p:txBody>
      </p:sp>
      <p:sp>
        <p:nvSpPr>
          <p:cNvPr id="8" name="Footer Placeholder 7">
            <a:extLst>
              <a:ext uri="{FF2B5EF4-FFF2-40B4-BE49-F238E27FC236}">
                <a16:creationId xmlns:a16="http://schemas.microsoft.com/office/drawing/2014/main" id="{6A24DB0A-1585-FD08-48A9-0F916400CFB3}"/>
              </a:ext>
            </a:extLst>
          </p:cNvPr>
          <p:cNvSpPr>
            <a:spLocks noGrp="1"/>
          </p:cNvSpPr>
          <p:nvPr>
            <p:ph type="ftr" sz="quarter" idx="11"/>
          </p:nvPr>
        </p:nvSpPr>
        <p:spPr/>
        <p:txBody>
          <a:bodyPr/>
          <a:lstStyle/>
          <a:p>
            <a:endParaRPr lang="es-ES"/>
          </a:p>
        </p:txBody>
      </p:sp>
      <p:sp>
        <p:nvSpPr>
          <p:cNvPr id="9" name="Slide Number Placeholder 8">
            <a:extLst>
              <a:ext uri="{FF2B5EF4-FFF2-40B4-BE49-F238E27FC236}">
                <a16:creationId xmlns:a16="http://schemas.microsoft.com/office/drawing/2014/main" id="{F636CFAC-66D4-CC1A-19F3-673EEE548CD5}"/>
              </a:ext>
            </a:extLst>
          </p:cNvPr>
          <p:cNvSpPr>
            <a:spLocks noGrp="1"/>
          </p:cNvSpPr>
          <p:nvPr>
            <p:ph type="sldNum" sz="quarter" idx="12"/>
          </p:nvPr>
        </p:nvSpPr>
        <p:spPr/>
        <p:txBody>
          <a:bodyPr/>
          <a:lstStyle/>
          <a:p>
            <a:fld id="{2A192AA7-3C37-4291-9F4B-D8003392E815}" type="slidenum">
              <a:rPr lang="es-ES" smtClean="0"/>
              <a:t>‹#›</a:t>
            </a:fld>
            <a:endParaRPr lang="es-ES"/>
          </a:p>
        </p:txBody>
      </p:sp>
    </p:spTree>
    <p:extLst>
      <p:ext uri="{BB962C8B-B14F-4D97-AF65-F5344CB8AC3E}">
        <p14:creationId xmlns:p14="http://schemas.microsoft.com/office/powerpoint/2010/main" val="3564924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60CFD-6C85-A085-2B9C-F0AF1F258390}"/>
              </a:ext>
            </a:extLst>
          </p:cNvPr>
          <p:cNvSpPr>
            <a:spLocks noGrp="1"/>
          </p:cNvSpPr>
          <p:nvPr>
            <p:ph type="title"/>
          </p:nvPr>
        </p:nvSpPr>
        <p:spPr/>
        <p:txBody>
          <a:bodyPr/>
          <a:lstStyle/>
          <a:p>
            <a:r>
              <a:rPr lang="en-US"/>
              <a:t>Click to edit Master title style</a:t>
            </a:r>
            <a:endParaRPr lang="es-ES"/>
          </a:p>
        </p:txBody>
      </p:sp>
      <p:sp>
        <p:nvSpPr>
          <p:cNvPr id="3" name="Date Placeholder 2">
            <a:extLst>
              <a:ext uri="{FF2B5EF4-FFF2-40B4-BE49-F238E27FC236}">
                <a16:creationId xmlns:a16="http://schemas.microsoft.com/office/drawing/2014/main" id="{2CD2A5D8-E869-5F1D-F2E2-3A9B45C112CD}"/>
              </a:ext>
            </a:extLst>
          </p:cNvPr>
          <p:cNvSpPr>
            <a:spLocks noGrp="1"/>
          </p:cNvSpPr>
          <p:nvPr>
            <p:ph type="dt" sz="half" idx="10"/>
          </p:nvPr>
        </p:nvSpPr>
        <p:spPr/>
        <p:txBody>
          <a:bodyPr/>
          <a:lstStyle/>
          <a:p>
            <a:fld id="{073D22DC-40B1-4861-85E6-44F945E42327}" type="datetimeFigureOut">
              <a:rPr lang="es-ES" smtClean="0"/>
              <a:t>12/08/2024</a:t>
            </a:fld>
            <a:endParaRPr lang="es-ES"/>
          </a:p>
        </p:txBody>
      </p:sp>
      <p:sp>
        <p:nvSpPr>
          <p:cNvPr id="4" name="Footer Placeholder 3">
            <a:extLst>
              <a:ext uri="{FF2B5EF4-FFF2-40B4-BE49-F238E27FC236}">
                <a16:creationId xmlns:a16="http://schemas.microsoft.com/office/drawing/2014/main" id="{3DDED394-FB2E-AB8A-66AF-9A18C75461B7}"/>
              </a:ext>
            </a:extLst>
          </p:cNvPr>
          <p:cNvSpPr>
            <a:spLocks noGrp="1"/>
          </p:cNvSpPr>
          <p:nvPr>
            <p:ph type="ftr" sz="quarter" idx="11"/>
          </p:nvPr>
        </p:nvSpPr>
        <p:spPr/>
        <p:txBody>
          <a:bodyPr/>
          <a:lstStyle/>
          <a:p>
            <a:endParaRPr lang="es-ES"/>
          </a:p>
        </p:txBody>
      </p:sp>
      <p:sp>
        <p:nvSpPr>
          <p:cNvPr id="5" name="Slide Number Placeholder 4">
            <a:extLst>
              <a:ext uri="{FF2B5EF4-FFF2-40B4-BE49-F238E27FC236}">
                <a16:creationId xmlns:a16="http://schemas.microsoft.com/office/drawing/2014/main" id="{6B489CFB-613A-452F-F2E0-E9E948207B97}"/>
              </a:ext>
            </a:extLst>
          </p:cNvPr>
          <p:cNvSpPr>
            <a:spLocks noGrp="1"/>
          </p:cNvSpPr>
          <p:nvPr>
            <p:ph type="sldNum" sz="quarter" idx="12"/>
          </p:nvPr>
        </p:nvSpPr>
        <p:spPr/>
        <p:txBody>
          <a:bodyPr/>
          <a:lstStyle/>
          <a:p>
            <a:fld id="{2A192AA7-3C37-4291-9F4B-D8003392E815}" type="slidenum">
              <a:rPr lang="es-ES" smtClean="0"/>
              <a:t>‹#›</a:t>
            </a:fld>
            <a:endParaRPr lang="es-ES"/>
          </a:p>
        </p:txBody>
      </p:sp>
    </p:spTree>
    <p:extLst>
      <p:ext uri="{BB962C8B-B14F-4D97-AF65-F5344CB8AC3E}">
        <p14:creationId xmlns:p14="http://schemas.microsoft.com/office/powerpoint/2010/main" val="5062423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D9AFA8-4BD5-9AF7-90FC-D092015EE72B}"/>
              </a:ext>
            </a:extLst>
          </p:cNvPr>
          <p:cNvSpPr>
            <a:spLocks noGrp="1"/>
          </p:cNvSpPr>
          <p:nvPr>
            <p:ph type="dt" sz="half" idx="10"/>
          </p:nvPr>
        </p:nvSpPr>
        <p:spPr/>
        <p:txBody>
          <a:bodyPr/>
          <a:lstStyle/>
          <a:p>
            <a:fld id="{073D22DC-40B1-4861-85E6-44F945E42327}" type="datetimeFigureOut">
              <a:rPr lang="es-ES" smtClean="0"/>
              <a:t>12/08/2024</a:t>
            </a:fld>
            <a:endParaRPr lang="es-ES"/>
          </a:p>
        </p:txBody>
      </p:sp>
      <p:sp>
        <p:nvSpPr>
          <p:cNvPr id="3" name="Footer Placeholder 2">
            <a:extLst>
              <a:ext uri="{FF2B5EF4-FFF2-40B4-BE49-F238E27FC236}">
                <a16:creationId xmlns:a16="http://schemas.microsoft.com/office/drawing/2014/main" id="{AF51FBB6-55C6-5CDF-88F4-BEADA552B5CC}"/>
              </a:ext>
            </a:extLst>
          </p:cNvPr>
          <p:cNvSpPr>
            <a:spLocks noGrp="1"/>
          </p:cNvSpPr>
          <p:nvPr>
            <p:ph type="ftr" sz="quarter" idx="11"/>
          </p:nvPr>
        </p:nvSpPr>
        <p:spPr/>
        <p:txBody>
          <a:bodyPr/>
          <a:lstStyle/>
          <a:p>
            <a:endParaRPr lang="es-ES"/>
          </a:p>
        </p:txBody>
      </p:sp>
      <p:sp>
        <p:nvSpPr>
          <p:cNvPr id="4" name="Slide Number Placeholder 3">
            <a:extLst>
              <a:ext uri="{FF2B5EF4-FFF2-40B4-BE49-F238E27FC236}">
                <a16:creationId xmlns:a16="http://schemas.microsoft.com/office/drawing/2014/main" id="{DD2BD2F0-4E2B-253B-0E96-FE212464EF33}"/>
              </a:ext>
            </a:extLst>
          </p:cNvPr>
          <p:cNvSpPr>
            <a:spLocks noGrp="1"/>
          </p:cNvSpPr>
          <p:nvPr>
            <p:ph type="sldNum" sz="quarter" idx="12"/>
          </p:nvPr>
        </p:nvSpPr>
        <p:spPr/>
        <p:txBody>
          <a:bodyPr/>
          <a:lstStyle/>
          <a:p>
            <a:fld id="{2A192AA7-3C37-4291-9F4B-D8003392E815}" type="slidenum">
              <a:rPr lang="es-ES" smtClean="0"/>
              <a:t>‹#›</a:t>
            </a:fld>
            <a:endParaRPr lang="es-ES"/>
          </a:p>
        </p:txBody>
      </p:sp>
    </p:spTree>
    <p:extLst>
      <p:ext uri="{BB962C8B-B14F-4D97-AF65-F5344CB8AC3E}">
        <p14:creationId xmlns:p14="http://schemas.microsoft.com/office/powerpoint/2010/main" val="36799271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7869F-EC5F-6C94-76B2-10353D91EC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ES"/>
          </a:p>
        </p:txBody>
      </p:sp>
      <p:sp>
        <p:nvSpPr>
          <p:cNvPr id="3" name="Content Placeholder 2">
            <a:extLst>
              <a:ext uri="{FF2B5EF4-FFF2-40B4-BE49-F238E27FC236}">
                <a16:creationId xmlns:a16="http://schemas.microsoft.com/office/drawing/2014/main" id="{8CDD1ED8-4CA0-D97B-9CF2-8B86C79718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Text Placeholder 3">
            <a:extLst>
              <a:ext uri="{FF2B5EF4-FFF2-40B4-BE49-F238E27FC236}">
                <a16:creationId xmlns:a16="http://schemas.microsoft.com/office/drawing/2014/main" id="{AF7C3B98-0869-7929-0FE8-8925C95581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54735C-B59E-4258-2702-AA53CC3C20D4}"/>
              </a:ext>
            </a:extLst>
          </p:cNvPr>
          <p:cNvSpPr>
            <a:spLocks noGrp="1"/>
          </p:cNvSpPr>
          <p:nvPr>
            <p:ph type="dt" sz="half" idx="10"/>
          </p:nvPr>
        </p:nvSpPr>
        <p:spPr/>
        <p:txBody>
          <a:bodyPr/>
          <a:lstStyle/>
          <a:p>
            <a:fld id="{073D22DC-40B1-4861-85E6-44F945E42327}" type="datetimeFigureOut">
              <a:rPr lang="es-ES" smtClean="0"/>
              <a:t>12/08/2024</a:t>
            </a:fld>
            <a:endParaRPr lang="es-ES"/>
          </a:p>
        </p:txBody>
      </p:sp>
      <p:sp>
        <p:nvSpPr>
          <p:cNvPr id="6" name="Footer Placeholder 5">
            <a:extLst>
              <a:ext uri="{FF2B5EF4-FFF2-40B4-BE49-F238E27FC236}">
                <a16:creationId xmlns:a16="http://schemas.microsoft.com/office/drawing/2014/main" id="{2025DF63-0EC3-825A-F064-0F29E6A9AFED}"/>
              </a:ext>
            </a:extLst>
          </p:cNvPr>
          <p:cNvSpPr>
            <a:spLocks noGrp="1"/>
          </p:cNvSpPr>
          <p:nvPr>
            <p:ph type="ftr" sz="quarter" idx="11"/>
          </p:nvPr>
        </p:nvSpPr>
        <p:spPr/>
        <p:txBody>
          <a:bodyPr/>
          <a:lstStyle/>
          <a:p>
            <a:endParaRPr lang="es-ES"/>
          </a:p>
        </p:txBody>
      </p:sp>
      <p:sp>
        <p:nvSpPr>
          <p:cNvPr id="7" name="Slide Number Placeholder 6">
            <a:extLst>
              <a:ext uri="{FF2B5EF4-FFF2-40B4-BE49-F238E27FC236}">
                <a16:creationId xmlns:a16="http://schemas.microsoft.com/office/drawing/2014/main" id="{E276E9DC-6ED1-169F-70A4-EA38E7DC8C2E}"/>
              </a:ext>
            </a:extLst>
          </p:cNvPr>
          <p:cNvSpPr>
            <a:spLocks noGrp="1"/>
          </p:cNvSpPr>
          <p:nvPr>
            <p:ph type="sldNum" sz="quarter" idx="12"/>
          </p:nvPr>
        </p:nvSpPr>
        <p:spPr/>
        <p:txBody>
          <a:bodyPr/>
          <a:lstStyle/>
          <a:p>
            <a:fld id="{2A192AA7-3C37-4291-9F4B-D8003392E815}" type="slidenum">
              <a:rPr lang="es-ES" smtClean="0"/>
              <a:t>‹#›</a:t>
            </a:fld>
            <a:endParaRPr lang="es-ES"/>
          </a:p>
        </p:txBody>
      </p:sp>
    </p:spTree>
    <p:extLst>
      <p:ext uri="{BB962C8B-B14F-4D97-AF65-F5344CB8AC3E}">
        <p14:creationId xmlns:p14="http://schemas.microsoft.com/office/powerpoint/2010/main" val="4108714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9AE59-8AC1-96B1-3CE9-A0D4FF8A3C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ES"/>
          </a:p>
        </p:txBody>
      </p:sp>
      <p:sp>
        <p:nvSpPr>
          <p:cNvPr id="3" name="Picture Placeholder 2">
            <a:extLst>
              <a:ext uri="{FF2B5EF4-FFF2-40B4-BE49-F238E27FC236}">
                <a16:creationId xmlns:a16="http://schemas.microsoft.com/office/drawing/2014/main" id="{D9B950F2-2490-EF61-CA26-C5F653E566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Text Placeholder 3">
            <a:extLst>
              <a:ext uri="{FF2B5EF4-FFF2-40B4-BE49-F238E27FC236}">
                <a16:creationId xmlns:a16="http://schemas.microsoft.com/office/drawing/2014/main" id="{5AC8F227-703C-02E6-CDDF-D6567CAEB7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F63A0D-7EBE-1900-4D51-9A7B80F8ECCD}"/>
              </a:ext>
            </a:extLst>
          </p:cNvPr>
          <p:cNvSpPr>
            <a:spLocks noGrp="1"/>
          </p:cNvSpPr>
          <p:nvPr>
            <p:ph type="dt" sz="half" idx="10"/>
          </p:nvPr>
        </p:nvSpPr>
        <p:spPr/>
        <p:txBody>
          <a:bodyPr/>
          <a:lstStyle/>
          <a:p>
            <a:fld id="{073D22DC-40B1-4861-85E6-44F945E42327}" type="datetimeFigureOut">
              <a:rPr lang="es-ES" smtClean="0"/>
              <a:t>12/08/2024</a:t>
            </a:fld>
            <a:endParaRPr lang="es-ES"/>
          </a:p>
        </p:txBody>
      </p:sp>
      <p:sp>
        <p:nvSpPr>
          <p:cNvPr id="6" name="Footer Placeholder 5">
            <a:extLst>
              <a:ext uri="{FF2B5EF4-FFF2-40B4-BE49-F238E27FC236}">
                <a16:creationId xmlns:a16="http://schemas.microsoft.com/office/drawing/2014/main" id="{E79E8129-1A0F-0D1F-B870-7727C0C2EF1A}"/>
              </a:ext>
            </a:extLst>
          </p:cNvPr>
          <p:cNvSpPr>
            <a:spLocks noGrp="1"/>
          </p:cNvSpPr>
          <p:nvPr>
            <p:ph type="ftr" sz="quarter" idx="11"/>
          </p:nvPr>
        </p:nvSpPr>
        <p:spPr/>
        <p:txBody>
          <a:bodyPr/>
          <a:lstStyle/>
          <a:p>
            <a:endParaRPr lang="es-ES"/>
          </a:p>
        </p:txBody>
      </p:sp>
      <p:sp>
        <p:nvSpPr>
          <p:cNvPr id="7" name="Slide Number Placeholder 6">
            <a:extLst>
              <a:ext uri="{FF2B5EF4-FFF2-40B4-BE49-F238E27FC236}">
                <a16:creationId xmlns:a16="http://schemas.microsoft.com/office/drawing/2014/main" id="{E465AECA-2992-78AF-A203-F141049BBD9D}"/>
              </a:ext>
            </a:extLst>
          </p:cNvPr>
          <p:cNvSpPr>
            <a:spLocks noGrp="1"/>
          </p:cNvSpPr>
          <p:nvPr>
            <p:ph type="sldNum" sz="quarter" idx="12"/>
          </p:nvPr>
        </p:nvSpPr>
        <p:spPr/>
        <p:txBody>
          <a:bodyPr/>
          <a:lstStyle/>
          <a:p>
            <a:fld id="{2A192AA7-3C37-4291-9F4B-D8003392E815}" type="slidenum">
              <a:rPr lang="es-ES" smtClean="0"/>
              <a:t>‹#›</a:t>
            </a:fld>
            <a:endParaRPr lang="es-ES"/>
          </a:p>
        </p:txBody>
      </p:sp>
    </p:spTree>
    <p:extLst>
      <p:ext uri="{BB962C8B-B14F-4D97-AF65-F5344CB8AC3E}">
        <p14:creationId xmlns:p14="http://schemas.microsoft.com/office/powerpoint/2010/main" val="12411208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CB840-CAEA-43E5-8F5E-7CB281AA3D84}"/>
              </a:ext>
            </a:extLst>
          </p:cNvPr>
          <p:cNvSpPr>
            <a:spLocks noGrp="1"/>
          </p:cNvSpPr>
          <p:nvPr>
            <p:ph type="title"/>
          </p:nvPr>
        </p:nvSpPr>
        <p:spPr/>
        <p:txBody>
          <a:bodyPr/>
          <a:lstStyle/>
          <a:p>
            <a:r>
              <a:rPr lang="en-US"/>
              <a:t>Click to edit Master title style</a:t>
            </a:r>
            <a:endParaRPr lang="es-ES"/>
          </a:p>
        </p:txBody>
      </p:sp>
      <p:sp>
        <p:nvSpPr>
          <p:cNvPr id="3" name="Vertical Text Placeholder 2">
            <a:extLst>
              <a:ext uri="{FF2B5EF4-FFF2-40B4-BE49-F238E27FC236}">
                <a16:creationId xmlns:a16="http://schemas.microsoft.com/office/drawing/2014/main" id="{226C93EA-34AF-D6C4-2670-579262778F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B43AB165-20EB-662C-404E-2FC13231EC50}"/>
              </a:ext>
            </a:extLst>
          </p:cNvPr>
          <p:cNvSpPr>
            <a:spLocks noGrp="1"/>
          </p:cNvSpPr>
          <p:nvPr>
            <p:ph type="dt" sz="half" idx="10"/>
          </p:nvPr>
        </p:nvSpPr>
        <p:spPr/>
        <p:txBody>
          <a:bodyPr/>
          <a:lstStyle/>
          <a:p>
            <a:fld id="{073D22DC-40B1-4861-85E6-44F945E42327}" type="datetimeFigureOut">
              <a:rPr lang="es-ES" smtClean="0"/>
              <a:t>12/08/2024</a:t>
            </a:fld>
            <a:endParaRPr lang="es-ES"/>
          </a:p>
        </p:txBody>
      </p:sp>
      <p:sp>
        <p:nvSpPr>
          <p:cNvPr id="5" name="Footer Placeholder 4">
            <a:extLst>
              <a:ext uri="{FF2B5EF4-FFF2-40B4-BE49-F238E27FC236}">
                <a16:creationId xmlns:a16="http://schemas.microsoft.com/office/drawing/2014/main" id="{E960380B-65DE-8A73-54D6-8381181C9A3E}"/>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6D822BD4-2F42-4113-26A0-EF778D3899FD}"/>
              </a:ext>
            </a:extLst>
          </p:cNvPr>
          <p:cNvSpPr>
            <a:spLocks noGrp="1"/>
          </p:cNvSpPr>
          <p:nvPr>
            <p:ph type="sldNum" sz="quarter" idx="12"/>
          </p:nvPr>
        </p:nvSpPr>
        <p:spPr/>
        <p:txBody>
          <a:bodyPr/>
          <a:lstStyle/>
          <a:p>
            <a:fld id="{2A192AA7-3C37-4291-9F4B-D8003392E815}" type="slidenum">
              <a:rPr lang="es-ES" smtClean="0"/>
              <a:t>‹#›</a:t>
            </a:fld>
            <a:endParaRPr lang="es-ES"/>
          </a:p>
        </p:txBody>
      </p:sp>
    </p:spTree>
    <p:extLst>
      <p:ext uri="{BB962C8B-B14F-4D97-AF65-F5344CB8AC3E}">
        <p14:creationId xmlns:p14="http://schemas.microsoft.com/office/powerpoint/2010/main" val="142268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1EFDA2-845E-31D1-8644-DEFEC3C27F7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ES"/>
          </a:p>
        </p:txBody>
      </p:sp>
      <p:sp>
        <p:nvSpPr>
          <p:cNvPr id="3" name="Vertical Text Placeholder 2">
            <a:extLst>
              <a:ext uri="{FF2B5EF4-FFF2-40B4-BE49-F238E27FC236}">
                <a16:creationId xmlns:a16="http://schemas.microsoft.com/office/drawing/2014/main" id="{8C852BE0-D511-7735-B08F-CC6883E506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DC7079C4-C794-1BC7-3CA1-585E4DA47417}"/>
              </a:ext>
            </a:extLst>
          </p:cNvPr>
          <p:cNvSpPr>
            <a:spLocks noGrp="1"/>
          </p:cNvSpPr>
          <p:nvPr>
            <p:ph type="dt" sz="half" idx="10"/>
          </p:nvPr>
        </p:nvSpPr>
        <p:spPr/>
        <p:txBody>
          <a:bodyPr/>
          <a:lstStyle/>
          <a:p>
            <a:fld id="{073D22DC-40B1-4861-85E6-44F945E42327}" type="datetimeFigureOut">
              <a:rPr lang="es-ES" smtClean="0"/>
              <a:t>12/08/2024</a:t>
            </a:fld>
            <a:endParaRPr lang="es-ES"/>
          </a:p>
        </p:txBody>
      </p:sp>
      <p:sp>
        <p:nvSpPr>
          <p:cNvPr id="5" name="Footer Placeholder 4">
            <a:extLst>
              <a:ext uri="{FF2B5EF4-FFF2-40B4-BE49-F238E27FC236}">
                <a16:creationId xmlns:a16="http://schemas.microsoft.com/office/drawing/2014/main" id="{DB770537-4CEF-52FC-DF64-83FE92379C89}"/>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C79224C2-0389-AAC3-D7EF-0CF3DC2168AD}"/>
              </a:ext>
            </a:extLst>
          </p:cNvPr>
          <p:cNvSpPr>
            <a:spLocks noGrp="1"/>
          </p:cNvSpPr>
          <p:nvPr>
            <p:ph type="sldNum" sz="quarter" idx="12"/>
          </p:nvPr>
        </p:nvSpPr>
        <p:spPr/>
        <p:txBody>
          <a:bodyPr/>
          <a:lstStyle/>
          <a:p>
            <a:fld id="{2A192AA7-3C37-4291-9F4B-D8003392E815}" type="slidenum">
              <a:rPr lang="es-ES" smtClean="0"/>
              <a:t>‹#›</a:t>
            </a:fld>
            <a:endParaRPr lang="es-ES"/>
          </a:p>
        </p:txBody>
      </p:sp>
    </p:spTree>
    <p:extLst>
      <p:ext uri="{BB962C8B-B14F-4D97-AF65-F5344CB8AC3E}">
        <p14:creationId xmlns:p14="http://schemas.microsoft.com/office/powerpoint/2010/main" val="4005198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BF6258-59DB-D502-2310-F5E6CA9549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ES"/>
          </a:p>
        </p:txBody>
      </p:sp>
      <p:sp>
        <p:nvSpPr>
          <p:cNvPr id="3" name="Text Placeholder 2">
            <a:extLst>
              <a:ext uri="{FF2B5EF4-FFF2-40B4-BE49-F238E27FC236}">
                <a16:creationId xmlns:a16="http://schemas.microsoft.com/office/drawing/2014/main" id="{C29FB25F-05D3-5D68-F41D-C4C4489F35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E92B5EA1-D7AB-395B-7E38-9FD252650B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73D22DC-40B1-4861-85E6-44F945E42327}" type="datetimeFigureOut">
              <a:rPr lang="es-ES" smtClean="0"/>
              <a:t>12/08/2024</a:t>
            </a:fld>
            <a:endParaRPr lang="es-ES"/>
          </a:p>
        </p:txBody>
      </p:sp>
      <p:sp>
        <p:nvSpPr>
          <p:cNvPr id="5" name="Footer Placeholder 4">
            <a:extLst>
              <a:ext uri="{FF2B5EF4-FFF2-40B4-BE49-F238E27FC236}">
                <a16:creationId xmlns:a16="http://schemas.microsoft.com/office/drawing/2014/main" id="{920BFAC8-E278-AC78-7372-2A9B61DB55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Slide Number Placeholder 5">
            <a:extLst>
              <a:ext uri="{FF2B5EF4-FFF2-40B4-BE49-F238E27FC236}">
                <a16:creationId xmlns:a16="http://schemas.microsoft.com/office/drawing/2014/main" id="{1A93BD0F-3768-2266-1A60-90767DC1DE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A192AA7-3C37-4291-9F4B-D8003392E815}" type="slidenum">
              <a:rPr lang="es-ES" smtClean="0"/>
              <a:t>‹#›</a:t>
            </a:fld>
            <a:endParaRPr lang="es-ES"/>
          </a:p>
        </p:txBody>
      </p:sp>
    </p:spTree>
    <p:extLst>
      <p:ext uri="{BB962C8B-B14F-4D97-AF65-F5344CB8AC3E}">
        <p14:creationId xmlns:p14="http://schemas.microsoft.com/office/powerpoint/2010/main" val="10553915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39F8A-3458-0384-D3DE-6A953FEF503C}"/>
              </a:ext>
            </a:extLst>
          </p:cNvPr>
          <p:cNvSpPr>
            <a:spLocks noGrp="1"/>
          </p:cNvSpPr>
          <p:nvPr>
            <p:ph type="ctrTitle"/>
          </p:nvPr>
        </p:nvSpPr>
        <p:spPr/>
        <p:txBody>
          <a:bodyPr/>
          <a:lstStyle/>
          <a:p>
            <a:pPr marL="0" marR="0" lvl="0" indent="0" defTabSz="914400" rtl="0" eaLnBrk="0" fontAlgn="base" latinLnBrk="0" hangingPunct="0">
              <a:lnSpc>
                <a:spcPct val="100000"/>
              </a:lnSpc>
              <a:spcBef>
                <a:spcPct val="0"/>
              </a:spcBef>
              <a:spcAft>
                <a:spcPct val="0"/>
              </a:spcAft>
              <a:buClrTx/>
              <a:buSzTx/>
              <a:buFontTx/>
              <a:buNone/>
              <a:tabLst/>
            </a:pPr>
            <a:r>
              <a:rPr lang="en-GB" dirty="0"/>
              <a:t>Corporate Social Responsibility</a:t>
            </a:r>
            <a:endParaRPr kumimoji="0" lang="en-US" altLang="en-US" sz="9600" i="0" u="none" strike="noStrike" cap="none" normalizeH="0" baseline="0" dirty="0">
              <a:ln>
                <a:noFill/>
              </a:ln>
              <a:solidFill>
                <a:schemeClr val="tx1"/>
              </a:solidFill>
              <a:effectLst/>
            </a:endParaRPr>
          </a:p>
        </p:txBody>
      </p:sp>
      <p:sp>
        <p:nvSpPr>
          <p:cNvPr id="3" name="Subtitle 2">
            <a:extLst>
              <a:ext uri="{FF2B5EF4-FFF2-40B4-BE49-F238E27FC236}">
                <a16:creationId xmlns:a16="http://schemas.microsoft.com/office/drawing/2014/main" id="{4D81C2AD-45C1-9E0A-1F74-60E9AAD10522}"/>
              </a:ext>
            </a:extLst>
          </p:cNvPr>
          <p:cNvSpPr>
            <a:spLocks noGrp="1"/>
          </p:cNvSpPr>
          <p:nvPr>
            <p:ph type="subTitle" idx="1"/>
          </p:nvPr>
        </p:nvSpPr>
        <p:spPr/>
        <p:txBody>
          <a:bodyPr/>
          <a:lstStyle/>
          <a:p>
            <a:r>
              <a:rPr lang="en-GB" dirty="0"/>
              <a:t>Business English B2</a:t>
            </a:r>
            <a:endParaRPr lang="es-ES" dirty="0"/>
          </a:p>
        </p:txBody>
      </p:sp>
      <p:pic>
        <p:nvPicPr>
          <p:cNvPr id="5" name="Picture 4">
            <a:extLst>
              <a:ext uri="{FF2B5EF4-FFF2-40B4-BE49-F238E27FC236}">
                <a16:creationId xmlns:a16="http://schemas.microsoft.com/office/drawing/2014/main" id="{8068ECA0-33E9-141C-6226-3CEEEEA04241}"/>
              </a:ext>
            </a:extLst>
          </p:cNvPr>
          <p:cNvPicPr>
            <a:picLocks noChangeAspect="1"/>
          </p:cNvPicPr>
          <p:nvPr/>
        </p:nvPicPr>
        <p:blipFill>
          <a:blip r:embed="rId2"/>
          <a:stretch>
            <a:fillRect/>
          </a:stretch>
        </p:blipFill>
        <p:spPr>
          <a:xfrm>
            <a:off x="9933691" y="360363"/>
            <a:ext cx="1638300" cy="762000"/>
          </a:xfrm>
          <a:prstGeom prst="rect">
            <a:avLst/>
          </a:prstGeom>
        </p:spPr>
      </p:pic>
      <p:sp>
        <p:nvSpPr>
          <p:cNvPr id="7" name="TextBox 6">
            <a:extLst>
              <a:ext uri="{FF2B5EF4-FFF2-40B4-BE49-F238E27FC236}">
                <a16:creationId xmlns:a16="http://schemas.microsoft.com/office/drawing/2014/main" id="{469BF2F2-9290-F3AC-390E-225DA13AEF5D}"/>
              </a:ext>
            </a:extLst>
          </p:cNvPr>
          <p:cNvSpPr txBox="1"/>
          <p:nvPr/>
        </p:nvSpPr>
        <p:spPr>
          <a:xfrm>
            <a:off x="585369" y="5963513"/>
            <a:ext cx="6094428" cy="369332"/>
          </a:xfrm>
          <a:prstGeom prst="rect">
            <a:avLst/>
          </a:prstGeom>
          <a:noFill/>
        </p:spPr>
        <p:txBody>
          <a:bodyPr wrap="square">
            <a:spAutoFit/>
          </a:bodyPr>
          <a:lstStyle/>
          <a:p>
            <a:pPr marL="0" marR="0" indent="0" algn="l" rtl="0" eaLnBrk="1" fontAlgn="auto" latinLnBrk="0" hangingPunct="1">
              <a:spcBef>
                <a:spcPts val="0"/>
              </a:spcBef>
              <a:spcAft>
                <a:spcPts val="0"/>
              </a:spcAft>
            </a:pPr>
            <a:r>
              <a:rPr lang="en-GB" sz="1800" b="0" i="0" kern="1200" spc="0" baseline="0" dirty="0" err="1">
                <a:ln>
                  <a:noFill/>
                </a:ln>
                <a:solidFill>
                  <a:srgbClr val="898989"/>
                </a:solidFill>
                <a:effectLst/>
                <a:latin typeface="Calibri" panose="020F0502020204030204" pitchFamily="34" charset="0"/>
                <a:ea typeface="+mn-ea"/>
                <a:cs typeface="+mn-cs"/>
              </a:rPr>
              <a:t>TuSpeaking</a:t>
            </a:r>
            <a:r>
              <a:rPr lang="en-GB" sz="1800" b="0" i="0" kern="1200" spc="0" baseline="0" dirty="0">
                <a:ln>
                  <a:noFill/>
                </a:ln>
                <a:solidFill>
                  <a:srgbClr val="898989"/>
                </a:solidFill>
                <a:effectLst/>
                <a:latin typeface="Calibri" panose="020F0502020204030204" pitchFamily="34" charset="0"/>
                <a:ea typeface="+mn-ea"/>
                <a:cs typeface="+mn-cs"/>
              </a:rPr>
              <a:t> 2024,  All rights reserved</a:t>
            </a:r>
            <a:endParaRPr lang="es-ES" dirty="0">
              <a:effectLst/>
            </a:endParaRPr>
          </a:p>
        </p:txBody>
      </p:sp>
      <p:sp>
        <p:nvSpPr>
          <p:cNvPr id="4" name="Rectangle 1">
            <a:extLst>
              <a:ext uri="{FF2B5EF4-FFF2-40B4-BE49-F238E27FC236}">
                <a16:creationId xmlns:a16="http://schemas.microsoft.com/office/drawing/2014/main" id="{C7B8728C-D0F4-541F-78BB-ED65C690BE26}"/>
              </a:ext>
            </a:extLst>
          </p:cNvPr>
          <p:cNvSpPr>
            <a:spLocks noChangeArrowheads="1"/>
          </p:cNvSpPr>
          <p:nvPr/>
        </p:nvSpPr>
        <p:spPr bwMode="auto">
          <a:xfrm>
            <a:off x="0" y="58050"/>
            <a:ext cx="65" cy="341099"/>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51994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3684CCF-CEBB-4D8E-A366-95E43D4C7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AE321B-01F3-0F83-0146-81FB5E23A85C}"/>
              </a:ext>
            </a:extLst>
          </p:cNvPr>
          <p:cNvSpPr>
            <a:spLocks noGrp="1"/>
          </p:cNvSpPr>
          <p:nvPr>
            <p:ph type="title"/>
          </p:nvPr>
        </p:nvSpPr>
        <p:spPr>
          <a:xfrm>
            <a:off x="838201" y="345810"/>
            <a:ext cx="4960945" cy="1325563"/>
          </a:xfrm>
        </p:spPr>
        <p:txBody>
          <a:bodyPr>
            <a:normAutofit/>
          </a:bodyPr>
          <a:lstStyle/>
          <a:p>
            <a:r>
              <a:rPr lang="en-GB" dirty="0"/>
              <a:t>Warm up</a:t>
            </a:r>
          </a:p>
        </p:txBody>
      </p:sp>
      <p:sp>
        <p:nvSpPr>
          <p:cNvPr id="3" name="Content Placeholder 2">
            <a:extLst>
              <a:ext uri="{FF2B5EF4-FFF2-40B4-BE49-F238E27FC236}">
                <a16:creationId xmlns:a16="http://schemas.microsoft.com/office/drawing/2014/main" id="{A7514059-DF53-93DA-BA7B-BCCDF2CD8E1E}"/>
              </a:ext>
            </a:extLst>
          </p:cNvPr>
          <p:cNvSpPr>
            <a:spLocks noGrp="1"/>
          </p:cNvSpPr>
          <p:nvPr>
            <p:ph idx="1"/>
          </p:nvPr>
        </p:nvSpPr>
        <p:spPr>
          <a:xfrm>
            <a:off x="838201" y="1825625"/>
            <a:ext cx="4933462" cy="4351338"/>
          </a:xfrm>
        </p:spPr>
        <p:txBody>
          <a:bodyPr>
            <a:normAutofit/>
          </a:bodyPr>
          <a:lstStyle/>
          <a:p>
            <a:r>
              <a:rPr lang="en-GB" dirty="0"/>
              <a:t>What do you think CSR means? </a:t>
            </a:r>
          </a:p>
          <a:p>
            <a:endParaRPr lang="en-GB" dirty="0"/>
          </a:p>
          <a:p>
            <a:r>
              <a:rPr lang="en-GB" dirty="0"/>
              <a:t>Can you name any companies known for their CSR efforts?</a:t>
            </a:r>
          </a:p>
          <a:p>
            <a:endParaRPr lang="en-GB" dirty="0"/>
          </a:p>
          <a:p>
            <a:r>
              <a:rPr lang="en-GB" dirty="0"/>
              <a:t>Why might CSR be important for a company’s reputation?</a:t>
            </a:r>
          </a:p>
        </p:txBody>
      </p:sp>
      <p:pic>
        <p:nvPicPr>
          <p:cNvPr id="9" name="Picture 8" descr="Mirror buildings">
            <a:extLst>
              <a:ext uri="{FF2B5EF4-FFF2-40B4-BE49-F238E27FC236}">
                <a16:creationId xmlns:a16="http://schemas.microsoft.com/office/drawing/2014/main" id="{A3BACFF8-EC7B-F7C8-A582-DEBC5AB97209}"/>
              </a:ext>
            </a:extLst>
          </p:cNvPr>
          <p:cNvPicPr>
            <a:picLocks noChangeAspect="1"/>
          </p:cNvPicPr>
          <p:nvPr/>
        </p:nvPicPr>
        <p:blipFill>
          <a:blip r:embed="rId2">
            <a:extLst>
              <a:ext uri="{28A0092B-C50C-407E-A947-70E740481C1C}">
                <a14:useLocalDpi xmlns:a14="http://schemas.microsoft.com/office/drawing/2010/main" val="0"/>
              </a:ext>
            </a:extLst>
          </a:blip>
          <a:srcRect l="8663" r="18683" b="-3"/>
          <a:stretch/>
        </p:blipFill>
        <p:spPr>
          <a:xfrm>
            <a:off x="6863996" y="3154859"/>
            <a:ext cx="4030579" cy="3703141"/>
          </a:xfrm>
          <a:custGeom>
            <a:avLst/>
            <a:gdLst/>
            <a:ahLst/>
            <a:cxnLst/>
            <a:rect l="l" t="t" r="r" b="b"/>
            <a:pathLst>
              <a:path w="4030579" h="3703141">
                <a:moveTo>
                  <a:pt x="2015289" y="0"/>
                </a:moveTo>
                <a:cubicBezTo>
                  <a:pt x="3128303" y="0"/>
                  <a:pt x="4030579" y="902277"/>
                  <a:pt x="4030579" y="2015290"/>
                </a:cubicBezTo>
                <a:cubicBezTo>
                  <a:pt x="4030579" y="2710923"/>
                  <a:pt x="3678127" y="3324237"/>
                  <a:pt x="3142057" y="3686399"/>
                </a:cubicBezTo>
                <a:lnTo>
                  <a:pt x="3114499" y="3703141"/>
                </a:lnTo>
                <a:lnTo>
                  <a:pt x="916080" y="3703141"/>
                </a:lnTo>
                <a:lnTo>
                  <a:pt x="888522" y="3686399"/>
                </a:lnTo>
                <a:cubicBezTo>
                  <a:pt x="352452" y="3324237"/>
                  <a:pt x="0" y="2710923"/>
                  <a:pt x="0" y="2015290"/>
                </a:cubicBezTo>
                <a:cubicBezTo>
                  <a:pt x="0" y="902277"/>
                  <a:pt x="902277" y="0"/>
                  <a:pt x="2015289" y="0"/>
                </a:cubicBezTo>
                <a:close/>
              </a:path>
            </a:pathLst>
          </a:custGeom>
        </p:spPr>
      </p:pic>
      <p:sp>
        <p:nvSpPr>
          <p:cNvPr id="16" name="Arc 15">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4759070" flipV="1">
            <a:off x="6010869" y="-729072"/>
            <a:ext cx="4083433" cy="408343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7" name="Picture 6" descr="Person raising fist">
            <a:extLst>
              <a:ext uri="{FF2B5EF4-FFF2-40B4-BE49-F238E27FC236}">
                <a16:creationId xmlns:a16="http://schemas.microsoft.com/office/drawing/2014/main" id="{90028097-6F65-500F-1C66-ED54A0D3A4A7}"/>
              </a:ext>
            </a:extLst>
          </p:cNvPr>
          <p:cNvPicPr>
            <a:picLocks noChangeAspect="1"/>
          </p:cNvPicPr>
          <p:nvPr/>
        </p:nvPicPr>
        <p:blipFill>
          <a:blip r:embed="rId3">
            <a:extLst>
              <a:ext uri="{28A0092B-C50C-407E-A947-70E740481C1C}">
                <a14:useLocalDpi xmlns:a14="http://schemas.microsoft.com/office/drawing/2010/main" val="0"/>
              </a:ext>
            </a:extLst>
          </a:blip>
          <a:srcRect l="17904" r="6340" b="4"/>
          <a:stretch/>
        </p:blipFill>
        <p:spPr>
          <a:xfrm>
            <a:off x="6305807" y="1"/>
            <a:ext cx="3519312" cy="3007909"/>
          </a:xfrm>
          <a:custGeom>
            <a:avLst/>
            <a:gdLst/>
            <a:ahLst/>
            <a:cxnLst/>
            <a:rect l="l" t="t" r="r" b="b"/>
            <a:pathLst>
              <a:path w="3519312" h="3007909">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p:spPr>
      </p:pic>
      <p:pic>
        <p:nvPicPr>
          <p:cNvPr id="5" name="Picture 4" descr="Child hands on a globe">
            <a:extLst>
              <a:ext uri="{FF2B5EF4-FFF2-40B4-BE49-F238E27FC236}">
                <a16:creationId xmlns:a16="http://schemas.microsoft.com/office/drawing/2014/main" id="{38A6B3D6-B660-EF45-AD22-714B70534084}"/>
              </a:ext>
            </a:extLst>
          </p:cNvPr>
          <p:cNvPicPr>
            <a:picLocks noChangeAspect="1"/>
          </p:cNvPicPr>
          <p:nvPr/>
        </p:nvPicPr>
        <p:blipFill>
          <a:blip r:embed="rId4">
            <a:extLst>
              <a:ext uri="{28A0092B-C50C-407E-A947-70E740481C1C}">
                <a14:useLocalDpi xmlns:a14="http://schemas.microsoft.com/office/drawing/2010/main" val="0"/>
              </a:ext>
            </a:extLst>
          </a:blip>
          <a:srcRect l="39744" r="17844" b="-3"/>
          <a:stretch/>
        </p:blipFill>
        <p:spPr>
          <a:xfrm>
            <a:off x="9933462" y="372217"/>
            <a:ext cx="2258539" cy="3554668"/>
          </a:xfrm>
          <a:custGeom>
            <a:avLst/>
            <a:gdLst/>
            <a:ahLst/>
            <a:cxnLst/>
            <a:rect l="l" t="t" r="r" b="b"/>
            <a:pathLst>
              <a:path w="2258539" h="3554668">
                <a:moveTo>
                  <a:pt x="1777334" y="0"/>
                </a:moveTo>
                <a:cubicBezTo>
                  <a:pt x="1900033" y="0"/>
                  <a:pt x="2019829" y="12434"/>
                  <a:pt x="2135529" y="36109"/>
                </a:cubicBezTo>
                <a:lnTo>
                  <a:pt x="2258539" y="67738"/>
                </a:lnTo>
                <a:lnTo>
                  <a:pt x="2258539" y="3486930"/>
                </a:lnTo>
                <a:lnTo>
                  <a:pt x="2135529" y="3518559"/>
                </a:lnTo>
                <a:cubicBezTo>
                  <a:pt x="2019829" y="3542235"/>
                  <a:pt x="1900033" y="3554668"/>
                  <a:pt x="1777334" y="3554668"/>
                </a:cubicBezTo>
                <a:cubicBezTo>
                  <a:pt x="795739" y="3554668"/>
                  <a:pt x="0" y="2758929"/>
                  <a:pt x="0" y="1777334"/>
                </a:cubicBezTo>
                <a:cubicBezTo>
                  <a:pt x="0" y="795740"/>
                  <a:pt x="795739" y="0"/>
                  <a:pt x="1777334" y="0"/>
                </a:cubicBezTo>
                <a:close/>
              </a:path>
            </a:pathLst>
          </a:custGeom>
        </p:spPr>
      </p:pic>
    </p:spTree>
    <p:extLst>
      <p:ext uri="{BB962C8B-B14F-4D97-AF65-F5344CB8AC3E}">
        <p14:creationId xmlns:p14="http://schemas.microsoft.com/office/powerpoint/2010/main" val="1344448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C63E3-978D-8636-B3C5-CCB293874F98}"/>
              </a:ext>
            </a:extLst>
          </p:cNvPr>
          <p:cNvSpPr>
            <a:spLocks noGrp="1"/>
          </p:cNvSpPr>
          <p:nvPr>
            <p:ph type="title"/>
          </p:nvPr>
        </p:nvSpPr>
        <p:spPr>
          <a:xfrm>
            <a:off x="5868557" y="1138036"/>
            <a:ext cx="5444382" cy="1402470"/>
          </a:xfrm>
        </p:spPr>
        <p:txBody>
          <a:bodyPr anchor="t">
            <a:normAutofit/>
          </a:bodyPr>
          <a:lstStyle/>
          <a:p>
            <a:r>
              <a:rPr lang="en-GB" sz="3200"/>
              <a:t>Vocabulary</a:t>
            </a:r>
          </a:p>
        </p:txBody>
      </p:sp>
      <p:pic>
        <p:nvPicPr>
          <p:cNvPr id="6" name="Picture 5" descr="One in a crowd">
            <a:extLst>
              <a:ext uri="{FF2B5EF4-FFF2-40B4-BE49-F238E27FC236}">
                <a16:creationId xmlns:a16="http://schemas.microsoft.com/office/drawing/2014/main" id="{AAE0778D-32D2-5199-39E6-3E97E99EF5CF}"/>
              </a:ext>
            </a:extLst>
          </p:cNvPr>
          <p:cNvPicPr>
            <a:picLocks noChangeAspect="1"/>
          </p:cNvPicPr>
          <p:nvPr/>
        </p:nvPicPr>
        <p:blipFill>
          <a:blip r:embed="rId2"/>
          <a:srcRect l="25928" r="17738"/>
          <a:stretch/>
        </p:blipFill>
        <p:spPr>
          <a:xfrm>
            <a:off x="-1" y="10"/>
            <a:ext cx="5151179" cy="6857990"/>
          </a:xfrm>
          <a:prstGeom prst="rect">
            <a:avLst/>
          </a:prstGeom>
        </p:spPr>
      </p:pic>
      <p:cxnSp>
        <p:nvCxnSpPr>
          <p:cNvPr id="10" name="Straight Connector 9">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0A5CB098-F0F1-FFA9-ED0B-8D7F4E722383}"/>
              </a:ext>
            </a:extLst>
          </p:cNvPr>
          <p:cNvSpPr>
            <a:spLocks noGrp="1" noChangeArrowheads="1"/>
          </p:cNvSpPr>
          <p:nvPr>
            <p:ph idx="1"/>
          </p:nvPr>
        </p:nvSpPr>
        <p:spPr bwMode="auto">
          <a:xfrm>
            <a:off x="5868557" y="2551176"/>
            <a:ext cx="5444382" cy="359120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eaLnBrk="0" fontAlgn="base" hangingPunct="0">
              <a:spcBef>
                <a:spcPct val="0"/>
              </a:spcBef>
              <a:spcAft>
                <a:spcPts val="600"/>
              </a:spcAft>
            </a:pPr>
            <a:r>
              <a:rPr kumimoji="0" lang="en-US" altLang="en-US" sz="2000" b="1" i="0" u="none" strike="noStrike" cap="none" normalizeH="0" baseline="0">
                <a:ln>
                  <a:noFill/>
                </a:ln>
                <a:effectLst/>
              </a:rPr>
              <a:t>Ethical Branding</a:t>
            </a:r>
            <a:r>
              <a:rPr kumimoji="0" lang="en-US" altLang="en-US" sz="2000" b="0" i="0" u="none" strike="noStrike" cap="none" normalizeH="0" baseline="0">
                <a:ln>
                  <a:noFill/>
                </a:ln>
                <a:effectLst/>
              </a:rPr>
              <a:t>: Building a brand based on ethical principles and values.</a:t>
            </a:r>
          </a:p>
          <a:p>
            <a:pPr eaLnBrk="0" fontAlgn="base" hangingPunct="0">
              <a:spcBef>
                <a:spcPct val="0"/>
              </a:spcBef>
              <a:spcAft>
                <a:spcPts val="600"/>
              </a:spcAft>
            </a:pPr>
            <a:r>
              <a:rPr kumimoji="0" lang="en-US" altLang="en-US" sz="2000" b="1" i="0" u="none" strike="noStrike" cap="none" normalizeH="0" baseline="0">
                <a:ln>
                  <a:noFill/>
                </a:ln>
                <a:effectLst/>
              </a:rPr>
              <a:t>Stakeholder Engagement</a:t>
            </a:r>
            <a:r>
              <a:rPr kumimoji="0" lang="en-US" altLang="en-US" sz="2000" b="0" i="0" u="none" strike="noStrike" cap="none" normalizeH="0" baseline="0">
                <a:ln>
                  <a:noFill/>
                </a:ln>
                <a:effectLst/>
              </a:rPr>
              <a:t>: Interacting with all parties affected by a company's operations, such as customers, employees, and communities.</a:t>
            </a:r>
          </a:p>
          <a:p>
            <a:pPr eaLnBrk="0" fontAlgn="base" hangingPunct="0">
              <a:spcBef>
                <a:spcPct val="0"/>
              </a:spcBef>
              <a:spcAft>
                <a:spcPts val="600"/>
              </a:spcAft>
            </a:pPr>
            <a:r>
              <a:rPr kumimoji="0" lang="en-US" altLang="en-US" sz="2000" b="1" i="0" u="none" strike="noStrike" cap="none" normalizeH="0" baseline="0">
                <a:ln>
                  <a:noFill/>
                </a:ln>
                <a:effectLst/>
              </a:rPr>
              <a:t>Social Impact</a:t>
            </a:r>
            <a:r>
              <a:rPr kumimoji="0" lang="en-US" altLang="en-US" sz="2000" b="0" i="0" u="none" strike="noStrike" cap="none" normalizeH="0" baseline="0">
                <a:ln>
                  <a:noFill/>
                </a:ln>
                <a:effectLst/>
              </a:rPr>
              <a:t>: The effect a company’s actions have on society and the environment.</a:t>
            </a:r>
          </a:p>
          <a:p>
            <a:pPr eaLnBrk="0" fontAlgn="base" hangingPunct="0">
              <a:spcBef>
                <a:spcPct val="0"/>
              </a:spcBef>
              <a:spcAft>
                <a:spcPts val="600"/>
              </a:spcAft>
            </a:pPr>
            <a:r>
              <a:rPr kumimoji="0" lang="en-US" altLang="en-US" sz="2000" b="1" i="0" u="none" strike="noStrike" cap="none" normalizeH="0" baseline="0">
                <a:ln>
                  <a:noFill/>
                </a:ln>
                <a:effectLst/>
              </a:rPr>
              <a:t>Reputation Management</a:t>
            </a:r>
            <a:r>
              <a:rPr kumimoji="0" lang="en-US" altLang="en-US" sz="2000" b="0" i="0" u="none" strike="noStrike" cap="none" normalizeH="0" baseline="0">
                <a:ln>
                  <a:noFill/>
                </a:ln>
                <a:effectLst/>
              </a:rPr>
              <a:t>: Strategies used to maintain or improve a company's reputation. </a:t>
            </a:r>
          </a:p>
        </p:txBody>
      </p:sp>
    </p:spTree>
    <p:extLst>
      <p:ext uri="{BB962C8B-B14F-4D97-AF65-F5344CB8AC3E}">
        <p14:creationId xmlns:p14="http://schemas.microsoft.com/office/powerpoint/2010/main" val="1208696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271" name="Rectangle 11270">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1B6EFB-D120-4DE2-04C0-85E019AD1783}"/>
              </a:ext>
            </a:extLst>
          </p:cNvPr>
          <p:cNvSpPr>
            <a:spLocks noGrp="1"/>
          </p:cNvSpPr>
          <p:nvPr>
            <p:ph type="title"/>
          </p:nvPr>
        </p:nvSpPr>
        <p:spPr>
          <a:xfrm>
            <a:off x="640080" y="325369"/>
            <a:ext cx="4368602" cy="1956841"/>
          </a:xfrm>
        </p:spPr>
        <p:txBody>
          <a:bodyPr anchor="b">
            <a:normAutofit/>
          </a:bodyPr>
          <a:lstStyle/>
          <a:p>
            <a:r>
              <a:rPr lang="en-GB" sz="5400"/>
              <a:t>Case studies</a:t>
            </a:r>
          </a:p>
        </p:txBody>
      </p:sp>
      <p:sp>
        <p:nvSpPr>
          <p:cNvPr id="11273"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A7599DE-692B-B450-E9F7-572CD904B300}"/>
              </a:ext>
            </a:extLst>
          </p:cNvPr>
          <p:cNvSpPr>
            <a:spLocks noGrp="1"/>
          </p:cNvSpPr>
          <p:nvPr>
            <p:ph idx="1"/>
          </p:nvPr>
        </p:nvSpPr>
        <p:spPr>
          <a:xfrm>
            <a:off x="640080" y="2872899"/>
            <a:ext cx="4243589" cy="3320668"/>
          </a:xfrm>
        </p:spPr>
        <p:txBody>
          <a:bodyPr>
            <a:normAutofit/>
          </a:bodyPr>
          <a:lstStyle/>
          <a:p>
            <a:pPr marL="0" indent="0">
              <a:buNone/>
            </a:pPr>
            <a:r>
              <a:rPr lang="en-GB" sz="2000" b="1"/>
              <a:t>Ben &amp; Jerry’s Social Justice Campaigns</a:t>
            </a:r>
          </a:p>
          <a:p>
            <a:r>
              <a:rPr lang="en-GB" sz="2000"/>
              <a:t>Ben &amp; Jerry’s has been recognized for its strong commitment to social justice, integrating activism into its brand identity. The company has used its platform to advocate for various social issues and causes, aligning its business practices with progressive values.</a:t>
            </a:r>
          </a:p>
          <a:p>
            <a:endParaRPr lang="en-GB" sz="2000"/>
          </a:p>
        </p:txBody>
      </p:sp>
      <p:pic>
        <p:nvPicPr>
          <p:cNvPr id="11266" name="Picture 2" descr="Inicio | Ben &amp; Jerry's">
            <a:extLst>
              <a:ext uri="{FF2B5EF4-FFF2-40B4-BE49-F238E27FC236}">
                <a16:creationId xmlns:a16="http://schemas.microsoft.com/office/drawing/2014/main" id="{36E3710E-2750-7A1B-C6C7-11E057B9E1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630" r="15417" b="-1"/>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9211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296" name="Rectangle 12295">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976C8B-A292-59B6-0798-3F79704A2833}"/>
              </a:ext>
            </a:extLst>
          </p:cNvPr>
          <p:cNvSpPr>
            <a:spLocks noGrp="1"/>
          </p:cNvSpPr>
          <p:nvPr>
            <p:ph type="title"/>
          </p:nvPr>
        </p:nvSpPr>
        <p:spPr>
          <a:xfrm>
            <a:off x="640080" y="325369"/>
            <a:ext cx="4368602" cy="1956841"/>
          </a:xfrm>
        </p:spPr>
        <p:txBody>
          <a:bodyPr anchor="b">
            <a:normAutofit/>
          </a:bodyPr>
          <a:lstStyle/>
          <a:p>
            <a:r>
              <a:rPr kumimoji="0" lang="en-US" altLang="en-US" sz="3800" b="1" i="0" u="none" strike="noStrike" cap="none" normalizeH="0" baseline="0">
                <a:ln>
                  <a:noFill/>
                </a:ln>
                <a:effectLst/>
                <a:latin typeface="Arial" panose="020B0604020202020204" pitchFamily="34" charset="0"/>
              </a:rPr>
              <a:t>Support for Black Lives Matter:</a:t>
            </a:r>
            <a:br>
              <a:rPr kumimoji="0" lang="en-US" altLang="en-US" sz="3800" b="0" i="0" u="none" strike="noStrike" cap="none" normalizeH="0" baseline="0">
                <a:ln>
                  <a:noFill/>
                </a:ln>
                <a:effectLst/>
                <a:latin typeface="Arial" panose="020B0604020202020204" pitchFamily="34" charset="0"/>
              </a:rPr>
            </a:br>
            <a:endParaRPr lang="en-GB" sz="3800"/>
          </a:p>
        </p:txBody>
      </p:sp>
      <p:sp>
        <p:nvSpPr>
          <p:cNvPr id="12298"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5E91C827-ACD8-90C0-2592-0EE97B72465A}"/>
              </a:ext>
            </a:extLst>
          </p:cNvPr>
          <p:cNvSpPr>
            <a:spLocks noGrp="1" noChangeArrowheads="1"/>
          </p:cNvSpPr>
          <p:nvPr>
            <p:ph idx="1"/>
          </p:nvPr>
        </p:nvSpPr>
        <p:spPr bwMode="auto">
          <a:xfrm>
            <a:off x="640080" y="2872899"/>
            <a:ext cx="4243589" cy="332066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r>
              <a:rPr lang="en-GB" sz="1700" b="1"/>
              <a:t>Initiative:</a:t>
            </a:r>
            <a:r>
              <a:rPr lang="en-GB" sz="1700"/>
              <a:t> Ben &amp; Jerry’s has publicly supported the Black Lives Matter movement and the fight against racial injustice. The company has used its social media channels to advocate for systemic change and has called out instances of police brutality.</a:t>
            </a:r>
          </a:p>
          <a:p>
            <a:r>
              <a:rPr lang="en-GB" sz="1700" b="1"/>
              <a:t>Actions:</a:t>
            </a:r>
            <a:r>
              <a:rPr lang="en-GB" sz="1700"/>
              <a:t> They have created flavours and campaigns centred around social justice themes, such as “Justice ReMix’d,” which was designed to support criminal justice reform.</a:t>
            </a:r>
          </a:p>
        </p:txBody>
      </p:sp>
      <p:pic>
        <p:nvPicPr>
          <p:cNvPr id="12291" name="Picture 3" descr="Ben &amp; Jerry's calls for dismantling of 'culture of white supremacy'">
            <a:extLst>
              <a:ext uri="{FF2B5EF4-FFF2-40B4-BE49-F238E27FC236}">
                <a16:creationId xmlns:a16="http://schemas.microsoft.com/office/drawing/2014/main" id="{44C19A13-889B-16BE-2BC3-597E4281B4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2583" r="20997"/>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8342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391" name="Rectangle 16390">
            <a:extLst>
              <a:ext uri="{FF2B5EF4-FFF2-40B4-BE49-F238E27FC236}">
                <a16:creationId xmlns:a16="http://schemas.microsoft.com/office/drawing/2014/main" id="{23E547B5-89CF-4EC0-96DE-25771AED0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93" name="Rectangle 16392">
            <a:extLst>
              <a:ext uri="{FF2B5EF4-FFF2-40B4-BE49-F238E27FC236}">
                <a16:creationId xmlns:a16="http://schemas.microsoft.com/office/drawing/2014/main" id="{3F0B8CEB-8279-4E5E-A0CE-1FC9F71736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782" y="0"/>
            <a:ext cx="7421217"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FEC850-230F-2461-DC27-96CF5945A261}"/>
              </a:ext>
            </a:extLst>
          </p:cNvPr>
          <p:cNvSpPr>
            <a:spLocks noGrp="1"/>
          </p:cNvSpPr>
          <p:nvPr>
            <p:ph type="title"/>
          </p:nvPr>
        </p:nvSpPr>
        <p:spPr>
          <a:xfrm>
            <a:off x="7320466" y="609600"/>
            <a:ext cx="4140014" cy="1330839"/>
          </a:xfrm>
        </p:spPr>
        <p:txBody>
          <a:bodyPr>
            <a:normAutofit/>
          </a:bodyPr>
          <a:lstStyle/>
          <a:p>
            <a:r>
              <a:rPr lang="en-GB" sz="2800" b="1"/>
              <a:t>Climate Change and Environmental Advocacy:</a:t>
            </a:r>
            <a:br>
              <a:rPr lang="en-GB" sz="2800"/>
            </a:br>
            <a:endParaRPr lang="en-GB" sz="2800"/>
          </a:p>
        </p:txBody>
      </p:sp>
      <p:pic>
        <p:nvPicPr>
          <p:cNvPr id="16386" name="Picture 2" descr="Ben &amp; Jerry's climate change awareness poster : r/DesignPorn">
            <a:extLst>
              <a:ext uri="{FF2B5EF4-FFF2-40B4-BE49-F238E27FC236}">
                <a16:creationId xmlns:a16="http://schemas.microsoft.com/office/drawing/2014/main" id="{470FB595-1809-85B7-07DA-A0D7A8CDF2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2" b="133"/>
          <a:stretch/>
        </p:blipFill>
        <p:spPr bwMode="auto">
          <a:xfrm>
            <a:off x="20" y="10"/>
            <a:ext cx="6901711" cy="6857990"/>
          </a:xfrm>
          <a:custGeom>
            <a:avLst/>
            <a:gdLst/>
            <a:ahLst/>
            <a:cxnLst/>
            <a:rect l="l" t="t" r="r" b="b"/>
            <a:pathLst>
              <a:path w="6901731" h="6858000">
                <a:moveTo>
                  <a:pt x="0" y="0"/>
                </a:moveTo>
                <a:lnTo>
                  <a:pt x="6897896" y="5958"/>
                </a:lnTo>
                <a:lnTo>
                  <a:pt x="6866823" y="62592"/>
                </a:lnTo>
                <a:lnTo>
                  <a:pt x="6901731" y="89476"/>
                </a:lnTo>
                <a:lnTo>
                  <a:pt x="6901731" y="103833"/>
                </a:lnTo>
                <a:lnTo>
                  <a:pt x="6900034" y="110092"/>
                </a:lnTo>
                <a:lnTo>
                  <a:pt x="6901731" y="113679"/>
                </a:lnTo>
                <a:lnTo>
                  <a:pt x="6901731" y="405560"/>
                </a:lnTo>
                <a:lnTo>
                  <a:pt x="6900456" y="429509"/>
                </a:lnTo>
                <a:cubicBezTo>
                  <a:pt x="6892773" y="535647"/>
                  <a:pt x="6878314" y="537918"/>
                  <a:pt x="6886342" y="636808"/>
                </a:cubicBezTo>
                <a:cubicBezTo>
                  <a:pt x="6892506" y="756883"/>
                  <a:pt x="6864504" y="771443"/>
                  <a:pt x="6851784" y="839073"/>
                </a:cubicBezTo>
                <a:cubicBezTo>
                  <a:pt x="6838675" y="892655"/>
                  <a:pt x="6864124" y="961738"/>
                  <a:pt x="6845760" y="994930"/>
                </a:cubicBezTo>
                <a:cubicBezTo>
                  <a:pt x="6833572" y="1024166"/>
                  <a:pt x="6859282" y="1058905"/>
                  <a:pt x="6845601" y="1112932"/>
                </a:cubicBezTo>
                <a:cubicBezTo>
                  <a:pt x="6838700" y="1149910"/>
                  <a:pt x="6829138" y="1151035"/>
                  <a:pt x="6820235" y="1187433"/>
                </a:cubicBezTo>
                <a:cubicBezTo>
                  <a:pt x="6815504" y="1196464"/>
                  <a:pt x="6777707" y="1338549"/>
                  <a:pt x="6759643" y="1337010"/>
                </a:cubicBezTo>
                <a:cubicBezTo>
                  <a:pt x="6737660" y="1337296"/>
                  <a:pt x="6760650" y="1396341"/>
                  <a:pt x="6736375" y="1382272"/>
                </a:cubicBezTo>
                <a:cubicBezTo>
                  <a:pt x="6755741" y="1415836"/>
                  <a:pt x="6714675" y="1414567"/>
                  <a:pt x="6701292" y="1432111"/>
                </a:cubicBezTo>
                <a:cubicBezTo>
                  <a:pt x="6721110" y="1460185"/>
                  <a:pt x="6692106" y="1490815"/>
                  <a:pt x="6686578" y="1518624"/>
                </a:cubicBezTo>
                <a:cubicBezTo>
                  <a:pt x="6682512" y="1567002"/>
                  <a:pt x="6679579" y="1571443"/>
                  <a:pt x="6670824" y="1607743"/>
                </a:cubicBezTo>
                <a:cubicBezTo>
                  <a:pt x="6671133" y="1629590"/>
                  <a:pt x="6663161" y="1656870"/>
                  <a:pt x="6664392" y="1696405"/>
                </a:cubicBezTo>
                <a:cubicBezTo>
                  <a:pt x="6655686" y="1770486"/>
                  <a:pt x="6641938" y="1757082"/>
                  <a:pt x="6642880" y="1812372"/>
                </a:cubicBezTo>
                <a:cubicBezTo>
                  <a:pt x="6638579" y="1872475"/>
                  <a:pt x="6619231" y="1825476"/>
                  <a:pt x="6612547" y="1876437"/>
                </a:cubicBezTo>
                <a:cubicBezTo>
                  <a:pt x="6600695" y="1913834"/>
                  <a:pt x="6591061" y="1923231"/>
                  <a:pt x="6571760" y="1953331"/>
                </a:cubicBezTo>
                <a:cubicBezTo>
                  <a:pt x="6561039" y="1989021"/>
                  <a:pt x="6544090" y="2087896"/>
                  <a:pt x="6520213" y="2096455"/>
                </a:cubicBezTo>
                <a:lnTo>
                  <a:pt x="6492461" y="2188148"/>
                </a:lnTo>
                <a:cubicBezTo>
                  <a:pt x="6504372" y="2211333"/>
                  <a:pt x="6489131" y="2253220"/>
                  <a:pt x="6471854" y="2259117"/>
                </a:cubicBezTo>
                <a:cubicBezTo>
                  <a:pt x="6466151" y="2287829"/>
                  <a:pt x="6440452" y="2301346"/>
                  <a:pt x="6439832" y="2328334"/>
                </a:cubicBezTo>
                <a:cubicBezTo>
                  <a:pt x="6431013" y="2351201"/>
                  <a:pt x="6444250" y="2396409"/>
                  <a:pt x="6425162" y="2408211"/>
                </a:cubicBezTo>
                <a:lnTo>
                  <a:pt x="6417221" y="2427382"/>
                </a:lnTo>
                <a:lnTo>
                  <a:pt x="6425030" y="2464387"/>
                </a:lnTo>
                <a:lnTo>
                  <a:pt x="6406293" y="2472223"/>
                </a:lnTo>
                <a:cubicBezTo>
                  <a:pt x="6406862" y="2477277"/>
                  <a:pt x="6406486" y="2491723"/>
                  <a:pt x="6405400" y="2493547"/>
                </a:cubicBezTo>
                <a:lnTo>
                  <a:pt x="6374829" y="2532070"/>
                </a:lnTo>
                <a:cubicBezTo>
                  <a:pt x="6374597" y="2545374"/>
                  <a:pt x="6360976" y="2563797"/>
                  <a:pt x="6350864" y="2577422"/>
                </a:cubicBezTo>
                <a:cubicBezTo>
                  <a:pt x="6327056" y="2632768"/>
                  <a:pt x="6341262" y="2616275"/>
                  <a:pt x="6329174" y="2663854"/>
                </a:cubicBezTo>
                <a:cubicBezTo>
                  <a:pt x="6326303" y="2703642"/>
                  <a:pt x="6332854" y="2709643"/>
                  <a:pt x="6315095" y="2741507"/>
                </a:cubicBezTo>
                <a:cubicBezTo>
                  <a:pt x="6319921" y="2740191"/>
                  <a:pt x="6321925" y="2742004"/>
                  <a:pt x="6322463" y="2745641"/>
                </a:cubicBezTo>
                <a:cubicBezTo>
                  <a:pt x="6322245" y="2747982"/>
                  <a:pt x="6322027" y="2750323"/>
                  <a:pt x="6321808" y="2752663"/>
                </a:cubicBezTo>
                <a:lnTo>
                  <a:pt x="6314569" y="2756718"/>
                </a:lnTo>
                <a:cubicBezTo>
                  <a:pt x="6289324" y="2773686"/>
                  <a:pt x="6317551" y="2780051"/>
                  <a:pt x="6315211" y="2811618"/>
                </a:cubicBezTo>
                <a:cubicBezTo>
                  <a:pt x="6315620" y="2826627"/>
                  <a:pt x="6296047" y="2885298"/>
                  <a:pt x="6302211" y="2882314"/>
                </a:cubicBezTo>
                <a:lnTo>
                  <a:pt x="6286167" y="2949597"/>
                </a:lnTo>
                <a:cubicBezTo>
                  <a:pt x="6286401" y="2994618"/>
                  <a:pt x="6286615" y="2971464"/>
                  <a:pt x="6287037" y="3008578"/>
                </a:cubicBezTo>
                <a:cubicBezTo>
                  <a:pt x="6293795" y="3029535"/>
                  <a:pt x="6274405" y="3114154"/>
                  <a:pt x="6259150" y="3123139"/>
                </a:cubicBezTo>
                <a:cubicBezTo>
                  <a:pt x="6250085" y="3189063"/>
                  <a:pt x="6269067" y="3151280"/>
                  <a:pt x="6272249" y="3227854"/>
                </a:cubicBezTo>
                <a:cubicBezTo>
                  <a:pt x="6278775" y="3295842"/>
                  <a:pt x="6289216" y="3303765"/>
                  <a:pt x="6292288" y="3378383"/>
                </a:cubicBezTo>
                <a:cubicBezTo>
                  <a:pt x="6303894" y="3395995"/>
                  <a:pt x="6287498" y="3432581"/>
                  <a:pt x="6288328" y="3459618"/>
                </a:cubicBezTo>
                <a:cubicBezTo>
                  <a:pt x="6289158" y="3486653"/>
                  <a:pt x="6299937" y="3538735"/>
                  <a:pt x="6297272" y="3540603"/>
                </a:cubicBezTo>
                <a:cubicBezTo>
                  <a:pt x="6296849" y="3577379"/>
                  <a:pt x="6294184" y="3587943"/>
                  <a:pt x="6291001" y="3638374"/>
                </a:cubicBezTo>
                <a:cubicBezTo>
                  <a:pt x="6283026" y="3666794"/>
                  <a:pt x="6265833" y="3731744"/>
                  <a:pt x="6283592" y="3763609"/>
                </a:cubicBezTo>
                <a:cubicBezTo>
                  <a:pt x="6264286" y="3758340"/>
                  <a:pt x="6290177" y="3803150"/>
                  <a:pt x="6274068" y="3814506"/>
                </a:cubicBezTo>
                <a:cubicBezTo>
                  <a:pt x="6260645" y="3821643"/>
                  <a:pt x="6265372" y="3836902"/>
                  <a:pt x="6262850" y="3850454"/>
                </a:cubicBezTo>
                <a:cubicBezTo>
                  <a:pt x="6250418" y="3863479"/>
                  <a:pt x="6250660" y="3955243"/>
                  <a:pt x="6257357" y="3975474"/>
                </a:cubicBezTo>
                <a:cubicBezTo>
                  <a:pt x="6245091" y="4036737"/>
                  <a:pt x="6237535" y="4029237"/>
                  <a:pt x="6257889" y="4073155"/>
                </a:cubicBezTo>
                <a:cubicBezTo>
                  <a:pt x="6259272" y="4085906"/>
                  <a:pt x="6239882" y="4116397"/>
                  <a:pt x="6237441" y="4126638"/>
                </a:cubicBezTo>
                <a:lnTo>
                  <a:pt x="6245587" y="4172738"/>
                </a:lnTo>
                <a:lnTo>
                  <a:pt x="6235772" y="4176721"/>
                </a:lnTo>
                <a:lnTo>
                  <a:pt x="6233287" y="4195136"/>
                </a:lnTo>
                <a:lnTo>
                  <a:pt x="6234619" y="4280850"/>
                </a:lnTo>
                <a:cubicBezTo>
                  <a:pt x="6239453" y="4320763"/>
                  <a:pt x="6223309" y="4337596"/>
                  <a:pt x="6219318" y="4402526"/>
                </a:cubicBezTo>
                <a:cubicBezTo>
                  <a:pt x="6205466" y="4516209"/>
                  <a:pt x="6216183" y="4588729"/>
                  <a:pt x="6216810" y="4651172"/>
                </a:cubicBezTo>
                <a:cubicBezTo>
                  <a:pt x="6217673" y="4756959"/>
                  <a:pt x="6228654" y="4824005"/>
                  <a:pt x="6225945" y="4916779"/>
                </a:cubicBezTo>
                <a:cubicBezTo>
                  <a:pt x="6217032" y="4993010"/>
                  <a:pt x="6264271" y="4984591"/>
                  <a:pt x="6230174" y="5051379"/>
                </a:cubicBezTo>
                <a:cubicBezTo>
                  <a:pt x="6235713" y="5056951"/>
                  <a:pt x="6239420" y="5163714"/>
                  <a:pt x="6242600" y="5170879"/>
                </a:cubicBezTo>
                <a:lnTo>
                  <a:pt x="6235996" y="5216428"/>
                </a:lnTo>
                <a:lnTo>
                  <a:pt x="6214638" y="5285298"/>
                </a:lnTo>
                <a:cubicBezTo>
                  <a:pt x="6211392" y="5297492"/>
                  <a:pt x="6225576" y="5312063"/>
                  <a:pt x="6228432" y="5317696"/>
                </a:cubicBezTo>
                <a:lnTo>
                  <a:pt x="6246496" y="5398787"/>
                </a:lnTo>
                <a:lnTo>
                  <a:pt x="6244793" y="5399530"/>
                </a:lnTo>
                <a:lnTo>
                  <a:pt x="6241695" y="5406948"/>
                </a:lnTo>
                <a:lnTo>
                  <a:pt x="6267461" y="5499413"/>
                </a:lnTo>
                <a:cubicBezTo>
                  <a:pt x="6285387" y="5533848"/>
                  <a:pt x="6284888" y="5550029"/>
                  <a:pt x="6295987" y="5582659"/>
                </a:cubicBezTo>
                <a:cubicBezTo>
                  <a:pt x="6311253" y="5681724"/>
                  <a:pt x="6295439" y="5695558"/>
                  <a:pt x="6364803" y="5784263"/>
                </a:cubicBezTo>
                <a:cubicBezTo>
                  <a:pt x="6379348" y="5818651"/>
                  <a:pt x="6412475" y="5906802"/>
                  <a:pt x="6423050" y="5922637"/>
                </a:cubicBezTo>
                <a:cubicBezTo>
                  <a:pt x="6445210" y="5973612"/>
                  <a:pt x="6468179" y="6023873"/>
                  <a:pt x="6497767" y="6090108"/>
                </a:cubicBezTo>
                <a:cubicBezTo>
                  <a:pt x="6571895" y="6150548"/>
                  <a:pt x="6572491" y="6236583"/>
                  <a:pt x="6606710" y="6281543"/>
                </a:cubicBezTo>
                <a:cubicBezTo>
                  <a:pt x="6633675" y="6335892"/>
                  <a:pt x="6654357" y="6388782"/>
                  <a:pt x="6667540" y="6443715"/>
                </a:cubicBezTo>
                <a:cubicBezTo>
                  <a:pt x="6685192" y="6466826"/>
                  <a:pt x="6650500" y="6508701"/>
                  <a:pt x="6659722" y="6550105"/>
                </a:cubicBezTo>
                <a:cubicBezTo>
                  <a:pt x="6665926" y="6645044"/>
                  <a:pt x="6669126" y="6627536"/>
                  <a:pt x="6671805" y="6687397"/>
                </a:cubicBezTo>
                <a:cubicBezTo>
                  <a:pt x="6682671" y="6733683"/>
                  <a:pt x="6665210" y="6772117"/>
                  <a:pt x="6669658" y="6806602"/>
                </a:cubicBezTo>
                <a:cubicBezTo>
                  <a:pt x="6661174" y="6812658"/>
                  <a:pt x="6667097" y="6831470"/>
                  <a:pt x="6675783" y="6850325"/>
                </a:cubicBezTo>
                <a:lnTo>
                  <a:pt x="6679704" y="6858000"/>
                </a:lnTo>
                <a:lnTo>
                  <a:pt x="4532241" y="6858000"/>
                </a:lnTo>
                <a:lnTo>
                  <a:pt x="1208596"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FB0575A1-4CEC-89E2-50C7-F26CBEABB392}"/>
              </a:ext>
            </a:extLst>
          </p:cNvPr>
          <p:cNvSpPr>
            <a:spLocks noGrp="1"/>
          </p:cNvSpPr>
          <p:nvPr>
            <p:ph idx="1"/>
          </p:nvPr>
        </p:nvSpPr>
        <p:spPr>
          <a:xfrm>
            <a:off x="7320465" y="2194102"/>
            <a:ext cx="4140013" cy="3908586"/>
          </a:xfrm>
        </p:spPr>
        <p:txBody>
          <a:bodyPr>
            <a:normAutofit/>
          </a:bodyPr>
          <a:lstStyle/>
          <a:p>
            <a:pPr>
              <a:buFont typeface="Arial" panose="020B0604020202020204" pitchFamily="34" charset="0"/>
              <a:buChar char="•"/>
            </a:pPr>
            <a:r>
              <a:rPr lang="en-GB" sz="2000" b="1"/>
              <a:t>Initiative:</a:t>
            </a:r>
            <a:r>
              <a:rPr lang="en-GB" sz="2000"/>
              <a:t> The company has been involved in environmental advocacy, emphasizing the need for climate action and sustainability.</a:t>
            </a:r>
          </a:p>
          <a:p>
            <a:pPr>
              <a:buFont typeface="Arial" panose="020B0604020202020204" pitchFamily="34" charset="0"/>
              <a:buChar char="•"/>
            </a:pPr>
            <a:r>
              <a:rPr lang="en-GB" sz="2000" b="1"/>
              <a:t>Actions:</a:t>
            </a:r>
            <a:r>
              <a:rPr lang="en-GB" sz="2000"/>
              <a:t> Ben &amp; Jerry’s has worked on reducing its carbon footprint, sourcing Fairtrade-certified ingredients, and supporting movements like the Paris Climate Agreement.</a:t>
            </a:r>
          </a:p>
          <a:p>
            <a:endParaRPr lang="en-GB" sz="2000"/>
          </a:p>
        </p:txBody>
      </p:sp>
    </p:spTree>
    <p:extLst>
      <p:ext uri="{BB962C8B-B14F-4D97-AF65-F5344CB8AC3E}">
        <p14:creationId xmlns:p14="http://schemas.microsoft.com/office/powerpoint/2010/main" val="1221786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419" name="Rectangle 1741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21BE6D-1332-E8A5-D5D1-D8FB285347AF}"/>
              </a:ext>
            </a:extLst>
          </p:cNvPr>
          <p:cNvSpPr>
            <a:spLocks noGrp="1"/>
          </p:cNvSpPr>
          <p:nvPr>
            <p:ph type="title"/>
          </p:nvPr>
        </p:nvSpPr>
        <p:spPr>
          <a:xfrm>
            <a:off x="572493" y="238539"/>
            <a:ext cx="11018520" cy="1434415"/>
          </a:xfrm>
        </p:spPr>
        <p:txBody>
          <a:bodyPr anchor="b">
            <a:normAutofit/>
          </a:bodyPr>
          <a:lstStyle/>
          <a:p>
            <a:r>
              <a:rPr lang="en-GB" sz="5400" b="1"/>
              <a:t>LGBTQ+ Rights:</a:t>
            </a:r>
            <a:endParaRPr lang="en-GB" sz="5400"/>
          </a:p>
        </p:txBody>
      </p:sp>
      <p:sp>
        <p:nvSpPr>
          <p:cNvPr id="17420"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7AF6DD9-C698-093C-E9B3-C538DBDD688C}"/>
              </a:ext>
            </a:extLst>
          </p:cNvPr>
          <p:cNvSpPr>
            <a:spLocks noGrp="1"/>
          </p:cNvSpPr>
          <p:nvPr>
            <p:ph idx="1"/>
          </p:nvPr>
        </p:nvSpPr>
        <p:spPr>
          <a:xfrm>
            <a:off x="572493" y="2071316"/>
            <a:ext cx="6713552" cy="4119172"/>
          </a:xfrm>
        </p:spPr>
        <p:txBody>
          <a:bodyPr anchor="t">
            <a:normAutofit/>
          </a:bodyPr>
          <a:lstStyle/>
          <a:p>
            <a:pPr>
              <a:buFont typeface="Arial" panose="020B0604020202020204" pitchFamily="34" charset="0"/>
              <a:buChar char="•"/>
            </a:pPr>
            <a:r>
              <a:rPr lang="en-GB" sz="2200" b="1"/>
              <a:t>Initiative:</a:t>
            </a:r>
            <a:r>
              <a:rPr lang="en-GB" sz="2200"/>
              <a:t> Ben &amp; Jerry’s has a history of supporting LGBTQ+ rights, including celebrating Pride Month and advocating for marriage equality.</a:t>
            </a:r>
          </a:p>
          <a:p>
            <a:pPr>
              <a:buFont typeface="Arial" panose="020B0604020202020204" pitchFamily="34" charset="0"/>
              <a:buChar char="•"/>
            </a:pPr>
            <a:r>
              <a:rPr lang="en-GB" sz="2200" b="1"/>
              <a:t>Actions:</a:t>
            </a:r>
            <a:r>
              <a:rPr lang="en-GB" sz="2200"/>
              <a:t> They have released special edition flavours and partnered with LGBTQ+ organizations to promote equality and acceptance.</a:t>
            </a:r>
          </a:p>
          <a:p>
            <a:endParaRPr lang="en-GB" sz="2200"/>
          </a:p>
        </p:txBody>
      </p:sp>
      <p:pic>
        <p:nvPicPr>
          <p:cNvPr id="17410" name="Picture 2" descr="Equality for All | Ben &amp; Jerry's">
            <a:extLst>
              <a:ext uri="{FF2B5EF4-FFF2-40B4-BE49-F238E27FC236}">
                <a16:creationId xmlns:a16="http://schemas.microsoft.com/office/drawing/2014/main" id="{656B2130-B0BF-2691-1CCF-C357EE88B9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795"/>
          <a:stretch/>
        </p:blipFill>
        <p:spPr bwMode="auto">
          <a:xfrm>
            <a:off x="7675658" y="2093976"/>
            <a:ext cx="3941064" cy="4096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2799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88EC85-0C2F-0B74-322B-059A0BE5A4AC}"/>
              </a:ext>
            </a:extLst>
          </p:cNvPr>
          <p:cNvSpPr>
            <a:spLocks noGrp="1"/>
          </p:cNvSpPr>
          <p:nvPr>
            <p:ph type="title"/>
          </p:nvPr>
        </p:nvSpPr>
        <p:spPr>
          <a:xfrm>
            <a:off x="838200" y="365125"/>
            <a:ext cx="10515600" cy="1325563"/>
          </a:xfrm>
        </p:spPr>
        <p:txBody>
          <a:bodyPr>
            <a:normAutofit/>
          </a:bodyPr>
          <a:lstStyle/>
          <a:p>
            <a:r>
              <a:rPr lang="en-GB" sz="5400"/>
              <a:t>Critical thinking</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19A0992A-6B31-BD6D-D888-421A2D54C6B5}"/>
              </a:ext>
            </a:extLst>
          </p:cNvPr>
          <p:cNvSpPr>
            <a:spLocks noGrp="1" noChangeArrowheads="1"/>
          </p:cNvSpPr>
          <p:nvPr>
            <p:ph idx="1"/>
          </p:nvPr>
        </p:nvSpPr>
        <p:spPr bwMode="auto">
          <a:xfrm>
            <a:off x="838200" y="1929384"/>
            <a:ext cx="10515600" cy="425196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indent="0" eaLnBrk="0" fontAlgn="base" hangingPunct="0">
              <a:spcBef>
                <a:spcPct val="0"/>
              </a:spcBef>
              <a:spcAft>
                <a:spcPts val="600"/>
              </a:spcAft>
              <a:buNone/>
            </a:pPr>
            <a:r>
              <a:rPr kumimoji="0" lang="en-US" altLang="en-US" sz="1500" b="1" i="0" u="none" strike="noStrike" cap="none" normalizeH="0" baseline="0" dirty="0">
                <a:ln>
                  <a:noFill/>
                </a:ln>
                <a:effectLst/>
              </a:rPr>
              <a:t>Effectiveness of Social Justice Campaigns:</a:t>
            </a:r>
            <a:endParaRPr kumimoji="0" lang="en-US" altLang="en-US" sz="1500" b="0" i="0" u="none" strike="noStrike" cap="none" normalizeH="0" baseline="0" dirty="0">
              <a:ln>
                <a:noFill/>
              </a:ln>
              <a:effectLst/>
            </a:endParaRPr>
          </a:p>
          <a:p>
            <a:pPr eaLnBrk="0" fontAlgn="base" hangingPunct="0">
              <a:spcBef>
                <a:spcPct val="0"/>
              </a:spcBef>
              <a:spcAft>
                <a:spcPts val="600"/>
              </a:spcAft>
            </a:pPr>
            <a:r>
              <a:rPr kumimoji="0" lang="en-US" altLang="en-US" sz="1500" b="0" i="0" u="none" strike="noStrike" cap="none" normalizeH="0" baseline="0" dirty="0">
                <a:ln>
                  <a:noFill/>
                </a:ln>
                <a:effectLst/>
              </a:rPr>
              <a:t>How effective do you think Ben &amp; Jerry’s social justice campaigns have been in influencing public opinion and societal change? Can you provide specific examples?</a:t>
            </a:r>
          </a:p>
          <a:p>
            <a:pPr marL="0" indent="0" eaLnBrk="0" fontAlgn="base" hangingPunct="0">
              <a:spcBef>
                <a:spcPct val="0"/>
              </a:spcBef>
              <a:spcAft>
                <a:spcPts val="600"/>
              </a:spcAft>
              <a:buNone/>
            </a:pPr>
            <a:r>
              <a:rPr kumimoji="0" lang="en-US" altLang="en-US" sz="1500" b="1" i="0" u="none" strike="noStrike" cap="none" normalizeH="0" baseline="0" dirty="0">
                <a:ln>
                  <a:noFill/>
                </a:ln>
                <a:effectLst/>
              </a:rPr>
              <a:t>Brand Authenticity:</a:t>
            </a:r>
            <a:endParaRPr kumimoji="0" lang="en-US" altLang="en-US" sz="1500" b="0" i="0" u="none" strike="noStrike" cap="none" normalizeH="0" baseline="0" dirty="0">
              <a:ln>
                <a:noFill/>
              </a:ln>
              <a:effectLst/>
            </a:endParaRPr>
          </a:p>
          <a:p>
            <a:pPr eaLnBrk="0" fontAlgn="base" hangingPunct="0">
              <a:spcBef>
                <a:spcPct val="0"/>
              </a:spcBef>
              <a:spcAft>
                <a:spcPts val="600"/>
              </a:spcAft>
            </a:pPr>
            <a:r>
              <a:rPr kumimoji="0" lang="en-US" altLang="en-US" sz="1500" b="0" i="0" u="none" strike="noStrike" cap="none" normalizeH="0" baseline="0" dirty="0">
                <a:ln>
                  <a:noFill/>
                </a:ln>
                <a:effectLst/>
              </a:rPr>
              <a:t>Do you believe that Ben &amp; Jerry’s social justice efforts are authentic, or do you think they are primarily a marketing strategy? Why or why not?</a:t>
            </a:r>
          </a:p>
          <a:p>
            <a:pPr marL="0" indent="0" eaLnBrk="0" fontAlgn="base" hangingPunct="0">
              <a:spcBef>
                <a:spcPct val="0"/>
              </a:spcBef>
              <a:spcAft>
                <a:spcPts val="600"/>
              </a:spcAft>
              <a:buNone/>
            </a:pPr>
            <a:r>
              <a:rPr kumimoji="0" lang="en-US" altLang="en-US" sz="1500" b="1" i="0" u="none" strike="noStrike" cap="none" normalizeH="0" baseline="0" dirty="0">
                <a:ln>
                  <a:noFill/>
                </a:ln>
                <a:effectLst/>
              </a:rPr>
              <a:t>Impact on Consumer Behavior:</a:t>
            </a:r>
            <a:endParaRPr kumimoji="0" lang="en-US" altLang="en-US" sz="1500" b="0" i="0" u="none" strike="noStrike" cap="none" normalizeH="0" baseline="0" dirty="0">
              <a:ln>
                <a:noFill/>
              </a:ln>
              <a:effectLst/>
            </a:endParaRPr>
          </a:p>
          <a:p>
            <a:pPr eaLnBrk="0" fontAlgn="base" hangingPunct="0">
              <a:spcBef>
                <a:spcPct val="0"/>
              </a:spcBef>
              <a:spcAft>
                <a:spcPts val="600"/>
              </a:spcAft>
            </a:pPr>
            <a:r>
              <a:rPr kumimoji="0" lang="en-US" altLang="en-US" sz="1500" b="0" i="0" u="none" strike="noStrike" cap="none" normalizeH="0" baseline="0" dirty="0">
                <a:ln>
                  <a:noFill/>
                </a:ln>
                <a:effectLst/>
              </a:rPr>
              <a:t>In what ways do Ben &amp; Jerry’s social justice campaigns affect consumer behavior? Do you think consumers are more likely to support brands with strong social justice stances?</a:t>
            </a:r>
          </a:p>
          <a:p>
            <a:pPr marL="0" indent="0" eaLnBrk="0" fontAlgn="base" hangingPunct="0">
              <a:spcBef>
                <a:spcPct val="0"/>
              </a:spcBef>
              <a:spcAft>
                <a:spcPts val="600"/>
              </a:spcAft>
              <a:buNone/>
            </a:pPr>
            <a:r>
              <a:rPr kumimoji="0" lang="en-US" altLang="en-US" sz="1500" b="1" i="0" u="none" strike="noStrike" cap="none" normalizeH="0" baseline="0" dirty="0">
                <a:ln>
                  <a:noFill/>
                </a:ln>
                <a:effectLst/>
              </a:rPr>
              <a:t>Balancing Activism and Business:</a:t>
            </a:r>
            <a:endParaRPr kumimoji="0" lang="en-US" altLang="en-US" sz="1500" b="0" i="0" u="none" strike="noStrike" cap="none" normalizeH="0" baseline="0" dirty="0">
              <a:ln>
                <a:noFill/>
              </a:ln>
              <a:effectLst/>
            </a:endParaRPr>
          </a:p>
          <a:p>
            <a:pPr eaLnBrk="0" fontAlgn="base" hangingPunct="0">
              <a:spcBef>
                <a:spcPct val="0"/>
              </a:spcBef>
              <a:spcAft>
                <a:spcPts val="600"/>
              </a:spcAft>
            </a:pPr>
            <a:r>
              <a:rPr kumimoji="0" lang="en-US" altLang="en-US" sz="1500" b="0" i="0" u="none" strike="noStrike" cap="none" normalizeH="0" baseline="0" dirty="0">
                <a:ln>
                  <a:noFill/>
                </a:ln>
                <a:effectLst/>
              </a:rPr>
              <a:t>How do you think Ben &amp; Jerry’s manages the balance between being an activist brand and maintaining profitability? Are there any potential risks or benefits associated with this approach?</a:t>
            </a:r>
          </a:p>
          <a:p>
            <a:pPr marL="0" indent="0" eaLnBrk="0" fontAlgn="base" hangingPunct="0">
              <a:spcBef>
                <a:spcPct val="0"/>
              </a:spcBef>
              <a:spcAft>
                <a:spcPts val="600"/>
              </a:spcAft>
              <a:buNone/>
            </a:pPr>
            <a:r>
              <a:rPr kumimoji="0" lang="en-US" altLang="en-US" sz="1500" b="1" i="0" u="none" strike="noStrike" cap="none" normalizeH="0" baseline="0" dirty="0">
                <a:ln>
                  <a:noFill/>
                </a:ln>
                <a:effectLst/>
              </a:rPr>
              <a:t>Comparative Analysis:</a:t>
            </a:r>
            <a:endParaRPr kumimoji="0" lang="en-US" altLang="en-US" sz="1500" b="0" i="0" u="none" strike="noStrike" cap="none" normalizeH="0" baseline="0" dirty="0">
              <a:ln>
                <a:noFill/>
              </a:ln>
              <a:effectLst/>
            </a:endParaRPr>
          </a:p>
          <a:p>
            <a:pPr eaLnBrk="0" fontAlgn="base" hangingPunct="0">
              <a:spcBef>
                <a:spcPct val="0"/>
              </a:spcBef>
              <a:spcAft>
                <a:spcPts val="600"/>
              </a:spcAft>
            </a:pPr>
            <a:r>
              <a:rPr kumimoji="0" lang="en-US" altLang="en-US" sz="1500" b="0" i="0" u="none" strike="noStrike" cap="none" normalizeH="0" baseline="0" dirty="0">
                <a:ln>
                  <a:noFill/>
                </a:ln>
                <a:effectLst/>
              </a:rPr>
              <a:t>How do Ben &amp; Jerry’s social justice campaigns compare to those of other companies in the same industry? What makes Ben &amp; Jerry’s approach unique or particularly effective?</a:t>
            </a:r>
          </a:p>
          <a:p>
            <a:pPr eaLnBrk="0" fontAlgn="base" hangingPunct="0">
              <a:spcBef>
                <a:spcPct val="0"/>
              </a:spcBef>
              <a:spcAft>
                <a:spcPts val="600"/>
              </a:spcAft>
            </a:pPr>
            <a:endParaRPr kumimoji="0" lang="en-US" altLang="en-US" sz="1500" b="0" i="0" u="none" strike="noStrike" cap="none" normalizeH="0" baseline="0" dirty="0">
              <a:ln>
                <a:noFill/>
              </a:ln>
              <a:effectLst/>
            </a:endParaRPr>
          </a:p>
        </p:txBody>
      </p:sp>
    </p:spTree>
    <p:extLst>
      <p:ext uri="{BB962C8B-B14F-4D97-AF65-F5344CB8AC3E}">
        <p14:creationId xmlns:p14="http://schemas.microsoft.com/office/powerpoint/2010/main" val="2433557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439" name="Rectangle 18438">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41" name="Rectangle 18440">
            <a:extLst>
              <a:ext uri="{FF2B5EF4-FFF2-40B4-BE49-F238E27FC236}">
                <a16:creationId xmlns:a16="http://schemas.microsoft.com/office/drawing/2014/main" id="{676D6CDF-C512-4739-B158-55EE955EFA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3" y="-1"/>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BB7834-860B-32D3-E024-53669DC0FFA1}"/>
              </a:ext>
            </a:extLst>
          </p:cNvPr>
          <p:cNvSpPr>
            <a:spLocks noGrp="1"/>
          </p:cNvSpPr>
          <p:nvPr>
            <p:ph type="title"/>
          </p:nvPr>
        </p:nvSpPr>
        <p:spPr>
          <a:xfrm>
            <a:off x="1137033" y="670559"/>
            <a:ext cx="4683321" cy="2148841"/>
          </a:xfrm>
        </p:spPr>
        <p:txBody>
          <a:bodyPr anchor="t">
            <a:normAutofit/>
          </a:bodyPr>
          <a:lstStyle/>
          <a:p>
            <a:r>
              <a:rPr lang="en-GB" dirty="0"/>
              <a:t>Case studies</a:t>
            </a:r>
          </a:p>
        </p:txBody>
      </p:sp>
      <p:pic>
        <p:nvPicPr>
          <p:cNvPr id="18434" name="Picture 2" descr="The Social Impact of Sourcing | Starbucks">
            <a:extLst>
              <a:ext uri="{FF2B5EF4-FFF2-40B4-BE49-F238E27FC236}">
                <a16:creationId xmlns:a16="http://schemas.microsoft.com/office/drawing/2014/main" id="{91F06EC5-D6A7-20CB-7734-EA614DFD99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770" r="-1" b="-1"/>
          <a:stretch/>
        </p:blipFill>
        <p:spPr bwMode="auto">
          <a:xfrm>
            <a:off x="1" y="3105151"/>
            <a:ext cx="6448424" cy="3752849"/>
          </a:xfrm>
          <a:custGeom>
            <a:avLst/>
            <a:gdLst/>
            <a:ahLst/>
            <a:cxnLst/>
            <a:rect l="l" t="t" r="r" b="b"/>
            <a:pathLst>
              <a:path w="6448424" h="3752849">
                <a:moveTo>
                  <a:pt x="0" y="0"/>
                </a:moveTo>
                <a:lnTo>
                  <a:pt x="137978" y="22215"/>
                </a:lnTo>
                <a:cubicBezTo>
                  <a:pt x="196046" y="32277"/>
                  <a:pt x="252469" y="42437"/>
                  <a:pt x="295660" y="49771"/>
                </a:cubicBezTo>
                <a:cubicBezTo>
                  <a:pt x="364885" y="66610"/>
                  <a:pt x="403214" y="32071"/>
                  <a:pt x="456941" y="65635"/>
                </a:cubicBezTo>
                <a:cubicBezTo>
                  <a:pt x="529612" y="69090"/>
                  <a:pt x="662508" y="71245"/>
                  <a:pt x="731691" y="70501"/>
                </a:cubicBezTo>
                <a:cubicBezTo>
                  <a:pt x="768741" y="62400"/>
                  <a:pt x="808263" y="64633"/>
                  <a:pt x="841820" y="61171"/>
                </a:cubicBezTo>
                <a:cubicBezTo>
                  <a:pt x="958973" y="43639"/>
                  <a:pt x="1009730" y="45863"/>
                  <a:pt x="1068219" y="39136"/>
                </a:cubicBezTo>
                <a:cubicBezTo>
                  <a:pt x="1104329" y="33447"/>
                  <a:pt x="1156536" y="44203"/>
                  <a:pt x="1174190" y="38808"/>
                </a:cubicBezTo>
                <a:cubicBezTo>
                  <a:pt x="1188943" y="36385"/>
                  <a:pt x="1213832" y="14880"/>
                  <a:pt x="1225923" y="34507"/>
                </a:cubicBezTo>
                <a:cubicBezTo>
                  <a:pt x="1305283" y="8501"/>
                  <a:pt x="1319617" y="30839"/>
                  <a:pt x="1385617" y="18003"/>
                </a:cubicBezTo>
                <a:cubicBezTo>
                  <a:pt x="1461876" y="-26747"/>
                  <a:pt x="1519510" y="56342"/>
                  <a:pt x="1563967" y="4638"/>
                </a:cubicBezTo>
                <a:lnTo>
                  <a:pt x="1676634" y="10582"/>
                </a:lnTo>
                <a:lnTo>
                  <a:pt x="1769429" y="20265"/>
                </a:lnTo>
                <a:cubicBezTo>
                  <a:pt x="1790625" y="23534"/>
                  <a:pt x="1880369" y="18448"/>
                  <a:pt x="1900584" y="27732"/>
                </a:cubicBezTo>
                <a:cubicBezTo>
                  <a:pt x="2072430" y="22762"/>
                  <a:pt x="2014935" y="5831"/>
                  <a:pt x="2127041" y="22101"/>
                </a:cubicBezTo>
                <a:cubicBezTo>
                  <a:pt x="2168847" y="65820"/>
                  <a:pt x="2153052" y="28773"/>
                  <a:pt x="2211644" y="44507"/>
                </a:cubicBezTo>
                <a:cubicBezTo>
                  <a:pt x="2211201" y="9921"/>
                  <a:pt x="2277596" y="73686"/>
                  <a:pt x="2299605" y="38004"/>
                </a:cubicBezTo>
                <a:cubicBezTo>
                  <a:pt x="2309570" y="41997"/>
                  <a:pt x="2318531" y="46991"/>
                  <a:pt x="2327359" y="52270"/>
                </a:cubicBezTo>
                <a:lnTo>
                  <a:pt x="2331995" y="55017"/>
                </a:lnTo>
                <a:lnTo>
                  <a:pt x="2353777" y="59755"/>
                </a:lnTo>
                <a:lnTo>
                  <a:pt x="2355893" y="68914"/>
                </a:lnTo>
                <a:lnTo>
                  <a:pt x="2385794" y="81650"/>
                </a:lnTo>
                <a:cubicBezTo>
                  <a:pt x="2397613" y="85211"/>
                  <a:pt x="2411061" y="87627"/>
                  <a:pt x="2427010" y="88184"/>
                </a:cubicBezTo>
                <a:cubicBezTo>
                  <a:pt x="2486314" y="76422"/>
                  <a:pt x="2553170" y="126870"/>
                  <a:pt x="2627153" y="110451"/>
                </a:cubicBezTo>
                <a:cubicBezTo>
                  <a:pt x="2653722" y="107383"/>
                  <a:pt x="2732043" y="116068"/>
                  <a:pt x="2744462" y="128780"/>
                </a:cubicBezTo>
                <a:cubicBezTo>
                  <a:pt x="2760299" y="132873"/>
                  <a:pt x="2780248" y="130843"/>
                  <a:pt x="2785202" y="143610"/>
                </a:cubicBezTo>
                <a:cubicBezTo>
                  <a:pt x="2794558" y="159316"/>
                  <a:pt x="2856498" y="142821"/>
                  <a:pt x="2844667" y="159029"/>
                </a:cubicBezTo>
                <a:cubicBezTo>
                  <a:pt x="2888530" y="147871"/>
                  <a:pt x="2914187" y="181391"/>
                  <a:pt x="2946649" y="192330"/>
                </a:cubicBezTo>
                <a:cubicBezTo>
                  <a:pt x="2981872" y="180417"/>
                  <a:pt x="3015239" y="215115"/>
                  <a:pt x="3088812" y="226485"/>
                </a:cubicBezTo>
                <a:cubicBezTo>
                  <a:pt x="3127734" y="212524"/>
                  <a:pt x="3138301" y="234381"/>
                  <a:pt x="3208669" y="217774"/>
                </a:cubicBezTo>
                <a:cubicBezTo>
                  <a:pt x="3242208" y="219284"/>
                  <a:pt x="3229623" y="233297"/>
                  <a:pt x="3290045" y="235553"/>
                </a:cubicBezTo>
                <a:cubicBezTo>
                  <a:pt x="3399655" y="215239"/>
                  <a:pt x="3444518" y="245862"/>
                  <a:pt x="3529335" y="249571"/>
                </a:cubicBezTo>
                <a:cubicBezTo>
                  <a:pt x="3623697" y="257405"/>
                  <a:pt x="3587652" y="268832"/>
                  <a:pt x="3716766" y="252690"/>
                </a:cubicBezTo>
                <a:cubicBezTo>
                  <a:pt x="3723469" y="267318"/>
                  <a:pt x="3737863" y="269842"/>
                  <a:pt x="3765333" y="266823"/>
                </a:cubicBezTo>
                <a:cubicBezTo>
                  <a:pt x="3810754" y="271601"/>
                  <a:pt x="3792745" y="303866"/>
                  <a:pt x="3846897" y="290090"/>
                </a:cubicBezTo>
                <a:cubicBezTo>
                  <a:pt x="3830941" y="306608"/>
                  <a:pt x="3929114" y="308026"/>
                  <a:pt x="3900217" y="323590"/>
                </a:cubicBezTo>
                <a:cubicBezTo>
                  <a:pt x="3922367" y="343425"/>
                  <a:pt x="3948574" y="318948"/>
                  <a:pt x="3971444" y="336662"/>
                </a:cubicBezTo>
                <a:cubicBezTo>
                  <a:pt x="4002781" y="344193"/>
                  <a:pt x="3960997" y="315419"/>
                  <a:pt x="3997868" y="318867"/>
                </a:cubicBezTo>
                <a:cubicBezTo>
                  <a:pt x="4041159" y="326219"/>
                  <a:pt x="4055435" y="293981"/>
                  <a:pt x="4070852" y="339615"/>
                </a:cubicBezTo>
                <a:cubicBezTo>
                  <a:pt x="4121286" y="335828"/>
                  <a:pt x="4121920" y="355506"/>
                  <a:pt x="4180483" y="373369"/>
                </a:cubicBezTo>
                <a:cubicBezTo>
                  <a:pt x="4211379" y="366707"/>
                  <a:pt x="4230171" y="374664"/>
                  <a:pt x="4246264" y="387458"/>
                </a:cubicBezTo>
                <a:cubicBezTo>
                  <a:pt x="4308508" y="393310"/>
                  <a:pt x="4357326" y="416142"/>
                  <a:pt x="4423169" y="431783"/>
                </a:cubicBezTo>
                <a:lnTo>
                  <a:pt x="4446752" y="435383"/>
                </a:lnTo>
                <a:lnTo>
                  <a:pt x="4446954" y="435566"/>
                </a:lnTo>
                <a:cubicBezTo>
                  <a:pt x="4508528" y="480137"/>
                  <a:pt x="4617740" y="529869"/>
                  <a:pt x="4662523" y="553169"/>
                </a:cubicBezTo>
                <a:cubicBezTo>
                  <a:pt x="4720320" y="547046"/>
                  <a:pt x="4678644" y="560102"/>
                  <a:pt x="4715641" y="575354"/>
                </a:cubicBezTo>
                <a:cubicBezTo>
                  <a:pt x="4682056" y="593278"/>
                  <a:pt x="4768370" y="586520"/>
                  <a:pt x="4742071" y="614016"/>
                </a:cubicBezTo>
                <a:cubicBezTo>
                  <a:pt x="4749637" y="615922"/>
                  <a:pt x="4757797" y="616899"/>
                  <a:pt x="4766183" y="617675"/>
                </a:cubicBezTo>
                <a:lnTo>
                  <a:pt x="4770562" y="618094"/>
                </a:lnTo>
                <a:lnTo>
                  <a:pt x="4783240" y="624350"/>
                </a:lnTo>
                <a:lnTo>
                  <a:pt x="4792882" y="620401"/>
                </a:lnTo>
                <a:lnTo>
                  <a:pt x="4816310" y="625721"/>
                </a:lnTo>
                <a:cubicBezTo>
                  <a:pt x="4824144" y="628595"/>
                  <a:pt x="4831482" y="632720"/>
                  <a:pt x="4837953" y="638824"/>
                </a:cubicBezTo>
                <a:cubicBezTo>
                  <a:pt x="4848645" y="668753"/>
                  <a:pt x="4922266" y="669148"/>
                  <a:pt x="4933914" y="707398"/>
                </a:cubicBezTo>
                <a:cubicBezTo>
                  <a:pt x="4940833" y="719653"/>
                  <a:pt x="4978358" y="746502"/>
                  <a:pt x="4995259" y="744825"/>
                </a:cubicBezTo>
                <a:cubicBezTo>
                  <a:pt x="5005107" y="749034"/>
                  <a:pt x="5010567" y="758092"/>
                  <a:pt x="5024744" y="753396"/>
                </a:cubicBezTo>
                <a:cubicBezTo>
                  <a:pt x="5047511" y="761361"/>
                  <a:pt x="5109162" y="783016"/>
                  <a:pt x="5131877" y="792613"/>
                </a:cubicBezTo>
                <a:cubicBezTo>
                  <a:pt x="5132671" y="802792"/>
                  <a:pt x="5144554" y="806683"/>
                  <a:pt x="5161031" y="810975"/>
                </a:cubicBezTo>
                <a:lnTo>
                  <a:pt x="5176815" y="815342"/>
                </a:lnTo>
                <a:lnTo>
                  <a:pt x="5180064" y="831233"/>
                </a:lnTo>
                <a:cubicBezTo>
                  <a:pt x="5202966" y="819270"/>
                  <a:pt x="5188976" y="863361"/>
                  <a:pt x="5215059" y="865080"/>
                </a:cubicBezTo>
                <a:cubicBezTo>
                  <a:pt x="5235765" y="864786"/>
                  <a:pt x="5236347" y="878098"/>
                  <a:pt x="5245643" y="887119"/>
                </a:cubicBezTo>
                <a:cubicBezTo>
                  <a:pt x="5267660" y="891609"/>
                  <a:pt x="5295742" y="939348"/>
                  <a:pt x="5295952" y="957174"/>
                </a:cubicBezTo>
                <a:cubicBezTo>
                  <a:pt x="5284322" y="1008946"/>
                  <a:pt x="5374979" y="1038019"/>
                  <a:pt x="5367826" y="1079140"/>
                </a:cubicBezTo>
                <a:cubicBezTo>
                  <a:pt x="5371668" y="1089190"/>
                  <a:pt x="5377921" y="1097135"/>
                  <a:pt x="5385646" y="1103730"/>
                </a:cubicBezTo>
                <a:lnTo>
                  <a:pt x="5410965" y="1119397"/>
                </a:lnTo>
                <a:lnTo>
                  <a:pt x="5436960" y="1130910"/>
                </a:lnTo>
                <a:lnTo>
                  <a:pt x="5442083" y="1133134"/>
                </a:lnTo>
                <a:cubicBezTo>
                  <a:pt x="5451910" y="1137346"/>
                  <a:pt x="5457170" y="1169188"/>
                  <a:pt x="5465219" y="1174479"/>
                </a:cubicBezTo>
                <a:cubicBezTo>
                  <a:pt x="5488744" y="1195184"/>
                  <a:pt x="5467141" y="1223401"/>
                  <a:pt x="5488171" y="1238604"/>
                </a:cubicBezTo>
                <a:cubicBezTo>
                  <a:pt x="5523491" y="1271811"/>
                  <a:pt x="5486623" y="1305961"/>
                  <a:pt x="5562172" y="1320840"/>
                </a:cubicBezTo>
                <a:cubicBezTo>
                  <a:pt x="5601634" y="1385316"/>
                  <a:pt x="5636528" y="1453139"/>
                  <a:pt x="5686905" y="1512529"/>
                </a:cubicBezTo>
                <a:cubicBezTo>
                  <a:pt x="5729049" y="1575678"/>
                  <a:pt x="5699691" y="1553768"/>
                  <a:pt x="5748726" y="1623716"/>
                </a:cubicBezTo>
                <a:cubicBezTo>
                  <a:pt x="5783098" y="1689734"/>
                  <a:pt x="5789710" y="1639740"/>
                  <a:pt x="5842593" y="1726595"/>
                </a:cubicBezTo>
                <a:cubicBezTo>
                  <a:pt x="5837824" y="1733043"/>
                  <a:pt x="5862023" y="1845188"/>
                  <a:pt x="5861042" y="1851837"/>
                </a:cubicBezTo>
                <a:cubicBezTo>
                  <a:pt x="5874156" y="1887981"/>
                  <a:pt x="5901790" y="1919218"/>
                  <a:pt x="5921290" y="1943460"/>
                </a:cubicBezTo>
                <a:lnTo>
                  <a:pt x="5978046" y="1997284"/>
                </a:lnTo>
                <a:lnTo>
                  <a:pt x="5992479" y="2056720"/>
                </a:lnTo>
                <a:cubicBezTo>
                  <a:pt x="6011078" y="2079033"/>
                  <a:pt x="6072687" y="2117397"/>
                  <a:pt x="6089639" y="2131171"/>
                </a:cubicBezTo>
                <a:lnTo>
                  <a:pt x="6094199" y="2139379"/>
                </a:lnTo>
                <a:lnTo>
                  <a:pt x="6094822" y="2139386"/>
                </a:lnTo>
                <a:cubicBezTo>
                  <a:pt x="6096947" y="2140841"/>
                  <a:pt x="6098876" y="2143416"/>
                  <a:pt x="6100692" y="2147736"/>
                </a:cubicBezTo>
                <a:lnTo>
                  <a:pt x="6102516" y="2154343"/>
                </a:lnTo>
                <a:lnTo>
                  <a:pt x="6111361" y="2170264"/>
                </a:lnTo>
                <a:lnTo>
                  <a:pt x="6215475" y="2270153"/>
                </a:lnTo>
                <a:lnTo>
                  <a:pt x="6255966" y="2335401"/>
                </a:lnTo>
                <a:lnTo>
                  <a:pt x="6272711" y="2385144"/>
                </a:lnTo>
                <a:cubicBezTo>
                  <a:pt x="6282320" y="2406495"/>
                  <a:pt x="6299066" y="2405139"/>
                  <a:pt x="6304347" y="2439388"/>
                </a:cubicBezTo>
                <a:cubicBezTo>
                  <a:pt x="6297131" y="2486231"/>
                  <a:pt x="6325530" y="2500962"/>
                  <a:pt x="6326729" y="2549400"/>
                </a:cubicBezTo>
                <a:cubicBezTo>
                  <a:pt x="6325926" y="2572066"/>
                  <a:pt x="6339111" y="2599957"/>
                  <a:pt x="6344663" y="2628839"/>
                </a:cubicBezTo>
                <a:lnTo>
                  <a:pt x="6375811" y="2639204"/>
                </a:lnTo>
                <a:cubicBezTo>
                  <a:pt x="6375427" y="2643533"/>
                  <a:pt x="6375041" y="2647863"/>
                  <a:pt x="6374657" y="2652193"/>
                </a:cubicBezTo>
                <a:cubicBezTo>
                  <a:pt x="6373555" y="2658134"/>
                  <a:pt x="6371943" y="2662665"/>
                  <a:pt x="6369740" y="2664642"/>
                </a:cubicBezTo>
                <a:cubicBezTo>
                  <a:pt x="6368032" y="2674540"/>
                  <a:pt x="6371528" y="2686899"/>
                  <a:pt x="6361964" y="2690172"/>
                </a:cubicBezTo>
                <a:cubicBezTo>
                  <a:pt x="6350507" y="2696218"/>
                  <a:pt x="6369375" y="2734440"/>
                  <a:pt x="6355511" y="2727335"/>
                </a:cubicBezTo>
                <a:cubicBezTo>
                  <a:pt x="6358746" y="2734104"/>
                  <a:pt x="6360434" y="2742096"/>
                  <a:pt x="6361058" y="2750592"/>
                </a:cubicBezTo>
                <a:cubicBezTo>
                  <a:pt x="6361013" y="2751998"/>
                  <a:pt x="6360970" y="2753408"/>
                  <a:pt x="6360926" y="2754814"/>
                </a:cubicBezTo>
                <a:lnTo>
                  <a:pt x="6339285" y="2810353"/>
                </a:lnTo>
                <a:cubicBezTo>
                  <a:pt x="6360091" y="2854187"/>
                  <a:pt x="6313103" y="2870086"/>
                  <a:pt x="6325672" y="2908809"/>
                </a:cubicBezTo>
                <a:cubicBezTo>
                  <a:pt x="6341563" y="2966972"/>
                  <a:pt x="6291836" y="2935388"/>
                  <a:pt x="6333498" y="3009772"/>
                </a:cubicBezTo>
                <a:cubicBezTo>
                  <a:pt x="6345476" y="3039254"/>
                  <a:pt x="6345955" y="3068963"/>
                  <a:pt x="6334947" y="3095405"/>
                </a:cubicBezTo>
                <a:lnTo>
                  <a:pt x="6344768" y="3155941"/>
                </a:lnTo>
                <a:cubicBezTo>
                  <a:pt x="6348643" y="3153663"/>
                  <a:pt x="6311793" y="3186588"/>
                  <a:pt x="6314754" y="3197987"/>
                </a:cubicBezTo>
                <a:cubicBezTo>
                  <a:pt x="6318695" y="3221971"/>
                  <a:pt x="6319257" y="3226752"/>
                  <a:pt x="6304230" y="3239690"/>
                </a:cubicBezTo>
                <a:cubicBezTo>
                  <a:pt x="6306321" y="3248567"/>
                  <a:pt x="6307305" y="3254005"/>
                  <a:pt x="6308837" y="3264003"/>
                </a:cubicBezTo>
                <a:cubicBezTo>
                  <a:pt x="6301812" y="3288243"/>
                  <a:pt x="6298529" y="3302527"/>
                  <a:pt x="6309285" y="3324103"/>
                </a:cubicBezTo>
                <a:cubicBezTo>
                  <a:pt x="6301188" y="3343007"/>
                  <a:pt x="6329285" y="3359307"/>
                  <a:pt x="6342503" y="3405661"/>
                </a:cubicBezTo>
                <a:cubicBezTo>
                  <a:pt x="6338012" y="3447477"/>
                  <a:pt x="6408325" y="3505721"/>
                  <a:pt x="6401531" y="3550593"/>
                </a:cubicBezTo>
                <a:cubicBezTo>
                  <a:pt x="6395655" y="3579549"/>
                  <a:pt x="6423437" y="3594758"/>
                  <a:pt x="6427705" y="3624684"/>
                </a:cubicBezTo>
                <a:cubicBezTo>
                  <a:pt x="6416402" y="3629199"/>
                  <a:pt x="6435787" y="3639516"/>
                  <a:pt x="6448424" y="3657106"/>
                </a:cubicBezTo>
                <a:lnTo>
                  <a:pt x="6444014" y="3752742"/>
                </a:lnTo>
                <a:cubicBezTo>
                  <a:pt x="6443990" y="3752777"/>
                  <a:pt x="6443967" y="3752813"/>
                  <a:pt x="6443946" y="3752849"/>
                </a:cubicBezTo>
                <a:lnTo>
                  <a:pt x="0" y="3752849"/>
                </a:ln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041488EE-373B-F2E0-20C8-06C59E78B2EF}"/>
              </a:ext>
            </a:extLst>
          </p:cNvPr>
          <p:cNvSpPr>
            <a:spLocks noGrp="1"/>
          </p:cNvSpPr>
          <p:nvPr>
            <p:ph idx="1"/>
          </p:nvPr>
        </p:nvSpPr>
        <p:spPr>
          <a:xfrm>
            <a:off x="6797004" y="670559"/>
            <a:ext cx="4555782" cy="5445076"/>
          </a:xfrm>
        </p:spPr>
        <p:txBody>
          <a:bodyPr anchor="t">
            <a:normAutofit/>
          </a:bodyPr>
          <a:lstStyle/>
          <a:p>
            <a:pPr marL="0" indent="0">
              <a:buNone/>
            </a:pPr>
            <a:r>
              <a:rPr lang="en-GB" sz="2000" b="1"/>
              <a:t>Starbucks' Ethical Sourcing of Coffee</a:t>
            </a:r>
          </a:p>
          <a:p>
            <a:r>
              <a:rPr lang="en-GB" sz="2000"/>
              <a:t>Starbucks has made a significant commitment to ethical sourcing practices, particularly through its Coffee and Farmer Equity (C.A.F.E.) Practices program. This initiative is aimed at ensuring that coffee is sourced in a way that supports sustainable farming practices and fair labor conditions.</a:t>
            </a:r>
          </a:p>
          <a:p>
            <a:endParaRPr lang="en-GB" sz="2000"/>
          </a:p>
        </p:txBody>
      </p:sp>
    </p:spTree>
    <p:extLst>
      <p:ext uri="{BB962C8B-B14F-4D97-AF65-F5344CB8AC3E}">
        <p14:creationId xmlns:p14="http://schemas.microsoft.com/office/powerpoint/2010/main" val="3191116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DC3C9F-8B70-BBB4-343A-CDC34B6B4E7D}"/>
              </a:ext>
            </a:extLst>
          </p:cNvPr>
          <p:cNvSpPr>
            <a:spLocks noGrp="1"/>
          </p:cNvSpPr>
          <p:nvPr>
            <p:ph type="title"/>
          </p:nvPr>
        </p:nvSpPr>
        <p:spPr>
          <a:xfrm>
            <a:off x="630936" y="640080"/>
            <a:ext cx="4818888" cy="1481328"/>
          </a:xfrm>
        </p:spPr>
        <p:txBody>
          <a:bodyPr anchor="b">
            <a:normAutofit/>
          </a:bodyPr>
          <a:lstStyle/>
          <a:p>
            <a:r>
              <a:rPr lang="en-GB" sz="5000"/>
              <a:t>C.A.F.E. Practices</a:t>
            </a:r>
          </a:p>
        </p:txBody>
      </p:sp>
      <p:sp>
        <p:nvSpPr>
          <p:cNvPr id="13"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39C7F0B0-3CEC-BBF6-2D23-CC337A24E23F}"/>
              </a:ext>
            </a:extLst>
          </p:cNvPr>
          <p:cNvSpPr>
            <a:spLocks noGrp="1" noChangeArrowheads="1"/>
          </p:cNvSpPr>
          <p:nvPr>
            <p:ph idx="1"/>
          </p:nvPr>
        </p:nvSpPr>
        <p:spPr bwMode="auto">
          <a:xfrm>
            <a:off x="630936" y="2660904"/>
            <a:ext cx="4818888" cy="354787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eaLnBrk="0" fontAlgn="base" hangingPunct="0">
              <a:spcBef>
                <a:spcPct val="0"/>
              </a:spcBef>
              <a:spcAft>
                <a:spcPts val="600"/>
              </a:spcAft>
            </a:pPr>
            <a:r>
              <a:rPr kumimoji="0" lang="en-US" altLang="en-US" sz="2000" b="1" i="0" u="none" strike="noStrike" cap="none" normalizeH="0" baseline="0">
                <a:ln>
                  <a:noFill/>
                </a:ln>
                <a:effectLst/>
              </a:rPr>
              <a:t>Initiative:</a:t>
            </a:r>
            <a:r>
              <a:rPr kumimoji="0" lang="en-US" altLang="en-US" sz="2000" b="0" i="0" u="none" strike="noStrike" cap="none" normalizeH="0" baseline="0">
                <a:ln>
                  <a:noFill/>
                </a:ln>
                <a:effectLst/>
              </a:rPr>
              <a:t> The C.A.F.E. Practices program is Starbucks' own set of guidelines for sourcing coffee. It focuses on economic, social, and environmental sustainability.</a:t>
            </a:r>
          </a:p>
          <a:p>
            <a:pPr eaLnBrk="0" fontAlgn="base" hangingPunct="0">
              <a:spcBef>
                <a:spcPct val="0"/>
              </a:spcBef>
              <a:spcAft>
                <a:spcPts val="600"/>
              </a:spcAft>
            </a:pPr>
            <a:r>
              <a:rPr kumimoji="0" lang="en-US" altLang="en-US" sz="2000" b="1" i="0" u="none" strike="noStrike" cap="none" normalizeH="0" baseline="0">
                <a:ln>
                  <a:noFill/>
                </a:ln>
                <a:effectLst/>
              </a:rPr>
              <a:t>Actions:</a:t>
            </a:r>
            <a:r>
              <a:rPr kumimoji="0" lang="en-US" altLang="en-US" sz="2000" b="0" i="0" u="none" strike="noStrike" cap="none" normalizeH="0" baseline="0">
                <a:ln>
                  <a:noFill/>
                </a:ln>
                <a:effectLst/>
              </a:rPr>
              <a:t> Coffee farmers are evaluated on various criteria, including quality, social responsibility, and environmental stewardship. The program ensures that farmers receive fair wages, work in safe conditions, and use sustainable farming practices. </a:t>
            </a:r>
          </a:p>
        </p:txBody>
      </p:sp>
      <p:pic>
        <p:nvPicPr>
          <p:cNvPr id="6" name="Picture 5">
            <a:extLst>
              <a:ext uri="{FF2B5EF4-FFF2-40B4-BE49-F238E27FC236}">
                <a16:creationId xmlns:a16="http://schemas.microsoft.com/office/drawing/2014/main" id="{1EF170F7-4F05-8F8A-915B-695437F8B8A4}"/>
              </a:ext>
            </a:extLst>
          </p:cNvPr>
          <p:cNvPicPr>
            <a:picLocks noChangeAspect="1"/>
          </p:cNvPicPr>
          <p:nvPr/>
        </p:nvPicPr>
        <p:blipFill>
          <a:blip r:embed="rId2"/>
          <a:stretch>
            <a:fillRect/>
          </a:stretch>
        </p:blipFill>
        <p:spPr>
          <a:xfrm>
            <a:off x="6099048" y="1381887"/>
            <a:ext cx="5458968" cy="4094226"/>
          </a:xfrm>
          <a:prstGeom prst="rect">
            <a:avLst/>
          </a:prstGeom>
        </p:spPr>
      </p:pic>
    </p:spTree>
    <p:extLst>
      <p:ext uri="{BB962C8B-B14F-4D97-AF65-F5344CB8AC3E}">
        <p14:creationId xmlns:p14="http://schemas.microsoft.com/office/powerpoint/2010/main" val="18443460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344" name="Rectangle 14343">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346" name="Rectangle 14345">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348" name="Rectangle 14347">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B3634A2-F1D0-AFBC-A044-69171C6492F7}"/>
              </a:ext>
            </a:extLst>
          </p:cNvPr>
          <p:cNvSpPr>
            <a:spLocks noGrp="1"/>
          </p:cNvSpPr>
          <p:nvPr>
            <p:ph type="title"/>
          </p:nvPr>
        </p:nvSpPr>
        <p:spPr>
          <a:xfrm>
            <a:off x="1115568" y="548640"/>
            <a:ext cx="10168128" cy="1179576"/>
          </a:xfrm>
        </p:spPr>
        <p:txBody>
          <a:bodyPr>
            <a:normAutofit/>
          </a:bodyPr>
          <a:lstStyle/>
          <a:p>
            <a:r>
              <a:rPr lang="en-GB" sz="4000"/>
              <a:t>Fair Trade Certification</a:t>
            </a:r>
          </a:p>
        </p:txBody>
      </p:sp>
      <p:sp>
        <p:nvSpPr>
          <p:cNvPr id="14350" name="Rectangle 14349">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4339" name="Picture 3" descr="Starbucks ads trumpet Fairtrade move | Advertising | The Guardian">
            <a:extLst>
              <a:ext uri="{FF2B5EF4-FFF2-40B4-BE49-F238E27FC236}">
                <a16:creationId xmlns:a16="http://schemas.microsoft.com/office/drawing/2014/main" id="{18DF8EF1-9E85-9E00-0C64-F03FD4AAB6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2387" b="-3"/>
          <a:stretch/>
        </p:blipFill>
        <p:spPr bwMode="auto">
          <a:xfrm>
            <a:off x="908304" y="2478024"/>
            <a:ext cx="6009855" cy="369417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1">
            <a:extLst>
              <a:ext uri="{FF2B5EF4-FFF2-40B4-BE49-F238E27FC236}">
                <a16:creationId xmlns:a16="http://schemas.microsoft.com/office/drawing/2014/main" id="{54108453-6222-B3B4-0508-F02FDE873490}"/>
              </a:ext>
            </a:extLst>
          </p:cNvPr>
          <p:cNvSpPr>
            <a:spLocks noGrp="1" noChangeArrowheads="1"/>
          </p:cNvSpPr>
          <p:nvPr>
            <p:ph idx="1"/>
          </p:nvPr>
        </p:nvSpPr>
        <p:spPr bwMode="auto">
          <a:xfrm>
            <a:off x="7411453" y="2478024"/>
            <a:ext cx="3872243" cy="369417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eaLnBrk="0" fontAlgn="base" hangingPunct="0">
              <a:spcBef>
                <a:spcPct val="0"/>
              </a:spcBef>
              <a:spcAft>
                <a:spcPts val="600"/>
              </a:spcAft>
            </a:pPr>
            <a:r>
              <a:rPr kumimoji="0" lang="en-US" altLang="en-US" sz="1800" b="1" i="0" u="none" strike="noStrike" cap="none" normalizeH="0" baseline="0">
                <a:ln>
                  <a:noFill/>
                </a:ln>
                <a:effectLst/>
              </a:rPr>
              <a:t>Initiative:</a:t>
            </a:r>
            <a:r>
              <a:rPr kumimoji="0" lang="en-US" altLang="en-US" sz="1800" b="0" i="0" u="none" strike="noStrike" cap="none" normalizeH="0" baseline="0">
                <a:ln>
                  <a:noFill/>
                </a:ln>
                <a:effectLst/>
              </a:rPr>
              <a:t> Starbucks also sources coffee from Fairtrade-certified suppliers, which guarantees that farmers receive fair compensation and work under ethical conditions.</a:t>
            </a:r>
          </a:p>
          <a:p>
            <a:pPr eaLnBrk="0" fontAlgn="base" hangingPunct="0">
              <a:spcBef>
                <a:spcPct val="0"/>
              </a:spcBef>
              <a:spcAft>
                <a:spcPts val="600"/>
              </a:spcAft>
            </a:pPr>
            <a:r>
              <a:rPr kumimoji="0" lang="en-US" altLang="en-US" sz="1800" b="1" i="0" u="none" strike="noStrike" cap="none" normalizeH="0" baseline="0">
                <a:ln>
                  <a:noFill/>
                </a:ln>
                <a:effectLst/>
              </a:rPr>
              <a:t>Actions:</a:t>
            </a:r>
            <a:r>
              <a:rPr kumimoji="0" lang="en-US" altLang="en-US" sz="1800" b="0" i="0" u="none" strike="noStrike" cap="none" normalizeH="0" baseline="0">
                <a:ln>
                  <a:noFill/>
                </a:ln>
                <a:effectLst/>
              </a:rPr>
              <a:t> The company offers Fairtrade-certified coffee options and promotes Fairtrade practices through its retail outlets and marketing efforts. </a:t>
            </a:r>
          </a:p>
        </p:txBody>
      </p:sp>
    </p:spTree>
    <p:extLst>
      <p:ext uri="{BB962C8B-B14F-4D97-AF65-F5344CB8AC3E}">
        <p14:creationId xmlns:p14="http://schemas.microsoft.com/office/powerpoint/2010/main" val="8625941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368"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5370" name="Rectangle 15369">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6A626C-1891-D77B-ACB8-636F264F5AFC}"/>
              </a:ext>
            </a:extLst>
          </p:cNvPr>
          <p:cNvSpPr>
            <a:spLocks noGrp="1"/>
          </p:cNvSpPr>
          <p:nvPr>
            <p:ph type="title"/>
          </p:nvPr>
        </p:nvSpPr>
        <p:spPr>
          <a:xfrm>
            <a:off x="761803" y="350196"/>
            <a:ext cx="4646904" cy="1624520"/>
          </a:xfrm>
        </p:spPr>
        <p:txBody>
          <a:bodyPr anchor="ctr">
            <a:normAutofit/>
          </a:bodyPr>
          <a:lstStyle/>
          <a:p>
            <a:r>
              <a:rPr lang="en-GB" sz="4000"/>
              <a:t>Supporting Coffee Communities</a:t>
            </a:r>
          </a:p>
        </p:txBody>
      </p:sp>
      <p:sp>
        <p:nvSpPr>
          <p:cNvPr id="4" name="Rectangle 1">
            <a:extLst>
              <a:ext uri="{FF2B5EF4-FFF2-40B4-BE49-F238E27FC236}">
                <a16:creationId xmlns:a16="http://schemas.microsoft.com/office/drawing/2014/main" id="{380DFF4D-AB6F-75B4-359C-86139F932DC2}"/>
              </a:ext>
            </a:extLst>
          </p:cNvPr>
          <p:cNvSpPr>
            <a:spLocks noGrp="1" noChangeArrowheads="1"/>
          </p:cNvSpPr>
          <p:nvPr>
            <p:ph idx="1"/>
          </p:nvPr>
        </p:nvSpPr>
        <p:spPr bwMode="auto">
          <a:xfrm>
            <a:off x="761802" y="2743200"/>
            <a:ext cx="4646905" cy="361314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eaLnBrk="0" fontAlgn="base" hangingPunct="0">
              <a:spcBef>
                <a:spcPct val="0"/>
              </a:spcBef>
              <a:spcAft>
                <a:spcPts val="600"/>
              </a:spcAft>
            </a:pPr>
            <a:r>
              <a:rPr kumimoji="0" lang="en-US" altLang="en-US" sz="2000" b="1" i="0" u="none" strike="noStrike" cap="none" normalizeH="0" baseline="0">
                <a:ln>
                  <a:noFill/>
                </a:ln>
                <a:effectLst/>
              </a:rPr>
              <a:t>Initiative:</a:t>
            </a:r>
            <a:r>
              <a:rPr kumimoji="0" lang="en-US" altLang="en-US" sz="2000" b="0" i="0" u="none" strike="noStrike" cap="none" normalizeH="0" baseline="0">
                <a:ln>
                  <a:noFill/>
                </a:ln>
                <a:effectLst/>
              </a:rPr>
              <a:t> Starbucks invests in programs that support the communities where coffee is grown, focusing on health, education, and economic development.</a:t>
            </a:r>
          </a:p>
          <a:p>
            <a:pPr eaLnBrk="0" fontAlgn="base" hangingPunct="0">
              <a:spcBef>
                <a:spcPct val="0"/>
              </a:spcBef>
              <a:spcAft>
                <a:spcPts val="600"/>
              </a:spcAft>
            </a:pPr>
            <a:r>
              <a:rPr kumimoji="0" lang="en-US" altLang="en-US" sz="2000" b="1" i="0" u="none" strike="noStrike" cap="none" normalizeH="0" baseline="0">
                <a:ln>
                  <a:noFill/>
                </a:ln>
                <a:effectLst/>
              </a:rPr>
              <a:t>Actions:</a:t>
            </a:r>
            <a:r>
              <a:rPr kumimoji="0" lang="en-US" altLang="en-US" sz="2000" b="0" i="0" u="none" strike="noStrike" cap="none" normalizeH="0" baseline="0">
                <a:ln>
                  <a:noFill/>
                </a:ln>
                <a:effectLst/>
              </a:rPr>
              <a:t> Initiatives include funding for farmer training programs, community development projects, and efforts to improve access to clean water and healthcare. </a:t>
            </a:r>
          </a:p>
        </p:txBody>
      </p:sp>
      <p:pic>
        <p:nvPicPr>
          <p:cNvPr id="15363" name="Picture 3" descr="How we Invest in Sustainable Coffee Communities | Starbucks® Coffee at Home">
            <a:extLst>
              <a:ext uri="{FF2B5EF4-FFF2-40B4-BE49-F238E27FC236}">
                <a16:creationId xmlns:a16="http://schemas.microsoft.com/office/drawing/2014/main" id="{66FDFB6B-8ED2-6237-9F15-142870A6C5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3481" r="15128" b="-1"/>
          <a:stretch/>
        </p:blipFill>
        <p:spPr bwMode="auto">
          <a:xfrm>
            <a:off x="6096000" y="1"/>
            <a:ext cx="610282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23212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C648C3-AABE-841D-9BE4-E2E775F72DC5}"/>
              </a:ext>
            </a:extLst>
          </p:cNvPr>
          <p:cNvSpPr>
            <a:spLocks noGrp="1"/>
          </p:cNvSpPr>
          <p:nvPr>
            <p:ph type="title"/>
          </p:nvPr>
        </p:nvSpPr>
        <p:spPr>
          <a:xfrm>
            <a:off x="841248" y="548640"/>
            <a:ext cx="3600860" cy="5431536"/>
          </a:xfrm>
        </p:spPr>
        <p:txBody>
          <a:bodyPr>
            <a:normAutofit/>
          </a:bodyPr>
          <a:lstStyle/>
          <a:p>
            <a:r>
              <a:rPr lang="en-GB" sz="5400"/>
              <a:t>Impact on Brand Reputation</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001DA7A-F184-E4FF-7874-A5613BB32F92}"/>
              </a:ext>
            </a:extLst>
          </p:cNvPr>
          <p:cNvSpPr>
            <a:spLocks noGrp="1"/>
          </p:cNvSpPr>
          <p:nvPr>
            <p:ph idx="1"/>
          </p:nvPr>
        </p:nvSpPr>
        <p:spPr>
          <a:xfrm>
            <a:off x="5126418" y="552091"/>
            <a:ext cx="6224335" cy="5431536"/>
          </a:xfrm>
        </p:spPr>
        <p:txBody>
          <a:bodyPr anchor="ctr">
            <a:normAutofit/>
          </a:bodyPr>
          <a:lstStyle/>
          <a:p>
            <a:pPr marL="0" indent="0">
              <a:buNone/>
            </a:pPr>
            <a:r>
              <a:rPr lang="en-GB" sz="2200" dirty="0"/>
              <a:t>Starbucks' commitment to ethical sourcing has enhanced its reputation as a responsible and socially-conscious company. Customers who are concerned about the origins of their products and the impact on global communities appreciate Starbucks’ transparency and efforts toward sustainable practices. This has helped Starbucks differentiate itself in a competitive market and build strong brand loyalty.</a:t>
            </a:r>
          </a:p>
        </p:txBody>
      </p:sp>
    </p:spTree>
    <p:extLst>
      <p:ext uri="{BB962C8B-B14F-4D97-AF65-F5344CB8AC3E}">
        <p14:creationId xmlns:p14="http://schemas.microsoft.com/office/powerpoint/2010/main" val="1216297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4E829E-9B65-FD7F-072E-527C51FC8C21}"/>
              </a:ext>
            </a:extLst>
          </p:cNvPr>
          <p:cNvSpPr>
            <a:spLocks noGrp="1"/>
          </p:cNvSpPr>
          <p:nvPr>
            <p:ph type="title"/>
          </p:nvPr>
        </p:nvSpPr>
        <p:spPr>
          <a:xfrm>
            <a:off x="838200" y="365125"/>
            <a:ext cx="10515600" cy="1325563"/>
          </a:xfrm>
        </p:spPr>
        <p:txBody>
          <a:bodyPr>
            <a:normAutofit/>
          </a:bodyPr>
          <a:lstStyle/>
          <a:p>
            <a:r>
              <a:rPr lang="en-GB" sz="5400"/>
              <a:t>Critical thinking</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BAD82850-236B-84D2-02B3-4C53FF04D059}"/>
              </a:ext>
            </a:extLst>
          </p:cNvPr>
          <p:cNvSpPr>
            <a:spLocks noGrp="1" noChangeArrowheads="1"/>
          </p:cNvSpPr>
          <p:nvPr>
            <p:ph idx="1"/>
          </p:nvPr>
        </p:nvSpPr>
        <p:spPr bwMode="auto">
          <a:xfrm>
            <a:off x="838200" y="1929384"/>
            <a:ext cx="10515600" cy="425196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indent="0" eaLnBrk="0" fontAlgn="base" hangingPunct="0">
              <a:spcBef>
                <a:spcPct val="0"/>
              </a:spcBef>
              <a:spcAft>
                <a:spcPts val="600"/>
              </a:spcAft>
              <a:buNone/>
            </a:pPr>
            <a:r>
              <a:rPr kumimoji="0" lang="en-US" altLang="en-US" sz="1500" b="1" i="0" u="none" strike="noStrike" cap="none" normalizeH="0" baseline="0" dirty="0">
                <a:ln>
                  <a:noFill/>
                </a:ln>
                <a:effectLst/>
              </a:rPr>
              <a:t>Sustainability and Business Practices:</a:t>
            </a:r>
            <a:endParaRPr kumimoji="0" lang="en-US" altLang="en-US" sz="1500" b="0" i="0" u="none" strike="noStrike" cap="none" normalizeH="0" baseline="0" dirty="0">
              <a:ln>
                <a:noFill/>
              </a:ln>
              <a:effectLst/>
            </a:endParaRPr>
          </a:p>
          <a:p>
            <a:pPr eaLnBrk="0" fontAlgn="base" hangingPunct="0">
              <a:spcBef>
                <a:spcPct val="0"/>
              </a:spcBef>
              <a:spcAft>
                <a:spcPts val="600"/>
              </a:spcAft>
            </a:pPr>
            <a:r>
              <a:rPr kumimoji="0" lang="en-US" altLang="en-US" sz="1500" b="0" i="0" u="none" strike="noStrike" cap="none" normalizeH="0" baseline="0" dirty="0">
                <a:ln>
                  <a:noFill/>
                </a:ln>
                <a:effectLst/>
              </a:rPr>
              <a:t>How effective is Starbucks' C.A.F.E. Practices program in promoting sustainable and ethical coffee sourcing? What aspects of the program might need improvement?</a:t>
            </a:r>
          </a:p>
          <a:p>
            <a:pPr marL="0" indent="0" eaLnBrk="0" fontAlgn="base" hangingPunct="0">
              <a:spcBef>
                <a:spcPct val="0"/>
              </a:spcBef>
              <a:spcAft>
                <a:spcPts val="600"/>
              </a:spcAft>
              <a:buNone/>
            </a:pPr>
            <a:r>
              <a:rPr kumimoji="0" lang="en-US" altLang="en-US" sz="1500" b="1" i="0" u="none" strike="noStrike" cap="none" normalizeH="0" baseline="0" dirty="0">
                <a:ln>
                  <a:noFill/>
                </a:ln>
                <a:effectLst/>
              </a:rPr>
              <a:t>Consumer Trust:</a:t>
            </a:r>
            <a:endParaRPr kumimoji="0" lang="en-US" altLang="en-US" sz="1500" b="0" i="0" u="none" strike="noStrike" cap="none" normalizeH="0" baseline="0" dirty="0">
              <a:ln>
                <a:noFill/>
              </a:ln>
              <a:effectLst/>
            </a:endParaRPr>
          </a:p>
          <a:p>
            <a:pPr eaLnBrk="0" fontAlgn="base" hangingPunct="0">
              <a:spcBef>
                <a:spcPct val="0"/>
              </a:spcBef>
              <a:spcAft>
                <a:spcPts val="600"/>
              </a:spcAft>
            </a:pPr>
            <a:r>
              <a:rPr kumimoji="0" lang="en-US" altLang="en-US" sz="1500" b="0" i="0" u="none" strike="noStrike" cap="none" normalizeH="0" baseline="0" dirty="0">
                <a:ln>
                  <a:noFill/>
                </a:ln>
                <a:effectLst/>
              </a:rPr>
              <a:t>Do you think Starbucks’ ethical sourcing initiatives build trust with consumers? How important is it for consumers to know that their coffee is sourced ethically?</a:t>
            </a:r>
          </a:p>
          <a:p>
            <a:pPr marL="0" indent="0" eaLnBrk="0" fontAlgn="base" hangingPunct="0">
              <a:spcBef>
                <a:spcPct val="0"/>
              </a:spcBef>
              <a:spcAft>
                <a:spcPts val="600"/>
              </a:spcAft>
              <a:buNone/>
            </a:pPr>
            <a:r>
              <a:rPr kumimoji="0" lang="en-US" altLang="en-US" sz="1500" b="1" i="0" u="none" strike="noStrike" cap="none" normalizeH="0" baseline="0" dirty="0">
                <a:ln>
                  <a:noFill/>
                </a:ln>
                <a:effectLst/>
              </a:rPr>
              <a:t>Challenges and Criticisms:</a:t>
            </a:r>
            <a:endParaRPr kumimoji="0" lang="en-US" altLang="en-US" sz="1500" b="0" i="0" u="none" strike="noStrike" cap="none" normalizeH="0" baseline="0" dirty="0">
              <a:ln>
                <a:noFill/>
              </a:ln>
              <a:effectLst/>
            </a:endParaRPr>
          </a:p>
          <a:p>
            <a:pPr eaLnBrk="0" fontAlgn="base" hangingPunct="0">
              <a:spcBef>
                <a:spcPct val="0"/>
              </a:spcBef>
              <a:spcAft>
                <a:spcPts val="600"/>
              </a:spcAft>
            </a:pPr>
            <a:r>
              <a:rPr kumimoji="0" lang="en-US" altLang="en-US" sz="1500" b="0" i="0" u="none" strike="noStrike" cap="none" normalizeH="0" baseline="0" dirty="0">
                <a:ln>
                  <a:noFill/>
                </a:ln>
                <a:effectLst/>
              </a:rPr>
              <a:t>What are some potential criticisms of Starbucks' approach to ethical sourcing? Are there any challenges the company might face in implementing these practices?</a:t>
            </a:r>
          </a:p>
          <a:p>
            <a:pPr marL="0" indent="0" eaLnBrk="0" fontAlgn="base" hangingPunct="0">
              <a:spcBef>
                <a:spcPct val="0"/>
              </a:spcBef>
              <a:spcAft>
                <a:spcPts val="600"/>
              </a:spcAft>
              <a:buNone/>
            </a:pPr>
            <a:r>
              <a:rPr kumimoji="0" lang="en-US" altLang="en-US" sz="1500" b="1" i="0" u="none" strike="noStrike" cap="none" normalizeH="0" baseline="0" dirty="0">
                <a:ln>
                  <a:noFill/>
                </a:ln>
                <a:effectLst/>
              </a:rPr>
              <a:t>Long-term Impact:</a:t>
            </a:r>
            <a:endParaRPr kumimoji="0" lang="en-US" altLang="en-US" sz="1500" b="0" i="0" u="none" strike="noStrike" cap="none" normalizeH="0" baseline="0" dirty="0">
              <a:ln>
                <a:noFill/>
              </a:ln>
              <a:effectLst/>
            </a:endParaRPr>
          </a:p>
          <a:p>
            <a:pPr eaLnBrk="0" fontAlgn="base" hangingPunct="0">
              <a:spcBef>
                <a:spcPct val="0"/>
              </a:spcBef>
              <a:spcAft>
                <a:spcPts val="600"/>
              </a:spcAft>
            </a:pPr>
            <a:r>
              <a:rPr kumimoji="0" lang="en-US" altLang="en-US" sz="1500" b="0" i="0" u="none" strike="noStrike" cap="none" normalizeH="0" baseline="0" dirty="0">
                <a:ln>
                  <a:noFill/>
                </a:ln>
                <a:effectLst/>
              </a:rPr>
              <a:t>What long-term impact do you think Starbucks' ethical sourcing initiatives will have on the coffee industry and the communities involved? How might these practices influence other companies?</a:t>
            </a:r>
          </a:p>
          <a:p>
            <a:pPr marL="0" indent="0" eaLnBrk="0" fontAlgn="base" hangingPunct="0">
              <a:spcBef>
                <a:spcPct val="0"/>
              </a:spcBef>
              <a:spcAft>
                <a:spcPts val="600"/>
              </a:spcAft>
              <a:buNone/>
            </a:pPr>
            <a:r>
              <a:rPr kumimoji="0" lang="en-US" altLang="en-US" sz="1500" b="1" i="0" u="none" strike="noStrike" cap="none" normalizeH="0" baseline="0" dirty="0">
                <a:ln>
                  <a:noFill/>
                </a:ln>
                <a:effectLst/>
              </a:rPr>
              <a:t>Comparative Impact:</a:t>
            </a:r>
            <a:endParaRPr kumimoji="0" lang="en-US" altLang="en-US" sz="1500" b="0" i="0" u="none" strike="noStrike" cap="none" normalizeH="0" baseline="0" dirty="0">
              <a:ln>
                <a:noFill/>
              </a:ln>
              <a:effectLst/>
            </a:endParaRPr>
          </a:p>
          <a:p>
            <a:pPr eaLnBrk="0" fontAlgn="base" hangingPunct="0">
              <a:spcBef>
                <a:spcPct val="0"/>
              </a:spcBef>
              <a:spcAft>
                <a:spcPts val="600"/>
              </a:spcAft>
            </a:pPr>
            <a:r>
              <a:rPr kumimoji="0" lang="en-US" altLang="en-US" sz="1500" b="0" i="0" u="none" strike="noStrike" cap="none" normalizeH="0" baseline="0" dirty="0">
                <a:ln>
                  <a:noFill/>
                </a:ln>
                <a:effectLst/>
              </a:rPr>
              <a:t>How does Starbucks’ approach to ethical sourcing compare to similar efforts by other major coffee companies? Which company’s approach seems more comprehensive or effective?</a:t>
            </a:r>
          </a:p>
          <a:p>
            <a:pPr eaLnBrk="0" fontAlgn="base" hangingPunct="0">
              <a:spcBef>
                <a:spcPct val="0"/>
              </a:spcBef>
              <a:spcAft>
                <a:spcPts val="600"/>
              </a:spcAft>
            </a:pPr>
            <a:endParaRPr kumimoji="0" lang="en-US" altLang="en-US" sz="1500" b="0" i="0" u="none" strike="noStrike" cap="none" normalizeH="0" baseline="0" dirty="0">
              <a:ln>
                <a:noFill/>
              </a:ln>
              <a:effectLst/>
            </a:endParaRPr>
          </a:p>
        </p:txBody>
      </p:sp>
    </p:spTree>
    <p:extLst>
      <p:ext uri="{BB962C8B-B14F-4D97-AF65-F5344CB8AC3E}">
        <p14:creationId xmlns:p14="http://schemas.microsoft.com/office/powerpoint/2010/main" val="39920484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D13CC36-B950-4F02-9BAF-9A7EB2673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1BDED99-B35B-4FEE-A274-8E8DB6FEEE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02473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Graph on document with pen">
            <a:extLst>
              <a:ext uri="{FF2B5EF4-FFF2-40B4-BE49-F238E27FC236}">
                <a16:creationId xmlns:a16="http://schemas.microsoft.com/office/drawing/2014/main" id="{46F95FAE-F0CB-5C5B-E36F-261C961CBAEB}"/>
              </a:ext>
            </a:extLst>
          </p:cNvPr>
          <p:cNvPicPr>
            <a:picLocks noChangeAspect="1"/>
          </p:cNvPicPr>
          <p:nvPr/>
        </p:nvPicPr>
        <p:blipFill>
          <a:blip r:embed="rId2"/>
          <a:srcRect l="36306" r="22583" b="-1"/>
          <a:stretch/>
        </p:blipFill>
        <p:spPr>
          <a:xfrm>
            <a:off x="7968222" y="10"/>
            <a:ext cx="4223778" cy="6857990"/>
          </a:xfrm>
          <a:custGeom>
            <a:avLst/>
            <a:gdLst/>
            <a:ahLst/>
            <a:cxnLst/>
            <a:rect l="l" t="t" r="r" b="b"/>
            <a:pathLst>
              <a:path w="4223778" h="6865951">
                <a:moveTo>
                  <a:pt x="478794" y="0"/>
                </a:moveTo>
                <a:lnTo>
                  <a:pt x="4223778" y="0"/>
                </a:lnTo>
                <a:lnTo>
                  <a:pt x="4223778" y="6865951"/>
                </a:lnTo>
                <a:lnTo>
                  <a:pt x="52221" y="6865951"/>
                </a:lnTo>
                <a:lnTo>
                  <a:pt x="49989" y="6844695"/>
                </a:lnTo>
                <a:cubicBezTo>
                  <a:pt x="46440" y="6810509"/>
                  <a:pt x="42891" y="6776323"/>
                  <a:pt x="41304" y="6765443"/>
                </a:cubicBezTo>
                <a:cubicBezTo>
                  <a:pt x="35681" y="6732842"/>
                  <a:pt x="13533" y="6716945"/>
                  <a:pt x="11182" y="6694817"/>
                </a:cubicBezTo>
                <a:cubicBezTo>
                  <a:pt x="16764" y="6697663"/>
                  <a:pt x="14835" y="6635151"/>
                  <a:pt x="10913" y="6627127"/>
                </a:cubicBezTo>
                <a:cubicBezTo>
                  <a:pt x="19564" y="6579282"/>
                  <a:pt x="-12861" y="6585665"/>
                  <a:pt x="5999" y="6527525"/>
                </a:cubicBezTo>
                <a:cubicBezTo>
                  <a:pt x="12287" y="6468687"/>
                  <a:pt x="19003" y="6409739"/>
                  <a:pt x="7685" y="6346547"/>
                </a:cubicBezTo>
                <a:cubicBezTo>
                  <a:pt x="31149" y="6240430"/>
                  <a:pt x="5895" y="6134229"/>
                  <a:pt x="12535" y="6084924"/>
                </a:cubicBezTo>
                <a:cubicBezTo>
                  <a:pt x="14696" y="6024961"/>
                  <a:pt x="53867" y="6020785"/>
                  <a:pt x="45320" y="5989742"/>
                </a:cubicBezTo>
                <a:cubicBezTo>
                  <a:pt x="41264" y="5940899"/>
                  <a:pt x="43258" y="5932095"/>
                  <a:pt x="40418" y="5889597"/>
                </a:cubicBezTo>
                <a:cubicBezTo>
                  <a:pt x="20860" y="5848611"/>
                  <a:pt x="51187" y="5792775"/>
                  <a:pt x="49796" y="5755774"/>
                </a:cubicBezTo>
                <a:cubicBezTo>
                  <a:pt x="43522" y="5734342"/>
                  <a:pt x="37368" y="5692606"/>
                  <a:pt x="49956" y="5684909"/>
                </a:cubicBezTo>
                <a:cubicBezTo>
                  <a:pt x="52825" y="5660429"/>
                  <a:pt x="62553" y="5623499"/>
                  <a:pt x="67011" y="5608897"/>
                </a:cubicBezTo>
                <a:lnTo>
                  <a:pt x="76701" y="5597290"/>
                </a:lnTo>
                <a:cubicBezTo>
                  <a:pt x="87717" y="5587442"/>
                  <a:pt x="82431" y="5550877"/>
                  <a:pt x="89120" y="5529641"/>
                </a:cubicBezTo>
                <a:cubicBezTo>
                  <a:pt x="69291" y="5496375"/>
                  <a:pt x="118554" y="5526326"/>
                  <a:pt x="94330" y="5470852"/>
                </a:cubicBezTo>
                <a:cubicBezTo>
                  <a:pt x="95483" y="5449506"/>
                  <a:pt x="114690" y="5429653"/>
                  <a:pt x="116139" y="5390946"/>
                </a:cubicBezTo>
                <a:cubicBezTo>
                  <a:pt x="127589" y="5337323"/>
                  <a:pt x="132794" y="5338384"/>
                  <a:pt x="135560" y="5284344"/>
                </a:cubicBezTo>
                <a:cubicBezTo>
                  <a:pt x="143629" y="5226223"/>
                  <a:pt x="148113" y="5192743"/>
                  <a:pt x="158141" y="5143920"/>
                </a:cubicBezTo>
                <a:cubicBezTo>
                  <a:pt x="170128" y="5118849"/>
                  <a:pt x="159838" y="5102006"/>
                  <a:pt x="174950" y="5088188"/>
                </a:cubicBezTo>
                <a:cubicBezTo>
                  <a:pt x="197620" y="5107654"/>
                  <a:pt x="181875" y="4983257"/>
                  <a:pt x="203603" y="5010764"/>
                </a:cubicBezTo>
                <a:lnTo>
                  <a:pt x="258582" y="4919969"/>
                </a:lnTo>
                <a:cubicBezTo>
                  <a:pt x="238838" y="4883087"/>
                  <a:pt x="271098" y="4853332"/>
                  <a:pt x="287910" y="4849612"/>
                </a:cubicBezTo>
                <a:cubicBezTo>
                  <a:pt x="294156" y="4811643"/>
                  <a:pt x="286101" y="4834074"/>
                  <a:pt x="305439" y="4799017"/>
                </a:cubicBezTo>
                <a:cubicBezTo>
                  <a:pt x="322572" y="4758926"/>
                  <a:pt x="352642" y="4705848"/>
                  <a:pt x="373456" y="4667754"/>
                </a:cubicBezTo>
                <a:cubicBezTo>
                  <a:pt x="384080" y="4649919"/>
                  <a:pt x="401158" y="4670663"/>
                  <a:pt x="407944" y="4574050"/>
                </a:cubicBezTo>
                <a:cubicBezTo>
                  <a:pt x="408098" y="4548109"/>
                  <a:pt x="427782" y="4503327"/>
                  <a:pt x="425133" y="4462469"/>
                </a:cubicBezTo>
                <a:lnTo>
                  <a:pt x="433890" y="4364681"/>
                </a:lnTo>
                <a:cubicBezTo>
                  <a:pt x="430018" y="4339230"/>
                  <a:pt x="435361" y="4287915"/>
                  <a:pt x="440691" y="4222147"/>
                </a:cubicBezTo>
                <a:cubicBezTo>
                  <a:pt x="451463" y="4164562"/>
                  <a:pt x="497377" y="4067298"/>
                  <a:pt x="503057" y="3977136"/>
                </a:cubicBezTo>
                <a:cubicBezTo>
                  <a:pt x="519229" y="3939837"/>
                  <a:pt x="472839" y="3875689"/>
                  <a:pt x="507582" y="3776020"/>
                </a:cubicBezTo>
                <a:cubicBezTo>
                  <a:pt x="497716" y="3757477"/>
                  <a:pt x="518006" y="3707185"/>
                  <a:pt x="521577" y="3692206"/>
                </a:cubicBezTo>
                <a:cubicBezTo>
                  <a:pt x="525148" y="3677227"/>
                  <a:pt x="526352" y="3687655"/>
                  <a:pt x="529009" y="3686147"/>
                </a:cubicBezTo>
                <a:cubicBezTo>
                  <a:pt x="531848" y="3650325"/>
                  <a:pt x="545504" y="3563351"/>
                  <a:pt x="551870" y="3514534"/>
                </a:cubicBezTo>
                <a:cubicBezTo>
                  <a:pt x="561331" y="3487751"/>
                  <a:pt x="581973" y="3426419"/>
                  <a:pt x="567205" y="3393248"/>
                </a:cubicBezTo>
                <a:cubicBezTo>
                  <a:pt x="585208" y="3400657"/>
                  <a:pt x="563566" y="3353906"/>
                  <a:pt x="579630" y="3344723"/>
                </a:cubicBezTo>
                <a:cubicBezTo>
                  <a:pt x="592861" y="3339338"/>
                  <a:pt x="589379" y="3323900"/>
                  <a:pt x="592672" y="3310978"/>
                </a:cubicBezTo>
                <a:cubicBezTo>
                  <a:pt x="605351" y="3299735"/>
                  <a:pt x="594296" y="3237176"/>
                  <a:pt x="589270" y="3216655"/>
                </a:cubicBezTo>
                <a:cubicBezTo>
                  <a:pt x="566909" y="3160431"/>
                  <a:pt x="626099" y="3142203"/>
                  <a:pt x="609663" y="3096973"/>
                </a:cubicBezTo>
                <a:cubicBezTo>
                  <a:pt x="609191" y="3084373"/>
                  <a:pt x="615889" y="3033331"/>
                  <a:pt x="618886" y="3023628"/>
                </a:cubicBezTo>
                <a:lnTo>
                  <a:pt x="630425" y="2998646"/>
                </a:lnTo>
                <a:lnTo>
                  <a:pt x="640017" y="2995914"/>
                </a:lnTo>
                <a:lnTo>
                  <a:pt x="643600" y="2978244"/>
                </a:lnTo>
                <a:lnTo>
                  <a:pt x="659520" y="2950805"/>
                </a:lnTo>
                <a:cubicBezTo>
                  <a:pt x="620152" y="2937671"/>
                  <a:pt x="687598" y="2860550"/>
                  <a:pt x="650890" y="2864933"/>
                </a:cubicBezTo>
                <a:cubicBezTo>
                  <a:pt x="663707" y="2817056"/>
                  <a:pt x="662078" y="2779813"/>
                  <a:pt x="640210" y="2741864"/>
                </a:cubicBezTo>
                <a:cubicBezTo>
                  <a:pt x="634452" y="2649732"/>
                  <a:pt x="665268" y="2597914"/>
                  <a:pt x="639387" y="2510931"/>
                </a:cubicBezTo>
                <a:cubicBezTo>
                  <a:pt x="645574" y="2407642"/>
                  <a:pt x="671719" y="2317589"/>
                  <a:pt x="680438" y="2227415"/>
                </a:cubicBezTo>
                <a:cubicBezTo>
                  <a:pt x="664175" y="2189847"/>
                  <a:pt x="704423" y="2141655"/>
                  <a:pt x="688135" y="2054289"/>
                </a:cubicBezTo>
                <a:cubicBezTo>
                  <a:pt x="683239" y="2048201"/>
                  <a:pt x="684029" y="1979567"/>
                  <a:pt x="681480" y="1972202"/>
                </a:cubicBezTo>
                <a:lnTo>
                  <a:pt x="686247" y="1917474"/>
                </a:lnTo>
                <a:lnTo>
                  <a:pt x="679783" y="1862721"/>
                </a:lnTo>
                <a:cubicBezTo>
                  <a:pt x="683677" y="1851209"/>
                  <a:pt x="688980" y="1824057"/>
                  <a:pt x="686639" y="1818227"/>
                </a:cubicBezTo>
                <a:lnTo>
                  <a:pt x="658235" y="1742488"/>
                </a:lnTo>
                <a:cubicBezTo>
                  <a:pt x="645662" y="1715201"/>
                  <a:pt x="661423" y="1719638"/>
                  <a:pt x="636990" y="1638389"/>
                </a:cubicBezTo>
                <a:cubicBezTo>
                  <a:pt x="626351" y="1601441"/>
                  <a:pt x="629414" y="1617134"/>
                  <a:pt x="602059" y="1570807"/>
                </a:cubicBezTo>
                <a:lnTo>
                  <a:pt x="570903" y="1513173"/>
                </a:lnTo>
                <a:cubicBezTo>
                  <a:pt x="570781" y="1503175"/>
                  <a:pt x="550561" y="1468055"/>
                  <a:pt x="550438" y="1458058"/>
                </a:cubicBezTo>
                <a:cubicBezTo>
                  <a:pt x="556848" y="1428101"/>
                  <a:pt x="546263" y="1422712"/>
                  <a:pt x="531416" y="1385478"/>
                </a:cubicBezTo>
                <a:cubicBezTo>
                  <a:pt x="527790" y="1370753"/>
                  <a:pt x="490725" y="1304050"/>
                  <a:pt x="501981" y="1265452"/>
                </a:cubicBezTo>
                <a:cubicBezTo>
                  <a:pt x="501825" y="1234781"/>
                  <a:pt x="490462" y="1187660"/>
                  <a:pt x="487370" y="1141743"/>
                </a:cubicBezTo>
                <a:cubicBezTo>
                  <a:pt x="484278" y="1095826"/>
                  <a:pt x="483852" y="1028118"/>
                  <a:pt x="483427" y="989948"/>
                </a:cubicBezTo>
                <a:cubicBezTo>
                  <a:pt x="483001" y="951779"/>
                  <a:pt x="494678" y="945984"/>
                  <a:pt x="484820" y="912725"/>
                </a:cubicBezTo>
                <a:cubicBezTo>
                  <a:pt x="467566" y="854951"/>
                  <a:pt x="510777" y="860797"/>
                  <a:pt x="475093" y="812798"/>
                </a:cubicBezTo>
                <a:cubicBezTo>
                  <a:pt x="461960" y="787034"/>
                  <a:pt x="498505" y="551948"/>
                  <a:pt x="461972" y="450605"/>
                </a:cubicBezTo>
                <a:cubicBezTo>
                  <a:pt x="470167" y="357604"/>
                  <a:pt x="458694" y="431306"/>
                  <a:pt x="465015" y="372906"/>
                </a:cubicBezTo>
                <a:cubicBezTo>
                  <a:pt x="503427" y="364177"/>
                  <a:pt x="489736" y="290341"/>
                  <a:pt x="490377" y="246134"/>
                </a:cubicBezTo>
                <a:cubicBezTo>
                  <a:pt x="491019" y="201927"/>
                  <a:pt x="449725" y="138160"/>
                  <a:pt x="468864" y="107666"/>
                </a:cubicBezTo>
                <a:cubicBezTo>
                  <a:pt x="468282" y="89794"/>
                  <a:pt x="477749" y="76947"/>
                  <a:pt x="477167" y="59075"/>
                </a:cubicBezTo>
                <a:lnTo>
                  <a:pt x="472992" y="14560"/>
                </a:lnTo>
                <a:close/>
              </a:path>
            </a:pathLst>
          </a:custGeom>
        </p:spPr>
      </p:pic>
      <p:sp>
        <p:nvSpPr>
          <p:cNvPr id="2" name="Title 1">
            <a:extLst>
              <a:ext uri="{FF2B5EF4-FFF2-40B4-BE49-F238E27FC236}">
                <a16:creationId xmlns:a16="http://schemas.microsoft.com/office/drawing/2014/main" id="{D2C79920-C1D7-C6A0-4236-1B71EAC4D629}"/>
              </a:ext>
            </a:extLst>
          </p:cNvPr>
          <p:cNvSpPr>
            <a:spLocks noGrp="1"/>
          </p:cNvSpPr>
          <p:nvPr>
            <p:ph type="title"/>
          </p:nvPr>
        </p:nvSpPr>
        <p:spPr>
          <a:xfrm>
            <a:off x="1137034" y="609600"/>
            <a:ext cx="6831188" cy="1322887"/>
          </a:xfrm>
        </p:spPr>
        <p:txBody>
          <a:bodyPr>
            <a:normAutofit/>
          </a:bodyPr>
          <a:lstStyle/>
          <a:p>
            <a:r>
              <a:rPr lang="en-GB"/>
              <a:t>General analytical questions</a:t>
            </a:r>
            <a:endParaRPr lang="en-GB" dirty="0"/>
          </a:p>
        </p:txBody>
      </p:sp>
      <p:sp>
        <p:nvSpPr>
          <p:cNvPr id="4" name="Rectangle 1">
            <a:extLst>
              <a:ext uri="{FF2B5EF4-FFF2-40B4-BE49-F238E27FC236}">
                <a16:creationId xmlns:a16="http://schemas.microsoft.com/office/drawing/2014/main" id="{EB771C2E-CC26-D0A7-6DBF-ACA3CDA01EFE}"/>
              </a:ext>
            </a:extLst>
          </p:cNvPr>
          <p:cNvSpPr>
            <a:spLocks noGrp="1" noChangeArrowheads="1"/>
          </p:cNvSpPr>
          <p:nvPr>
            <p:ph idx="1"/>
          </p:nvPr>
        </p:nvSpPr>
        <p:spPr bwMode="auto">
          <a:xfrm>
            <a:off x="1137035" y="2194102"/>
            <a:ext cx="6516216" cy="390858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indent="0" eaLnBrk="0" fontAlgn="base" hangingPunct="0">
              <a:spcBef>
                <a:spcPct val="0"/>
              </a:spcBef>
              <a:spcAft>
                <a:spcPts val="600"/>
              </a:spcAft>
              <a:buNone/>
            </a:pPr>
            <a:r>
              <a:rPr kumimoji="0" lang="en-US" altLang="en-US" sz="1300" b="1" i="0" u="none" strike="noStrike" cap="none" normalizeH="0" baseline="0" dirty="0">
                <a:ln>
                  <a:noFill/>
                </a:ln>
                <a:effectLst/>
              </a:rPr>
              <a:t>CSR and Brand Reputation:</a:t>
            </a:r>
            <a:endParaRPr kumimoji="0" lang="en-US" altLang="en-US" sz="1300" b="0" i="0" u="none" strike="noStrike" cap="none" normalizeH="0" baseline="0" dirty="0">
              <a:ln>
                <a:noFill/>
              </a:ln>
              <a:effectLst/>
            </a:endParaRPr>
          </a:p>
          <a:p>
            <a:pPr eaLnBrk="0" fontAlgn="base" hangingPunct="0">
              <a:spcBef>
                <a:spcPct val="0"/>
              </a:spcBef>
              <a:spcAft>
                <a:spcPts val="600"/>
              </a:spcAft>
            </a:pPr>
            <a:r>
              <a:rPr kumimoji="0" lang="en-US" altLang="en-US" sz="1300" b="0" i="0" u="none" strike="noStrike" cap="none" normalizeH="0" baseline="0" dirty="0">
                <a:ln>
                  <a:noFill/>
                </a:ln>
                <a:effectLst/>
              </a:rPr>
              <a:t>How do CSR initiatives like those of Ben &amp; Jerry’s and Starbucks impact overall brand reputation? What role does CSR play in shaping a company's public image?</a:t>
            </a:r>
          </a:p>
          <a:p>
            <a:pPr marL="0" indent="0" eaLnBrk="0" fontAlgn="base" hangingPunct="0">
              <a:spcBef>
                <a:spcPct val="0"/>
              </a:spcBef>
              <a:spcAft>
                <a:spcPts val="600"/>
              </a:spcAft>
              <a:buNone/>
            </a:pPr>
            <a:r>
              <a:rPr kumimoji="0" lang="en-US" altLang="en-US" sz="1300" b="1" i="0" u="none" strike="noStrike" cap="none" normalizeH="0" baseline="0" dirty="0">
                <a:ln>
                  <a:noFill/>
                </a:ln>
                <a:effectLst/>
              </a:rPr>
              <a:t>Ethical Considerations:</a:t>
            </a:r>
            <a:endParaRPr kumimoji="0" lang="en-US" altLang="en-US" sz="1300" b="0" i="0" u="none" strike="noStrike" cap="none" normalizeH="0" baseline="0" dirty="0">
              <a:ln>
                <a:noFill/>
              </a:ln>
              <a:effectLst/>
            </a:endParaRPr>
          </a:p>
          <a:p>
            <a:pPr eaLnBrk="0" fontAlgn="base" hangingPunct="0">
              <a:spcBef>
                <a:spcPct val="0"/>
              </a:spcBef>
              <a:spcAft>
                <a:spcPts val="600"/>
              </a:spcAft>
            </a:pPr>
            <a:r>
              <a:rPr kumimoji="0" lang="en-US" altLang="en-US" sz="1300" b="0" i="0" u="none" strike="noStrike" cap="none" normalizeH="0" baseline="0" dirty="0">
                <a:ln>
                  <a:noFill/>
                </a:ln>
                <a:effectLst/>
              </a:rPr>
              <a:t>Are there ethical considerations that companies should address when implementing CSR initiatives? How can companies ensure that their efforts are genuine and not just superficial?</a:t>
            </a:r>
          </a:p>
          <a:p>
            <a:pPr marL="0" indent="0" eaLnBrk="0" fontAlgn="base" hangingPunct="0">
              <a:spcBef>
                <a:spcPct val="0"/>
              </a:spcBef>
              <a:spcAft>
                <a:spcPts val="600"/>
              </a:spcAft>
              <a:buNone/>
            </a:pPr>
            <a:r>
              <a:rPr kumimoji="0" lang="en-US" altLang="en-US" sz="1300" b="1" i="0" u="none" strike="noStrike" cap="none" normalizeH="0" baseline="0" dirty="0">
                <a:ln>
                  <a:noFill/>
                </a:ln>
                <a:effectLst/>
              </a:rPr>
              <a:t>CSR Effectiveness Metrics:</a:t>
            </a:r>
            <a:endParaRPr kumimoji="0" lang="en-US" altLang="en-US" sz="1300" b="0" i="0" u="none" strike="noStrike" cap="none" normalizeH="0" baseline="0" dirty="0">
              <a:ln>
                <a:noFill/>
              </a:ln>
              <a:effectLst/>
            </a:endParaRPr>
          </a:p>
          <a:p>
            <a:pPr eaLnBrk="0" fontAlgn="base" hangingPunct="0">
              <a:spcBef>
                <a:spcPct val="0"/>
              </a:spcBef>
              <a:spcAft>
                <a:spcPts val="600"/>
              </a:spcAft>
            </a:pPr>
            <a:r>
              <a:rPr kumimoji="0" lang="en-US" altLang="en-US" sz="1300" b="0" i="0" u="none" strike="noStrike" cap="none" normalizeH="0" baseline="0" dirty="0">
                <a:ln>
                  <a:noFill/>
                </a:ln>
                <a:effectLst/>
              </a:rPr>
              <a:t>What metrics or indicators could be used to measure the success of CSR initiatives? How can companies assess whether their CSR activities are meeting their goals?</a:t>
            </a:r>
          </a:p>
          <a:p>
            <a:pPr marL="0" indent="0" eaLnBrk="0" fontAlgn="base" hangingPunct="0">
              <a:spcBef>
                <a:spcPct val="0"/>
              </a:spcBef>
              <a:spcAft>
                <a:spcPts val="600"/>
              </a:spcAft>
              <a:buNone/>
            </a:pPr>
            <a:r>
              <a:rPr kumimoji="0" lang="en-US" altLang="en-US" sz="1300" b="1" i="0" u="none" strike="noStrike" cap="none" normalizeH="0" baseline="0" dirty="0">
                <a:ln>
                  <a:noFill/>
                </a:ln>
                <a:effectLst/>
              </a:rPr>
              <a:t>Consumer Expectations:</a:t>
            </a:r>
            <a:endParaRPr kumimoji="0" lang="en-US" altLang="en-US" sz="1300" b="0" i="0" u="none" strike="noStrike" cap="none" normalizeH="0" baseline="0" dirty="0">
              <a:ln>
                <a:noFill/>
              </a:ln>
              <a:effectLst/>
            </a:endParaRPr>
          </a:p>
          <a:p>
            <a:pPr eaLnBrk="0" fontAlgn="base" hangingPunct="0">
              <a:spcBef>
                <a:spcPct val="0"/>
              </a:spcBef>
              <a:spcAft>
                <a:spcPts val="600"/>
              </a:spcAft>
            </a:pPr>
            <a:r>
              <a:rPr kumimoji="0" lang="en-US" altLang="en-US" sz="1300" b="0" i="0" u="none" strike="noStrike" cap="none" normalizeH="0" baseline="0" dirty="0">
                <a:ln>
                  <a:noFill/>
                </a:ln>
                <a:effectLst/>
              </a:rPr>
              <a:t>How have consumer expectations regarding corporate social responsibility evolved in recent years? What do you think consumers expect from companies today in terms of social and environmental responsibility?</a:t>
            </a:r>
          </a:p>
          <a:p>
            <a:pPr marL="0" indent="0" eaLnBrk="0" fontAlgn="base" hangingPunct="0">
              <a:spcBef>
                <a:spcPct val="0"/>
              </a:spcBef>
              <a:spcAft>
                <a:spcPts val="600"/>
              </a:spcAft>
              <a:buNone/>
            </a:pPr>
            <a:r>
              <a:rPr kumimoji="0" lang="en-US" altLang="en-US" sz="1300" b="1" i="0" u="none" strike="noStrike" cap="none" normalizeH="0" baseline="0" dirty="0">
                <a:ln>
                  <a:noFill/>
                </a:ln>
                <a:effectLst/>
              </a:rPr>
              <a:t>Future Trends:</a:t>
            </a:r>
            <a:endParaRPr kumimoji="0" lang="en-US" altLang="en-US" sz="1300" b="0" i="0" u="none" strike="noStrike" cap="none" normalizeH="0" baseline="0" dirty="0">
              <a:ln>
                <a:noFill/>
              </a:ln>
              <a:effectLst/>
            </a:endParaRPr>
          </a:p>
          <a:p>
            <a:pPr eaLnBrk="0" fontAlgn="base" hangingPunct="0">
              <a:spcBef>
                <a:spcPct val="0"/>
              </a:spcBef>
              <a:spcAft>
                <a:spcPts val="600"/>
              </a:spcAft>
            </a:pPr>
            <a:r>
              <a:rPr kumimoji="0" lang="en-US" altLang="en-US" sz="1300" b="0" i="0" u="none" strike="noStrike" cap="none" normalizeH="0" baseline="0" dirty="0">
                <a:ln>
                  <a:noFill/>
                </a:ln>
                <a:effectLst/>
              </a:rPr>
              <a:t>What future trends do you foresee in CSR? How might companies need to adapt their strategies to remain relevant and effective in their social responsibility efforts?</a:t>
            </a:r>
          </a:p>
          <a:p>
            <a:pPr eaLnBrk="0" fontAlgn="base" hangingPunct="0">
              <a:spcBef>
                <a:spcPct val="0"/>
              </a:spcBef>
              <a:spcAft>
                <a:spcPts val="600"/>
              </a:spcAft>
            </a:pPr>
            <a:endParaRPr kumimoji="0" lang="en-US" altLang="en-US" sz="1300" b="0" i="0" u="none" strike="noStrike" cap="none" normalizeH="0" baseline="0" dirty="0">
              <a:ln>
                <a:noFill/>
              </a:ln>
              <a:effectLst/>
            </a:endParaRPr>
          </a:p>
        </p:txBody>
      </p:sp>
    </p:spTree>
    <p:extLst>
      <p:ext uri="{BB962C8B-B14F-4D97-AF65-F5344CB8AC3E}">
        <p14:creationId xmlns:p14="http://schemas.microsoft.com/office/powerpoint/2010/main" val="9942809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AC526-9C89-01BE-A1ED-2CD0D17E596C}"/>
              </a:ext>
            </a:extLst>
          </p:cNvPr>
          <p:cNvSpPr>
            <a:spLocks noGrp="1"/>
          </p:cNvSpPr>
          <p:nvPr>
            <p:ph type="title"/>
          </p:nvPr>
        </p:nvSpPr>
        <p:spPr/>
        <p:txBody>
          <a:bodyPr/>
          <a:lstStyle/>
          <a:p>
            <a:r>
              <a:rPr lang="en-GB"/>
              <a:t>Delayed feedback</a:t>
            </a:r>
            <a:endParaRPr lang="es-ES"/>
          </a:p>
        </p:txBody>
      </p:sp>
      <p:sp>
        <p:nvSpPr>
          <p:cNvPr id="3" name="Content Placeholder 2">
            <a:extLst>
              <a:ext uri="{FF2B5EF4-FFF2-40B4-BE49-F238E27FC236}">
                <a16:creationId xmlns:a16="http://schemas.microsoft.com/office/drawing/2014/main" id="{F5F929F1-FA1F-8085-B0AF-C47D4070662C}"/>
              </a:ext>
            </a:extLst>
          </p:cNvPr>
          <p:cNvSpPr>
            <a:spLocks noGrp="1"/>
          </p:cNvSpPr>
          <p:nvPr>
            <p:ph idx="1"/>
          </p:nvPr>
        </p:nvSpPr>
        <p:spPr/>
        <p:txBody>
          <a:bodyPr/>
          <a:lstStyle/>
          <a:p>
            <a:endParaRPr lang="es-ES" dirty="0"/>
          </a:p>
        </p:txBody>
      </p:sp>
    </p:spTree>
    <p:extLst>
      <p:ext uri="{BB962C8B-B14F-4D97-AF65-F5344CB8AC3E}">
        <p14:creationId xmlns:p14="http://schemas.microsoft.com/office/powerpoint/2010/main" val="8754817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232</TotalTime>
  <Words>1143</Words>
  <Application>Microsoft Office PowerPoint</Application>
  <PresentationFormat>Widescreen</PresentationFormat>
  <Paragraphs>74</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Calibri</vt:lpstr>
      <vt:lpstr>Office Theme</vt:lpstr>
      <vt:lpstr>Corporate Social Responsibility</vt:lpstr>
      <vt:lpstr>Warm up</vt:lpstr>
      <vt:lpstr>Vocabulary</vt:lpstr>
      <vt:lpstr>Case studies</vt:lpstr>
      <vt:lpstr>Support for Black Lives Matter: </vt:lpstr>
      <vt:lpstr>Climate Change and Environmental Advocacy: </vt:lpstr>
      <vt:lpstr>LGBTQ+ Rights:</vt:lpstr>
      <vt:lpstr>Critical thinking</vt:lpstr>
      <vt:lpstr>Case studies</vt:lpstr>
      <vt:lpstr>C.A.F.E. Practices</vt:lpstr>
      <vt:lpstr>Fair Trade Certification</vt:lpstr>
      <vt:lpstr>Supporting Coffee Communities</vt:lpstr>
      <vt:lpstr>Impact on Brand Reputation</vt:lpstr>
      <vt:lpstr>Critical thinking</vt:lpstr>
      <vt:lpstr>General analytical questions</vt:lpstr>
      <vt:lpstr>Delayed feedback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dc:title>
  <dc:creator>Theo Clarke</dc:creator>
  <cp:lastModifiedBy>Clarke, Theodore James Dalgliesh</cp:lastModifiedBy>
  <cp:revision>15</cp:revision>
  <dcterms:created xsi:type="dcterms:W3CDTF">2024-03-22T11:49:07Z</dcterms:created>
  <dcterms:modified xsi:type="dcterms:W3CDTF">2024-08-12T13:06:13Z</dcterms:modified>
</cp:coreProperties>
</file>