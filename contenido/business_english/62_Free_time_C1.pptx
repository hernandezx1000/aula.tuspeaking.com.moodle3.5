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2" r:id="rId7"/>
    <p:sldId id="261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C821689-C712-69A2-4028-2206B59B75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600C6268-4E41-8A49-C6B2-7281FA0307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4BAC3D1-E219-2D47-3380-C1DD4E13F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CD31A-01C3-4937-8913-26BD41A98678}" type="datetimeFigureOut">
              <a:rPr lang="es-ES" smtClean="0"/>
              <a:t>30/12/2024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2EDD559-F18E-7E22-0065-7D161F254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2206614-920A-0A2C-8CF9-F9F395272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B37FF-66D1-436E-A265-C1BF0CF128D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22868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9776715-72B1-70FC-1E65-DC1B221A1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7529B28-569D-EB40-413F-411D7742A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FD5F370-2DFA-3A16-D6CE-002AC0B77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CD31A-01C3-4937-8913-26BD41A98678}" type="datetimeFigureOut">
              <a:rPr lang="es-ES" smtClean="0"/>
              <a:t>30/12/2024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C180C43-5CB4-BBE4-5021-B2CBF502F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CEA022F-DD02-BE0B-A313-34EA8AAFC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B37FF-66D1-436E-A265-C1BF0CF128D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00708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4F69A3A-B826-CA8D-1040-8E1634600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D992A1A-F9C1-3D55-33FA-89D17F36B0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80FD53E-4204-B538-CBD5-C8B9FB6F8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CD31A-01C3-4937-8913-26BD41A98678}" type="datetimeFigureOut">
              <a:rPr lang="es-ES" smtClean="0"/>
              <a:t>30/12/2024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DC89EB8-B18A-9F5A-3976-E265FDF1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8FF2F77-CD3E-9D22-2E49-E0AC1277B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B37FF-66D1-436E-A265-C1BF0CF128D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2440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C36B21-FF06-8CAD-2534-9B908D30F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E33BB92-1F90-C7ED-606D-6F1895232D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E27B9E74-A923-BA4E-0D37-309DE39BC4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EC46326-F8E1-B063-B1E5-073220A0E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CD31A-01C3-4937-8913-26BD41A98678}" type="datetimeFigureOut">
              <a:rPr lang="es-ES" smtClean="0"/>
              <a:t>30/12/2024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C61A7D8-2AEB-8244-8000-345415846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FDAF92D-8B9A-C332-D271-6ED780AC7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B37FF-66D1-436E-A265-C1BF0CF128D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51524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A5347C-2EA7-041C-7CA5-F833DE93C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FC4C95E-C594-39C7-45E5-031BCF7D1B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5F6B9D19-A866-F235-7F59-4805054400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616A5420-033F-C206-31C7-B13CD85014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6DAABEF4-7044-EDFD-300A-0DD742ACAF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6A7E0CCA-3412-6155-E14E-955558FB3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CD31A-01C3-4937-8913-26BD41A98678}" type="datetimeFigureOut">
              <a:rPr lang="es-ES" smtClean="0"/>
              <a:t>30/12/2024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B8AF496A-4D05-C3FA-54F4-629D5F775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FD8FD153-F968-525A-63E1-342C4C0C4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B37FF-66D1-436E-A265-C1BF0CF128D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79783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6F22783-8DDA-7D0C-8BBD-FC34318FC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4E640220-3466-2603-852A-E0C2F77FA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CD31A-01C3-4937-8913-26BD41A98678}" type="datetimeFigureOut">
              <a:rPr lang="es-ES" smtClean="0"/>
              <a:t>30/12/2024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62F6B248-0D8D-584D-AF57-A01A255CC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75629AB1-9FD7-3899-F204-06D5042B4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B37FF-66D1-436E-A265-C1BF0CF128D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58475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30174C43-0684-C53C-BA5D-EB658282C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CD31A-01C3-4937-8913-26BD41A98678}" type="datetimeFigureOut">
              <a:rPr lang="es-ES" smtClean="0"/>
              <a:t>30/12/2024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4D34DB59-0241-1CB5-A39C-76FD957A8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14AEFFA-0F02-8264-414D-512BC9FD5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B37FF-66D1-436E-A265-C1BF0CF128D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85088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0A8DBA9-6FD6-EB65-BEA3-058BBB4DF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DE747EC-3766-E468-480E-2CAC81B63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793E4CE7-D12D-EAF9-3CD8-E2B0153D66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4E26EA5-228E-1444-1A62-502A2A69D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CD31A-01C3-4937-8913-26BD41A98678}" type="datetimeFigureOut">
              <a:rPr lang="es-ES" smtClean="0"/>
              <a:t>30/12/2024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85DBD7E-B4B6-CA1E-4C2D-6AB9BE024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CB14BAF-4BAA-A4C3-6D61-A558E4E43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B37FF-66D1-436E-A265-C1BF0CF128D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8377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4235D5B-A40D-5300-4275-05418271D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00E38056-DE79-3E6C-C4E9-1324F70042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8DA41E7C-993F-4F3A-11F2-FA0CAA37E4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BC06F65-5122-B99E-D3C6-109C2720F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CD31A-01C3-4937-8913-26BD41A98678}" type="datetimeFigureOut">
              <a:rPr lang="es-ES" smtClean="0"/>
              <a:t>30/12/2024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2851B95-962F-3C17-6084-75BF72AFA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C283A3A-E0BC-0956-CCD5-E6642C7D7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B37FF-66D1-436E-A265-C1BF0CF128D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34618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D66ADE9-2044-41D3-C3C3-37BD86A01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5DF9D4DF-04D7-47DD-EC71-909EB2204F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8B43783-D544-6F34-EF66-93B6B1239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CD31A-01C3-4937-8913-26BD41A98678}" type="datetimeFigureOut">
              <a:rPr lang="es-ES" smtClean="0"/>
              <a:t>30/12/2024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A76658F-694F-50A7-4A5F-44AA2D1FC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33B5B1C-4B89-D2C6-8D9A-66DD62C92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B37FF-66D1-436E-A265-C1BF0CF128D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7103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FED496B4-5E05-2D9E-6E13-F3A392682D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28BA3EB-8F35-61E9-53C8-8126072EB1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06112E8-C5F3-650A-5AD2-3FCE03ADF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CD31A-01C3-4937-8913-26BD41A98678}" type="datetimeFigureOut">
              <a:rPr lang="es-ES" smtClean="0"/>
              <a:t>30/12/2024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16F8C16-4B38-3F1A-D086-0B0841838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D97DBE8-26D9-B2FA-D3F9-C7C49F57C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B37FF-66D1-436E-A265-C1BF0CF128D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0653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2073BA9E-F325-29C4-EB46-4CE54A975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3D6F347-8069-34D3-626B-36134F6D5A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A760DD0-8F44-5E3B-0B21-9BA3DA9F64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ACD31A-01C3-4937-8913-26BD41A98678}" type="datetimeFigureOut">
              <a:rPr lang="es-ES" smtClean="0"/>
              <a:t>30/12/2024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34A2645-23D6-793F-A879-B32F7C6423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B4A4EDB-B6D4-49F2-547C-9E2E70BB51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4B37FF-66D1-436E-A265-C1BF0CF128D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21072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7" Type="http://schemas.openxmlformats.org/officeDocument/2006/relationships/image" Target="../media/image15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65D8A16-D7F3-80AB-0C12-2B116D28E2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Free time and entertainment</a:t>
            </a:r>
            <a:endParaRPr lang="es-E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C211674-B719-2972-C1C9-C5E0EF7AA1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English </a:t>
            </a:r>
            <a:r>
              <a:rPr lang="en-GB" dirty="0" smtClean="0"/>
              <a:t>C1</a:t>
            </a:r>
            <a:endParaRPr lang="es-ES" dirty="0"/>
          </a:p>
        </p:txBody>
      </p:sp>
      <p:pic>
        <p:nvPicPr>
          <p:cNvPr id="5" name="Picture 4" descr="A blue text on a black background&#10;&#10;Description automatically generated">
            <a:extLst>
              <a:ext uri="{FF2B5EF4-FFF2-40B4-BE49-F238E27FC236}">
                <a16:creationId xmlns:a16="http://schemas.microsoft.com/office/drawing/2014/main" xmlns="" id="{1A268601-A2B4-B2DE-BBF5-7F22CC51E25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4707" y="237649"/>
            <a:ext cx="1636779" cy="7620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EC34AB23-7DAB-7FFA-E342-E066FE785490}"/>
              </a:ext>
            </a:extLst>
          </p:cNvPr>
          <p:cNvSpPr txBox="1"/>
          <p:nvPr/>
        </p:nvSpPr>
        <p:spPr>
          <a:xfrm>
            <a:off x="348790" y="6240545"/>
            <a:ext cx="3685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err="1"/>
              <a:t>tuSpeaking</a:t>
            </a:r>
            <a:r>
              <a:rPr lang="en-GB" sz="1200" dirty="0"/>
              <a:t> 2024. All rights reserved.</a:t>
            </a: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1333806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xmlns="" id="{F13C74B1-5B17-4795-BED0-7140497B445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3BC03303-8813-28C9-8125-37D410153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s-ES" sz="4200" b="1" i="0" dirty="0" err="1">
                <a:effectLst/>
                <a:highlight>
                  <a:srgbClr val="FFFFFF"/>
                </a:highlight>
              </a:rPr>
              <a:t>Warm</a:t>
            </a:r>
            <a:r>
              <a:rPr lang="es-ES" sz="4200" b="1" i="0" dirty="0">
                <a:effectLst/>
                <a:highlight>
                  <a:srgbClr val="FFFFFF"/>
                </a:highlight>
              </a:rPr>
              <a:t>-Up </a:t>
            </a:r>
            <a:r>
              <a:rPr lang="es-ES" sz="4200" b="1" i="0" dirty="0" err="1">
                <a:effectLst/>
                <a:highlight>
                  <a:srgbClr val="FFFFFF"/>
                </a:highlight>
              </a:rPr>
              <a:t>Activity</a:t>
            </a:r>
            <a:r>
              <a:rPr lang="es-ES" sz="4200" b="1" i="0" dirty="0">
                <a:effectLst/>
                <a:highlight>
                  <a:srgbClr val="FFFFFF"/>
                </a:highlight>
              </a:rPr>
              <a:t> Word </a:t>
            </a:r>
            <a:br>
              <a:rPr lang="es-ES" sz="4200" b="1" i="0" dirty="0">
                <a:effectLst/>
                <a:highlight>
                  <a:srgbClr val="FFFFFF"/>
                </a:highlight>
              </a:rPr>
            </a:br>
            <a:r>
              <a:rPr lang="es-ES" sz="4200" b="1" i="0" dirty="0" err="1">
                <a:effectLst/>
                <a:highlight>
                  <a:srgbClr val="FFFFFF"/>
                </a:highlight>
              </a:rPr>
              <a:t>Association</a:t>
            </a:r>
            <a:endParaRPr lang="es-ES" sz="4200" dirty="0"/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xmlns="" id="{D4974D33-8DC5-464E-8C6D-BE58F0669C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89E4B54-1E2A-7A84-C58B-43053CC31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 fontScale="92500" lnSpcReduction="10000"/>
          </a:bodyPr>
          <a:lstStyle/>
          <a:p>
            <a:r>
              <a:rPr lang="en-GB" sz="1700" dirty="0"/>
              <a:t>Take turns to say a word related to one of the words below (groups), or, write as many words as you can related to the words below in 3-5 minutes (one to one). </a:t>
            </a:r>
          </a:p>
          <a:p>
            <a:endParaRPr lang="en-GB" sz="1700" dirty="0"/>
          </a:p>
          <a:p>
            <a:r>
              <a:rPr lang="en-GB" sz="1700" b="0" i="0" dirty="0">
                <a:effectLst/>
                <a:highlight>
                  <a:srgbClr val="FFFFFF"/>
                </a:highlight>
                <a:latin typeface="Söhne"/>
              </a:rPr>
              <a:t>Music</a:t>
            </a:r>
          </a:p>
          <a:p>
            <a:r>
              <a:rPr lang="en-GB" sz="1700" b="0" i="0" dirty="0">
                <a:effectLst/>
                <a:highlight>
                  <a:srgbClr val="FFFFFF"/>
                </a:highlight>
                <a:latin typeface="Söhne"/>
              </a:rPr>
              <a:t>Travel</a:t>
            </a:r>
          </a:p>
          <a:p>
            <a:r>
              <a:rPr lang="en-GB" sz="1700" dirty="0">
                <a:highlight>
                  <a:srgbClr val="FFFFFF"/>
                </a:highlight>
                <a:latin typeface="Söhne"/>
              </a:rPr>
              <a:t>S</a:t>
            </a:r>
            <a:r>
              <a:rPr lang="en-GB" sz="1700" b="0" i="0" dirty="0">
                <a:effectLst/>
                <a:highlight>
                  <a:srgbClr val="FFFFFF"/>
                </a:highlight>
                <a:latin typeface="Söhne"/>
              </a:rPr>
              <a:t>ports</a:t>
            </a:r>
          </a:p>
          <a:p>
            <a:r>
              <a:rPr lang="en-GB" sz="1700" dirty="0">
                <a:highlight>
                  <a:srgbClr val="FFFFFF"/>
                </a:highlight>
                <a:latin typeface="Söhne"/>
              </a:rPr>
              <a:t>A</a:t>
            </a:r>
            <a:r>
              <a:rPr lang="en-GB" sz="1700" b="0" i="0" dirty="0">
                <a:effectLst/>
                <a:highlight>
                  <a:srgbClr val="FFFFFF"/>
                </a:highlight>
                <a:latin typeface="Söhne"/>
              </a:rPr>
              <a:t>rt</a:t>
            </a:r>
          </a:p>
          <a:p>
            <a:r>
              <a:rPr lang="en-GB" sz="1700" dirty="0">
                <a:highlight>
                  <a:srgbClr val="FFFFFF"/>
                </a:highlight>
                <a:latin typeface="Söhne"/>
              </a:rPr>
              <a:t>C</a:t>
            </a:r>
            <a:r>
              <a:rPr lang="en-GB" sz="1700" b="0" i="0" dirty="0">
                <a:effectLst/>
                <a:highlight>
                  <a:srgbClr val="FFFFFF"/>
                </a:highlight>
                <a:latin typeface="Söhne"/>
              </a:rPr>
              <a:t>elebration</a:t>
            </a:r>
            <a:endParaRPr lang="es-ES" sz="1700" dirty="0"/>
          </a:p>
        </p:txBody>
      </p:sp>
      <p:pic>
        <p:nvPicPr>
          <p:cNvPr id="5" name="Picture 4" descr="Smiling woman portrait in countryside">
            <a:extLst>
              <a:ext uri="{FF2B5EF4-FFF2-40B4-BE49-F238E27FC236}">
                <a16:creationId xmlns:a16="http://schemas.microsoft.com/office/drawing/2014/main" xmlns="" id="{BD3C80BF-03C2-FE76-5500-C7037EDB55E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15" r="9232" b="-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01448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xmlns="" id="{2C61293E-6EBE-43EF-A52C-9BEBFD7679D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B35081C1-138A-C86A-58E3-2E831255F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GB" sz="5400"/>
              <a:t>Example</a:t>
            </a:r>
            <a:endParaRPr lang="es-ES" sz="5400"/>
          </a:p>
        </p:txBody>
      </p:sp>
      <p:pic>
        <p:nvPicPr>
          <p:cNvPr id="5" name="Picture 4" descr="Sheet music with treble and bass clef, and illegible notes">
            <a:extLst>
              <a:ext uri="{FF2B5EF4-FFF2-40B4-BE49-F238E27FC236}">
                <a16:creationId xmlns:a16="http://schemas.microsoft.com/office/drawing/2014/main" xmlns="" id="{6A8841D4-CF0C-7796-5F76-5F7BEEC5FE9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839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5" name="sketchy line">
            <a:extLst>
              <a:ext uri="{FF2B5EF4-FFF2-40B4-BE49-F238E27FC236}">
                <a16:creationId xmlns:a16="http://schemas.microsoft.com/office/drawing/2014/main" xmlns="" id="{21540236-BFD5-4A9D-8840-4703E7F7682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17A2232-739F-AF24-A8E3-9B570F0EF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200" b="0" i="0">
                <a:effectLst/>
                <a:highlight>
                  <a:srgbClr val="FFFFFF"/>
                </a:highlight>
              </a:rPr>
              <a:t>Given Word: "Music"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200" b="0" i="0">
                <a:effectLst/>
                <a:highlight>
                  <a:srgbClr val="FFFFFF"/>
                </a:highlight>
              </a:rPr>
              <a:t>Associations: concert, instruments, dance, rhythm, melody, performance, band, songwriting, lyrics, recording, etc.</a:t>
            </a:r>
          </a:p>
          <a:p>
            <a:endParaRPr lang="es-ES" sz="2200"/>
          </a:p>
        </p:txBody>
      </p:sp>
    </p:spTree>
    <p:extLst>
      <p:ext uri="{BB962C8B-B14F-4D97-AF65-F5344CB8AC3E}">
        <p14:creationId xmlns:p14="http://schemas.microsoft.com/office/powerpoint/2010/main" val="3025962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xmlns="" id="{45D37F4E-DDB4-456B-97E0-9937730A039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C9919AF4-CDDB-C9D9-31B8-A34ECFF79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 fontScale="90000"/>
          </a:bodyPr>
          <a:lstStyle/>
          <a:p>
            <a:r>
              <a:rPr lang="es-ES" sz="4200" dirty="0" err="1"/>
              <a:t>Vocabulary</a:t>
            </a:r>
            <a:r>
              <a:rPr lang="es-ES" sz="4200" dirty="0"/>
              <a:t> </a:t>
            </a:r>
            <a:r>
              <a:rPr lang="es-ES" sz="4200" dirty="0" err="1"/>
              <a:t>Building</a:t>
            </a:r>
            <a:r>
              <a:rPr lang="es-ES" sz="4200" dirty="0"/>
              <a:t/>
            </a:r>
            <a:br>
              <a:rPr lang="es-ES" sz="4200" dirty="0"/>
            </a:br>
            <a:r>
              <a:rPr lang="en-GB" sz="4200" dirty="0"/>
              <a:t>Introducing word formation: Suffixes</a:t>
            </a:r>
            <a:endParaRPr lang="es-ES" sz="4200" dirty="0"/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xmlns="" id="{B2DD41CD-8F47-4F56-AD12-4E2FF769698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xmlns="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81C289A-6C64-28A6-2167-5EF6A97A48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 lnSpcReduction="10000"/>
          </a:bodyPr>
          <a:lstStyle/>
          <a:p>
            <a:endParaRPr lang="en-GB" sz="2200"/>
          </a:p>
          <a:p>
            <a:pPr marL="0" indent="0">
              <a:buNone/>
            </a:pPr>
            <a:r>
              <a:rPr lang="en-GB" sz="2200"/>
              <a:t>Noun to adjective:</a:t>
            </a:r>
          </a:p>
          <a:p>
            <a:r>
              <a:rPr lang="en-GB" sz="2200"/>
              <a:t>Add "-able" to "comfort" to create "comfortable" </a:t>
            </a:r>
          </a:p>
          <a:p>
            <a:pPr marL="0" indent="0">
              <a:buNone/>
            </a:pPr>
            <a:endParaRPr lang="en-GB" sz="2200"/>
          </a:p>
          <a:p>
            <a:pPr marL="0" indent="0">
              <a:buNone/>
            </a:pPr>
            <a:r>
              <a:rPr lang="en-GB" sz="2200"/>
              <a:t>Verb to noun:</a:t>
            </a:r>
          </a:p>
          <a:p>
            <a:r>
              <a:rPr lang="en-GB" sz="2200"/>
              <a:t>Add "-ment" to "develop" to create "development“</a:t>
            </a:r>
          </a:p>
          <a:p>
            <a:endParaRPr lang="en-GB" sz="2200"/>
          </a:p>
          <a:p>
            <a:r>
              <a:rPr lang="en-GB" sz="2200"/>
              <a:t>Can you think of more word formations?</a:t>
            </a:r>
            <a:endParaRPr lang="es-ES" sz="2200"/>
          </a:p>
        </p:txBody>
      </p:sp>
      <p:pic>
        <p:nvPicPr>
          <p:cNvPr id="5" name="Picture 4" descr="The word brainstorming engraved in a metal">
            <a:extLst>
              <a:ext uri="{FF2B5EF4-FFF2-40B4-BE49-F238E27FC236}">
                <a16:creationId xmlns:a16="http://schemas.microsoft.com/office/drawing/2014/main" xmlns="" id="{AC96F6FC-8EE7-2EAF-0BEB-50BED32D3F2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77" r="8808" b="2"/>
          <a:stretch/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889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A8384FB5-9ADC-4DDC-881B-597D56F5B15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1199E1B1-A8C0-4FE8-A5A8-1CB41D69F85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84A8DE83-DE75-4B41-9DB4-A7EC0B0DEC0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A7009A0A-BEF5-4EAC-AF15-E4F9F002E2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928EF05F-497F-139C-6311-B9996024A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Suffixes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5B6F295C-5A0E-24AE-F5D2-02BE2C15EA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7810719"/>
              </p:ext>
            </p:extLst>
          </p:nvPr>
        </p:nvGraphicFramePr>
        <p:xfrm>
          <a:off x="1117271" y="1966293"/>
          <a:ext cx="9957459" cy="4717293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556556">
                  <a:extLst>
                    <a:ext uri="{9D8B030D-6E8A-4147-A177-3AD203B41FA5}">
                      <a16:colId xmlns:a16="http://schemas.microsoft.com/office/drawing/2014/main" xmlns="" val="3377043096"/>
                    </a:ext>
                  </a:extLst>
                </a:gridCol>
                <a:gridCol w="1904350">
                  <a:extLst>
                    <a:ext uri="{9D8B030D-6E8A-4147-A177-3AD203B41FA5}">
                      <a16:colId xmlns:a16="http://schemas.microsoft.com/office/drawing/2014/main" xmlns="" val="1803242115"/>
                    </a:ext>
                  </a:extLst>
                </a:gridCol>
                <a:gridCol w="1899572">
                  <a:extLst>
                    <a:ext uri="{9D8B030D-6E8A-4147-A177-3AD203B41FA5}">
                      <a16:colId xmlns:a16="http://schemas.microsoft.com/office/drawing/2014/main" xmlns="" val="2295484029"/>
                    </a:ext>
                  </a:extLst>
                </a:gridCol>
                <a:gridCol w="2212101">
                  <a:extLst>
                    <a:ext uri="{9D8B030D-6E8A-4147-A177-3AD203B41FA5}">
                      <a16:colId xmlns:a16="http://schemas.microsoft.com/office/drawing/2014/main" xmlns="" val="1610644957"/>
                    </a:ext>
                  </a:extLst>
                </a:gridCol>
                <a:gridCol w="2384880">
                  <a:extLst>
                    <a:ext uri="{9D8B030D-6E8A-4147-A177-3AD203B41FA5}">
                      <a16:colId xmlns:a16="http://schemas.microsoft.com/office/drawing/2014/main" xmlns="" val="2476790877"/>
                    </a:ext>
                  </a:extLst>
                </a:gridCol>
              </a:tblGrid>
              <a:tr h="702618">
                <a:tc>
                  <a:txBody>
                    <a:bodyPr/>
                    <a:lstStyle/>
                    <a:p>
                      <a:pPr fontAlgn="b"/>
                      <a:r>
                        <a:rPr lang="es-ES" b="1">
                          <a:effectLst/>
                        </a:rPr>
                        <a:t>Base Word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s-ES" b="1">
                          <a:effectLst/>
                        </a:rPr>
                        <a:t>Adjective Form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s-ES" b="1">
                          <a:effectLst/>
                        </a:rPr>
                        <a:t>Verb Form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s-ES" b="1">
                          <a:effectLst/>
                        </a:rPr>
                        <a:t>Adverb Form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s-ES" b="1">
                          <a:effectLst/>
                        </a:rPr>
                        <a:t>Base Word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16665365"/>
                  </a:ext>
                </a:extLst>
              </a:tr>
              <a:tr h="374955"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Comfort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Comfortable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Comfort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Comfortably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Comfort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880659400"/>
                  </a:ext>
                </a:extLst>
              </a:tr>
              <a:tr h="374955"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Develop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Developmental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Develop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Developmentally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Develop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293157393"/>
                  </a:ext>
                </a:extLst>
              </a:tr>
              <a:tr h="374955"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Ambition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Ambitious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Ambition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Ambitiously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Ambition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855159367"/>
                  </a:ext>
                </a:extLst>
              </a:tr>
              <a:tr h="374955"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Create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Creative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Create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Creatively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Create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747229394"/>
                  </a:ext>
                </a:extLst>
              </a:tr>
              <a:tr h="374955"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Perform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Performative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Perform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Performatively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Perform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055640567"/>
                  </a:ext>
                </a:extLst>
              </a:tr>
              <a:tr h="374955"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Nature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Natural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Nature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Naturally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Nature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603207855"/>
                  </a:ext>
                </a:extLst>
              </a:tr>
              <a:tr h="374955"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Limit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Limited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Limit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Limitedly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Limit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014732536"/>
                  </a:ext>
                </a:extLst>
              </a:tr>
              <a:tr h="374955"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Help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Helpful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Help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Helpfully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Help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8417679"/>
                  </a:ext>
                </a:extLst>
              </a:tr>
              <a:tr h="374955"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Nation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National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Nation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Nationally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Nation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66343774"/>
                  </a:ext>
                </a:extLst>
              </a:tr>
              <a:tr h="374955"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Decide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Decisive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Decide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>
                          <a:effectLst/>
                        </a:rPr>
                        <a:t>Decisively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 dirty="0">
                          <a:effectLst/>
                        </a:rPr>
                        <a:t>Decide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2268901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9870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xmlns="" id="{45D37F4E-DDB4-456B-97E0-9937730A039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C9919AF4-CDDB-C9D9-31B8-A34ECFF79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 fontScale="90000"/>
          </a:bodyPr>
          <a:lstStyle/>
          <a:p>
            <a:r>
              <a:rPr lang="es-ES" sz="4200" dirty="0" err="1"/>
              <a:t>Vocabulary</a:t>
            </a:r>
            <a:r>
              <a:rPr lang="es-ES" sz="4200" dirty="0"/>
              <a:t> </a:t>
            </a:r>
            <a:r>
              <a:rPr lang="es-ES" sz="4200" dirty="0" err="1"/>
              <a:t>Building</a:t>
            </a:r>
            <a:r>
              <a:rPr lang="es-ES" sz="4200" dirty="0"/>
              <a:t/>
            </a:r>
            <a:br>
              <a:rPr lang="es-ES" sz="4200" dirty="0"/>
            </a:br>
            <a:r>
              <a:rPr lang="en-GB" sz="4200" dirty="0"/>
              <a:t>Introducing word formation: Prefixes</a:t>
            </a:r>
            <a:endParaRPr lang="es-ES" sz="4200" dirty="0"/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xmlns="" id="{B2DD41CD-8F47-4F56-AD12-4E2FF769698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xmlns="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81C289A-6C64-28A6-2167-5EF6A97A48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 lnSpcReduction="10000"/>
          </a:bodyPr>
          <a:lstStyle/>
          <a:p>
            <a:endParaRPr lang="en-GB" sz="2200" dirty="0"/>
          </a:p>
          <a:p>
            <a:pPr marL="0" indent="0">
              <a:buNone/>
            </a:pPr>
            <a:r>
              <a:rPr lang="en-GB" sz="2200" dirty="0"/>
              <a:t>Noun to adjective:</a:t>
            </a:r>
          </a:p>
          <a:p>
            <a:r>
              <a:rPr lang="en-GB" sz="2200" dirty="0"/>
              <a:t>Add “mis" to “understand" to create “misunderstand” </a:t>
            </a:r>
          </a:p>
          <a:p>
            <a:pPr marL="0" indent="0">
              <a:buNone/>
            </a:pPr>
            <a:endParaRPr lang="en-GB" sz="2200" dirty="0"/>
          </a:p>
          <a:p>
            <a:pPr marL="0" indent="0">
              <a:buNone/>
            </a:pPr>
            <a:r>
              <a:rPr lang="en-GB" sz="2200" dirty="0"/>
              <a:t>Verb to noun:</a:t>
            </a:r>
          </a:p>
          <a:p>
            <a:r>
              <a:rPr lang="en-GB" sz="2200" dirty="0"/>
              <a:t>Add “dis" to “respect" to create "disrespect”</a:t>
            </a:r>
          </a:p>
          <a:p>
            <a:endParaRPr lang="en-GB" sz="2200" dirty="0"/>
          </a:p>
          <a:p>
            <a:r>
              <a:rPr lang="en-GB" sz="2200" dirty="0"/>
              <a:t>Can you think of more word formations?</a:t>
            </a:r>
            <a:endParaRPr lang="es-ES" sz="2200" dirty="0"/>
          </a:p>
        </p:txBody>
      </p:sp>
      <p:pic>
        <p:nvPicPr>
          <p:cNvPr id="5" name="Picture 4" descr="The word brainstorming engraved in a metal">
            <a:extLst>
              <a:ext uri="{FF2B5EF4-FFF2-40B4-BE49-F238E27FC236}">
                <a16:creationId xmlns:a16="http://schemas.microsoft.com/office/drawing/2014/main" xmlns="" id="{AC96F6FC-8EE7-2EAF-0BEB-50BED32D3F2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77" r="8808" b="2"/>
          <a:stretch/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887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A8384FB5-9ADC-4DDC-881B-597D56F5B15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1199E1B1-A8C0-4FE8-A5A8-1CB41D69F85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84A8DE83-DE75-4B41-9DB4-A7EC0B0DEC0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A7009A0A-BEF5-4EAC-AF15-E4F9F002E2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928EF05F-497F-139C-6311-B9996024A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Prefixes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5B6F295C-5A0E-24AE-F5D2-02BE2C15EA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2578058"/>
              </p:ext>
            </p:extLst>
          </p:nvPr>
        </p:nvGraphicFramePr>
        <p:xfrm>
          <a:off x="1117271" y="1966293"/>
          <a:ext cx="9957459" cy="4694117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556556">
                  <a:extLst>
                    <a:ext uri="{9D8B030D-6E8A-4147-A177-3AD203B41FA5}">
                      <a16:colId xmlns:a16="http://schemas.microsoft.com/office/drawing/2014/main" xmlns="" val="3377043096"/>
                    </a:ext>
                  </a:extLst>
                </a:gridCol>
                <a:gridCol w="1904350">
                  <a:extLst>
                    <a:ext uri="{9D8B030D-6E8A-4147-A177-3AD203B41FA5}">
                      <a16:colId xmlns:a16="http://schemas.microsoft.com/office/drawing/2014/main" xmlns="" val="1803242115"/>
                    </a:ext>
                  </a:extLst>
                </a:gridCol>
                <a:gridCol w="1899572">
                  <a:extLst>
                    <a:ext uri="{9D8B030D-6E8A-4147-A177-3AD203B41FA5}">
                      <a16:colId xmlns:a16="http://schemas.microsoft.com/office/drawing/2014/main" xmlns="" val="2295484029"/>
                    </a:ext>
                  </a:extLst>
                </a:gridCol>
                <a:gridCol w="2212101">
                  <a:extLst>
                    <a:ext uri="{9D8B030D-6E8A-4147-A177-3AD203B41FA5}">
                      <a16:colId xmlns:a16="http://schemas.microsoft.com/office/drawing/2014/main" xmlns="" val="1610644957"/>
                    </a:ext>
                  </a:extLst>
                </a:gridCol>
                <a:gridCol w="2384880">
                  <a:extLst>
                    <a:ext uri="{9D8B030D-6E8A-4147-A177-3AD203B41FA5}">
                      <a16:colId xmlns:a16="http://schemas.microsoft.com/office/drawing/2014/main" xmlns="" val="2476790877"/>
                    </a:ext>
                  </a:extLst>
                </a:gridCol>
              </a:tblGrid>
              <a:tr h="702618">
                <a:tc>
                  <a:txBody>
                    <a:bodyPr/>
                    <a:lstStyle/>
                    <a:p>
                      <a:pPr fontAlgn="b"/>
                      <a:r>
                        <a:rPr lang="es-ES" sz="1800" b="0" cap="none" spc="0">
                          <a:solidFill>
                            <a:schemeClr val="tx1"/>
                          </a:solidFill>
                          <a:effectLst/>
                        </a:rPr>
                        <a:t>Base Word</a:t>
                      </a:r>
                    </a:p>
                  </a:txBody>
                  <a:tcPr marL="0" marR="62629" marT="20268" marB="101339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s-ES" sz="1800" b="0" cap="none" spc="0" dirty="0" err="1">
                          <a:solidFill>
                            <a:schemeClr val="tx1"/>
                          </a:solidFill>
                          <a:effectLst/>
                        </a:rPr>
                        <a:t>Prefix</a:t>
                      </a:r>
                      <a:r>
                        <a:rPr lang="es-ES" sz="1800" b="0" cap="none" spc="0" dirty="0">
                          <a:solidFill>
                            <a:schemeClr val="tx1"/>
                          </a:solidFill>
                          <a:effectLst/>
                        </a:rPr>
                        <a:t> + </a:t>
                      </a:r>
                      <a:r>
                        <a:rPr lang="es-ES" sz="1800" b="0" cap="none" spc="0" dirty="0" err="1">
                          <a:solidFill>
                            <a:schemeClr val="tx1"/>
                          </a:solidFill>
                          <a:effectLst/>
                        </a:rPr>
                        <a:t>Adjective</a:t>
                      </a:r>
                      <a:r>
                        <a:rPr lang="es-ES" sz="1800" b="0" cap="none" spc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s-ES" sz="1800" b="0" cap="none" spc="0" dirty="0" err="1">
                          <a:solidFill>
                            <a:schemeClr val="tx1"/>
                          </a:solidFill>
                          <a:effectLst/>
                        </a:rPr>
                        <a:t>Form</a:t>
                      </a:r>
                      <a:endParaRPr lang="es-ES" sz="1800" b="0" cap="none" spc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62629" marT="20268" marB="101339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s-ES" sz="1800" b="0" cap="none" spc="0">
                          <a:solidFill>
                            <a:schemeClr val="tx1"/>
                          </a:solidFill>
                          <a:effectLst/>
                        </a:rPr>
                        <a:t>Prefix + Verb Form</a:t>
                      </a:r>
                    </a:p>
                  </a:txBody>
                  <a:tcPr marL="0" marR="62629" marT="20268" marB="101339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s-ES" sz="1800" b="0" cap="none" spc="0">
                          <a:solidFill>
                            <a:schemeClr val="tx1"/>
                          </a:solidFill>
                          <a:effectLst/>
                        </a:rPr>
                        <a:t>Prefix + Noun Form</a:t>
                      </a:r>
                    </a:p>
                  </a:txBody>
                  <a:tcPr marL="0" marR="62629" marT="20268" marB="101339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s-ES" sz="1800" b="0" cap="none" spc="0">
                          <a:solidFill>
                            <a:schemeClr val="tx1"/>
                          </a:solidFill>
                          <a:effectLst/>
                        </a:rPr>
                        <a:t>Prefix + Adverb Form</a:t>
                      </a:r>
                    </a:p>
                  </a:txBody>
                  <a:tcPr marL="0" marR="62629" marT="20268" marB="101339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16665365"/>
                  </a:ext>
                </a:extLst>
              </a:tr>
              <a:tr h="374955">
                <a:tc>
                  <a:txBody>
                    <a:bodyPr/>
                    <a:lstStyle/>
                    <a:p>
                      <a:pPr fontAlgn="base"/>
                      <a:r>
                        <a:rPr lang="es-ES" sz="1300" cap="none" spc="0">
                          <a:solidFill>
                            <a:schemeClr val="tx1"/>
                          </a:solidFill>
                          <a:effectLst/>
                        </a:rPr>
                        <a:t>Understand</a:t>
                      </a:r>
                    </a:p>
                  </a:txBody>
                  <a:tcPr marL="0" marR="62629" marT="30402" marB="1013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 sz="1300" cap="none" spc="0">
                          <a:solidFill>
                            <a:schemeClr val="tx1"/>
                          </a:solidFill>
                          <a:effectLst/>
                        </a:rPr>
                        <a:t>Misunderstood</a:t>
                      </a:r>
                    </a:p>
                  </a:txBody>
                  <a:tcPr marL="0" marR="62629" marT="30402" marB="1013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 sz="1300" cap="none" spc="0">
                          <a:solidFill>
                            <a:schemeClr val="tx1"/>
                          </a:solidFill>
                          <a:effectLst/>
                        </a:rPr>
                        <a:t>Misunderstand</a:t>
                      </a:r>
                    </a:p>
                  </a:txBody>
                  <a:tcPr marL="0" marR="62629" marT="30402" marB="1013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 sz="1300" cap="none" spc="0">
                          <a:solidFill>
                            <a:schemeClr val="tx1"/>
                          </a:solidFill>
                          <a:effectLst/>
                        </a:rPr>
                        <a:t>Misunderstanding</a:t>
                      </a:r>
                    </a:p>
                  </a:txBody>
                  <a:tcPr marL="0" marR="62629" marT="30402" marB="1013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 sz="1300" cap="none" spc="0">
                          <a:solidFill>
                            <a:schemeClr val="tx1"/>
                          </a:solidFill>
                          <a:effectLst/>
                        </a:rPr>
                        <a:t>Misunderstandingly</a:t>
                      </a:r>
                    </a:p>
                  </a:txBody>
                  <a:tcPr marL="0" marR="62629" marT="30402" marB="1013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880659400"/>
                  </a:ext>
                </a:extLst>
              </a:tr>
              <a:tr h="374955">
                <a:tc>
                  <a:txBody>
                    <a:bodyPr/>
                    <a:lstStyle/>
                    <a:p>
                      <a:pPr fontAlgn="base"/>
                      <a:r>
                        <a:rPr lang="es-ES" sz="1300" cap="none" spc="0">
                          <a:solidFill>
                            <a:schemeClr val="tx1"/>
                          </a:solidFill>
                          <a:effectLst/>
                        </a:rPr>
                        <a:t>Direct</a:t>
                      </a:r>
                    </a:p>
                  </a:txBody>
                  <a:tcPr marL="0" marR="62629" marT="30402" marB="1013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 sz="1300" cap="none" spc="0">
                          <a:solidFill>
                            <a:schemeClr val="tx1"/>
                          </a:solidFill>
                          <a:effectLst/>
                        </a:rPr>
                        <a:t>Indirect</a:t>
                      </a:r>
                    </a:p>
                  </a:txBody>
                  <a:tcPr marL="0" marR="62629" marT="30402" marB="1013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 sz="1300" cap="none" spc="0">
                          <a:solidFill>
                            <a:schemeClr val="tx1"/>
                          </a:solidFill>
                          <a:effectLst/>
                        </a:rPr>
                        <a:t>Redirect</a:t>
                      </a:r>
                    </a:p>
                  </a:txBody>
                  <a:tcPr marL="0" marR="62629" marT="30402" marB="1013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 sz="1300" cap="none" spc="0">
                          <a:solidFill>
                            <a:schemeClr val="tx1"/>
                          </a:solidFill>
                          <a:effectLst/>
                        </a:rPr>
                        <a:t>Indirection</a:t>
                      </a:r>
                    </a:p>
                  </a:txBody>
                  <a:tcPr marL="0" marR="62629" marT="30402" marB="1013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 sz="1300" cap="none" spc="0">
                          <a:solidFill>
                            <a:schemeClr val="tx1"/>
                          </a:solidFill>
                          <a:effectLst/>
                        </a:rPr>
                        <a:t>Indirectly</a:t>
                      </a:r>
                    </a:p>
                  </a:txBody>
                  <a:tcPr marL="0" marR="62629" marT="30402" marB="1013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293157393"/>
                  </a:ext>
                </a:extLst>
              </a:tr>
              <a:tr h="374955">
                <a:tc>
                  <a:txBody>
                    <a:bodyPr/>
                    <a:lstStyle/>
                    <a:p>
                      <a:pPr fontAlgn="base"/>
                      <a:r>
                        <a:rPr lang="es-ES" sz="1300" cap="none" spc="0">
                          <a:solidFill>
                            <a:schemeClr val="tx1"/>
                          </a:solidFill>
                          <a:effectLst/>
                        </a:rPr>
                        <a:t>Respect</a:t>
                      </a:r>
                    </a:p>
                  </a:txBody>
                  <a:tcPr marL="0" marR="62629" marT="30402" marB="1013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 sz="1300" cap="none" spc="0">
                          <a:solidFill>
                            <a:schemeClr val="tx1"/>
                          </a:solidFill>
                          <a:effectLst/>
                        </a:rPr>
                        <a:t>Disrespectful</a:t>
                      </a:r>
                    </a:p>
                  </a:txBody>
                  <a:tcPr marL="0" marR="62629" marT="30402" marB="1013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 sz="1300" cap="none" spc="0">
                          <a:solidFill>
                            <a:schemeClr val="tx1"/>
                          </a:solidFill>
                          <a:effectLst/>
                        </a:rPr>
                        <a:t>Disrespect</a:t>
                      </a:r>
                    </a:p>
                  </a:txBody>
                  <a:tcPr marL="0" marR="62629" marT="30402" marB="1013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 sz="1300" cap="none" spc="0">
                          <a:solidFill>
                            <a:schemeClr val="tx1"/>
                          </a:solidFill>
                          <a:effectLst/>
                        </a:rPr>
                        <a:t>Disrespect</a:t>
                      </a:r>
                    </a:p>
                  </a:txBody>
                  <a:tcPr marL="0" marR="62629" marT="30402" marB="1013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 sz="1300" cap="none" spc="0">
                          <a:solidFill>
                            <a:schemeClr val="tx1"/>
                          </a:solidFill>
                          <a:effectLst/>
                        </a:rPr>
                        <a:t>Disrespectfully</a:t>
                      </a:r>
                    </a:p>
                  </a:txBody>
                  <a:tcPr marL="0" marR="62629" marT="30402" marB="1013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855159367"/>
                  </a:ext>
                </a:extLst>
              </a:tr>
              <a:tr h="374955">
                <a:tc>
                  <a:txBody>
                    <a:bodyPr/>
                    <a:lstStyle/>
                    <a:p>
                      <a:pPr fontAlgn="base"/>
                      <a:r>
                        <a:rPr lang="es-ES" sz="1300" cap="none" spc="0">
                          <a:solidFill>
                            <a:schemeClr val="tx1"/>
                          </a:solidFill>
                          <a:effectLst/>
                        </a:rPr>
                        <a:t>Connect</a:t>
                      </a:r>
                    </a:p>
                  </a:txBody>
                  <a:tcPr marL="0" marR="62629" marT="30402" marB="1013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 sz="1300" cap="none" spc="0">
                          <a:solidFill>
                            <a:schemeClr val="tx1"/>
                          </a:solidFill>
                          <a:effectLst/>
                        </a:rPr>
                        <a:t>Disconnect</a:t>
                      </a:r>
                    </a:p>
                  </a:txBody>
                  <a:tcPr marL="0" marR="62629" marT="30402" marB="1013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 sz="1300" cap="none" spc="0">
                          <a:solidFill>
                            <a:schemeClr val="tx1"/>
                          </a:solidFill>
                          <a:effectLst/>
                        </a:rPr>
                        <a:t>Disconnect</a:t>
                      </a:r>
                    </a:p>
                  </a:txBody>
                  <a:tcPr marL="0" marR="62629" marT="30402" marB="1013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 sz="1300" cap="none" spc="0">
                          <a:solidFill>
                            <a:schemeClr val="tx1"/>
                          </a:solidFill>
                          <a:effectLst/>
                        </a:rPr>
                        <a:t>Disconnection</a:t>
                      </a:r>
                    </a:p>
                  </a:txBody>
                  <a:tcPr marL="0" marR="62629" marT="30402" marB="1013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 sz="1300" cap="none" spc="0">
                          <a:solidFill>
                            <a:schemeClr val="tx1"/>
                          </a:solidFill>
                          <a:effectLst/>
                        </a:rPr>
                        <a:t>Disconnectedly</a:t>
                      </a:r>
                    </a:p>
                  </a:txBody>
                  <a:tcPr marL="0" marR="62629" marT="30402" marB="1013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747229394"/>
                  </a:ext>
                </a:extLst>
              </a:tr>
              <a:tr h="374955">
                <a:tc>
                  <a:txBody>
                    <a:bodyPr/>
                    <a:lstStyle/>
                    <a:p>
                      <a:pPr fontAlgn="base"/>
                      <a:r>
                        <a:rPr lang="es-ES" sz="1300" cap="none" spc="0">
                          <a:solidFill>
                            <a:schemeClr val="tx1"/>
                          </a:solidFill>
                          <a:effectLst/>
                        </a:rPr>
                        <a:t>Achieve</a:t>
                      </a:r>
                    </a:p>
                  </a:txBody>
                  <a:tcPr marL="0" marR="62629" marT="30402" marB="1013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 sz="1300" cap="none" spc="0">
                          <a:solidFill>
                            <a:schemeClr val="tx1"/>
                          </a:solidFill>
                          <a:effectLst/>
                        </a:rPr>
                        <a:t>Overachieving</a:t>
                      </a:r>
                    </a:p>
                  </a:txBody>
                  <a:tcPr marL="0" marR="62629" marT="30402" marB="1013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 sz="1300" cap="none" spc="0">
                          <a:solidFill>
                            <a:schemeClr val="tx1"/>
                          </a:solidFill>
                          <a:effectLst/>
                        </a:rPr>
                        <a:t>Overachieve</a:t>
                      </a:r>
                    </a:p>
                  </a:txBody>
                  <a:tcPr marL="0" marR="62629" marT="30402" marB="1013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 sz="1300" cap="none" spc="0">
                          <a:solidFill>
                            <a:schemeClr val="tx1"/>
                          </a:solidFill>
                          <a:effectLst/>
                        </a:rPr>
                        <a:t>Overachievement</a:t>
                      </a:r>
                    </a:p>
                  </a:txBody>
                  <a:tcPr marL="0" marR="62629" marT="30402" marB="1013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 sz="1300" cap="none" spc="0">
                          <a:solidFill>
                            <a:schemeClr val="tx1"/>
                          </a:solidFill>
                          <a:effectLst/>
                        </a:rPr>
                        <a:t>Overachievably</a:t>
                      </a:r>
                    </a:p>
                  </a:txBody>
                  <a:tcPr marL="0" marR="62629" marT="30402" marB="1013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055640567"/>
                  </a:ext>
                </a:extLst>
              </a:tr>
              <a:tr h="374955">
                <a:tc>
                  <a:txBody>
                    <a:bodyPr/>
                    <a:lstStyle/>
                    <a:p>
                      <a:pPr fontAlgn="base"/>
                      <a:r>
                        <a:rPr lang="es-ES" sz="1300" cap="none" spc="0">
                          <a:solidFill>
                            <a:schemeClr val="tx1"/>
                          </a:solidFill>
                          <a:effectLst/>
                        </a:rPr>
                        <a:t>Lead</a:t>
                      </a:r>
                    </a:p>
                  </a:txBody>
                  <a:tcPr marL="0" marR="62629" marT="30402" marB="1013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 sz="1300" cap="none" spc="0">
                          <a:solidFill>
                            <a:schemeClr val="tx1"/>
                          </a:solidFill>
                          <a:effectLst/>
                        </a:rPr>
                        <a:t>Mislead</a:t>
                      </a:r>
                    </a:p>
                  </a:txBody>
                  <a:tcPr marL="0" marR="62629" marT="30402" marB="1013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 sz="1300" cap="none" spc="0">
                          <a:solidFill>
                            <a:schemeClr val="tx1"/>
                          </a:solidFill>
                          <a:effectLst/>
                        </a:rPr>
                        <a:t>Mislead</a:t>
                      </a:r>
                    </a:p>
                  </a:txBody>
                  <a:tcPr marL="0" marR="62629" marT="30402" marB="1013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 sz="1300" cap="none" spc="0">
                          <a:solidFill>
                            <a:schemeClr val="tx1"/>
                          </a:solidFill>
                          <a:effectLst/>
                        </a:rPr>
                        <a:t>Misleading</a:t>
                      </a:r>
                    </a:p>
                  </a:txBody>
                  <a:tcPr marL="0" marR="62629" marT="30402" marB="1013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 sz="1300" cap="none" spc="0">
                          <a:solidFill>
                            <a:schemeClr val="tx1"/>
                          </a:solidFill>
                          <a:effectLst/>
                        </a:rPr>
                        <a:t>Misleadingly</a:t>
                      </a:r>
                    </a:p>
                  </a:txBody>
                  <a:tcPr marL="0" marR="62629" marT="30402" marB="1013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603207855"/>
                  </a:ext>
                </a:extLst>
              </a:tr>
              <a:tr h="374955">
                <a:tc>
                  <a:txBody>
                    <a:bodyPr/>
                    <a:lstStyle/>
                    <a:p>
                      <a:pPr fontAlgn="base"/>
                      <a:r>
                        <a:rPr lang="es-ES" sz="1300" cap="none" spc="0">
                          <a:solidFill>
                            <a:schemeClr val="tx1"/>
                          </a:solidFill>
                          <a:effectLst/>
                        </a:rPr>
                        <a:t>Guide</a:t>
                      </a:r>
                    </a:p>
                  </a:txBody>
                  <a:tcPr marL="0" marR="62629" marT="30402" marB="1013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 sz="1300" cap="none" spc="0">
                          <a:solidFill>
                            <a:schemeClr val="tx1"/>
                          </a:solidFill>
                          <a:effectLst/>
                        </a:rPr>
                        <a:t>Unguided</a:t>
                      </a:r>
                    </a:p>
                  </a:txBody>
                  <a:tcPr marL="0" marR="62629" marT="30402" marB="1013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 sz="1300" cap="none" spc="0">
                          <a:solidFill>
                            <a:schemeClr val="tx1"/>
                          </a:solidFill>
                          <a:effectLst/>
                        </a:rPr>
                        <a:t>Misguide</a:t>
                      </a:r>
                    </a:p>
                  </a:txBody>
                  <a:tcPr marL="0" marR="62629" marT="30402" marB="1013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 sz="1300" cap="none" spc="0">
                          <a:solidFill>
                            <a:schemeClr val="tx1"/>
                          </a:solidFill>
                          <a:effectLst/>
                        </a:rPr>
                        <a:t>Misguidance</a:t>
                      </a:r>
                    </a:p>
                  </a:txBody>
                  <a:tcPr marL="0" marR="62629" marT="30402" marB="1013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 sz="1300" cap="none" spc="0">
                          <a:solidFill>
                            <a:schemeClr val="tx1"/>
                          </a:solidFill>
                          <a:effectLst/>
                        </a:rPr>
                        <a:t>Misguidedly</a:t>
                      </a:r>
                    </a:p>
                  </a:txBody>
                  <a:tcPr marL="0" marR="62629" marT="30402" marB="1013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014732536"/>
                  </a:ext>
                </a:extLst>
              </a:tr>
              <a:tr h="374955">
                <a:tc>
                  <a:txBody>
                    <a:bodyPr/>
                    <a:lstStyle/>
                    <a:p>
                      <a:pPr fontAlgn="base"/>
                      <a:r>
                        <a:rPr lang="es-ES" sz="1300" cap="none" spc="0">
                          <a:solidFill>
                            <a:schemeClr val="tx1"/>
                          </a:solidFill>
                          <a:effectLst/>
                        </a:rPr>
                        <a:t>Believe</a:t>
                      </a:r>
                    </a:p>
                  </a:txBody>
                  <a:tcPr marL="0" marR="62629" marT="30402" marB="1013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 sz="1300" cap="none" spc="0">
                          <a:solidFill>
                            <a:schemeClr val="tx1"/>
                          </a:solidFill>
                          <a:effectLst/>
                        </a:rPr>
                        <a:t>Disbelieve</a:t>
                      </a:r>
                    </a:p>
                  </a:txBody>
                  <a:tcPr marL="0" marR="62629" marT="30402" marB="1013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 sz="1300" cap="none" spc="0">
                          <a:solidFill>
                            <a:schemeClr val="tx1"/>
                          </a:solidFill>
                          <a:effectLst/>
                        </a:rPr>
                        <a:t>Disbelieve</a:t>
                      </a:r>
                    </a:p>
                  </a:txBody>
                  <a:tcPr marL="0" marR="62629" marT="30402" marB="1013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 sz="1300" cap="none" spc="0">
                          <a:solidFill>
                            <a:schemeClr val="tx1"/>
                          </a:solidFill>
                          <a:effectLst/>
                        </a:rPr>
                        <a:t>Disbelief</a:t>
                      </a:r>
                    </a:p>
                  </a:txBody>
                  <a:tcPr marL="0" marR="62629" marT="30402" marB="1013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 sz="1300" cap="none" spc="0">
                          <a:solidFill>
                            <a:schemeClr val="tx1"/>
                          </a:solidFill>
                          <a:effectLst/>
                        </a:rPr>
                        <a:t>Disbelievingly</a:t>
                      </a:r>
                    </a:p>
                  </a:txBody>
                  <a:tcPr marL="0" marR="62629" marT="30402" marB="1013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8417679"/>
                  </a:ext>
                </a:extLst>
              </a:tr>
              <a:tr h="374955">
                <a:tc>
                  <a:txBody>
                    <a:bodyPr/>
                    <a:lstStyle/>
                    <a:p>
                      <a:pPr fontAlgn="base"/>
                      <a:r>
                        <a:rPr lang="es-ES" sz="1300" cap="none" spc="0">
                          <a:solidFill>
                            <a:schemeClr val="tx1"/>
                          </a:solidFill>
                          <a:effectLst/>
                        </a:rPr>
                        <a:t>Respect</a:t>
                      </a:r>
                    </a:p>
                  </a:txBody>
                  <a:tcPr marL="0" marR="62629" marT="30402" marB="1013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 sz="1300" cap="none" spc="0">
                          <a:solidFill>
                            <a:schemeClr val="tx1"/>
                          </a:solidFill>
                          <a:effectLst/>
                        </a:rPr>
                        <a:t>Irresponsible</a:t>
                      </a:r>
                    </a:p>
                  </a:txBody>
                  <a:tcPr marL="0" marR="62629" marT="30402" marB="1013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 sz="1300" cap="none" spc="0">
                          <a:solidFill>
                            <a:schemeClr val="tx1"/>
                          </a:solidFill>
                          <a:effectLst/>
                        </a:rPr>
                        <a:t>Disrespect</a:t>
                      </a:r>
                    </a:p>
                  </a:txBody>
                  <a:tcPr marL="0" marR="62629" marT="30402" marB="1013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 sz="1300" cap="none" spc="0">
                          <a:solidFill>
                            <a:schemeClr val="tx1"/>
                          </a:solidFill>
                          <a:effectLst/>
                        </a:rPr>
                        <a:t>Irresponsibility</a:t>
                      </a:r>
                    </a:p>
                  </a:txBody>
                  <a:tcPr marL="0" marR="62629" marT="30402" marB="1013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 sz="1300" cap="none" spc="0">
                          <a:solidFill>
                            <a:schemeClr val="tx1"/>
                          </a:solidFill>
                          <a:effectLst/>
                        </a:rPr>
                        <a:t>Irresponsibly</a:t>
                      </a:r>
                    </a:p>
                  </a:txBody>
                  <a:tcPr marL="0" marR="62629" marT="30402" marB="1013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66343774"/>
                  </a:ext>
                </a:extLst>
              </a:tr>
              <a:tr h="374955">
                <a:tc>
                  <a:txBody>
                    <a:bodyPr/>
                    <a:lstStyle/>
                    <a:p>
                      <a:pPr fontAlgn="base"/>
                      <a:r>
                        <a:rPr lang="es-ES" sz="1300" cap="none" spc="0">
                          <a:solidFill>
                            <a:schemeClr val="tx1"/>
                          </a:solidFill>
                          <a:effectLst/>
                        </a:rPr>
                        <a:t>Depend</a:t>
                      </a:r>
                    </a:p>
                  </a:txBody>
                  <a:tcPr marL="0" marR="62629" marT="30402" marB="1013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 sz="1300" cap="none" spc="0">
                          <a:solidFill>
                            <a:schemeClr val="tx1"/>
                          </a:solidFill>
                          <a:effectLst/>
                        </a:rPr>
                        <a:t>Independent</a:t>
                      </a:r>
                    </a:p>
                  </a:txBody>
                  <a:tcPr marL="0" marR="62629" marT="30402" marB="1013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 sz="1300" cap="none" spc="0">
                          <a:solidFill>
                            <a:schemeClr val="tx1"/>
                          </a:solidFill>
                          <a:effectLst/>
                        </a:rPr>
                        <a:t>Depend</a:t>
                      </a:r>
                    </a:p>
                  </a:txBody>
                  <a:tcPr marL="0" marR="62629" marT="30402" marB="1013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 sz="1300" cap="none" spc="0">
                          <a:solidFill>
                            <a:schemeClr val="tx1"/>
                          </a:solidFill>
                          <a:effectLst/>
                        </a:rPr>
                        <a:t>Independence</a:t>
                      </a:r>
                    </a:p>
                  </a:txBody>
                  <a:tcPr marL="0" marR="62629" marT="30402" marB="1013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s-ES" sz="1300" cap="none" spc="0" dirty="0" err="1">
                          <a:solidFill>
                            <a:schemeClr val="tx1"/>
                          </a:solidFill>
                          <a:effectLst/>
                        </a:rPr>
                        <a:t>Independently</a:t>
                      </a:r>
                      <a:endParaRPr lang="es-ES" sz="1300" cap="none" spc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62629" marT="30402" marB="1013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2268901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0603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an walking on a trek">
            <a:extLst>
              <a:ext uri="{FF2B5EF4-FFF2-40B4-BE49-F238E27FC236}">
                <a16:creationId xmlns:a16="http://schemas.microsoft.com/office/drawing/2014/main" xmlns="" id="{92B74265-3D41-85FA-FFB5-C16619B5F8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D1B8BA-C6E4-A5EF-1CE8-78BE3B182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Grammar – Collocations	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D6F9076-3088-2F31-C3EB-87DD546F8E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701" y="1580527"/>
            <a:ext cx="10515600" cy="4556321"/>
          </a:xfrm>
        </p:spPr>
        <p:txBody>
          <a:bodyPr numCol="2">
            <a:normAutofit fontScale="85000" lnSpcReduction="20000"/>
          </a:bodyPr>
          <a:lstStyle/>
          <a:p>
            <a:r>
              <a:rPr lang="en-GB" sz="3500" b="0" i="0" dirty="0">
                <a:solidFill>
                  <a:srgbClr val="0D0D0D"/>
                </a:solidFill>
                <a:effectLst/>
              </a:rPr>
              <a:t>Collocations are combinations of words that frequently appear together and have become natural pairings in a language.</a:t>
            </a:r>
            <a:endParaRPr lang="en-GB" sz="5200" b="1" dirty="0">
              <a:solidFill>
                <a:srgbClr val="0D0D0D"/>
              </a:solidFill>
            </a:endParaRPr>
          </a:p>
          <a:p>
            <a:endParaRPr lang="en-GB" sz="1600" b="1" i="0" dirty="0">
              <a:solidFill>
                <a:srgbClr val="0D0D0D"/>
              </a:solidFill>
              <a:effectLst/>
            </a:endParaRPr>
          </a:p>
          <a:p>
            <a:r>
              <a:rPr lang="en-GB" sz="2000" b="1" i="0" dirty="0">
                <a:solidFill>
                  <a:srgbClr val="0D0D0D"/>
                </a:solidFill>
                <a:effectLst/>
              </a:rPr>
              <a:t>Go for:</a:t>
            </a:r>
            <a:r>
              <a:rPr lang="en-GB" sz="2000" b="0" i="0" dirty="0">
                <a:solidFill>
                  <a:srgbClr val="0D0D0D"/>
                </a:solidFill>
                <a:effectLst/>
              </a:rPr>
              <a:t> This collocation is often used with various leisure activities, indicating participation or engagement. For example:</a:t>
            </a:r>
          </a:p>
          <a:p>
            <a:pPr lvl="1"/>
            <a:r>
              <a:rPr lang="en-GB" sz="1800" b="0" i="0" dirty="0">
                <a:solidFill>
                  <a:srgbClr val="0D0D0D"/>
                </a:solidFill>
                <a:effectLst/>
              </a:rPr>
              <a:t>"Go for a walk"</a:t>
            </a:r>
          </a:p>
          <a:p>
            <a:pPr lvl="1"/>
            <a:r>
              <a:rPr lang="en-GB" sz="1800" b="0" i="0" dirty="0">
                <a:solidFill>
                  <a:srgbClr val="0D0D0D"/>
                </a:solidFill>
                <a:effectLst/>
              </a:rPr>
              <a:t>"Go for a swim"</a:t>
            </a:r>
          </a:p>
          <a:p>
            <a:pPr lvl="1"/>
            <a:r>
              <a:rPr lang="en-GB" sz="1800" b="0" i="0" dirty="0">
                <a:solidFill>
                  <a:srgbClr val="0D0D0D"/>
                </a:solidFill>
                <a:effectLst/>
              </a:rPr>
              <a:t>"Go for a run"</a:t>
            </a:r>
          </a:p>
          <a:p>
            <a:pPr lvl="1"/>
            <a:r>
              <a:rPr lang="en-GB" sz="1800" b="0" i="0" dirty="0">
                <a:solidFill>
                  <a:srgbClr val="0D0D0D"/>
                </a:solidFill>
                <a:effectLst/>
              </a:rPr>
              <a:t>"Go for a hike"</a:t>
            </a:r>
          </a:p>
          <a:p>
            <a:r>
              <a:rPr lang="en-GB" sz="2000" b="1" i="0" dirty="0">
                <a:solidFill>
                  <a:srgbClr val="0D0D0D"/>
                </a:solidFill>
                <a:effectLst/>
              </a:rPr>
              <a:t>Play:</a:t>
            </a:r>
            <a:r>
              <a:rPr lang="en-GB" sz="2000" b="0" i="0" dirty="0">
                <a:solidFill>
                  <a:srgbClr val="0D0D0D"/>
                </a:solidFill>
                <a:effectLst/>
              </a:rPr>
              <a:t> This verb is commonly used with sports, games, and musical instruments. For example:</a:t>
            </a:r>
          </a:p>
          <a:p>
            <a:pPr lvl="1"/>
            <a:r>
              <a:rPr lang="en-GB" sz="1800" b="0" i="0" dirty="0">
                <a:solidFill>
                  <a:srgbClr val="0D0D0D"/>
                </a:solidFill>
                <a:effectLst/>
              </a:rPr>
              <a:t>"Play soccer/football/basketball/tennis"</a:t>
            </a:r>
          </a:p>
          <a:p>
            <a:pPr lvl="1"/>
            <a:r>
              <a:rPr lang="en-GB" sz="1800" b="0" i="0" dirty="0">
                <a:solidFill>
                  <a:srgbClr val="0D0D0D"/>
                </a:solidFill>
                <a:effectLst/>
              </a:rPr>
              <a:t>"Play chess/cards/video games"</a:t>
            </a:r>
          </a:p>
          <a:p>
            <a:pPr lvl="1"/>
            <a:r>
              <a:rPr lang="en-GB" sz="1800" b="0" i="0" dirty="0">
                <a:solidFill>
                  <a:srgbClr val="0D0D0D"/>
                </a:solidFill>
                <a:effectLst/>
              </a:rPr>
              <a:t>"Play the guitar/piano/violin"</a:t>
            </a:r>
          </a:p>
          <a:p>
            <a:r>
              <a:rPr lang="en-GB" sz="2000" b="1" i="0" dirty="0">
                <a:solidFill>
                  <a:srgbClr val="0D0D0D"/>
                </a:solidFill>
                <a:effectLst/>
              </a:rPr>
              <a:t>Attend:</a:t>
            </a:r>
            <a:r>
              <a:rPr lang="en-GB" sz="2000" b="0" i="0" dirty="0">
                <a:solidFill>
                  <a:srgbClr val="0D0D0D"/>
                </a:solidFill>
                <a:effectLst/>
              </a:rPr>
              <a:t> This verb is used with events, classes, or gatherings. For example:</a:t>
            </a:r>
          </a:p>
          <a:p>
            <a:pPr lvl="1"/>
            <a:r>
              <a:rPr lang="en-GB" sz="1800" b="0" i="0" dirty="0">
                <a:solidFill>
                  <a:srgbClr val="0D0D0D"/>
                </a:solidFill>
                <a:effectLst/>
              </a:rPr>
              <a:t>"Attend a concert/festival/party"</a:t>
            </a:r>
          </a:p>
          <a:p>
            <a:pPr lvl="1"/>
            <a:r>
              <a:rPr lang="en-GB" sz="1800" b="0" i="0" dirty="0">
                <a:solidFill>
                  <a:srgbClr val="0D0D0D"/>
                </a:solidFill>
                <a:effectLst/>
              </a:rPr>
              <a:t>"Attend a lecture/seminar/workshop"</a:t>
            </a:r>
          </a:p>
          <a:p>
            <a:pPr lvl="1"/>
            <a:r>
              <a:rPr lang="en-GB" sz="1800" b="0" i="0" dirty="0">
                <a:solidFill>
                  <a:srgbClr val="0D0D0D"/>
                </a:solidFill>
                <a:effectLst/>
              </a:rPr>
              <a:t>"Attend a dance class/yoga session"</a:t>
            </a:r>
          </a:p>
          <a:p>
            <a:r>
              <a:rPr lang="en-GB" sz="2000" b="1" i="0" dirty="0">
                <a:solidFill>
                  <a:srgbClr val="0D0D0D"/>
                </a:solidFill>
                <a:effectLst/>
              </a:rPr>
              <a:t>Take up:</a:t>
            </a:r>
            <a:r>
              <a:rPr lang="en-GB" sz="2000" b="0" i="0" dirty="0">
                <a:solidFill>
                  <a:srgbClr val="0D0D0D"/>
                </a:solidFill>
                <a:effectLst/>
              </a:rPr>
              <a:t> This collocation indicates starting a new activity or hobby. For example:</a:t>
            </a:r>
          </a:p>
          <a:p>
            <a:pPr lvl="1"/>
            <a:r>
              <a:rPr lang="en-GB" sz="1800" b="0" i="0" dirty="0">
                <a:solidFill>
                  <a:srgbClr val="0D0D0D"/>
                </a:solidFill>
                <a:effectLst/>
              </a:rPr>
              <a:t>"Take up painting/drawing/photography"</a:t>
            </a:r>
          </a:p>
          <a:p>
            <a:pPr lvl="1"/>
            <a:r>
              <a:rPr lang="en-GB" sz="1800" b="0" i="0" dirty="0">
                <a:solidFill>
                  <a:srgbClr val="0D0D0D"/>
                </a:solidFill>
                <a:effectLst/>
              </a:rPr>
              <a:t>"Take up knitting/crocheting/sewing"</a:t>
            </a:r>
          </a:p>
          <a:p>
            <a:pPr lvl="1"/>
            <a:r>
              <a:rPr lang="en-GB" sz="1800" b="0" i="0" dirty="0">
                <a:solidFill>
                  <a:srgbClr val="0D0D0D"/>
                </a:solidFill>
                <a:effectLst/>
              </a:rPr>
              <a:t>"Take up gardening/cooking/baking"</a:t>
            </a:r>
          </a:p>
          <a:p>
            <a:endParaRPr lang="es-ES" sz="800" dirty="0"/>
          </a:p>
        </p:txBody>
      </p:sp>
    </p:spTree>
    <p:extLst>
      <p:ext uri="{BB962C8B-B14F-4D97-AF65-F5344CB8AC3E}">
        <p14:creationId xmlns:p14="http://schemas.microsoft.com/office/powerpoint/2010/main" val="3512347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37413C-5E68-52AE-D54E-2433D85A7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Collocations continued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21663EF-E407-EB1D-BE54-8B42493A5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228600" indent="-228600" algn="l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ts val="1500"/>
              <a:buFont typeface="Arial" panose="020B0604020202020204" pitchFamily="34" charset="0"/>
              <a:buChar char="•"/>
            </a:pPr>
            <a:r>
              <a:rPr lang="en-GB" sz="1800" b="1" i="0" kern="120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ea typeface="+mn-ea"/>
                <a:cs typeface="+mn-cs"/>
              </a:rPr>
              <a:t>Enjoy:</a:t>
            </a:r>
            <a:r>
              <a:rPr lang="en-GB" sz="1800" b="0" i="0" kern="120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ea typeface="+mn-ea"/>
                <a:cs typeface="+mn-cs"/>
              </a:rPr>
              <a:t> This verb is used to express pleasure or satisfaction from an activity or hobby. For example:</a:t>
            </a:r>
            <a:endParaRPr lang="es-ES" sz="1800" dirty="0">
              <a:effectLst/>
            </a:endParaRPr>
          </a:p>
          <a:p>
            <a:pPr marL="685800" indent="-228600" algn="l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</a:pPr>
            <a:r>
              <a:rPr lang="en-GB" sz="1800" b="0" i="0" kern="120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ea typeface="+mn-ea"/>
                <a:cs typeface="+mn-cs"/>
              </a:rPr>
              <a:t>"Enjoy a good book/movie"</a:t>
            </a:r>
            <a:endParaRPr lang="es-ES" dirty="0">
              <a:effectLst/>
            </a:endParaRPr>
          </a:p>
          <a:p>
            <a:pPr marL="685800" indent="-228600" algn="l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</a:pPr>
            <a:r>
              <a:rPr lang="en-GB" sz="1800" b="0" i="0" kern="120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ea typeface="+mn-ea"/>
                <a:cs typeface="+mn-cs"/>
              </a:rPr>
              <a:t>"Enjoy gardening/cooking/baking"</a:t>
            </a:r>
            <a:endParaRPr lang="es-ES" dirty="0">
              <a:effectLst/>
            </a:endParaRPr>
          </a:p>
          <a:p>
            <a:pPr marL="685800" indent="-228600" algn="l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</a:pPr>
            <a:r>
              <a:rPr lang="en-GB" sz="1800" b="0" i="0" kern="120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ea typeface="+mn-ea"/>
                <a:cs typeface="+mn-cs"/>
              </a:rPr>
              <a:t>"Enjoy outdoor activities/adventures"</a:t>
            </a:r>
            <a:endParaRPr lang="es-ES" dirty="0">
              <a:effectLst/>
            </a:endParaRPr>
          </a:p>
          <a:p>
            <a:pPr marL="228600" indent="-228600" algn="l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GB" sz="1800" b="1" i="0" kern="120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ea typeface="+mn-ea"/>
                <a:cs typeface="+mn-cs"/>
              </a:rPr>
              <a:t>Practice:</a:t>
            </a:r>
            <a:r>
              <a:rPr lang="en-GB" sz="1800" b="0" i="0" kern="120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ea typeface="+mn-ea"/>
                <a:cs typeface="+mn-cs"/>
              </a:rPr>
              <a:t> This verb is used with skills or hobbies that require regular repetition and improvement. For example:</a:t>
            </a:r>
            <a:endParaRPr lang="es-ES" dirty="0">
              <a:effectLst/>
            </a:endParaRPr>
          </a:p>
          <a:p>
            <a:pPr marL="685800" indent="-228600" algn="l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</a:pPr>
            <a:r>
              <a:rPr lang="en-GB" sz="1800" b="0" i="0" kern="120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ea typeface="+mn-ea"/>
                <a:cs typeface="+mn-cs"/>
              </a:rPr>
              <a:t>"Practice yoga/meditation/mindfulness"</a:t>
            </a:r>
            <a:endParaRPr lang="es-ES" dirty="0">
              <a:effectLst/>
            </a:endParaRPr>
          </a:p>
          <a:p>
            <a:pPr marL="685800" indent="-228600" algn="l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</a:pPr>
            <a:r>
              <a:rPr lang="en-GB" sz="1800" b="0" i="0" kern="120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ea typeface="+mn-ea"/>
                <a:cs typeface="+mn-cs"/>
              </a:rPr>
              <a:t>"Practice playing an instrument/sport"</a:t>
            </a:r>
            <a:endParaRPr lang="es-ES" dirty="0">
              <a:effectLst/>
            </a:endParaRPr>
          </a:p>
          <a:p>
            <a:pPr marL="685800" indent="-228600" algn="l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</a:pPr>
            <a:r>
              <a:rPr lang="en-GB" sz="1800" b="0" i="0" kern="120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ea typeface="+mn-ea"/>
                <a:cs typeface="+mn-cs"/>
              </a:rPr>
              <a:t>"Practice drawing/painting/writing"</a:t>
            </a:r>
            <a:endParaRPr lang="es-ES" dirty="0">
              <a:effectLst/>
            </a:endParaRPr>
          </a:p>
          <a:p>
            <a:pPr marL="228600" indent="-228600" algn="l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GB" sz="1800" b="1" i="0" kern="120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ea typeface="+mn-ea"/>
                <a:cs typeface="+mn-cs"/>
              </a:rPr>
              <a:t>Explore:</a:t>
            </a:r>
            <a:r>
              <a:rPr lang="en-GB" sz="1800" b="0" i="0" kern="120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ea typeface="+mn-ea"/>
                <a:cs typeface="+mn-cs"/>
              </a:rPr>
              <a:t> This verb is used to describe the process of discovering or experiencing new activities or places. For example:</a:t>
            </a:r>
            <a:endParaRPr lang="es-ES" dirty="0">
              <a:effectLst/>
            </a:endParaRPr>
          </a:p>
          <a:p>
            <a:pPr marL="685800" indent="-228600" algn="l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</a:pPr>
            <a:r>
              <a:rPr lang="en-GB" sz="1800" b="0" i="0" kern="120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ea typeface="+mn-ea"/>
                <a:cs typeface="+mn-cs"/>
              </a:rPr>
              <a:t>"Explore nature/parks/trails"</a:t>
            </a:r>
            <a:endParaRPr lang="es-ES" dirty="0">
              <a:effectLst/>
            </a:endParaRPr>
          </a:p>
          <a:p>
            <a:pPr marL="685800" indent="-228600" algn="l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</a:pPr>
            <a:r>
              <a:rPr lang="en-GB" sz="1800" b="0" i="0" kern="120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ea typeface="+mn-ea"/>
                <a:cs typeface="+mn-cs"/>
              </a:rPr>
              <a:t>"Explore museums/galleries/exhibitions"</a:t>
            </a:r>
            <a:endParaRPr lang="es-ES" dirty="0">
              <a:effectLst/>
            </a:endParaRPr>
          </a:p>
          <a:p>
            <a:pPr marL="685800" indent="-228600" algn="l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</a:pPr>
            <a:r>
              <a:rPr lang="en-GB" sz="1800" b="0" i="0" kern="120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ea typeface="+mn-ea"/>
                <a:cs typeface="+mn-cs"/>
              </a:rPr>
              <a:t>"Explore different cuisines/restaurants/cafes"</a:t>
            </a:r>
            <a:endParaRPr lang="es-ES" dirty="0">
              <a:effectLst/>
            </a:endParaRPr>
          </a:p>
          <a:p>
            <a:endParaRPr lang="es-ES" dirty="0"/>
          </a:p>
        </p:txBody>
      </p:sp>
      <p:pic>
        <p:nvPicPr>
          <p:cNvPr id="5" name="Picture 4" descr="Woman doing yoga pose">
            <a:extLst>
              <a:ext uri="{FF2B5EF4-FFF2-40B4-BE49-F238E27FC236}">
                <a16:creationId xmlns:a16="http://schemas.microsoft.com/office/drawing/2014/main" xmlns="" id="{FB816F62-92A5-469E-3858-B1B89E7FA10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810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xmlns="" id="{F13C74B1-5B17-4795-BED0-7140497B445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D5E5A7-4216-8548-1924-6CC0144D6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Making plans</a:t>
            </a:r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xmlns="" id="{D4974D33-8DC5-464E-8C6D-BE58F0669C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FE6E4CA5-EBDF-42FF-4F28-98B26D832819}"/>
              </a:ext>
            </a:extLst>
          </p:cNvPr>
          <p:cNvSpPr txBox="1"/>
          <p:nvPr/>
        </p:nvSpPr>
        <p:spPr>
          <a:xfrm>
            <a:off x="640080" y="2872899"/>
            <a:ext cx="4243589" cy="332066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b="1" i="0" dirty="0">
                <a:effectLst/>
              </a:rPr>
              <a:t>Let’s</a:t>
            </a:r>
            <a:r>
              <a:rPr lang="en-US" sz="1600" b="1" dirty="0"/>
              <a:t>….</a:t>
            </a:r>
            <a:endParaRPr lang="en-US" sz="1600" b="1" i="0" dirty="0">
              <a:effectLst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b="1" i="0" dirty="0">
                <a:effectLst/>
              </a:rPr>
              <a:t>Example: </a:t>
            </a:r>
            <a:r>
              <a:rPr lang="en-US" sz="1200" b="1" i="1" dirty="0">
                <a:effectLst/>
              </a:rPr>
              <a:t>"Let's go to the movies tonight.”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600" b="1" i="0" dirty="0">
              <a:effectLst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b="1" i="0" dirty="0">
                <a:effectLst/>
              </a:rPr>
              <a:t>How about….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b="1" i="0" dirty="0">
                <a:effectLst/>
              </a:rPr>
              <a:t>Example: </a:t>
            </a:r>
            <a:r>
              <a:rPr lang="en-US" sz="1200" b="1" i="1" dirty="0"/>
              <a:t>“</a:t>
            </a:r>
            <a:r>
              <a:rPr lang="en-US" sz="1200" b="1" i="1" dirty="0">
                <a:effectLst/>
              </a:rPr>
              <a:t>How about going for a picnic this weekend?”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200" b="1" i="0" dirty="0">
              <a:effectLst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b="1" i="0" dirty="0">
                <a:effectLst/>
              </a:rPr>
              <a:t>Why don't we….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b="1" i="0" dirty="0">
                <a:effectLst/>
              </a:rPr>
              <a:t>Example: </a:t>
            </a:r>
            <a:r>
              <a:rPr lang="en-US" sz="1200" b="1" i="1" dirty="0"/>
              <a:t>“</a:t>
            </a:r>
            <a:r>
              <a:rPr lang="en-US" sz="1200" b="1" i="1" dirty="0">
                <a:effectLst/>
              </a:rPr>
              <a:t>Why don't we try that new restaurant downtown?”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200" b="1" i="0" dirty="0">
              <a:effectLst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b="1" i="0" dirty="0">
                <a:effectLst/>
              </a:rPr>
              <a:t>We could…..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b="1" i="0" dirty="0">
                <a:effectLst/>
              </a:rPr>
              <a:t>Example: </a:t>
            </a:r>
            <a:r>
              <a:rPr lang="en-US" sz="1200" b="1" i="1" dirty="0">
                <a:effectLst/>
              </a:rPr>
              <a:t>“We could meet at the park for a game of soccer.”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200" b="1" i="0" dirty="0">
              <a:effectLst/>
            </a:endParaRPr>
          </a:p>
        </p:txBody>
      </p:sp>
      <p:pic>
        <p:nvPicPr>
          <p:cNvPr id="5" name="Content Placeholder 4" descr="Date in calendar circled with red">
            <a:extLst>
              <a:ext uri="{FF2B5EF4-FFF2-40B4-BE49-F238E27FC236}">
                <a16:creationId xmlns:a16="http://schemas.microsoft.com/office/drawing/2014/main" xmlns="" id="{429E98A2-A7B7-0CA6-9923-2214C88E2B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71" r="10205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996473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xmlns="" id="{04812C46-200A-4DEB-A05E-3ED6C68C238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Date in calendar circled with red">
            <a:extLst>
              <a:ext uri="{FF2B5EF4-FFF2-40B4-BE49-F238E27FC236}">
                <a16:creationId xmlns:a16="http://schemas.microsoft.com/office/drawing/2014/main" xmlns="" id="{429E98A2-A7B7-0CA6-9923-2214C88E2B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58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D1EA859B-E555-4109-94F3-6700E046E0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D5E5A7-4216-8548-1924-6CC0144D6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Making plans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FE6E4CA5-EBDF-42FF-4F28-98B26D832819}"/>
              </a:ext>
            </a:extLst>
          </p:cNvPr>
          <p:cNvSpPr txBox="1"/>
          <p:nvPr/>
        </p:nvSpPr>
        <p:spPr>
          <a:xfrm>
            <a:off x="7531610" y="2434201"/>
            <a:ext cx="3822189" cy="3742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algn="l"/>
            <a:r>
              <a:rPr lang="en-GB" b="1" i="0" dirty="0">
                <a:solidFill>
                  <a:srgbClr val="0D0D0D"/>
                </a:solidFill>
                <a:effectLst/>
              </a:rPr>
              <a:t>Shall we….</a:t>
            </a:r>
          </a:p>
          <a:p>
            <a:pPr algn="l"/>
            <a:r>
              <a:rPr lang="en-GB" sz="1400" b="1" i="0" dirty="0">
                <a:solidFill>
                  <a:srgbClr val="0D0D0D"/>
                </a:solidFill>
                <a:effectLst/>
              </a:rPr>
              <a:t>Example: </a:t>
            </a:r>
            <a:r>
              <a:rPr lang="en-GB" sz="1400" b="1" i="1" dirty="0">
                <a:solidFill>
                  <a:srgbClr val="0D0D0D"/>
                </a:solidFill>
                <a:effectLst/>
              </a:rPr>
              <a:t>“Shall we go hiking this Saturday?”</a:t>
            </a:r>
          </a:p>
          <a:p>
            <a:pPr algn="l"/>
            <a:endParaRPr lang="en-GB" b="1" i="0" dirty="0">
              <a:solidFill>
                <a:srgbClr val="0D0D0D"/>
              </a:solidFill>
              <a:effectLst/>
            </a:endParaRPr>
          </a:p>
          <a:p>
            <a:pPr algn="l"/>
            <a:r>
              <a:rPr lang="en-GB" b="1" i="0" dirty="0">
                <a:solidFill>
                  <a:srgbClr val="0D0D0D"/>
                </a:solidFill>
                <a:effectLst/>
              </a:rPr>
              <a:t>What about….</a:t>
            </a:r>
          </a:p>
          <a:p>
            <a:pPr algn="l"/>
            <a:r>
              <a:rPr lang="en-GB" sz="1400" b="1" i="0" dirty="0">
                <a:solidFill>
                  <a:srgbClr val="0D0D0D"/>
                </a:solidFill>
                <a:effectLst/>
              </a:rPr>
              <a:t>Example: </a:t>
            </a:r>
            <a:r>
              <a:rPr lang="en-GB" sz="1400" b="1" i="1" dirty="0">
                <a:solidFill>
                  <a:srgbClr val="0D0D0D"/>
                </a:solidFill>
                <a:effectLst/>
              </a:rPr>
              <a:t>“What about going to the beach tomorrow afternoon?”</a:t>
            </a:r>
          </a:p>
          <a:p>
            <a:pPr algn="l"/>
            <a:endParaRPr lang="en-GB" sz="1400" b="1" i="0" dirty="0">
              <a:solidFill>
                <a:srgbClr val="0D0D0D"/>
              </a:solidFill>
              <a:effectLst/>
            </a:endParaRPr>
          </a:p>
          <a:p>
            <a:pPr algn="l"/>
            <a:r>
              <a:rPr lang="en-GB" b="1" i="0" dirty="0">
                <a:solidFill>
                  <a:srgbClr val="0D0D0D"/>
                </a:solidFill>
                <a:effectLst/>
              </a:rPr>
              <a:t>Do you fancy…..</a:t>
            </a:r>
          </a:p>
          <a:p>
            <a:pPr algn="l"/>
            <a:r>
              <a:rPr lang="en-GB" sz="1400" b="1" i="0" dirty="0">
                <a:solidFill>
                  <a:srgbClr val="0D0D0D"/>
                </a:solidFill>
                <a:effectLst/>
              </a:rPr>
              <a:t>Example:</a:t>
            </a:r>
            <a:r>
              <a:rPr lang="en-GB" sz="1400" b="1" i="1" dirty="0">
                <a:solidFill>
                  <a:srgbClr val="0D0D0D"/>
                </a:solidFill>
                <a:effectLst/>
              </a:rPr>
              <a:t> “Do you fancy grabbing coffee after class?”</a:t>
            </a:r>
          </a:p>
          <a:p>
            <a:pPr algn="l"/>
            <a:endParaRPr lang="en-GB" b="1" i="0" dirty="0">
              <a:solidFill>
                <a:srgbClr val="0D0D0D"/>
              </a:solidFill>
              <a:effectLst/>
            </a:endParaRPr>
          </a:p>
          <a:p>
            <a:pPr algn="l"/>
            <a:r>
              <a:rPr lang="en-GB" b="1" i="0" dirty="0">
                <a:solidFill>
                  <a:srgbClr val="0D0D0D"/>
                </a:solidFill>
                <a:effectLst/>
              </a:rPr>
              <a:t>I was thinking we could….</a:t>
            </a:r>
          </a:p>
          <a:p>
            <a:pPr algn="l"/>
            <a:r>
              <a:rPr lang="en-GB" sz="1400" b="1" i="0" dirty="0">
                <a:solidFill>
                  <a:srgbClr val="0D0D0D"/>
                </a:solidFill>
                <a:effectLst/>
              </a:rPr>
              <a:t>Example: </a:t>
            </a:r>
            <a:r>
              <a:rPr lang="en-GB" sz="1400" b="1" i="1" dirty="0">
                <a:solidFill>
                  <a:srgbClr val="0D0D0D"/>
                </a:solidFill>
                <a:effectLst/>
              </a:rPr>
              <a:t>“I was thinking we could visit the art museum this weekend.”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b="1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2627915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5CB593EA-2F98-479F-B4C4-F366571FA64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Picture 10" descr="Vibrant amusement park ride with riders against a blue sky">
            <a:extLst>
              <a:ext uri="{FF2B5EF4-FFF2-40B4-BE49-F238E27FC236}">
                <a16:creationId xmlns:a16="http://schemas.microsoft.com/office/drawing/2014/main" xmlns="" id="{ECA9524F-F907-9B39-56F1-12237698938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80" r="4673" b="4"/>
          <a:stretch/>
        </p:blipFill>
        <p:spPr>
          <a:xfrm>
            <a:off x="1" y="1"/>
            <a:ext cx="2970465" cy="3383279"/>
          </a:xfrm>
          <a:prstGeom prst="rect">
            <a:avLst/>
          </a:prstGeom>
        </p:spPr>
      </p:pic>
      <p:pic>
        <p:nvPicPr>
          <p:cNvPr id="5" name="Content Placeholder 4" descr="Young soccer players in action">
            <a:extLst>
              <a:ext uri="{FF2B5EF4-FFF2-40B4-BE49-F238E27FC236}">
                <a16:creationId xmlns:a16="http://schemas.microsoft.com/office/drawing/2014/main" xmlns="" id="{32C76D86-4795-CF38-2076-27DB1E4361B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11" r="3884" b="-4"/>
          <a:stretch/>
        </p:blipFill>
        <p:spPr>
          <a:xfrm>
            <a:off x="3072956" y="10"/>
            <a:ext cx="2970465" cy="3383268"/>
          </a:xfrm>
          <a:prstGeom prst="rect">
            <a:avLst/>
          </a:prstGeom>
        </p:spPr>
      </p:pic>
      <p:pic>
        <p:nvPicPr>
          <p:cNvPr id="9" name="Picture 8" descr="Man walking across a pond">
            <a:extLst>
              <a:ext uri="{FF2B5EF4-FFF2-40B4-BE49-F238E27FC236}">
                <a16:creationId xmlns:a16="http://schemas.microsoft.com/office/drawing/2014/main" xmlns="" id="{2E36DAF6-E560-CBB8-0B51-D4CC709DFAB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22" r="33344" b="-3"/>
          <a:stretch/>
        </p:blipFill>
        <p:spPr>
          <a:xfrm>
            <a:off x="6145909" y="10"/>
            <a:ext cx="2971800" cy="3383268"/>
          </a:xfrm>
          <a:prstGeom prst="rect">
            <a:avLst/>
          </a:prstGeom>
        </p:spPr>
      </p:pic>
      <p:pic>
        <p:nvPicPr>
          <p:cNvPr id="7" name="Picture 6" descr="Swimmer doing laps in pool">
            <a:extLst>
              <a:ext uri="{FF2B5EF4-FFF2-40B4-BE49-F238E27FC236}">
                <a16:creationId xmlns:a16="http://schemas.microsoft.com/office/drawing/2014/main" xmlns="" id="{4EF66A0C-CCD0-3077-34DE-7BAC20379E18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93" r="32573" b="-3"/>
          <a:stretch/>
        </p:blipFill>
        <p:spPr>
          <a:xfrm>
            <a:off x="9220200" y="10"/>
            <a:ext cx="2971800" cy="3383268"/>
          </a:xfrm>
          <a:prstGeom prst="rect">
            <a:avLst/>
          </a:prstGeom>
        </p:spPr>
      </p:pic>
      <p:pic>
        <p:nvPicPr>
          <p:cNvPr id="15" name="Picture 14" descr="Empty red chairs in cinema with popcorn and drinks">
            <a:extLst>
              <a:ext uri="{FF2B5EF4-FFF2-40B4-BE49-F238E27FC236}">
                <a16:creationId xmlns:a16="http://schemas.microsoft.com/office/drawing/2014/main" xmlns="" id="{D056CFC4-9F1F-8E5D-828C-7F1210EEA7C6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83" r="19094"/>
          <a:stretch/>
        </p:blipFill>
        <p:spPr>
          <a:xfrm>
            <a:off x="-1017" y="3474720"/>
            <a:ext cx="2970465" cy="338328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xmlns="" id="{39BEB6D0-9E4E-4221-93D1-74ABECEE9EF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6145910" y="3474720"/>
            <a:ext cx="6046090" cy="3383281"/>
          </a:xfrm>
          <a:prstGeom prst="rect">
            <a:avLst/>
          </a:prstGeom>
          <a:solidFill>
            <a:srgbClr val="532F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965930F8-BF92-889F-5742-C1F2D6827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1653" y="3799272"/>
            <a:ext cx="5193748" cy="637124"/>
          </a:xfrm>
        </p:spPr>
        <p:txBody>
          <a:bodyPr>
            <a:normAutofit fontScale="90000"/>
          </a:bodyPr>
          <a:lstStyle/>
          <a:p>
            <a:r>
              <a:rPr lang="en-GB" sz="2400" dirty="0">
                <a:solidFill>
                  <a:srgbClr val="FFFFFF"/>
                </a:solidFill>
              </a:rPr>
              <a:t>Practice</a:t>
            </a:r>
            <a:r>
              <a:rPr lang="en-GB" sz="1800" dirty="0">
                <a:solidFill>
                  <a:srgbClr val="FFFFFF"/>
                </a:solidFill>
              </a:rPr>
              <a:t/>
            </a:r>
            <a:br>
              <a:rPr lang="en-GB" sz="1800" dirty="0">
                <a:solidFill>
                  <a:srgbClr val="FFFFFF"/>
                </a:solidFill>
              </a:rPr>
            </a:br>
            <a:endParaRPr lang="es-ES" sz="1800" dirty="0">
              <a:solidFill>
                <a:srgbClr val="FFFFFF"/>
              </a:solidFill>
            </a:endParaRPr>
          </a:p>
        </p:txBody>
      </p:sp>
      <p:pic>
        <p:nvPicPr>
          <p:cNvPr id="13" name="Picture 12" descr="Silhouettes of people at concert, seen from behind, one man with arms outstretched, looking at performers under stage lights">
            <a:extLst>
              <a:ext uri="{FF2B5EF4-FFF2-40B4-BE49-F238E27FC236}">
                <a16:creationId xmlns:a16="http://schemas.microsoft.com/office/drawing/2014/main" xmlns="" id="{3B48BA51-403C-3153-130C-AED9DB7FEE22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71" r="24421" b="-4"/>
          <a:stretch/>
        </p:blipFill>
        <p:spPr>
          <a:xfrm>
            <a:off x="3059902" y="3474719"/>
            <a:ext cx="2970466" cy="3383280"/>
          </a:xfrm>
          <a:prstGeom prst="rect">
            <a:avLst/>
          </a:prstGeom>
        </p:spPr>
      </p:pic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xmlns="" id="{815FC7AD-84F5-4E50-0973-E3EB4D868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9648" y="4510585"/>
            <a:ext cx="5366610" cy="1758732"/>
          </a:xfrm>
        </p:spPr>
        <p:txBody>
          <a:bodyPr>
            <a:normAutofit/>
          </a:bodyPr>
          <a:lstStyle/>
          <a:p>
            <a:r>
              <a:rPr lang="en-GB" sz="3200" dirty="0">
                <a:solidFill>
                  <a:srgbClr val="FFFFFF"/>
                </a:solidFill>
              </a:rPr>
              <a:t>Make plans to do something soon.</a:t>
            </a:r>
          </a:p>
          <a:p>
            <a:r>
              <a:rPr lang="en-GB" sz="3200" dirty="0">
                <a:solidFill>
                  <a:srgbClr val="FFFFFF"/>
                </a:solidFill>
              </a:rPr>
              <a:t>Why don’t we……..?</a:t>
            </a:r>
            <a:endParaRPr lang="en-US" sz="3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29513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A187023-D777-1399-5DEB-1E6D6585D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Delayed feedback</a:t>
            </a:r>
            <a:endParaRPr lang="es-E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E4D876C-A694-FCD8-7AB3-77B4B737C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0059" y="365125"/>
            <a:ext cx="1638300" cy="76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4A8C4E09-C240-BCD5-17AA-3BB6758071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039" y="6231755"/>
            <a:ext cx="3695700" cy="33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360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721</Words>
  <Application>Microsoft Office PowerPoint</Application>
  <PresentationFormat>Panorámica</PresentationFormat>
  <Paragraphs>205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Söhne</vt:lpstr>
      <vt:lpstr>Office Theme</vt:lpstr>
      <vt:lpstr>Free time and entertainment</vt:lpstr>
      <vt:lpstr>Warm-Up Activity Word  Association</vt:lpstr>
      <vt:lpstr>Example</vt:lpstr>
      <vt:lpstr>Vocabulary Building Introducing word formation: Suffixes</vt:lpstr>
      <vt:lpstr>Suffixes</vt:lpstr>
      <vt:lpstr>Vocabulary Building Introducing word formation: Prefixes</vt:lpstr>
      <vt:lpstr>Prefixes</vt:lpstr>
      <vt:lpstr>Grammar – Collocations </vt:lpstr>
      <vt:lpstr>Collocations continued</vt:lpstr>
      <vt:lpstr>Making plans</vt:lpstr>
      <vt:lpstr>Making plans</vt:lpstr>
      <vt:lpstr>Practice </vt:lpstr>
      <vt:lpstr>Delayed feedback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Free time and entertainment</dc:title>
  <dc:creator>Theo Clarke</dc:creator>
  <cp:lastModifiedBy>JaviRo</cp:lastModifiedBy>
  <cp:revision>2</cp:revision>
  <dcterms:created xsi:type="dcterms:W3CDTF">2024-05-08T08:52:40Z</dcterms:created>
  <dcterms:modified xsi:type="dcterms:W3CDTF">2024-12-30T17:56:17Z</dcterms:modified>
</cp:coreProperties>
</file>