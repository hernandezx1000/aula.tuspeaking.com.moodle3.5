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6" r:id="rId5"/>
    <p:sldId id="259" r:id="rId6"/>
    <p:sldId id="268" r:id="rId7"/>
    <p:sldId id="270" r:id="rId8"/>
    <p:sldId id="269" r:id="rId9"/>
    <p:sldId id="274" r:id="rId10"/>
    <p:sldId id="276" r:id="rId11"/>
    <p:sldId id="277" r:id="rId12"/>
    <p:sldId id="275" r:id="rId13"/>
    <p:sldId id="273" r:id="rId14"/>
    <p:sldId id="278" r:id="rId15"/>
    <p:sldId id="272" r:id="rId16"/>
    <p:sldId id="267" r:id="rId17"/>
    <p:sldId id="279" r:id="rId18"/>
    <p:sldId id="280" r:id="rId19"/>
    <p:sldId id="281" r:id="rId20"/>
    <p:sldId id="282" r:id="rId21"/>
    <p:sldId id="283" r:id="rId22"/>
    <p:sldId id="284" r:id="rId23"/>
    <p:sldId id="260" r:id="rId24"/>
    <p:sldId id="28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107" d="100"/>
          <a:sy n="107" d="100"/>
        </p:scale>
        <p:origin x="5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344E84-23FC-4149-8812-A954F94E8466}"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344E84-23FC-4149-8812-A954F94E8466}" type="datetimeFigureOut">
              <a:rPr lang="en-US" smtClean="0"/>
              <a:t>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44E84-23FC-4149-8812-A954F94E8466}" type="datetimeFigureOut">
              <a:rPr lang="en-US" smtClean="0"/>
              <a:t>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344E84-23FC-4149-8812-A954F94E8466}" type="datetimeFigureOut">
              <a:rPr lang="en-US" smtClean="0"/>
              <a:t>1/18/2023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344E84-23FC-4149-8812-A954F94E8466}"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344E84-23FC-4149-8812-A954F94E8466}"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D344E84-23FC-4149-8812-A954F94E8466}" type="datetimeFigureOut">
              <a:rPr lang="en-US" smtClean="0"/>
              <a:t>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D344E84-23FC-4149-8812-A954F94E8466}" type="datetimeFigureOut">
              <a:rPr lang="en-US" smtClean="0"/>
              <a:t>1/18/2023</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30EED1B5-2FAE-40F4-974D-0E114554DC7B}"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1.jpe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bin"/></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bin"/></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66906" y="105560"/>
            <a:ext cx="2807746" cy="2872292"/>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con&#10;&#10;Description automatically generated"/>
          <p:cNvPicPr>
            <a:picLocks noChangeAspect="1"/>
          </p:cNvPicPr>
          <p:nvPr/>
        </p:nvPicPr>
        <p:blipFill>
          <a:blip r:embed="rId2"/>
          <a:stretch>
            <a:fillRect/>
          </a:stretch>
        </p:blipFill>
        <p:spPr>
          <a:xfrm>
            <a:off x="813529" y="82028"/>
            <a:ext cx="1714500" cy="1714500"/>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869734" y="1914636"/>
            <a:ext cx="1636779" cy="762002"/>
          </a:xfrm>
          <a:prstGeom prst="rect">
            <a:avLst/>
          </a:prstGeom>
        </p:spPr>
      </p:pic>
      <p:sp>
        <p:nvSpPr>
          <p:cNvPr id="9" name="Oval 8"/>
          <p:cNvSpPr/>
          <p:nvPr/>
        </p:nvSpPr>
        <p:spPr>
          <a:xfrm>
            <a:off x="2052493" y="2537328"/>
            <a:ext cx="862830" cy="882665"/>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635381" y="2203301"/>
            <a:ext cx="699490" cy="715570"/>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158255" y="2685379"/>
            <a:ext cx="5981252" cy="2122805"/>
          </a:xfrm>
          <a:prstGeom prst="rect">
            <a:avLst/>
          </a:prstGeom>
          <a:noFill/>
        </p:spPr>
        <p:txBody>
          <a:bodyPr wrap="square" rtlCol="0">
            <a:spAutoFit/>
          </a:bodyPr>
          <a:lstStyle/>
          <a:p>
            <a:pPr algn="ctr"/>
            <a:r>
              <a:rPr lang="en-US" altLang="en-US" sz="6600" b="1" dirty="0">
                <a:solidFill>
                  <a:schemeClr val="tx1"/>
                </a:solidFill>
                <a:latin typeface="Arial Black" panose="020B0A04020102020204" charset="0"/>
                <a:ea typeface="Arial" panose="020B0604020202020204" pitchFamily="34" charset="0"/>
                <a:cs typeface="Arial Black" panose="020B0A04020102020204" charset="0"/>
                <a:sym typeface="+mn-ea"/>
              </a:rPr>
              <a:t>Describing a Company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684212" y="2046605"/>
            <a:ext cx="8534400" cy="3615267"/>
          </a:xfrm>
        </p:spPr>
        <p:txBody>
          <a:bodyPr/>
          <a:lstStyle/>
          <a:p>
            <a:r>
              <a:rPr lang="en-US" altLang="en-US">
                <a:solidFill>
                  <a:schemeClr val="tx1"/>
                </a:solidFill>
                <a:latin typeface="Arial" panose="020B0604020202020204" pitchFamily="34" charset="0"/>
                <a:cs typeface="Arial" panose="020B0604020202020204" pitchFamily="34" charset="0"/>
              </a:rPr>
              <a:t>1. Objectives</a:t>
            </a:r>
          </a:p>
          <a:p>
            <a:r>
              <a:rPr lang="en-US" altLang="en-US">
                <a:solidFill>
                  <a:schemeClr val="tx1"/>
                </a:solidFill>
                <a:latin typeface="Arial" panose="020B0604020202020204" pitchFamily="34" charset="0"/>
                <a:cs typeface="Arial" panose="020B0604020202020204" pitchFamily="34" charset="0"/>
              </a:rPr>
              <a:t>2. Vocabulary</a:t>
            </a:r>
          </a:p>
          <a:p>
            <a:r>
              <a:rPr lang="en-US" altLang="en-US">
                <a:solidFill>
                  <a:schemeClr val="tx1"/>
                </a:solidFill>
                <a:latin typeface="Arial" panose="020B0604020202020204" pitchFamily="34" charset="0"/>
                <a:cs typeface="Arial" panose="020B0604020202020204" pitchFamily="34" charset="0"/>
              </a:rPr>
              <a:t>3. Functional Content</a:t>
            </a:r>
          </a:p>
          <a:p>
            <a:r>
              <a:rPr lang="en-US" altLang="en-US">
                <a:solidFill>
                  <a:schemeClr val="tx1"/>
                </a:solidFill>
                <a:latin typeface="Arial" panose="020B0604020202020204" pitchFamily="34" charset="0"/>
                <a:cs typeface="Arial" panose="020B0604020202020204" pitchFamily="34" charset="0"/>
              </a:rPr>
              <a:t>4. Production</a:t>
            </a:r>
          </a:p>
          <a:p>
            <a:r>
              <a:rPr lang="en-US" altLang="en-US">
                <a:solidFill>
                  <a:schemeClr val="tx1"/>
                </a:solidFill>
                <a:latin typeface="Arial" panose="020B0604020202020204" pitchFamily="34" charset="0"/>
                <a:cs typeface="Arial" panose="020B0604020202020204" pitchFamily="34" charset="0"/>
              </a:rPr>
              <a:t>5. Delayed Feedback</a:t>
            </a:r>
          </a:p>
        </p:txBody>
      </p:sp>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4012565" y="1122045"/>
            <a:ext cx="3510915" cy="706755"/>
          </a:xfrm>
          <a:prstGeom prst="rect">
            <a:avLst/>
          </a:prstGeom>
          <a:noFill/>
        </p:spPr>
        <p:txBody>
          <a:bodyPr wrap="square" rtlCol="0">
            <a:spAutoFit/>
          </a:bodyPr>
          <a:lstStyle/>
          <a:p>
            <a:r>
              <a:rPr lang="en-US" sz="4000" b="1" dirty="0">
                <a:latin typeface="Arial Black" panose="020B0A04020102020204" charset="0"/>
                <a:cs typeface="Arial Black" panose="020B0A04020102020204" charset="0"/>
              </a:rPr>
              <a:t>CONTENTS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5"/>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6"/>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稻壳儿_刀客儿出品_1"/>
          <p:cNvSpPr txBox="1"/>
          <p:nvPr>
            <p:custDataLst>
              <p:tags r:id="rId1"/>
            </p:custDataLst>
          </p:nvPr>
        </p:nvSpPr>
        <p:spPr>
          <a:xfrm>
            <a:off x="7631674" y="1771664"/>
            <a:ext cx="2254250" cy="521970"/>
          </a:xfrm>
          <a:prstGeom prst="rect">
            <a:avLst/>
          </a:prstGeom>
          <a:noFill/>
        </p:spPr>
        <p:txBody>
          <a:bodyPr wrap="none" rtlCol="0">
            <a:spAutoFit/>
          </a:bodyPr>
          <a:lstStyle/>
          <a:p>
            <a:r>
              <a:rPr lang="en-US" altLang="en-US" sz="2800" b="1" dirty="0">
                <a:solidFill>
                  <a:schemeClr val="tx1"/>
                </a:solidFill>
                <a:latin typeface="Arial Black" panose="020B0A04020102020204" charset="0"/>
                <a:ea typeface="Arial" panose="020B0604020202020204" pitchFamily="34" charset="0"/>
                <a:cs typeface="Arial Black" panose="020B0A04020102020204" charset="0"/>
              </a:rPr>
              <a:t>Objectives</a:t>
            </a:r>
          </a:p>
        </p:txBody>
      </p:sp>
      <p:sp>
        <p:nvSpPr>
          <p:cNvPr id="10" name="稻壳儿_刀客儿出品_2"/>
          <p:cNvSpPr txBox="1"/>
          <p:nvPr>
            <p:custDataLst>
              <p:tags r:id="rId2"/>
            </p:custDataLst>
          </p:nvPr>
        </p:nvSpPr>
        <p:spPr>
          <a:xfrm>
            <a:off x="7631675" y="2293752"/>
            <a:ext cx="3507380" cy="3610610"/>
          </a:xfrm>
          <a:prstGeom prst="rect">
            <a:avLst/>
          </a:prstGeom>
          <a:noFill/>
        </p:spPr>
        <p:txBody>
          <a:bodyPr wrap="square" rtlCol="0">
            <a:spAutoFit/>
          </a:bodyPr>
          <a:lstStyle/>
          <a:p>
            <a:pPr>
              <a:lnSpc>
                <a:spcPct val="130000"/>
              </a:lnSpc>
            </a:pPr>
            <a:r>
              <a:rPr lang="en-US" altLang="en-US" sz="1600" dirty="0">
                <a:solidFill>
                  <a:schemeClr val="tx1"/>
                </a:solidFill>
                <a:latin typeface="Arial" panose="020B0604020202020204" pitchFamily="34" charset="0"/>
                <a:ea typeface="Arial" panose="020B0604020202020204" pitchFamily="34" charset="0"/>
              </a:rPr>
              <a:t>* Enable learners to describe “companies”</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Discuss the state of a business</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Usage of Adverbs of Time</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Usage of Present Continuous Tense</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Conduct SWOT Analysis</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Usage of Superlatives and Comparatives in describing a company.</a:t>
            </a:r>
          </a:p>
          <a:p>
            <a:pPr>
              <a:lnSpc>
                <a:spcPct val="130000"/>
              </a:lnSpc>
            </a:pPr>
            <a:r>
              <a:rPr lang="en-US" altLang="en-US" sz="1600" dirty="0">
                <a:solidFill>
                  <a:schemeClr val="tx1"/>
                </a:solidFill>
                <a:latin typeface="Arial" panose="020B0604020202020204" pitchFamily="34" charset="0"/>
                <a:ea typeface="Arial" panose="020B0604020202020204" pitchFamily="34" charset="0"/>
              </a:rPr>
              <a:t>* Conduct PESTLEG Analysis</a:t>
            </a:r>
          </a:p>
        </p:txBody>
      </p:sp>
      <p:sp>
        <p:nvSpPr>
          <p:cNvPr id="11" name="稻壳儿_刀客儿出品_3"/>
          <p:cNvSpPr txBox="1"/>
          <p:nvPr>
            <p:custDataLst>
              <p:tags r:id="rId3"/>
            </p:custDataLst>
          </p:nvPr>
        </p:nvSpPr>
        <p:spPr>
          <a:xfrm>
            <a:off x="1511660" y="2118186"/>
            <a:ext cx="2409190" cy="768350"/>
          </a:xfrm>
          <a:prstGeom prst="rect">
            <a:avLst/>
          </a:prstGeom>
          <a:noFill/>
        </p:spPr>
        <p:txBody>
          <a:bodyPr wrap="none" rtlCol="0">
            <a:spAutoFit/>
          </a:bodyPr>
          <a:lstStyle/>
          <a:p>
            <a:r>
              <a:rPr lang="en-US" altLang="en-US" sz="4400" b="1" dirty="0">
                <a:solidFill>
                  <a:schemeClr val="tx1"/>
                </a:solidFill>
                <a:latin typeface="Arial Black" panose="020B0A04020102020204" charset="0"/>
                <a:ea typeface="Arial" panose="020B0604020202020204" pitchFamily="34" charset="0"/>
                <a:cs typeface="Arial Black" panose="020B0A04020102020204" charset="0"/>
              </a:rPr>
              <a:t>Part 01</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3" name="Picture Placeholder 102"/>
          <p:cNvPicPr>
            <a:picLocks noChangeAspect="1"/>
          </p:cNvPicPr>
          <p:nvPr/>
        </p:nvPicPr>
        <p:blipFill>
          <a:blip r:embed="rId4"/>
          <a:stretch>
            <a:fillRect/>
          </a:stretch>
        </p:blipFill>
        <p:spPr>
          <a:xfrm>
            <a:off x="423545" y="3687445"/>
            <a:ext cx="5585460" cy="2931160"/>
          </a:xfrm>
          <a:prstGeom prst="rect">
            <a:avLst/>
          </a:prstGeom>
          <a:noFill/>
          <a:ln w="9525">
            <a:noFill/>
          </a:ln>
          <a:effectLst>
            <a:softEdge rad="317500"/>
          </a:effectLst>
        </p:spPr>
      </p:pic>
      <p:pic>
        <p:nvPicPr>
          <p:cNvPr id="104" name="Picture Placeholder 103"/>
          <p:cNvPicPr>
            <a:picLocks noChangeAspect="1"/>
          </p:cNvPicPr>
          <p:nvPr/>
        </p:nvPicPr>
        <p:blipFill>
          <a:blip r:embed="rId5"/>
          <a:stretch>
            <a:fillRect/>
          </a:stretch>
        </p:blipFill>
        <p:spPr>
          <a:xfrm>
            <a:off x="4972050" y="1927860"/>
            <a:ext cx="6885940" cy="3513455"/>
          </a:xfrm>
          <a:prstGeom prst="rect">
            <a:avLst/>
          </a:prstGeom>
          <a:noFill/>
          <a:ln w="9525">
            <a:noFill/>
          </a:ln>
          <a:effectLst>
            <a:reflection blurRad="6350" stA="50000" endA="300" endPos="55500" dist="50800" dir="5400000" sy="-100000" algn="bl" rotWithShape="0"/>
            <a:softEdge rad="317500"/>
          </a:effectLst>
        </p:spPr>
      </p:pic>
      <p:pic>
        <p:nvPicPr>
          <p:cNvPr id="105" name="Picture Placeholder 104"/>
          <p:cNvPicPr>
            <a:picLocks noChangeAspect="1"/>
          </p:cNvPicPr>
          <p:nvPr/>
        </p:nvPicPr>
        <p:blipFill>
          <a:blip r:embed="rId6"/>
          <a:stretch>
            <a:fillRect/>
          </a:stretch>
        </p:blipFill>
        <p:spPr>
          <a:xfrm>
            <a:off x="754380" y="219075"/>
            <a:ext cx="5585460" cy="3067685"/>
          </a:xfrm>
          <a:prstGeom prst="rect">
            <a:avLst/>
          </a:prstGeom>
          <a:noFill/>
          <a:ln w="9525">
            <a:noFill/>
          </a:ln>
          <a:effectLst>
            <a:softEdge rad="317500"/>
          </a:effectLst>
        </p:spPr>
      </p:pic>
      <p:sp>
        <p:nvSpPr>
          <p:cNvPr id="2" name="Text Box 1"/>
          <p:cNvSpPr txBox="1"/>
          <p:nvPr/>
        </p:nvSpPr>
        <p:spPr>
          <a:xfrm>
            <a:off x="6348095" y="445770"/>
            <a:ext cx="4581525" cy="645160"/>
          </a:xfrm>
          <a:prstGeom prst="rect">
            <a:avLst/>
          </a:prstGeom>
          <a:noFill/>
        </p:spPr>
        <p:txBody>
          <a:bodyPr wrap="square" rtlCol="0">
            <a:spAutoFit/>
          </a:bodyPr>
          <a:lstStyle/>
          <a:p>
            <a:pPr algn="ctr"/>
            <a:r>
              <a:rPr lang="en-US" altLang="en-US" b="1">
                <a:latin typeface="Arial Black" panose="020B0A04020102020204" charset="0"/>
                <a:cs typeface="Arial Black" panose="020B0A04020102020204" charset="0"/>
              </a:rPr>
              <a:t> What type of company would you like to work in?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checkerboard(across)">
                                      <p:cBhvr>
                                        <p:cTn id="11" dur="500"/>
                                        <p:tgtEl>
                                          <p:spTgt spid="10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blinds(horizontal)">
                                      <p:cBhvr>
                                        <p:cTn id="16" dur="500"/>
                                        <p:tgtEl>
                                          <p:spTgt spid="10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03"/>
                                        </p:tgtEl>
                                        <p:attrNameLst>
                                          <p:attrName>style.visibility</p:attrName>
                                        </p:attrNameLst>
                                      </p:cBhvr>
                                      <p:to>
                                        <p:strVal val="visible"/>
                                      </p:to>
                                    </p:set>
                                    <p:animEffect transition="in" filter="blinds(horizontal)">
                                      <p:cBhvr>
                                        <p:cTn id="2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801938" y="4786803"/>
            <a:ext cx="3259073"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These are some of the words we can use to describe companies as well as their performance</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0" name="稻壳儿_刀客儿出品_7"/>
          <p:cNvSpPr txBox="1"/>
          <p:nvPr/>
        </p:nvSpPr>
        <p:spPr>
          <a:xfrm>
            <a:off x="6243955" y="1327150"/>
            <a:ext cx="5626100" cy="5432425"/>
          </a:xfrm>
          <a:prstGeom prst="rect">
            <a:avLst/>
          </a:prstGeom>
          <a:noFill/>
        </p:spPr>
        <p:txBody>
          <a:bodyPr wrap="square" lIns="90000" tIns="46800" rIns="90000" bIns="46800" rtlCol="0">
            <a:spAutoFit/>
          </a:bodyPr>
          <a:lstStyle/>
          <a:p>
            <a:pPr lvl="0">
              <a:lnSpc>
                <a:spcPct val="140000"/>
              </a:lnSpc>
              <a:defRPr/>
            </a:pPr>
            <a:r>
              <a:rPr lang="en-US" altLang="en-US">
                <a:latin typeface="Arial" panose="020B0604020202020204" pitchFamily="34" charset="0"/>
                <a:cs typeface="Arial" panose="020B0604020202020204" pitchFamily="34" charset="0"/>
                <a:sym typeface="+mn-ea"/>
              </a:rPr>
              <a:t>1. The amount of money a company recieves from sales during a specific period is called </a:t>
            </a:r>
            <a:r>
              <a:rPr lang="en-US" altLang="en-US" sz="2200" b="1" i="1" u="sng">
                <a:solidFill>
                  <a:srgbClr val="FF0000"/>
                </a:solidFill>
                <a:latin typeface="Arial" panose="020B0604020202020204" pitchFamily="34" charset="0"/>
                <a:cs typeface="Arial" panose="020B0604020202020204" pitchFamily="34" charset="0"/>
                <a:sym typeface="+mn-ea"/>
              </a:rPr>
              <a:t>turnover</a:t>
            </a:r>
            <a:endParaRPr lang="en-US" altLang="en-US">
              <a:latin typeface="Arial" panose="020B0604020202020204" pitchFamily="34" charset="0"/>
              <a:cs typeface="Arial" panose="020B0604020202020204" pitchFamily="34" charset="0"/>
            </a:endParaRPr>
          </a:p>
          <a:p>
            <a:pPr lvl="0">
              <a:lnSpc>
                <a:spcPct val="140000"/>
              </a:lnSpc>
              <a:defRPr/>
            </a:pPr>
            <a:r>
              <a:rPr lang="en-US" altLang="en-US">
                <a:latin typeface="Arial" panose="020B0604020202020204" pitchFamily="34" charset="0"/>
                <a:cs typeface="Arial" panose="020B0604020202020204" pitchFamily="34" charset="0"/>
                <a:sym typeface="+mn-ea"/>
              </a:rPr>
              <a:t>2. </a:t>
            </a:r>
            <a:r>
              <a:rPr lang="en-US" altLang="en-US" sz="2200" b="1" i="1" u="sng">
                <a:solidFill>
                  <a:srgbClr val="FF0000"/>
                </a:solidFill>
                <a:latin typeface="Arial" panose="020B0604020202020204" pitchFamily="34" charset="0"/>
                <a:cs typeface="Arial" panose="020B0604020202020204" pitchFamily="34" charset="0"/>
                <a:sym typeface="+mn-ea"/>
              </a:rPr>
              <a:t>Profit </a:t>
            </a:r>
            <a:r>
              <a:rPr lang="en-US" altLang="en-US">
                <a:latin typeface="Arial" panose="020B0604020202020204" pitchFamily="34" charset="0"/>
                <a:cs typeface="Arial" panose="020B0604020202020204" pitchFamily="34" charset="0"/>
                <a:sym typeface="+mn-ea"/>
              </a:rPr>
              <a:t>is the amount of money left after removing costs</a:t>
            </a:r>
            <a:endParaRPr lang="en-US" altLang="en-US">
              <a:latin typeface="Arial" panose="020B0604020202020204" pitchFamily="34" charset="0"/>
              <a:cs typeface="Arial" panose="020B0604020202020204" pitchFamily="34" charset="0"/>
            </a:endParaRPr>
          </a:p>
          <a:p>
            <a:pPr lvl="0">
              <a:lnSpc>
                <a:spcPct val="140000"/>
              </a:lnSpc>
              <a:defRPr/>
            </a:pPr>
            <a:r>
              <a:rPr lang="en-US" altLang="en-US">
                <a:latin typeface="Arial" panose="020B0604020202020204" pitchFamily="34" charset="0"/>
                <a:cs typeface="Arial" panose="020B0604020202020204" pitchFamily="34" charset="0"/>
                <a:sym typeface="+mn-ea"/>
              </a:rPr>
              <a:t>3. A company that has 50% or more owned by another is called a </a:t>
            </a:r>
            <a:r>
              <a:rPr lang="en-US" altLang="en-US" sz="2200" b="1" i="1" u="sng">
                <a:solidFill>
                  <a:srgbClr val="FF0000"/>
                </a:solidFill>
                <a:latin typeface="Arial" panose="020B0604020202020204" pitchFamily="34" charset="0"/>
                <a:cs typeface="Arial" panose="020B0604020202020204" pitchFamily="34" charset="0"/>
                <a:sym typeface="+mn-ea"/>
              </a:rPr>
              <a:t>subsidiary</a:t>
            </a:r>
            <a:endParaRPr lang="en-US" altLang="en-US">
              <a:latin typeface="Arial" panose="020B0604020202020204" pitchFamily="34" charset="0"/>
              <a:cs typeface="Arial" panose="020B0604020202020204" pitchFamily="34" charset="0"/>
            </a:endParaRPr>
          </a:p>
          <a:p>
            <a:pPr lvl="0">
              <a:lnSpc>
                <a:spcPct val="140000"/>
              </a:lnSpc>
              <a:defRPr/>
            </a:pPr>
            <a:r>
              <a:rPr lang="en-US" altLang="en-US">
                <a:latin typeface="Arial" panose="020B0604020202020204" pitchFamily="34" charset="0"/>
                <a:cs typeface="Arial" panose="020B0604020202020204" pitchFamily="34" charset="0"/>
                <a:sym typeface="+mn-ea"/>
              </a:rPr>
              <a:t>4. We call employees the </a:t>
            </a:r>
            <a:r>
              <a:rPr lang="en-US" altLang="en-US" sz="2200" b="1" i="1" u="sng">
                <a:solidFill>
                  <a:srgbClr val="FF0000"/>
                </a:solidFill>
                <a:latin typeface="Arial" panose="020B0604020202020204" pitchFamily="34" charset="0"/>
                <a:cs typeface="Arial" panose="020B0604020202020204" pitchFamily="34" charset="0"/>
                <a:sym typeface="+mn-ea"/>
              </a:rPr>
              <a:t>workforce</a:t>
            </a:r>
            <a:r>
              <a:rPr lang="en-US" altLang="en-US" b="1" i="1" u="sng">
                <a:solidFill>
                  <a:srgbClr val="FF0000"/>
                </a:solidFill>
                <a:latin typeface="Arial" panose="020B0604020202020204" pitchFamily="34" charset="0"/>
                <a:cs typeface="Arial" panose="020B0604020202020204" pitchFamily="34" charset="0"/>
                <a:sym typeface="+mn-ea"/>
              </a:rPr>
              <a:t> </a:t>
            </a:r>
            <a:r>
              <a:rPr lang="en-US" altLang="en-US">
                <a:latin typeface="Arial" panose="020B0604020202020204" pitchFamily="34" charset="0"/>
                <a:cs typeface="Arial" panose="020B0604020202020204" pitchFamily="34" charset="0"/>
                <a:sym typeface="+mn-ea"/>
              </a:rPr>
              <a:t>of a company.</a:t>
            </a:r>
            <a:endParaRPr lang="en-US" altLang="en-US">
              <a:latin typeface="Arial" panose="020B0604020202020204" pitchFamily="34" charset="0"/>
              <a:cs typeface="Arial" panose="020B0604020202020204" pitchFamily="34" charset="0"/>
            </a:endParaRPr>
          </a:p>
          <a:p>
            <a:pPr lvl="0">
              <a:lnSpc>
                <a:spcPct val="140000"/>
              </a:lnSpc>
              <a:defRPr/>
            </a:pPr>
            <a:r>
              <a:rPr lang="en-US" altLang="en-US">
                <a:latin typeface="Arial" panose="020B0604020202020204" pitchFamily="34" charset="0"/>
                <a:cs typeface="Arial" panose="020B0604020202020204" pitchFamily="34" charset="0"/>
                <a:sym typeface="+mn-ea"/>
              </a:rPr>
              <a:t>5. The amount of sales or customers that a company has in a market are refered to as the </a:t>
            </a:r>
            <a:r>
              <a:rPr lang="en-US" altLang="en-US" sz="2200" b="1" i="1" u="sng">
                <a:solidFill>
                  <a:srgbClr val="FF0000"/>
                </a:solidFill>
                <a:latin typeface="Arial" panose="020B0604020202020204" pitchFamily="34" charset="0"/>
                <a:cs typeface="Arial" panose="020B0604020202020204" pitchFamily="34" charset="0"/>
                <a:sym typeface="+mn-ea"/>
              </a:rPr>
              <a:t>market share</a:t>
            </a:r>
            <a:endParaRPr lang="en-US" altLang="en-US">
              <a:latin typeface="Arial" panose="020B0604020202020204" pitchFamily="34" charset="0"/>
              <a:cs typeface="Arial" panose="020B0604020202020204" pitchFamily="34" charset="0"/>
            </a:endParaRPr>
          </a:p>
          <a:p>
            <a:pPr lvl="0">
              <a:lnSpc>
                <a:spcPct val="140000"/>
              </a:lnSpc>
              <a:defRPr/>
            </a:pPr>
            <a:r>
              <a:rPr lang="en-US" altLang="en-US">
                <a:latin typeface="Arial" panose="020B0604020202020204" pitchFamily="34" charset="0"/>
                <a:cs typeface="Arial" panose="020B0604020202020204" pitchFamily="34" charset="0"/>
                <a:sym typeface="+mn-ea"/>
              </a:rPr>
              <a:t>6. The cost of a company’s shares is its </a:t>
            </a:r>
            <a:r>
              <a:rPr lang="en-US" altLang="en-US" sz="2200" b="1" i="1" u="sng">
                <a:solidFill>
                  <a:srgbClr val="FF0000"/>
                </a:solidFill>
                <a:latin typeface="Arial" panose="020B0604020202020204" pitchFamily="34" charset="0"/>
                <a:cs typeface="Arial" panose="020B0604020202020204" pitchFamily="34" charset="0"/>
                <a:sym typeface="+mn-ea"/>
              </a:rPr>
              <a:t>share price</a:t>
            </a:r>
            <a:endParaRPr lang="en-US" altLang="en-US" sz="2200" b="1" i="1" u="sng" dirty="0">
              <a:solidFill>
                <a:srgbClr val="FF0000"/>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pic>
        <p:nvPicPr>
          <p:cNvPr id="3" name="稻壳儿_刀客儿出品_9"/>
          <p:cNvPicPr>
            <a:picLocks noGrp="1"/>
          </p:cNvPicPr>
          <p:nvPr/>
        </p:nvPicPr>
        <p:blipFill>
          <a:blip r:embed="rId4" cstate="print">
            <a:extLst>
              <a:ext uri="{28A0092B-C50C-407E-A947-70E740481C1C}">
                <a14:useLocalDpi xmlns:a14="http://schemas.microsoft.com/office/drawing/2010/main" val="0"/>
              </a:ext>
            </a:extLst>
          </a:blip>
          <a:srcRect l="30409" r="30409"/>
          <a:stretch>
            <a:fillRect/>
          </a:stretch>
        </p:blipFill>
        <p:spPr>
          <a:xfrm>
            <a:off x="3748170" y="406034"/>
            <a:ext cx="2345634" cy="3988696"/>
          </a:xfrm>
          <a:prstGeom prst="rect">
            <a:avLst/>
          </a:prstGeom>
          <a:effectLst>
            <a:reflection blurRad="6350" stA="50000" endA="300" endPos="90000" dist="50800" dir="5400000" sy="-100000" algn="bl" rotWithShape="0"/>
            <a:softEdge rad="635000"/>
          </a:effectLst>
        </p:spPr>
      </p:pic>
      <p:pic>
        <p:nvPicPr>
          <p:cNvPr id="4" name="稻壳儿_刀客儿出品_10"/>
          <p:cNvPicPr>
            <a:picLocks noGrp="1"/>
          </p:cNvPicPr>
          <p:nvPr/>
        </p:nvPicPr>
        <p:blipFill>
          <a:blip r:embed="rId5" cstate="print">
            <a:extLst>
              <a:ext uri="{28A0092B-C50C-407E-A947-70E740481C1C}">
                <a14:useLocalDpi xmlns:a14="http://schemas.microsoft.com/office/drawing/2010/main" val="0"/>
              </a:ext>
            </a:extLst>
          </a:blip>
          <a:srcRect l="13381" r="13381"/>
          <a:stretch>
            <a:fillRect/>
          </a:stretch>
        </p:blipFill>
        <p:spPr>
          <a:xfrm>
            <a:off x="802227" y="907051"/>
            <a:ext cx="2796586" cy="2544416"/>
          </a:xfrm>
          <a:prstGeom prst="rect">
            <a:avLst/>
          </a:prstGeom>
          <a:noFill/>
          <a:ln w="9525">
            <a:noFill/>
          </a:ln>
          <a:effectLst>
            <a:reflection blurRad="6350" stA="50000" endA="300" endPos="90000" dir="5400000" sy="-100000" algn="bl" rotWithShape="0"/>
            <a:softEdge rad="317500"/>
          </a:effectLst>
        </p:spPr>
      </p:pic>
      <p:sp>
        <p:nvSpPr>
          <p:cNvPr id="13" name="稻壳儿_刀客儿出品_11"/>
          <p:cNvSpPr txBox="1"/>
          <p:nvPr/>
        </p:nvSpPr>
        <p:spPr>
          <a:xfrm>
            <a:off x="7625835" y="405813"/>
            <a:ext cx="316865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Vocabulary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checkerboard(across)">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1" name="Picture Placeholder 100"/>
          <p:cNvPicPr>
            <a:picLocks noChangeAspect="1"/>
          </p:cNvPicPr>
          <p:nvPr/>
        </p:nvPicPr>
        <p:blipFill>
          <a:blip r:embed="rId4"/>
          <a:stretch>
            <a:fillRect/>
          </a:stretch>
        </p:blipFill>
        <p:spPr>
          <a:xfrm>
            <a:off x="3629660" y="469265"/>
            <a:ext cx="4933315" cy="5920105"/>
          </a:xfrm>
          <a:prstGeom prst="rect">
            <a:avLst/>
          </a:prstGeom>
          <a:noFill/>
          <a:ln w="9525">
            <a:noFill/>
          </a:ln>
          <a:effectLst>
            <a:reflection blurRad="6350" stA="52000" endA="300" endPos="35000" dir="5400000" sy="-100000" algn="bl" rotWithShape="0"/>
            <a:softEdge rad="127000"/>
          </a:effectLst>
          <a:scene3d>
            <a:camera prst="isometricOffAxis1Right"/>
            <a:lightRig rig="threePt" dir="t"/>
          </a:scene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nvSpPr>
        <p:spPr>
          <a:xfrm>
            <a:off x="609600" y="19050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altLang="en-US">
                <a:latin typeface="Arial Black" panose="020B0A04020102020204" charset="0"/>
                <a:cs typeface="Arial Black" panose="020B0A04020102020204" charset="0"/>
              </a:rPr>
              <a:t>Obj 1: Adverbs of time</a:t>
            </a:r>
          </a:p>
        </p:txBody>
      </p:sp>
      <p:sp>
        <p:nvSpPr>
          <p:cNvPr id="4" name="Text Box 3"/>
          <p:cNvSpPr txBox="1"/>
          <p:nvPr/>
        </p:nvSpPr>
        <p:spPr>
          <a:xfrm>
            <a:off x="6146800" y="1386840"/>
            <a:ext cx="5435600" cy="3415030"/>
          </a:xfrm>
          <a:prstGeom prst="rect">
            <a:avLst/>
          </a:prstGeom>
          <a:noFill/>
        </p:spPr>
        <p:txBody>
          <a:bodyPr wrap="square" rtlCol="0">
            <a:spAutoFit/>
          </a:bodyPr>
          <a:lstStyle/>
          <a:p>
            <a:r>
              <a:rPr lang="en-US" altLang="en-US">
                <a:latin typeface="Arial" panose="020B0604020202020204" pitchFamily="34" charset="0"/>
                <a:cs typeface="Arial" panose="020B0604020202020204" pitchFamily="34" charset="0"/>
              </a:rPr>
              <a:t>On a </a:t>
            </a:r>
            <a:r>
              <a:rPr lang="en-US" altLang="en-US" b="1" i="1" u="sng">
                <a:solidFill>
                  <a:srgbClr val="FF0000"/>
                </a:solidFill>
                <a:latin typeface="Arial" panose="020B0604020202020204" pitchFamily="34" charset="0"/>
                <a:cs typeface="Arial" panose="020B0604020202020204" pitchFamily="34" charset="0"/>
              </a:rPr>
              <a:t>weekly </a:t>
            </a:r>
            <a:r>
              <a:rPr lang="en-US" altLang="en-US">
                <a:latin typeface="Arial" panose="020B0604020202020204" pitchFamily="34" charset="0"/>
                <a:cs typeface="Arial" panose="020B0604020202020204" pitchFamily="34" charset="0"/>
              </a:rPr>
              <a:t>basis we attend staff meetings online or in-person. The main goal for this is to report on whether we met our </a:t>
            </a:r>
            <a:r>
              <a:rPr lang="en-US" altLang="en-US" b="1" i="1" u="sng">
                <a:solidFill>
                  <a:srgbClr val="FF0000"/>
                </a:solidFill>
                <a:latin typeface="Arial" panose="020B0604020202020204" pitchFamily="34" charset="0"/>
                <a:cs typeface="Arial" panose="020B0604020202020204" pitchFamily="34" charset="0"/>
              </a:rPr>
              <a:t>daily </a:t>
            </a:r>
            <a:r>
              <a:rPr lang="en-US" altLang="en-US">
                <a:latin typeface="Arial" panose="020B0604020202020204" pitchFamily="34" charset="0"/>
                <a:cs typeface="Arial" panose="020B0604020202020204" pitchFamily="34" charset="0"/>
              </a:rPr>
              <a:t>sales targets.</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Our company </a:t>
            </a:r>
            <a:r>
              <a:rPr lang="en-US" altLang="en-US" b="1" i="1" u="sng">
                <a:solidFill>
                  <a:srgbClr val="FF0000"/>
                </a:solidFill>
                <a:latin typeface="Arial" panose="020B0604020202020204" pitchFamily="34" charset="0"/>
                <a:cs typeface="Arial" panose="020B0604020202020204" pitchFamily="34" charset="0"/>
              </a:rPr>
              <a:t>usually </a:t>
            </a:r>
            <a:r>
              <a:rPr lang="en-US" altLang="en-US">
                <a:latin typeface="Arial" panose="020B0604020202020204" pitchFamily="34" charset="0"/>
                <a:cs typeface="Arial" panose="020B0604020202020204" pitchFamily="34" charset="0"/>
              </a:rPr>
              <a:t>wins the company awards in our industry at the industry conference that is held  </a:t>
            </a:r>
            <a:r>
              <a:rPr lang="en-US" altLang="en-US" b="1" i="1" u="sng">
                <a:solidFill>
                  <a:srgbClr val="FF0000"/>
                </a:solidFill>
                <a:latin typeface="Arial" panose="020B0604020202020204" pitchFamily="34" charset="0"/>
                <a:cs typeface="Arial" panose="020B0604020202020204" pitchFamily="34" charset="0"/>
              </a:rPr>
              <a:t>annually </a:t>
            </a:r>
            <a:r>
              <a:rPr lang="en-US" altLang="en-US">
                <a:latin typeface="Arial" panose="020B0604020202020204" pitchFamily="34" charset="0"/>
                <a:cs typeface="Arial" panose="020B0604020202020204" pitchFamily="34" charset="0"/>
              </a:rPr>
              <a:t>as we are the market leader.</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We are </a:t>
            </a:r>
            <a:r>
              <a:rPr lang="en-US" altLang="en-US" b="1" i="1" u="sng">
                <a:solidFill>
                  <a:srgbClr val="FF0000"/>
                </a:solidFill>
                <a:latin typeface="Arial" panose="020B0604020202020204" pitchFamily="34" charset="0"/>
                <a:cs typeface="Arial" panose="020B0604020202020204" pitchFamily="34" charset="0"/>
              </a:rPr>
              <a:t>constantly </a:t>
            </a:r>
            <a:r>
              <a:rPr lang="en-US" altLang="en-US">
                <a:latin typeface="Arial" panose="020B0604020202020204" pitchFamily="34" charset="0"/>
                <a:cs typeface="Arial" panose="020B0604020202020204" pitchFamily="34" charset="0"/>
              </a:rPr>
              <a:t>reminded by our management on the importance of understanding our company culture because this has </a:t>
            </a:r>
            <a:r>
              <a:rPr lang="en-US" altLang="en-US" b="1" i="1" u="sng">
                <a:solidFill>
                  <a:srgbClr val="FF0000"/>
                </a:solidFill>
                <a:latin typeface="Arial" panose="020B0604020202020204" pitchFamily="34" charset="0"/>
                <a:cs typeface="Arial" panose="020B0604020202020204" pitchFamily="34" charset="0"/>
              </a:rPr>
              <a:t>always </a:t>
            </a:r>
            <a:r>
              <a:rPr lang="en-US" altLang="en-US">
                <a:latin typeface="Arial" panose="020B0604020202020204" pitchFamily="34" charset="0"/>
                <a:cs typeface="Arial" panose="020B0604020202020204" pitchFamily="34" charset="0"/>
              </a:rPr>
              <a:t>been our source of competitive advantage.</a:t>
            </a:r>
          </a:p>
        </p:txBody>
      </p:sp>
      <p:pic>
        <p:nvPicPr>
          <p:cNvPr id="110" name="Content Placeholder 109"/>
          <p:cNvPicPr/>
          <p:nvPr/>
        </p:nvPicPr>
        <p:blipFill>
          <a:blip r:embed="rId4"/>
          <a:srcRect l="10961" t="206" r="6373" b="7326"/>
          <a:stretch>
            <a:fillRect/>
          </a:stretch>
        </p:blipFill>
        <p:spPr>
          <a:xfrm>
            <a:off x="609600" y="961390"/>
            <a:ext cx="4324350" cy="4568190"/>
          </a:xfrm>
          <a:prstGeom prst="rect">
            <a:avLst/>
          </a:prstGeom>
          <a:noFill/>
          <a:ln w="9525">
            <a:noFill/>
          </a:ln>
          <a:effectLst>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 name="Picture Placeholder 101"/>
          <p:cNvPicPr>
            <a:picLocks noChangeAspect="1"/>
          </p:cNvPicPr>
          <p:nvPr/>
        </p:nvPicPr>
        <p:blipFill>
          <a:blip r:embed="rId4"/>
          <a:stretch>
            <a:fillRect/>
          </a:stretch>
        </p:blipFill>
        <p:spPr>
          <a:xfrm>
            <a:off x="3253105" y="867410"/>
            <a:ext cx="7532370" cy="5918200"/>
          </a:xfrm>
          <a:prstGeom prst="rect">
            <a:avLst/>
          </a:prstGeom>
          <a:noFill/>
          <a:ln w="9525">
            <a:noFill/>
          </a:ln>
          <a:effectLst>
            <a:softEdge rad="317500"/>
          </a:effectLst>
        </p:spPr>
      </p:pic>
      <p:pic>
        <p:nvPicPr>
          <p:cNvPr id="106" name="Picture Placeholder 105"/>
          <p:cNvPicPr>
            <a:picLocks noChangeAspect="1"/>
          </p:cNvPicPr>
          <p:nvPr/>
        </p:nvPicPr>
        <p:blipFill>
          <a:blip r:embed="rId5"/>
          <a:stretch>
            <a:fillRect/>
          </a:stretch>
        </p:blipFill>
        <p:spPr>
          <a:xfrm>
            <a:off x="172085" y="1927860"/>
            <a:ext cx="3745230" cy="2707005"/>
          </a:xfrm>
          <a:prstGeom prst="rect">
            <a:avLst/>
          </a:prstGeom>
          <a:noFill/>
          <a:ln w="9525">
            <a:noFill/>
          </a:ln>
          <a:effectLst>
            <a:reflection blurRad="6350" stA="50000" endA="300" endPos="55000" dir="5400000" sy="-100000" algn="bl" rotWithShape="0"/>
            <a:softEdge rad="1270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Placeholder 3"/>
          <p:cNvPicPr>
            <a:picLocks noChangeAspect="1"/>
          </p:cNvPicPr>
          <p:nvPr/>
        </p:nvPicPr>
        <p:blipFill>
          <a:blip r:embed="rId4"/>
          <a:stretch>
            <a:fillRect/>
          </a:stretch>
        </p:blipFill>
        <p:spPr>
          <a:xfrm>
            <a:off x="3270250" y="1506855"/>
            <a:ext cx="7154545" cy="4417695"/>
          </a:xfrm>
          <a:prstGeom prst="rect">
            <a:avLst/>
          </a:prstGeom>
          <a:noFill/>
          <a:ln w="9525">
            <a:noFill/>
          </a:ln>
        </p:spPr>
      </p:pic>
      <p:sp>
        <p:nvSpPr>
          <p:cNvPr id="2" name="Text Box 1"/>
          <p:cNvSpPr txBox="1"/>
          <p:nvPr/>
        </p:nvSpPr>
        <p:spPr>
          <a:xfrm>
            <a:off x="153670" y="127635"/>
            <a:ext cx="5541010" cy="368300"/>
          </a:xfrm>
          <a:prstGeom prst="rect">
            <a:avLst/>
          </a:prstGeom>
          <a:noFill/>
        </p:spPr>
        <p:txBody>
          <a:bodyPr wrap="square" rtlCol="0">
            <a:spAutoFit/>
          </a:bodyPr>
          <a:lstStyle/>
          <a:p>
            <a:r>
              <a:rPr lang="en-US" altLang="en-US" b="1">
                <a:latin typeface="Arial Black" panose="020B0A04020102020204" charset="0"/>
                <a:cs typeface="Arial Black" panose="020B0A04020102020204" charset="0"/>
              </a:rPr>
              <a:t>Obj 2: Present Continuous Tense:</a:t>
            </a:r>
          </a:p>
        </p:txBody>
      </p:sp>
      <p:pic>
        <p:nvPicPr>
          <p:cNvPr id="109" name="Picture Placeholder 108"/>
          <p:cNvPicPr/>
          <p:nvPr/>
        </p:nvPicPr>
        <p:blipFill>
          <a:blip r:embed="rId5"/>
          <a:stretch>
            <a:fillRect/>
          </a:stretch>
        </p:blipFill>
        <p:spPr>
          <a:xfrm>
            <a:off x="0" y="648970"/>
            <a:ext cx="3872230" cy="2544445"/>
          </a:xfrm>
          <a:prstGeom prst="rect">
            <a:avLst/>
          </a:prstGeom>
          <a:noFill/>
          <a:ln w="9525">
            <a:noFill/>
          </a:ln>
          <a:effectLst>
            <a:reflection blurRad="6350" stA="50000" endA="300" endPos="55500" dist="50800" dir="5400000" sy="-100000" algn="bl" rotWithShape="0"/>
            <a:softEdge rad="317500"/>
          </a:effectLst>
        </p:spPr>
      </p:pic>
      <p:sp>
        <p:nvSpPr>
          <p:cNvPr id="3" name="Text Box 2"/>
          <p:cNvSpPr txBox="1"/>
          <p:nvPr/>
        </p:nvSpPr>
        <p:spPr>
          <a:xfrm>
            <a:off x="4722495" y="810260"/>
            <a:ext cx="5310505" cy="368300"/>
          </a:xfrm>
          <a:prstGeom prst="rect">
            <a:avLst/>
          </a:prstGeom>
          <a:noFill/>
        </p:spPr>
        <p:txBody>
          <a:bodyPr wrap="square" rtlCol="0">
            <a:spAutoFit/>
          </a:bodyPr>
          <a:lstStyle/>
          <a:p>
            <a:r>
              <a:rPr lang="en-US" altLang="en-US" b="1">
                <a:latin typeface="Arial Black" panose="020B0A04020102020204" charset="0"/>
                <a:cs typeface="Arial Black" panose="020B0A04020102020204" charset="0"/>
              </a:rPr>
              <a:t>Which department is responsible for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5"/>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6"/>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稻壳儿_刀客儿出品_1"/>
          <p:cNvSpPr txBox="1"/>
          <p:nvPr>
            <p:custDataLst>
              <p:tags r:id="rId1"/>
            </p:custDataLst>
          </p:nvPr>
        </p:nvSpPr>
        <p:spPr>
          <a:xfrm>
            <a:off x="7631674" y="1685304"/>
            <a:ext cx="3103880" cy="521970"/>
          </a:xfrm>
          <a:prstGeom prst="rect">
            <a:avLst/>
          </a:prstGeom>
          <a:noFill/>
        </p:spPr>
        <p:txBody>
          <a:bodyPr wrap="none" rtlCol="0">
            <a:spAutoFit/>
          </a:bodyPr>
          <a:lstStyle/>
          <a:p>
            <a:r>
              <a:rPr lang="en-US" altLang="en-US" sz="2800" b="1" dirty="0">
                <a:solidFill>
                  <a:schemeClr val="tx1"/>
                </a:solidFill>
                <a:latin typeface="Arial Black" panose="020B0A04020102020204" charset="0"/>
                <a:ea typeface="Arial" panose="020B0604020202020204" pitchFamily="34" charset="0"/>
                <a:cs typeface="Arial Black" panose="020B0A04020102020204" charset="0"/>
              </a:rPr>
              <a:t>SWOT Analysis</a:t>
            </a:r>
          </a:p>
        </p:txBody>
      </p:sp>
      <p:sp>
        <p:nvSpPr>
          <p:cNvPr id="3" name="稻壳儿_刀客儿出品_2"/>
          <p:cNvSpPr txBox="1"/>
          <p:nvPr>
            <p:custDataLst>
              <p:tags r:id="rId2"/>
            </p:custDataLst>
          </p:nvPr>
        </p:nvSpPr>
        <p:spPr>
          <a:xfrm>
            <a:off x="7631675" y="2293752"/>
            <a:ext cx="3507380" cy="2249170"/>
          </a:xfrm>
          <a:prstGeom prst="rect">
            <a:avLst/>
          </a:prstGeom>
          <a:noFill/>
        </p:spPr>
        <p:txBody>
          <a:bodyPr wrap="square" rtlCol="0">
            <a:spAutoFit/>
          </a:bodyPr>
          <a:lstStyle/>
          <a:p>
            <a:pPr>
              <a:lnSpc>
                <a:spcPct val="130000"/>
              </a:lnSpc>
            </a:pPr>
            <a:r>
              <a:rPr lang="en-US" altLang="en-US" dirty="0">
                <a:solidFill>
                  <a:schemeClr val="tx1"/>
                </a:solidFill>
                <a:latin typeface="Arial" panose="020B0604020202020204" pitchFamily="34" charset="0"/>
                <a:ea typeface="Arial" panose="020B0604020202020204" pitchFamily="34" charset="0"/>
              </a:rPr>
              <a:t>Using the vocabulary and tense that we discussed earlier, we will take the task of conducting an analysis that looks at our company’s current state of affairs internally and externally </a:t>
            </a:r>
          </a:p>
        </p:txBody>
      </p:sp>
      <p:sp>
        <p:nvSpPr>
          <p:cNvPr id="4" name="稻壳儿_刀客儿出品_3"/>
          <p:cNvSpPr txBox="1"/>
          <p:nvPr>
            <p:custDataLst>
              <p:tags r:id="rId3"/>
            </p:custDataLst>
          </p:nvPr>
        </p:nvSpPr>
        <p:spPr>
          <a:xfrm>
            <a:off x="1511660" y="2118186"/>
            <a:ext cx="2656840" cy="768350"/>
          </a:xfrm>
          <a:prstGeom prst="rect">
            <a:avLst/>
          </a:prstGeom>
          <a:noFill/>
        </p:spPr>
        <p:txBody>
          <a:bodyPr wrap="none" rtlCol="0">
            <a:spAutoFit/>
          </a:bodyPr>
          <a:lstStyle/>
          <a:p>
            <a:r>
              <a:rPr lang="en-US" altLang="zh-CN" sz="4400" b="1" dirty="0">
                <a:solidFill>
                  <a:schemeClr val="tx1"/>
                </a:solidFill>
                <a:latin typeface="Arial Black" panose="020B0A04020102020204" charset="0"/>
                <a:ea typeface="Arial" panose="020B0604020202020204" pitchFamily="34" charset="0"/>
                <a:cs typeface="Arial Black" panose="020B0A04020102020204" charset="0"/>
              </a:rPr>
              <a:t>PART.02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Picture 110"/>
          <p:cNvPicPr/>
          <p:nvPr/>
        </p:nvPicPr>
        <p:blipFill>
          <a:blip r:embed="rId4"/>
          <a:stretch>
            <a:fillRect/>
          </a:stretch>
        </p:blipFill>
        <p:spPr>
          <a:xfrm>
            <a:off x="0" y="-635"/>
            <a:ext cx="12192000" cy="6858635"/>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稻壳儿_刀客儿出品_3"/>
          <p:cNvSpPr txBox="1"/>
          <p:nvPr/>
        </p:nvSpPr>
        <p:spPr>
          <a:xfrm>
            <a:off x="1435255" y="273960"/>
            <a:ext cx="263398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Strengths</a:t>
            </a:r>
          </a:p>
        </p:txBody>
      </p:sp>
      <p:sp>
        <p:nvSpPr>
          <p:cNvPr id="32" name="稻壳儿_刀客儿出品_5"/>
          <p:cNvSpPr/>
          <p:nvPr/>
        </p:nvSpPr>
        <p:spPr>
          <a:xfrm>
            <a:off x="1616230" y="4748858"/>
            <a:ext cx="918339" cy="918339"/>
          </a:xfrm>
          <a:prstGeom prst="ellipse">
            <a:avLst/>
          </a:prstGeom>
          <a:solidFill>
            <a:schemeClr val="accent4"/>
          </a:solidFill>
          <a:ln w="254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3" name="稻壳儿_刀客儿出品_6"/>
          <p:cNvSpPr txBox="1"/>
          <p:nvPr/>
        </p:nvSpPr>
        <p:spPr>
          <a:xfrm>
            <a:off x="2724869" y="4777205"/>
            <a:ext cx="913765" cy="338455"/>
          </a:xfrm>
          <a:prstGeom prst="rect">
            <a:avLst/>
          </a:prstGeom>
          <a:noFill/>
        </p:spPr>
        <p:txBody>
          <a:bodyPr wrap="none" lIns="90000" tIns="46800" rIns="90000" bIns="46800" rtlCol="0">
            <a:spAutoFit/>
          </a:bodyPr>
          <a:lstStyle/>
          <a:p>
            <a:r>
              <a:rPr lang="en-US" altLang="en-US" sz="1600" b="1"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Activity</a:t>
            </a:r>
          </a:p>
        </p:txBody>
      </p:sp>
      <p:sp>
        <p:nvSpPr>
          <p:cNvPr id="34" name="稻壳儿_刀客儿出品_7"/>
          <p:cNvSpPr txBox="1"/>
          <p:nvPr/>
        </p:nvSpPr>
        <p:spPr>
          <a:xfrm>
            <a:off x="2724868" y="5123413"/>
            <a:ext cx="3259073" cy="497840"/>
          </a:xfrm>
          <a:prstGeom prst="rect">
            <a:avLst/>
          </a:prstGeom>
          <a:noFill/>
        </p:spPr>
        <p:txBody>
          <a:bodyPr wrap="square" lIns="90000" tIns="46800" rIns="90000" bIns="46800" rtlCol="0">
            <a:spAutoFit/>
          </a:bodyPr>
          <a:lstStyle/>
          <a:p>
            <a:pPr>
              <a:lnSpc>
                <a:spcPct val="110000"/>
              </a:lnSpc>
            </a:pPr>
            <a:r>
              <a:rPr lang="en-US" alt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What are the strengths that you think set your company apart form the rest of your market?</a:t>
            </a:r>
            <a:endParaRPr lang="en-US" altLang="en-US" sz="12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6" name="稻壳儿_刀客儿出品_9"/>
          <p:cNvSpPr txBox="1"/>
          <p:nvPr/>
        </p:nvSpPr>
        <p:spPr>
          <a:xfrm>
            <a:off x="1435255" y="1205172"/>
            <a:ext cx="4225621" cy="3001010"/>
          </a:xfrm>
          <a:prstGeom prst="rect">
            <a:avLst/>
          </a:prstGeom>
          <a:noFill/>
        </p:spPr>
        <p:txBody>
          <a:bodyPr wrap="square" lIns="90000" tIns="46800" rIns="90000" bIns="46800" rtlCol="0">
            <a:spAutoFit/>
          </a:bodyPr>
          <a:lstStyle/>
          <a:p>
            <a:pPr>
              <a:lnSpc>
                <a:spcPct val="150000"/>
              </a:lnSpc>
            </a:pPr>
            <a:r>
              <a:rPr lang="en-US" altLang="en-US" dirty="0">
                <a:latin typeface="Arial" panose="020B0604020202020204" pitchFamily="34" charset="0"/>
                <a:ea typeface="Arial" panose="020B0604020202020204" pitchFamily="34" charset="0"/>
                <a:cs typeface="Arial" panose="020B0604020202020204" pitchFamily="34" charset="0"/>
                <a:sym typeface="+mn-lt"/>
              </a:rPr>
              <a:t>These refer to the things that our company is doing right. These factors are internal and are mostly determined by the systems our company puts in place to achieve the goals and objectives as set by the vision of our company.</a:t>
            </a:r>
          </a:p>
        </p:txBody>
      </p:sp>
      <p:pic>
        <p:nvPicPr>
          <p:cNvPr id="119" name="Picture 118"/>
          <p:cNvPicPr/>
          <p:nvPr/>
        </p:nvPicPr>
        <p:blipFill>
          <a:blip r:embed="rId4"/>
          <a:stretch>
            <a:fillRect/>
          </a:stretch>
        </p:blipFill>
        <p:spPr>
          <a:xfrm>
            <a:off x="5984240" y="1557655"/>
            <a:ext cx="5051425" cy="3068955"/>
          </a:xfrm>
          <a:prstGeom prst="rect">
            <a:avLst/>
          </a:prstGeom>
          <a:noFill/>
          <a:ln w="9525">
            <a:noFill/>
          </a:ln>
          <a:effectLst>
            <a:reflection blurRad="6350" stA="50000" endA="300" endPos="55500" dist="50800" dir="5400000" sy="-100000" algn="bl" rotWithShape="0"/>
            <a:softEdge rad="317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稻壳儿_刀客儿出品_3"/>
          <p:cNvSpPr txBox="1"/>
          <p:nvPr/>
        </p:nvSpPr>
        <p:spPr>
          <a:xfrm>
            <a:off x="1390805" y="340000"/>
            <a:ext cx="3301365"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Weaknesses</a:t>
            </a:r>
          </a:p>
        </p:txBody>
      </p:sp>
      <p:sp>
        <p:nvSpPr>
          <p:cNvPr id="32" name="稻壳儿_刀客儿出品_5"/>
          <p:cNvSpPr/>
          <p:nvPr/>
        </p:nvSpPr>
        <p:spPr>
          <a:xfrm>
            <a:off x="1571780" y="4814898"/>
            <a:ext cx="918339" cy="918339"/>
          </a:xfrm>
          <a:prstGeom prst="ellipse">
            <a:avLst/>
          </a:prstGeom>
          <a:solidFill>
            <a:schemeClr val="accent4"/>
          </a:solidFill>
          <a:ln w="254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3" name="稻壳儿_刀客儿出品_6"/>
          <p:cNvSpPr txBox="1"/>
          <p:nvPr/>
        </p:nvSpPr>
        <p:spPr>
          <a:xfrm>
            <a:off x="2680419" y="4843245"/>
            <a:ext cx="913765" cy="338455"/>
          </a:xfrm>
          <a:prstGeom prst="rect">
            <a:avLst/>
          </a:prstGeom>
          <a:noFill/>
        </p:spPr>
        <p:txBody>
          <a:bodyPr wrap="none" lIns="90000" tIns="46800" rIns="90000" bIns="46800" rtlCol="0">
            <a:spAutoFit/>
          </a:bodyPr>
          <a:lstStyle/>
          <a:p>
            <a:r>
              <a:rPr lang="en-US" altLang="en-US" sz="1600" b="1"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Activity</a:t>
            </a:r>
          </a:p>
        </p:txBody>
      </p:sp>
      <p:sp>
        <p:nvSpPr>
          <p:cNvPr id="34" name="稻壳儿_刀客儿出品_7"/>
          <p:cNvSpPr txBox="1"/>
          <p:nvPr/>
        </p:nvSpPr>
        <p:spPr>
          <a:xfrm>
            <a:off x="2680418" y="5189453"/>
            <a:ext cx="3259073" cy="700405"/>
          </a:xfrm>
          <a:prstGeom prst="rect">
            <a:avLst/>
          </a:prstGeom>
          <a:noFill/>
        </p:spPr>
        <p:txBody>
          <a:bodyPr wrap="square" lIns="90000" tIns="46800" rIns="90000" bIns="46800" rtlCol="0">
            <a:spAutoFit/>
          </a:bodyPr>
          <a:lstStyle/>
          <a:p>
            <a:pPr>
              <a:lnSpc>
                <a:spcPct val="110000"/>
              </a:lnSpc>
            </a:pPr>
            <a:r>
              <a:rPr lang="en-US" alt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What are the weaknesses that are holding your company back from fulfilling its full potential?</a:t>
            </a:r>
            <a:endParaRPr lang="en-US" altLang="en-US" sz="12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6" name="稻壳儿_刀客儿出品_9"/>
          <p:cNvSpPr txBox="1"/>
          <p:nvPr/>
        </p:nvSpPr>
        <p:spPr>
          <a:xfrm>
            <a:off x="1390805" y="1271212"/>
            <a:ext cx="4225621" cy="2585720"/>
          </a:xfrm>
          <a:prstGeom prst="rect">
            <a:avLst/>
          </a:prstGeom>
          <a:noFill/>
        </p:spPr>
        <p:txBody>
          <a:bodyPr wrap="square" lIns="90000" tIns="46800" rIns="90000" bIns="46800" rtlCol="0">
            <a:spAutoFit/>
          </a:bodyPr>
          <a:lstStyle/>
          <a:p>
            <a:pPr>
              <a:lnSpc>
                <a:spcPct val="150000"/>
              </a:lnSpc>
            </a:pPr>
            <a:r>
              <a:rPr lang="en-US" altLang="en-US" dirty="0">
                <a:latin typeface="Arial" panose="020B0604020202020204" pitchFamily="34" charset="0"/>
                <a:ea typeface="Arial" panose="020B0604020202020204" pitchFamily="34" charset="0"/>
                <a:cs typeface="Arial" panose="020B0604020202020204" pitchFamily="34" charset="0"/>
                <a:sym typeface="+mn-lt"/>
              </a:rPr>
              <a:t>Various things hold us back from from becoming the best versions of ourselves, however, the most important things usually require us to look into the mirror before blaming others for our failures.</a:t>
            </a:r>
          </a:p>
        </p:txBody>
      </p:sp>
      <p:pic>
        <p:nvPicPr>
          <p:cNvPr id="112" name="Content Placeholder 111"/>
          <p:cNvPicPr>
            <a:picLocks noChangeAspect="1"/>
          </p:cNvPicPr>
          <p:nvPr/>
        </p:nvPicPr>
        <p:blipFill>
          <a:blip r:embed="rId4"/>
          <a:stretch>
            <a:fillRect/>
          </a:stretch>
        </p:blipFill>
        <p:spPr>
          <a:xfrm>
            <a:off x="6529705" y="1665605"/>
            <a:ext cx="5662295" cy="3754755"/>
          </a:xfrm>
          <a:prstGeom prst="rect">
            <a:avLst/>
          </a:prstGeom>
          <a:noFill/>
          <a:ln w="9525">
            <a:noFill/>
          </a:ln>
          <a:effectLst>
            <a:reflection blurRad="6350" stA="50000" endA="300" endPos="55000" dir="5400000" sy="-100000" algn="bl" rotWithShape="0"/>
            <a:softEdge rad="317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稻壳儿_刀客儿出品_3"/>
          <p:cNvSpPr txBox="1"/>
          <p:nvPr/>
        </p:nvSpPr>
        <p:spPr>
          <a:xfrm>
            <a:off x="1435255" y="273960"/>
            <a:ext cx="361696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Opportunities</a:t>
            </a:r>
          </a:p>
        </p:txBody>
      </p:sp>
      <p:sp>
        <p:nvSpPr>
          <p:cNvPr id="32" name="稻壳儿_刀客儿出品_5"/>
          <p:cNvSpPr/>
          <p:nvPr/>
        </p:nvSpPr>
        <p:spPr>
          <a:xfrm>
            <a:off x="1616230" y="4748858"/>
            <a:ext cx="918339" cy="918339"/>
          </a:xfrm>
          <a:prstGeom prst="ellipse">
            <a:avLst/>
          </a:prstGeom>
          <a:solidFill>
            <a:schemeClr val="accent4"/>
          </a:solidFill>
          <a:ln w="254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3" name="稻壳儿_刀客儿出品_6"/>
          <p:cNvSpPr txBox="1"/>
          <p:nvPr/>
        </p:nvSpPr>
        <p:spPr>
          <a:xfrm>
            <a:off x="2724869" y="4777205"/>
            <a:ext cx="913765" cy="338455"/>
          </a:xfrm>
          <a:prstGeom prst="rect">
            <a:avLst/>
          </a:prstGeom>
          <a:noFill/>
        </p:spPr>
        <p:txBody>
          <a:bodyPr wrap="none" lIns="90000" tIns="46800" rIns="90000" bIns="46800" rtlCol="0">
            <a:spAutoFit/>
          </a:bodyPr>
          <a:lstStyle/>
          <a:p>
            <a:r>
              <a:rPr lang="en-US" altLang="en-US" sz="1600" b="1"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Activity</a:t>
            </a:r>
          </a:p>
        </p:txBody>
      </p:sp>
      <p:sp>
        <p:nvSpPr>
          <p:cNvPr id="34" name="稻壳儿_刀客儿出品_7"/>
          <p:cNvSpPr txBox="1"/>
          <p:nvPr/>
        </p:nvSpPr>
        <p:spPr>
          <a:xfrm>
            <a:off x="2724868" y="5123413"/>
            <a:ext cx="3259073" cy="497840"/>
          </a:xfrm>
          <a:prstGeom prst="rect">
            <a:avLst/>
          </a:prstGeom>
          <a:noFill/>
        </p:spPr>
        <p:txBody>
          <a:bodyPr wrap="square" lIns="90000" tIns="46800" rIns="90000" bIns="46800" rtlCol="0">
            <a:spAutoFit/>
          </a:bodyPr>
          <a:lstStyle/>
          <a:p>
            <a:pPr>
              <a:lnSpc>
                <a:spcPct val="110000"/>
              </a:lnSpc>
            </a:pPr>
            <a:r>
              <a:rPr lang="en-US" alt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What are the </a:t>
            </a:r>
            <a:r>
              <a:rPr 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opportunities that your company cannot afford to miss?</a:t>
            </a:r>
            <a:endParaRPr lang="en-US" sz="12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pic>
        <p:nvPicPr>
          <p:cNvPr id="113" name="Content Placeholder 112"/>
          <p:cNvPicPr>
            <a:picLocks noChangeAspect="1"/>
          </p:cNvPicPr>
          <p:nvPr/>
        </p:nvPicPr>
        <p:blipFill>
          <a:blip r:embed="rId4"/>
          <a:stretch>
            <a:fillRect/>
          </a:stretch>
        </p:blipFill>
        <p:spPr>
          <a:xfrm>
            <a:off x="489585" y="1006475"/>
            <a:ext cx="5384800" cy="3509010"/>
          </a:xfrm>
          <a:prstGeom prst="rect">
            <a:avLst/>
          </a:prstGeom>
          <a:noFill/>
          <a:ln w="9525">
            <a:noFill/>
          </a:ln>
          <a:effectLst>
            <a:reflection blurRad="6350" stA="50000" endA="300" endPos="38500" dist="50800" dir="5400000" sy="-100000" algn="bl" rotWithShape="0"/>
            <a:softEdge rad="127000"/>
          </a:effectLst>
        </p:spPr>
      </p:pic>
      <p:pic>
        <p:nvPicPr>
          <p:cNvPr id="114" name="Content Placeholder 113"/>
          <p:cNvPicPr/>
          <p:nvPr/>
        </p:nvPicPr>
        <p:blipFill>
          <a:blip r:embed="rId5"/>
          <a:stretch>
            <a:fillRect/>
          </a:stretch>
        </p:blipFill>
        <p:spPr>
          <a:xfrm>
            <a:off x="6197600" y="1174750"/>
            <a:ext cx="5384800" cy="4953000"/>
          </a:xfrm>
          <a:prstGeom prst="rect">
            <a:avLst/>
          </a:prstGeom>
          <a:noFill/>
          <a:ln w="9525">
            <a:noFill/>
          </a:ln>
          <a:effectLst>
            <a:reflection blurRad="6350" stA="50000" endA="300" endPos="55500" dist="50800" dir="5400000" sy="-100000" algn="bl" rotWithShape="0"/>
            <a:softEdge rad="317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稻壳儿_刀客儿出品_3"/>
          <p:cNvSpPr txBox="1"/>
          <p:nvPr/>
        </p:nvSpPr>
        <p:spPr>
          <a:xfrm>
            <a:off x="1435255" y="273960"/>
            <a:ext cx="212852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Threats</a:t>
            </a:r>
          </a:p>
        </p:txBody>
      </p:sp>
      <p:sp>
        <p:nvSpPr>
          <p:cNvPr id="32" name="稻壳儿_刀客儿出品_5"/>
          <p:cNvSpPr/>
          <p:nvPr/>
        </p:nvSpPr>
        <p:spPr>
          <a:xfrm>
            <a:off x="1616230" y="4748858"/>
            <a:ext cx="918339" cy="918339"/>
          </a:xfrm>
          <a:prstGeom prst="ellipse">
            <a:avLst/>
          </a:prstGeom>
          <a:solidFill>
            <a:schemeClr val="accent4"/>
          </a:solidFill>
          <a:ln w="254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3" name="稻壳儿_刀客儿出品_6"/>
          <p:cNvSpPr txBox="1"/>
          <p:nvPr/>
        </p:nvSpPr>
        <p:spPr>
          <a:xfrm>
            <a:off x="2724869" y="4777205"/>
            <a:ext cx="913765" cy="338455"/>
          </a:xfrm>
          <a:prstGeom prst="rect">
            <a:avLst/>
          </a:prstGeom>
          <a:noFill/>
        </p:spPr>
        <p:txBody>
          <a:bodyPr wrap="none" lIns="90000" tIns="46800" rIns="90000" bIns="46800" rtlCol="0">
            <a:spAutoFit/>
          </a:bodyPr>
          <a:lstStyle/>
          <a:p>
            <a:r>
              <a:rPr lang="en-US" altLang="en-US" sz="1600" b="1"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Activity</a:t>
            </a:r>
          </a:p>
        </p:txBody>
      </p:sp>
      <p:sp>
        <p:nvSpPr>
          <p:cNvPr id="34" name="稻壳儿_刀客儿出品_7"/>
          <p:cNvSpPr txBox="1"/>
          <p:nvPr/>
        </p:nvSpPr>
        <p:spPr>
          <a:xfrm>
            <a:off x="2724868" y="5123413"/>
            <a:ext cx="3259073" cy="700405"/>
          </a:xfrm>
          <a:prstGeom prst="rect">
            <a:avLst/>
          </a:prstGeom>
          <a:noFill/>
        </p:spPr>
        <p:txBody>
          <a:bodyPr wrap="square" lIns="90000" tIns="46800" rIns="90000" bIns="46800" rtlCol="0">
            <a:spAutoFit/>
          </a:bodyPr>
          <a:lstStyle/>
          <a:p>
            <a:pPr>
              <a:lnSpc>
                <a:spcPct val="110000"/>
              </a:lnSpc>
            </a:pPr>
            <a:r>
              <a:rPr lang="en-US" alt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What threats may result from the opportunities that you mentioned in the previous task?</a:t>
            </a:r>
            <a:endParaRPr lang="en-US" altLang="en-US" sz="12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pic>
        <p:nvPicPr>
          <p:cNvPr id="115" name="Content Placeholder 114"/>
          <p:cNvPicPr>
            <a:picLocks noChangeAspect="1"/>
          </p:cNvPicPr>
          <p:nvPr/>
        </p:nvPicPr>
        <p:blipFill>
          <a:blip r:embed="rId4"/>
          <a:stretch>
            <a:fillRect/>
          </a:stretch>
        </p:blipFill>
        <p:spPr>
          <a:xfrm>
            <a:off x="5725795" y="635"/>
            <a:ext cx="6466205" cy="6857365"/>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nvSpPr>
        <p:spPr>
          <a:xfrm>
            <a:off x="611505" y="73279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altLang="en-US" sz="2400" b="1">
                <a:latin typeface="Arial Black" panose="020B0A04020102020204" charset="0"/>
                <a:cs typeface="Arial Black" panose="020B0A04020102020204" charset="0"/>
              </a:rPr>
              <a:t>Obj 3: Superlatives and Comparatives</a:t>
            </a:r>
          </a:p>
        </p:txBody>
      </p:sp>
      <p:sp>
        <p:nvSpPr>
          <p:cNvPr id="3" name="Content Placeholder 2"/>
          <p:cNvSpPr>
            <a:spLocks noGrp="1"/>
          </p:cNvSpPr>
          <p:nvPr/>
        </p:nvSpPr>
        <p:spPr>
          <a:xfrm>
            <a:off x="611505" y="1717040"/>
            <a:ext cx="5384800" cy="3957320"/>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en-US" sz="1800">
                <a:latin typeface="Arial" panose="020B0604020202020204" pitchFamily="34" charset="0"/>
                <a:cs typeface="Arial" panose="020B0604020202020204" pitchFamily="34" charset="0"/>
              </a:rPr>
              <a:t>U</a:t>
            </a:r>
            <a:r>
              <a:rPr lang="en-US" sz="1800">
                <a:latin typeface="Arial" panose="020B0604020202020204" pitchFamily="34" charset="0"/>
                <a:cs typeface="Arial" panose="020B0604020202020204" pitchFamily="34" charset="0"/>
              </a:rPr>
              <a:t>sing the information on the table, ask questions to practice the following comparatives and superlatives</a:t>
            </a:r>
            <a:r>
              <a:rPr lang="en-US" altLang="en-US" sz="1800">
                <a:latin typeface="Arial" panose="020B0604020202020204" pitchFamily="34" charset="0"/>
                <a:cs typeface="Arial" panose="020B0604020202020204" pitchFamily="34" charset="0"/>
              </a:rPr>
              <a:t>:</a:t>
            </a:r>
            <a:endParaRPr lang="en-US" sz="1800">
              <a:latin typeface="Arial" panose="020B0604020202020204" pitchFamily="34" charset="0"/>
              <a:cs typeface="Arial" panose="020B0604020202020204" pitchFamily="34" charset="0"/>
            </a:endParaRPr>
          </a:p>
          <a:p>
            <a:pPr marL="0" indent="0" algn="l">
              <a:buNone/>
            </a:pPr>
            <a:endParaRPr lang="en-US" sz="1800">
              <a:latin typeface="Arial" panose="020B0604020202020204" pitchFamily="34" charset="0"/>
              <a:cs typeface="Arial" panose="020B0604020202020204" pitchFamily="34" charset="0"/>
            </a:endParaRPr>
          </a:p>
          <a:p>
            <a:pPr algn="l"/>
            <a:r>
              <a:rPr lang="en-US" sz="1800">
                <a:latin typeface="Arial" panose="020B0604020202020204" pitchFamily="34" charset="0"/>
                <a:cs typeface="Arial" panose="020B0604020202020204" pitchFamily="34" charset="0"/>
              </a:rPr>
              <a:t>larger/largest smaller/smallest</a:t>
            </a:r>
          </a:p>
          <a:p>
            <a:pPr algn="l"/>
            <a:r>
              <a:rPr lang="en-US" sz="1800">
                <a:latin typeface="Arial" panose="020B0604020202020204" pitchFamily="34" charset="0"/>
                <a:cs typeface="Arial" panose="020B0604020202020204" pitchFamily="34" charset="0"/>
              </a:rPr>
              <a:t>more/less expensive most/least expensive</a:t>
            </a:r>
          </a:p>
          <a:p>
            <a:pPr algn="l"/>
            <a:r>
              <a:rPr lang="en-US" sz="1800">
                <a:latin typeface="Arial" panose="020B0604020202020204" pitchFamily="34" charset="0"/>
                <a:cs typeface="Arial" panose="020B0604020202020204" pitchFamily="34" charset="0"/>
              </a:rPr>
              <a:t>cheaper/cheapest older/oldest</a:t>
            </a:r>
          </a:p>
          <a:p>
            <a:pPr algn="l"/>
            <a:r>
              <a:rPr lang="en-US" sz="1800">
                <a:latin typeface="Arial" panose="020B0604020202020204" pitchFamily="34" charset="0"/>
                <a:cs typeface="Arial" panose="020B0604020202020204" pitchFamily="34" charset="0"/>
              </a:rPr>
              <a:t>newer/newest better/best</a:t>
            </a:r>
          </a:p>
          <a:p>
            <a:pPr algn="l"/>
            <a:r>
              <a:rPr lang="en-US" sz="1800">
                <a:latin typeface="Arial" panose="020B0604020202020204" pitchFamily="34" charset="0"/>
                <a:cs typeface="Arial" panose="020B0604020202020204" pitchFamily="34" charset="0"/>
              </a:rPr>
              <a:t>more/less popular most/least popular</a:t>
            </a:r>
          </a:p>
        </p:txBody>
      </p:sp>
      <p:pic>
        <p:nvPicPr>
          <p:cNvPr id="4" name="Content Placeholder 3"/>
          <p:cNvPicPr>
            <a:picLocks noChangeAspect="1"/>
          </p:cNvPicPr>
          <p:nvPr/>
        </p:nvPicPr>
        <p:blipFill>
          <a:blip r:embed="rId4"/>
          <a:stretch>
            <a:fillRect/>
          </a:stretch>
        </p:blipFill>
        <p:spPr>
          <a:xfrm>
            <a:off x="5996305" y="1433195"/>
            <a:ext cx="6195695" cy="4241165"/>
          </a:xfrm>
          <a:prstGeom prst="rect">
            <a:avLst/>
          </a:prstGeom>
          <a:noFill/>
          <a:ln w="9525">
            <a:noFill/>
          </a:ln>
          <a:effectLst>
            <a:reflection blurRad="6350" stA="50000" endA="300" endPos="55500" dist="50800" dir="5400000" sy="-100000" algn="bl" rotWithShape="0"/>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5"/>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6"/>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稻壳儿_刀客儿出品_1"/>
          <p:cNvSpPr txBox="1"/>
          <p:nvPr>
            <p:custDataLst>
              <p:tags r:id="rId1"/>
            </p:custDataLst>
          </p:nvPr>
        </p:nvSpPr>
        <p:spPr>
          <a:xfrm>
            <a:off x="7182094" y="1741184"/>
            <a:ext cx="1844040" cy="521970"/>
          </a:xfrm>
          <a:prstGeom prst="rect">
            <a:avLst/>
          </a:prstGeom>
          <a:noFill/>
        </p:spPr>
        <p:txBody>
          <a:bodyPr wrap="none" rtlCol="0">
            <a:spAutoFit/>
          </a:bodyPr>
          <a:lstStyle/>
          <a:p>
            <a:r>
              <a:rPr lang="en-US" altLang="en-US" sz="2800" b="1" dirty="0">
                <a:solidFill>
                  <a:schemeClr val="bg1"/>
                </a:solidFill>
                <a:latin typeface="Arial" panose="020B0604020202020204" pitchFamily="34" charset="0"/>
                <a:ea typeface="Arial" panose="020B0604020202020204" pitchFamily="34" charset="0"/>
              </a:rPr>
              <a:t>PESTLEG</a:t>
            </a:r>
          </a:p>
        </p:txBody>
      </p:sp>
      <p:sp>
        <p:nvSpPr>
          <p:cNvPr id="3" name="稻壳儿_刀客儿出品_2"/>
          <p:cNvSpPr txBox="1"/>
          <p:nvPr>
            <p:custDataLst>
              <p:tags r:id="rId2"/>
            </p:custDataLst>
          </p:nvPr>
        </p:nvSpPr>
        <p:spPr>
          <a:xfrm>
            <a:off x="6775060" y="2500127"/>
            <a:ext cx="3507380" cy="3328670"/>
          </a:xfrm>
          <a:prstGeom prst="rect">
            <a:avLst/>
          </a:prstGeom>
          <a:noFill/>
        </p:spPr>
        <p:txBody>
          <a:bodyPr wrap="square" rtlCol="0">
            <a:spAutoFit/>
          </a:bodyPr>
          <a:lstStyle/>
          <a:p>
            <a:pPr>
              <a:lnSpc>
                <a:spcPct val="130000"/>
              </a:lnSpc>
            </a:pPr>
            <a:r>
              <a:rPr lang="en-US" altLang="en-US" dirty="0">
                <a:solidFill>
                  <a:schemeClr val="tx1"/>
                </a:solidFill>
                <a:latin typeface="Arial" panose="020B0604020202020204" pitchFamily="34" charset="0"/>
                <a:ea typeface="Arial" panose="020B0604020202020204" pitchFamily="34" charset="0"/>
              </a:rPr>
              <a:t>The environment in which our companies operate shapes greatly how the companies adapt as well as their structure among other things. In this section, we will venture to describe how our company manages to mitigate these external factors.</a:t>
            </a:r>
          </a:p>
        </p:txBody>
      </p:sp>
      <p:sp>
        <p:nvSpPr>
          <p:cNvPr id="4" name="稻壳儿_刀客儿出品_3"/>
          <p:cNvSpPr txBox="1"/>
          <p:nvPr>
            <p:custDataLst>
              <p:tags r:id="rId3"/>
            </p:custDataLst>
          </p:nvPr>
        </p:nvSpPr>
        <p:spPr>
          <a:xfrm>
            <a:off x="1062080" y="2174066"/>
            <a:ext cx="2656840" cy="768350"/>
          </a:xfrm>
          <a:prstGeom prst="rect">
            <a:avLst/>
          </a:prstGeom>
          <a:noFill/>
        </p:spPr>
        <p:txBody>
          <a:bodyPr wrap="none" rtlCol="0">
            <a:spAutoFit/>
          </a:bodyPr>
          <a:lstStyle/>
          <a:p>
            <a:r>
              <a:rPr lang="en-US" altLang="zh-CN" sz="4400" b="1" dirty="0">
                <a:solidFill>
                  <a:schemeClr val="tx1"/>
                </a:solidFill>
                <a:latin typeface="Arial Black" panose="020B0A04020102020204" charset="0"/>
                <a:ea typeface="Arial" panose="020B0604020202020204" pitchFamily="34" charset="0"/>
                <a:cs typeface="Arial Black" panose="020B0A04020102020204" charset="0"/>
              </a:rPr>
              <a:t>PART.03</a:t>
            </a:r>
          </a:p>
        </p:txBody>
      </p:sp>
      <p:pic>
        <p:nvPicPr>
          <p:cNvPr id="116" name="Picture 115"/>
          <p:cNvPicPr/>
          <p:nvPr/>
        </p:nvPicPr>
        <p:blipFill>
          <a:blip r:embed="rId7"/>
          <a:stretch>
            <a:fillRect/>
          </a:stretch>
        </p:blipFill>
        <p:spPr>
          <a:xfrm>
            <a:off x="6494463" y="1139190"/>
            <a:ext cx="4067175" cy="1123950"/>
          </a:xfrm>
          <a:prstGeom prst="rect">
            <a:avLst/>
          </a:prstGeom>
          <a:noFill/>
          <a:ln w="9525">
            <a:noFill/>
          </a:ln>
          <a:effectLst>
            <a:reflection blurRad="6350" stA="50000" endA="300" endPos="90000" dist="508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7" name="Content Placeholder 116"/>
          <p:cNvPicPr/>
          <p:nvPr/>
        </p:nvPicPr>
        <p:blipFill>
          <a:blip r:embed="rId4"/>
          <a:stretch>
            <a:fillRect/>
          </a:stretch>
        </p:blipFill>
        <p:spPr>
          <a:xfrm>
            <a:off x="0" y="772795"/>
            <a:ext cx="7238365" cy="6085205"/>
          </a:xfrm>
          <a:prstGeom prst="rect">
            <a:avLst/>
          </a:prstGeom>
          <a:noFill/>
          <a:ln w="9525">
            <a:noFill/>
          </a:ln>
        </p:spPr>
      </p:pic>
      <p:sp>
        <p:nvSpPr>
          <p:cNvPr id="3" name="Text Box 2"/>
          <p:cNvSpPr txBox="1"/>
          <p:nvPr/>
        </p:nvSpPr>
        <p:spPr>
          <a:xfrm>
            <a:off x="7996555" y="1443990"/>
            <a:ext cx="3893185" cy="1476375"/>
          </a:xfrm>
          <a:prstGeom prst="rect">
            <a:avLst/>
          </a:prstGeom>
          <a:noFill/>
        </p:spPr>
        <p:txBody>
          <a:bodyPr wrap="square" rtlCol="0">
            <a:spAutoFit/>
          </a:bodyPr>
          <a:lstStyle/>
          <a:p>
            <a:r>
              <a:rPr lang="en-US" altLang="en-US">
                <a:latin typeface="Arial" panose="020B0604020202020204" pitchFamily="34" charset="0"/>
                <a:cs typeface="Arial" panose="020B0604020202020204" pitchFamily="34" charset="0"/>
              </a:rPr>
              <a:t>The traditional model consisted of these 6 factors, however, recently a 7th element was added which is Global Factors, modifying this to </a:t>
            </a:r>
            <a:r>
              <a:rPr lang="en-US" altLang="en-US" b="1" u="sng">
                <a:latin typeface="Arial" panose="020B0604020202020204" pitchFamily="34" charset="0"/>
                <a:cs typeface="Arial" panose="020B0604020202020204" pitchFamily="34" charset="0"/>
              </a:rPr>
              <a:t>PESTLEG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a:latin typeface="Arial" panose="020B0604020202020204" pitchFamily="34" charset="0"/>
                <a:cs typeface="Arial" panose="020B0604020202020204" pitchFamily="34" charset="0"/>
              </a:rPr>
              <a:t>Brainstorming for pestleg examples</a:t>
            </a:r>
          </a:p>
        </p:txBody>
      </p:sp>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8" name="Content Placeholder 117"/>
          <p:cNvPicPr/>
          <p:nvPr/>
        </p:nvPicPr>
        <p:blipFill>
          <a:blip r:embed="rId4"/>
          <a:stretch>
            <a:fillRect/>
          </a:stretch>
        </p:blipFill>
        <p:spPr>
          <a:xfrm>
            <a:off x="0" y="1174750"/>
            <a:ext cx="12192000" cy="5683250"/>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nvSpPr>
        <p:spPr>
          <a:xfrm>
            <a:off x="609600" y="19050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altLang="en-US">
                <a:latin typeface="Arial Black" panose="020B0A04020102020204" charset="0"/>
                <a:cs typeface="Arial Black" panose="020B0A04020102020204" charset="0"/>
              </a:rPr>
              <a:t>Delayed feedback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4066390" y="2940387"/>
            <a:ext cx="3743662" cy="706755"/>
          </a:xfrm>
          <a:prstGeom prst="rect">
            <a:avLst/>
          </a:prstGeom>
          <a:noFill/>
        </p:spPr>
        <p:txBody>
          <a:bodyPr wrap="square" rtlCol="0">
            <a:spAutoFit/>
          </a:bodyPr>
          <a:lstStyle/>
          <a:p>
            <a:r>
              <a:rPr lang="en-US" altLang="en-US" sz="4000" dirty="0">
                <a:latin typeface="Arial Black" panose="020B0A04020102020204" charset="0"/>
                <a:cs typeface="Arial Black" panose="020B0A04020102020204" charset="0"/>
              </a:rPr>
              <a:t>Questions?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3"/>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4"/>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稻壳儿_刀客儿出品_1"/>
          <p:cNvSpPr txBox="1"/>
          <p:nvPr>
            <p:custDataLst>
              <p:tags r:id="rId1"/>
            </p:custDataLst>
          </p:nvPr>
        </p:nvSpPr>
        <p:spPr>
          <a:xfrm>
            <a:off x="1008696" y="3711762"/>
            <a:ext cx="10174605" cy="1322070"/>
          </a:xfrm>
          <a:prstGeom prst="rect">
            <a:avLst/>
          </a:prstGeom>
          <a:noFill/>
        </p:spPr>
        <p:txBody>
          <a:bodyPr wrap="none" rtlCol="0">
            <a:spAutoFit/>
          </a:bodyPr>
          <a:lstStyle/>
          <a:p>
            <a:pPr algn="ctr"/>
            <a:r>
              <a:rPr lang="en-US" altLang="zh-CN" sz="4000" b="1" dirty="0">
                <a:solidFill>
                  <a:schemeClr val="tx1"/>
                </a:solidFill>
                <a:latin typeface="Arial Black" panose="020B0A04020102020204" charset="0"/>
                <a:ea typeface="Arial" panose="020B0604020202020204" pitchFamily="34" charset="0"/>
                <a:cs typeface="Arial Black" panose="020B0A04020102020204" charset="0"/>
              </a:rPr>
              <a:t>THANK YOU FOR YOUR ATTENTION</a:t>
            </a:r>
          </a:p>
          <a:p>
            <a:pPr algn="ctr"/>
            <a:endParaRPr lang="en-US" altLang="zh-CN" sz="4000" b="1" dirty="0">
              <a:solidFill>
                <a:schemeClr val="tx1"/>
              </a:solidFill>
              <a:latin typeface="Arial Black" panose="020B0A04020102020204" charset="0"/>
              <a:ea typeface="Arial" panose="020B0604020202020204" pitchFamily="34" charset="0"/>
              <a:cs typeface="Arial Black" panose="020B0A040201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5"/>
</p:tagLst>
</file>

<file path=ppt/tags/tag2.xml><?xml version="1.0" encoding="utf-8"?>
<p:tagLst xmlns:a="http://schemas.openxmlformats.org/drawingml/2006/main" xmlns:r="http://schemas.openxmlformats.org/officeDocument/2006/relationships" xmlns:p="http://schemas.openxmlformats.org/presentationml/2006/main">
  <p:tag name="PA" val="v5.2.5"/>
</p:tagLst>
</file>

<file path=ppt/tags/tag3.xml><?xml version="1.0" encoding="utf-8"?>
<p:tagLst xmlns:a="http://schemas.openxmlformats.org/drawingml/2006/main" xmlns:r="http://schemas.openxmlformats.org/officeDocument/2006/relationships" xmlns:p="http://schemas.openxmlformats.org/presentationml/2006/main">
  <p:tag name="PA" val="v5.2.5"/>
</p:tagLst>
</file>

<file path=ppt/tags/tag4.xml><?xml version="1.0" encoding="utf-8"?>
<p:tagLst xmlns:a="http://schemas.openxmlformats.org/drawingml/2006/main" xmlns:r="http://schemas.openxmlformats.org/officeDocument/2006/relationships" xmlns:p="http://schemas.openxmlformats.org/presentationml/2006/main">
  <p:tag name="PA" val="v5.2.5"/>
</p:tagLst>
</file>

<file path=ppt/tags/tag5.xml><?xml version="1.0" encoding="utf-8"?>
<p:tagLst xmlns:a="http://schemas.openxmlformats.org/drawingml/2006/main" xmlns:r="http://schemas.openxmlformats.org/officeDocument/2006/relationships" xmlns:p="http://schemas.openxmlformats.org/presentationml/2006/main">
  <p:tag name="PA" val="v5.2.5"/>
</p:tagLst>
</file>

<file path=ppt/tags/tag6.xml><?xml version="1.0" encoding="utf-8"?>
<p:tagLst xmlns:a="http://schemas.openxmlformats.org/drawingml/2006/main" xmlns:r="http://schemas.openxmlformats.org/officeDocument/2006/relationships" xmlns:p="http://schemas.openxmlformats.org/presentationml/2006/main">
  <p:tag name="PA" val="v5.2.5"/>
</p:tagLst>
</file>

<file path=ppt/tags/tag7.xml><?xml version="1.0" encoding="utf-8"?>
<p:tagLst xmlns:a="http://schemas.openxmlformats.org/drawingml/2006/main" xmlns:r="http://schemas.openxmlformats.org/officeDocument/2006/relationships" xmlns:p="http://schemas.openxmlformats.org/presentationml/2006/main">
  <p:tag name="PA" val="v5.2.5"/>
</p:tagLst>
</file>

<file path=ppt/tags/tag8.xml><?xml version="1.0" encoding="utf-8"?>
<p:tagLst xmlns:a="http://schemas.openxmlformats.org/drawingml/2006/main" xmlns:r="http://schemas.openxmlformats.org/officeDocument/2006/relationships" xmlns:p="http://schemas.openxmlformats.org/presentationml/2006/main">
  <p:tag name="PA" val="v5.2.5"/>
</p:tagLst>
</file>

<file path=ppt/tags/tag9.xml><?xml version="1.0" encoding="utf-8"?>
<p:tagLst xmlns:a="http://schemas.openxmlformats.org/drawingml/2006/main" xmlns:r="http://schemas.openxmlformats.org/officeDocument/2006/relationships" xmlns:p="http://schemas.openxmlformats.org/presentationml/2006/main">
  <p:tag name="PA" val="v5.2.5"/>
</p:tagLst>
</file>

<file path=ppt/tags/tag10.xml><?xml version="1.0" encoding="utf-8"?>
<p:tagLst xmlns:a="http://schemas.openxmlformats.org/drawingml/2006/main" xmlns:r="http://schemas.openxmlformats.org/officeDocument/2006/relationships" xmlns:p="http://schemas.openxmlformats.org/presentationml/2006/main">
  <p:tag name="PA" val="v5.2.5"/>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TotalTime>
  <Words>614</Words>
  <Application>Microsoft Office PowerPoint</Application>
  <PresentationFormat>Widescreen</PresentationFormat>
  <Paragraphs>66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Arial Black</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Brainstorming for pestleg examples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Bruce</dc:creator>
  <cp:lastModifiedBy>Theo Clarke</cp:lastModifiedBy>
  <cp:revision>4</cp:revision>
  <dcterms:created xsi:type="dcterms:W3CDTF">2023-01-16T07:26:00Z</dcterms:created>
  <dcterms:modified xsi:type="dcterms:W3CDTF">2023-01-18T09:24:47Z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92297854A05746BCB197AB12E460F8E0</vt:lpwstr>
  </property>
  <property fmtid="{D5CDD505-2E9C-101B-9397-08002B2CF9AE}" pid="3" name="KSOProductBuildVer">
    <vt:lpwstr>1033-11.2.0.11214</vt:lpwstr>
  </property>
</Properties>
</file>