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7DD37-D658-9AED-AD10-B33CD1837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4295EE0-AE6B-D40C-9276-6705D688E9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0968830-4EBA-300B-20A8-E2ECC72AB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0330D13-24A5-0787-F325-A56EB071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FED0737-604C-2433-950C-B24C9A822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09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623177-8F66-B60D-EADA-1DD21E684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D4EC1BB-7AA0-6729-C712-4BA9C8EE1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2CB058A-BC96-688D-0457-4F46CA31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4D488FA-1D96-01EB-E5B9-9BA9348E2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7F09AD4-3BC7-B19B-A3E9-C51DCB7B3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540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3DE020-6FF0-39FE-6F6C-F3A99DBC7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3D3FF36-74A9-B95B-632C-80318D1DD8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BC87356-09D5-BE01-D10A-0E4D23C07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500E4E7-4FC6-4EA8-773B-94739DD98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4E40DE2-BABD-08A8-B839-0212E5077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8172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38CD969-429F-F2B7-CF42-69CA43A9C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D8358EE-A9E4-9E1F-44D7-AB7C3C16DE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EDE27AB-4B6F-0766-4270-CC9ECA729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DF7388F-AC94-A975-0D56-623CAB8B1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87C2E32-DE9F-257C-29D3-FA309DC7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9B39110-9137-5936-F74A-73A59E4A6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581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7C91927-245F-330D-18EC-B24149027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0C0E279-9189-B715-2202-B568A7958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28E531A-BAA5-9A08-F2DD-7BFE55B8B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D9F8DEB2-D4CF-812F-82A4-81ADDB8CC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9C8F2D72-707B-80CA-43B4-BEC361617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BF65D42-9C67-99DE-65D6-60D890E85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5AE8439-6F41-C9F4-92EA-53DFEFA4B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E44E7B33-9850-548B-6D94-69447D26D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053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449C42-0B13-D4E2-F25C-0037689A6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F1A922A5-0B85-0267-CC0C-53CC30AEE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42617DB-77FB-2C9A-B218-F928D3C24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D4F443E-DA6B-BA3C-797A-C918E3023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1744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78BF082-5D7C-F747-D0C9-B88545A4F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270F0429-F7D0-EB93-F588-762E222C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9D469BE-63F0-F6DC-C941-CA1BA3706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308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356E206-9E94-ED56-B06C-1AF2FD6C0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5CCB25-E331-F3C2-F569-92D4F21CE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037EF3D0-B9C7-BC6F-4D57-A30D2467B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46740C33-F851-116F-ADF1-B841BF34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AF3BD38-FE43-0E35-0701-49ABC0B1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9631BD6-DCF3-5978-E67F-18C841DB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9452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4F1B05F-44F0-49E9-400A-72C7285A2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628C3A85-1C96-4CDE-9FDA-2FB487BB3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66F73FC8-0D07-1D8D-A888-6AC5C56B3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C741BEA-A23B-D314-89CC-B4B4B23BE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F760A10-1ACD-DED4-6548-4332398A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59341396-3250-59E4-C1DC-4C7A6580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1628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96E316-E484-6F2E-2F9C-437899F3F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82FADA6-5D43-72FF-C5C1-1FAAA7937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0BE93AB-A99C-F9E7-DF72-143AD8315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AAF8D5F-7649-4312-9A04-BA3F8DA5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8A3B27-86D2-F256-43F8-A84EDCBAA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2049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B54EBC73-3D62-9FF3-50B1-2D15C713BC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EC1B7351-1213-3777-82C5-82A628A712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35FF9DF-59C0-A01F-66F4-15203780E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6A58C8F-5BD5-1439-C275-74E43AA70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E60A941-5E68-3824-0DD2-976156024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9070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F7652316-9F94-E619-917C-ABF9FF2C5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F3FF267-67D6-C335-05DD-A3ECB046D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ABADFFE-194A-026F-6F37-D0FB0382B2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041829-3D20-49A7-A921-3C0486746E51}" type="datetimeFigureOut">
              <a:rPr lang="en-GB" smtClean="0"/>
              <a:t>02/01/2025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4302D5E-D9DC-CC35-8A44-8122FBE5EC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F57D7BD-F65C-4F22-7ADC-02F4044E61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0E28E-9260-4321-B241-2827FE9778FA}" type="slidenum">
              <a:rPr lang="en-GB" smtClean="0"/>
              <a:t>‹Nº›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865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72D1C10-EF0E-D430-A224-9892BE1E61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Healthcare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9C1BCCB-D479-5D19-A7A0-0F9706CCF2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English </a:t>
            </a:r>
            <a:r>
              <a:rPr lang="en-GB" dirty="0" smtClean="0"/>
              <a:t>C1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80C80E8-D186-E5E8-47CD-E2A3536D3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4711" y="127519"/>
            <a:ext cx="1638300" cy="762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5191748F-A243-B9EF-7160-4C36E6E53D64}"/>
              </a:ext>
            </a:extLst>
          </p:cNvPr>
          <p:cNvSpPr txBox="1"/>
          <p:nvPr/>
        </p:nvSpPr>
        <p:spPr>
          <a:xfrm>
            <a:off x="167555" y="6280832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err="1">
                <a:solidFill>
                  <a:srgbClr val="898989"/>
                </a:solidFill>
                <a:latin typeface="Calibri" panose="020F0502020204030204" pitchFamily="34" charset="0"/>
              </a:rPr>
              <a:t>t</a:t>
            </a:r>
            <a:r>
              <a:rPr lang="en-GB" sz="1800" b="0" i="0" kern="1200" spc="0" baseline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uSpeaking</a:t>
            </a:r>
            <a:r>
              <a:rPr lang="en-GB" sz="1800" b="0" i="0" kern="1200" spc="0" baseline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All rights reserved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7586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1982962-33F2-A679-E94E-6127D0AA4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209" y="635069"/>
            <a:ext cx="4509236" cy="1139139"/>
          </a:xfrm>
        </p:spPr>
        <p:txBody>
          <a:bodyPr>
            <a:normAutofit/>
          </a:bodyPr>
          <a:lstStyle/>
          <a:p>
            <a:r>
              <a:rPr lang="en-GB" sz="3600"/>
              <a:t>Warm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A4703CE-BDF6-0346-8B5C-0CAB0FD14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992" y="1941362"/>
            <a:ext cx="4492454" cy="2419097"/>
          </a:xfrm>
        </p:spPr>
        <p:txBody>
          <a:bodyPr anchor="t">
            <a:normAutofit/>
          </a:bodyPr>
          <a:lstStyle/>
          <a:p>
            <a:r>
              <a:rPr lang="en-GB" sz="1800"/>
              <a:t>What do you do to stay healthy? </a:t>
            </a:r>
          </a:p>
          <a:p>
            <a:r>
              <a:rPr lang="en-GB" sz="1800"/>
              <a:t>Have you ever had a serious injury? </a:t>
            </a:r>
          </a:p>
          <a:p>
            <a:r>
              <a:rPr lang="en-GB" sz="1800"/>
              <a:t>How did you treat it?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xmlns="" id="{07977D39-626F-40D7-B00F-16E02602DD5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549615" y="197110"/>
            <a:ext cx="2020824" cy="202082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Medical gown pocket with medical instruments">
            <a:extLst>
              <a:ext uri="{FF2B5EF4-FFF2-40B4-BE49-F238E27FC236}">
                <a16:creationId xmlns:a16="http://schemas.microsoft.com/office/drawing/2014/main" xmlns="" id="{9D9AB95C-996A-E62F-4828-75083E584A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99" r="4" b="4"/>
          <a:stretch/>
        </p:blipFill>
        <p:spPr>
          <a:xfrm>
            <a:off x="5714207" y="361702"/>
            <a:ext cx="1691640" cy="1691640"/>
          </a:xfrm>
          <a:custGeom>
            <a:avLst/>
            <a:gdLst/>
            <a:ahLst/>
            <a:cxnLst/>
            <a:rect l="l" t="t" r="r" b="b"/>
            <a:pathLst>
              <a:path w="1956816" h="1956816">
                <a:moveTo>
                  <a:pt x="978408" y="0"/>
                </a:moveTo>
                <a:cubicBezTo>
                  <a:pt x="1518768" y="0"/>
                  <a:pt x="1956816" y="438048"/>
                  <a:pt x="1956816" y="978408"/>
                </a:cubicBezTo>
                <a:cubicBezTo>
                  <a:pt x="1956816" y="1518768"/>
                  <a:pt x="1518768" y="1956816"/>
                  <a:pt x="978408" y="1956816"/>
                </a:cubicBezTo>
                <a:cubicBezTo>
                  <a:pt x="438048" y="1956816"/>
                  <a:pt x="0" y="1518768"/>
                  <a:pt x="0" y="978408"/>
                </a:cubicBezTo>
                <a:cubicBezTo>
                  <a:pt x="0" y="438048"/>
                  <a:pt x="438048" y="0"/>
                  <a:pt x="978408" y="0"/>
                </a:cubicBezTo>
                <a:close/>
              </a:path>
            </a:pathLst>
          </a:cu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xmlns="" id="{B905CDE4-B751-4B3E-B625-6E59F890341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114932" y="1"/>
            <a:ext cx="4077068" cy="3445261"/>
          </a:xfrm>
          <a:custGeom>
            <a:avLst/>
            <a:gdLst>
              <a:gd name="connsiteX0" fmla="*/ 250035 w 4077068"/>
              <a:gd name="connsiteY0" fmla="*/ 0 h 3445261"/>
              <a:gd name="connsiteX1" fmla="*/ 4077068 w 4077068"/>
              <a:gd name="connsiteY1" fmla="*/ 0 h 3445261"/>
              <a:gd name="connsiteX2" fmla="*/ 4077068 w 4077068"/>
              <a:gd name="connsiteY2" fmla="*/ 2743040 h 3445261"/>
              <a:gd name="connsiteX3" fmla="*/ 4074154 w 4077068"/>
              <a:gd name="connsiteY3" fmla="*/ 2746247 h 3445261"/>
              <a:gd name="connsiteX4" fmla="*/ 2386584 w 4077068"/>
              <a:gd name="connsiteY4" fmla="*/ 3445261 h 3445261"/>
              <a:gd name="connsiteX5" fmla="*/ 0 w 4077068"/>
              <a:gd name="connsiteY5" fmla="*/ 1058677 h 3445261"/>
              <a:gd name="connsiteX6" fmla="*/ 187550 w 4077068"/>
              <a:gd name="connsiteY6" fmla="*/ 129711 h 344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7068" h="3445261">
                <a:moveTo>
                  <a:pt x="250035" y="0"/>
                </a:moveTo>
                <a:lnTo>
                  <a:pt x="4077068" y="0"/>
                </a:lnTo>
                <a:lnTo>
                  <a:pt x="4077068" y="2743040"/>
                </a:lnTo>
                <a:lnTo>
                  <a:pt x="4074154" y="2746247"/>
                </a:lnTo>
                <a:cubicBezTo>
                  <a:pt x="3642267" y="3178134"/>
                  <a:pt x="3045621" y="3445261"/>
                  <a:pt x="2386584" y="3445261"/>
                </a:cubicBezTo>
                <a:cubicBezTo>
                  <a:pt x="1068510" y="3445261"/>
                  <a:pt x="0" y="2376751"/>
                  <a:pt x="0" y="1058677"/>
                </a:cubicBezTo>
                <a:cubicBezTo>
                  <a:pt x="0" y="729159"/>
                  <a:pt x="66782" y="415238"/>
                  <a:pt x="187550" y="12971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xmlns="" id="{08108C16-F4C0-44AA-999D-17BD39219B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721428" y="2550745"/>
            <a:ext cx="3072384" cy="307238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Nurse in uniform">
            <a:extLst>
              <a:ext uri="{FF2B5EF4-FFF2-40B4-BE49-F238E27FC236}">
                <a16:creationId xmlns:a16="http://schemas.microsoft.com/office/drawing/2014/main" xmlns="" id="{8F28D517-08B6-0C9D-824D-1D934A4364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" r="30999" b="-2"/>
          <a:stretch/>
        </p:blipFill>
        <p:spPr>
          <a:xfrm>
            <a:off x="5886020" y="2715337"/>
            <a:ext cx="2743200" cy="2743200"/>
          </a:xfrm>
          <a:custGeom>
            <a:avLst/>
            <a:gdLst/>
            <a:ahLst/>
            <a:cxnLst/>
            <a:rect l="l" t="t" r="r" b="b"/>
            <a:pathLst>
              <a:path w="2834640" h="2834640">
                <a:moveTo>
                  <a:pt x="1417320" y="0"/>
                </a:moveTo>
                <a:cubicBezTo>
                  <a:pt x="2200084" y="0"/>
                  <a:pt x="2834640" y="634556"/>
                  <a:pt x="2834640" y="1417320"/>
                </a:cubicBezTo>
                <a:cubicBezTo>
                  <a:pt x="2834640" y="2200084"/>
                  <a:pt x="2200084" y="2834640"/>
                  <a:pt x="1417320" y="2834640"/>
                </a:cubicBezTo>
                <a:cubicBezTo>
                  <a:pt x="634556" y="2834640"/>
                  <a:pt x="0" y="2200084"/>
                  <a:pt x="0" y="1417320"/>
                </a:cubicBezTo>
                <a:cubicBezTo>
                  <a:pt x="0" y="634556"/>
                  <a:pt x="634556" y="0"/>
                  <a:pt x="1417320" y="0"/>
                </a:cubicBezTo>
                <a:close/>
              </a:path>
            </a:pathLst>
          </a:custGeom>
        </p:spPr>
      </p:pic>
      <p:pic>
        <p:nvPicPr>
          <p:cNvPr id="9" name="Picture 8" descr="Coronavirus labeled capsule">
            <a:extLst>
              <a:ext uri="{FF2B5EF4-FFF2-40B4-BE49-F238E27FC236}">
                <a16:creationId xmlns:a16="http://schemas.microsoft.com/office/drawing/2014/main" xmlns="" id="{A370A286-3D15-A204-DA41-EEFB0D1E03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58" r="12143" b="4"/>
          <a:stretch/>
        </p:blipFill>
        <p:spPr>
          <a:xfrm>
            <a:off x="8278624" y="2"/>
            <a:ext cx="3913376" cy="3281569"/>
          </a:xfrm>
          <a:custGeom>
            <a:avLst/>
            <a:gdLst/>
            <a:ahLst/>
            <a:cxnLst/>
            <a:rect l="l" t="t" r="r" b="b"/>
            <a:pathLst>
              <a:path w="3913376" h="3281569">
                <a:moveTo>
                  <a:pt x="267865" y="0"/>
                </a:moveTo>
                <a:lnTo>
                  <a:pt x="3913376" y="0"/>
                </a:lnTo>
                <a:lnTo>
                  <a:pt x="3913376" y="2499938"/>
                </a:lnTo>
                <a:lnTo>
                  <a:pt x="3794714" y="2630499"/>
                </a:lnTo>
                <a:cubicBezTo>
                  <a:pt x="3392450" y="3032763"/>
                  <a:pt x="2836727" y="3281569"/>
                  <a:pt x="2222892" y="3281569"/>
                </a:cubicBezTo>
                <a:cubicBezTo>
                  <a:pt x="995223" y="3281569"/>
                  <a:pt x="0" y="2286346"/>
                  <a:pt x="0" y="1058677"/>
                </a:cubicBezTo>
                <a:cubicBezTo>
                  <a:pt x="0" y="751760"/>
                  <a:pt x="62202" y="459370"/>
                  <a:pt x="174686" y="193427"/>
                </a:cubicBezTo>
                <a:close/>
              </a:path>
            </a:pathLst>
          </a:cu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xmlns="" id="{CDC29AC1-2821-4FCC-B597-88DAF39C36F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653162" y="4604085"/>
            <a:ext cx="4281112" cy="2253913"/>
          </a:xfrm>
          <a:custGeom>
            <a:avLst/>
            <a:gdLst>
              <a:gd name="connsiteX0" fmla="*/ 2140556 w 4281112"/>
              <a:gd name="connsiteY0" fmla="*/ 0 h 2253913"/>
              <a:gd name="connsiteX1" fmla="*/ 4281112 w 4281112"/>
              <a:gd name="connsiteY1" fmla="*/ 2140556 h 2253913"/>
              <a:gd name="connsiteX2" fmla="*/ 4275388 w 4281112"/>
              <a:gd name="connsiteY2" fmla="*/ 2253913 h 2253913"/>
              <a:gd name="connsiteX3" fmla="*/ 5724 w 4281112"/>
              <a:gd name="connsiteY3" fmla="*/ 2253913 h 2253913"/>
              <a:gd name="connsiteX4" fmla="*/ 0 w 4281112"/>
              <a:gd name="connsiteY4" fmla="*/ 2140556 h 2253913"/>
              <a:gd name="connsiteX5" fmla="*/ 2140556 w 4281112"/>
              <a:gd name="connsiteY5" fmla="*/ 0 h 225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1112" h="2253913">
                <a:moveTo>
                  <a:pt x="2140556" y="0"/>
                </a:moveTo>
                <a:cubicBezTo>
                  <a:pt x="3322752" y="0"/>
                  <a:pt x="4281112" y="958360"/>
                  <a:pt x="4281112" y="2140556"/>
                </a:cubicBezTo>
                <a:lnTo>
                  <a:pt x="4275388" y="2253913"/>
                </a:lnTo>
                <a:lnTo>
                  <a:pt x="5724" y="2253913"/>
                </a:lnTo>
                <a:lnTo>
                  <a:pt x="0" y="2140556"/>
                </a:lnTo>
                <a:cubicBezTo>
                  <a:pt x="0" y="958360"/>
                  <a:pt x="958360" y="0"/>
                  <a:pt x="214055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 descr="Chiropractor treating patient's leg">
            <a:extLst>
              <a:ext uri="{FF2B5EF4-FFF2-40B4-BE49-F238E27FC236}">
                <a16:creationId xmlns:a16="http://schemas.microsoft.com/office/drawing/2014/main" xmlns="" id="{38B63A80-CB8A-70F1-435D-BA7446A8DE6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93" r="5" b="5"/>
          <a:stretch/>
        </p:blipFill>
        <p:spPr>
          <a:xfrm>
            <a:off x="1818614" y="4769536"/>
            <a:ext cx="3950208" cy="2088462"/>
          </a:xfrm>
          <a:custGeom>
            <a:avLst/>
            <a:gdLst/>
            <a:ahLst/>
            <a:cxnLst/>
            <a:rect l="l" t="t" r="r" b="b"/>
            <a:pathLst>
              <a:path w="3950208" h="2088462">
                <a:moveTo>
                  <a:pt x="1975104" y="0"/>
                </a:moveTo>
                <a:cubicBezTo>
                  <a:pt x="3065924" y="0"/>
                  <a:pt x="3950208" y="884284"/>
                  <a:pt x="3950208" y="1975104"/>
                </a:cubicBezTo>
                <a:lnTo>
                  <a:pt x="3944484" y="2088462"/>
                </a:lnTo>
                <a:lnTo>
                  <a:pt x="5724" y="2088462"/>
                </a:lnTo>
                <a:lnTo>
                  <a:pt x="0" y="1975104"/>
                </a:lnTo>
                <a:cubicBezTo>
                  <a:pt x="0" y="884284"/>
                  <a:pt x="884284" y="0"/>
                  <a:pt x="1975104" y="0"/>
                </a:cubicBezTo>
                <a:close/>
              </a:path>
            </a:pathLst>
          </a:custGeom>
        </p:spPr>
      </p:pic>
      <p:sp>
        <p:nvSpPr>
          <p:cNvPr id="26" name="Freeform: Shape 25">
            <a:extLst>
              <a:ext uri="{FF2B5EF4-FFF2-40B4-BE49-F238E27FC236}">
                <a16:creationId xmlns:a16="http://schemas.microsoft.com/office/drawing/2014/main" xmlns="" id="{C8F10CB3-3B5E-4C7A-98CF-B87454DDFA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848370" y="3966828"/>
            <a:ext cx="3339958" cy="2891173"/>
          </a:xfrm>
          <a:custGeom>
            <a:avLst/>
            <a:gdLst>
              <a:gd name="connsiteX0" fmla="*/ 2002536 w 3339958"/>
              <a:gd name="connsiteY0" fmla="*/ 0 h 2891173"/>
              <a:gd name="connsiteX1" fmla="*/ 3276335 w 3339958"/>
              <a:gd name="connsiteY1" fmla="*/ 457282 h 2891173"/>
              <a:gd name="connsiteX2" fmla="*/ 3339958 w 3339958"/>
              <a:gd name="connsiteY2" fmla="*/ 515107 h 2891173"/>
              <a:gd name="connsiteX3" fmla="*/ 3339958 w 3339958"/>
              <a:gd name="connsiteY3" fmla="*/ 2891173 h 2891173"/>
              <a:gd name="connsiteX4" fmla="*/ 209954 w 3339958"/>
              <a:gd name="connsiteY4" fmla="*/ 2891173 h 2891173"/>
              <a:gd name="connsiteX5" fmla="*/ 157369 w 3339958"/>
              <a:gd name="connsiteY5" fmla="*/ 2782014 h 2891173"/>
              <a:gd name="connsiteX6" fmla="*/ 0 w 3339958"/>
              <a:gd name="connsiteY6" fmla="*/ 2002536 h 2891173"/>
              <a:gd name="connsiteX7" fmla="*/ 2002536 w 3339958"/>
              <a:gd name="connsiteY7" fmla="*/ 0 h 289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9958" h="2891173">
                <a:moveTo>
                  <a:pt x="2002536" y="0"/>
                </a:moveTo>
                <a:cubicBezTo>
                  <a:pt x="2486398" y="0"/>
                  <a:pt x="2930179" y="171609"/>
                  <a:pt x="3276335" y="457282"/>
                </a:cubicBezTo>
                <a:lnTo>
                  <a:pt x="3339958" y="515107"/>
                </a:lnTo>
                <a:lnTo>
                  <a:pt x="3339958" y="2891173"/>
                </a:lnTo>
                <a:lnTo>
                  <a:pt x="209954" y="2891173"/>
                </a:lnTo>
                <a:lnTo>
                  <a:pt x="157369" y="2782014"/>
                </a:lnTo>
                <a:cubicBezTo>
                  <a:pt x="56036" y="2542434"/>
                  <a:pt x="0" y="2279029"/>
                  <a:pt x="0" y="2002536"/>
                </a:cubicBezTo>
                <a:cubicBezTo>
                  <a:pt x="0" y="896566"/>
                  <a:pt x="896566" y="0"/>
                  <a:pt x="200253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Picture 10" descr="Adhesive bandages">
            <a:extLst>
              <a:ext uri="{FF2B5EF4-FFF2-40B4-BE49-F238E27FC236}">
                <a16:creationId xmlns:a16="http://schemas.microsoft.com/office/drawing/2014/main" xmlns="" id="{BF936B06-E25F-8B18-59D0-AE86C314B9E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169" b="-4"/>
          <a:stretch/>
        </p:blipFill>
        <p:spPr>
          <a:xfrm>
            <a:off x="9009416" y="4131546"/>
            <a:ext cx="3178912" cy="2726454"/>
          </a:xfrm>
          <a:custGeom>
            <a:avLst/>
            <a:gdLst/>
            <a:ahLst/>
            <a:cxnLst/>
            <a:rect l="l" t="t" r="r" b="b"/>
            <a:pathLst>
              <a:path w="3178912" h="2726454">
                <a:moveTo>
                  <a:pt x="1837818" y="0"/>
                </a:moveTo>
                <a:cubicBezTo>
                  <a:pt x="2345318" y="0"/>
                  <a:pt x="2804772" y="205705"/>
                  <a:pt x="3137352" y="538285"/>
                </a:cubicBezTo>
                <a:lnTo>
                  <a:pt x="3178912" y="584013"/>
                </a:lnTo>
                <a:lnTo>
                  <a:pt x="3178912" y="2726454"/>
                </a:lnTo>
                <a:lnTo>
                  <a:pt x="229483" y="2726454"/>
                </a:lnTo>
                <a:lnTo>
                  <a:pt x="221815" y="2713832"/>
                </a:lnTo>
                <a:cubicBezTo>
                  <a:pt x="80353" y="2453425"/>
                  <a:pt x="0" y="2155005"/>
                  <a:pt x="0" y="1837818"/>
                </a:cubicBezTo>
                <a:cubicBezTo>
                  <a:pt x="0" y="822819"/>
                  <a:pt x="822819" y="0"/>
                  <a:pt x="183781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662456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04812C46-200A-4DEB-A05E-3ED6C68C23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Woman covering face">
            <a:extLst>
              <a:ext uri="{FF2B5EF4-FFF2-40B4-BE49-F238E27FC236}">
                <a16:creationId xmlns:a16="http://schemas.microsoft.com/office/drawing/2014/main" xmlns="" id="{18F2CBBD-61DE-2B35-C809-4E393DF1E0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41" r="5052" b="2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D1EA859B-E555-4109-94F3-6700E046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B98CBBF-1628-EE53-9E30-5FA21DA6E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/>
              <a:t>Vocabulary - Symptoms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306E2C31-266E-DACA-CA74-E6C7FD8ACB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900" b="0" i="0" u="none" strike="noStrike" cap="none" normalizeH="0" baseline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Fever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Cough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Pain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Sore throat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Headache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Nausea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Fatigue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Dizziness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Rash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Swelling </a:t>
            </a:r>
          </a:p>
        </p:txBody>
      </p:sp>
    </p:spTree>
    <p:extLst>
      <p:ext uri="{BB962C8B-B14F-4D97-AF65-F5344CB8AC3E}">
        <p14:creationId xmlns:p14="http://schemas.microsoft.com/office/powerpoint/2010/main" val="1717115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04812C46-200A-4DEB-A05E-3ED6C68C23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Needle and vial">
            <a:extLst>
              <a:ext uri="{FF2B5EF4-FFF2-40B4-BE49-F238E27FC236}">
                <a16:creationId xmlns:a16="http://schemas.microsoft.com/office/drawing/2014/main" xmlns="" id="{BD184B65-C7AB-9E65-683A-C5BCEBC814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44" r="438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D1EA859B-E555-4109-94F3-6700E046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90FB0F-E9F0-7CF0-A6A4-1BD32AEB2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365125"/>
            <a:ext cx="3822189" cy="1899912"/>
          </a:xfrm>
        </p:spPr>
        <p:txBody>
          <a:bodyPr>
            <a:normAutofit fontScale="90000"/>
          </a:bodyPr>
          <a:lstStyle/>
          <a:p>
            <a:r>
              <a:rPr lang="en-GB" sz="4000"/>
              <a:t>Vocabulary - Health Protection Methods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1E9C4BD6-92EC-1DC0-5B0F-AAD1E73E46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3161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Vaccination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Hygiene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Handwashing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Quarantine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Balanced diet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Exercise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Sleep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Sanitization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Mask-wearing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Social distancing </a:t>
            </a:r>
          </a:p>
        </p:txBody>
      </p:sp>
    </p:spTree>
    <p:extLst>
      <p:ext uri="{BB962C8B-B14F-4D97-AF65-F5344CB8AC3E}">
        <p14:creationId xmlns:p14="http://schemas.microsoft.com/office/powerpoint/2010/main" val="1314087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04812C46-200A-4DEB-A05E-3ED6C68C23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Pharmacist looking in drawer">
            <a:extLst>
              <a:ext uri="{FF2B5EF4-FFF2-40B4-BE49-F238E27FC236}">
                <a16:creationId xmlns:a16="http://schemas.microsoft.com/office/drawing/2014/main" xmlns="" id="{0EDBCF7E-9699-92EA-A03B-18C88CBF6F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4" r="-1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D1EA859B-E555-4109-94F3-6700E046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74B10AA-641A-71B8-271C-19C3C9739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/>
              <a:t>Vocabulary - Treatments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FCC7CD4B-BE53-CEC4-C3CC-5946E94BA0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Medication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Surgery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Therapy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Rest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Bandage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Antibiotics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Antiseptic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Painkillers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Physical therapy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Inhaler </a:t>
            </a:r>
          </a:p>
        </p:txBody>
      </p:sp>
    </p:spTree>
    <p:extLst>
      <p:ext uri="{BB962C8B-B14F-4D97-AF65-F5344CB8AC3E}">
        <p14:creationId xmlns:p14="http://schemas.microsoft.com/office/powerpoint/2010/main" val="16464795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D009D6D5-DAC2-4A8B-A17A-E206B9012D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8969AC-5F49-AE41-F3ED-8A92821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GB" dirty="0"/>
              <a:t>Vocabulary - Wounds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B351AA2D-42AA-EEFA-51A3-541899C284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33297"/>
            <a:ext cx="4619621" cy="384366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Cut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Bruise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Burn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Scratch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Abrasion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Puncture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Laceration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Blister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Bite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900" b="0" i="0" u="none" strike="noStrike" cap="none" normalizeH="0" baseline="0">
                <a:ln>
                  <a:noFill/>
                </a:ln>
                <a:effectLst/>
              </a:rPr>
              <a:t>Sting </a:t>
            </a:r>
          </a:p>
        </p:txBody>
      </p:sp>
      <p:pic>
        <p:nvPicPr>
          <p:cNvPr id="6" name="Picture 5" descr="Adhesive bandages">
            <a:extLst>
              <a:ext uri="{FF2B5EF4-FFF2-40B4-BE49-F238E27FC236}">
                <a16:creationId xmlns:a16="http://schemas.microsoft.com/office/drawing/2014/main" xmlns="" id="{36DAB414-5266-9803-F12E-40C49CE4CF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11" r="35651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83139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04812C46-200A-4DEB-A05E-3ED6C68C238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The radiologic figure of a skeleton">
            <a:extLst>
              <a:ext uri="{FF2B5EF4-FFF2-40B4-BE49-F238E27FC236}">
                <a16:creationId xmlns:a16="http://schemas.microsoft.com/office/drawing/2014/main" xmlns="" id="{36E937E6-A9F1-4C7E-4CD1-5B3623532C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89" r="-1" b="-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D1EA859B-E555-4109-94F3-6700E046E00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2957321C-16E1-6D83-A67A-28E4C7794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GB" sz="4000"/>
              <a:t>Vocabulary - Traumas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DED8FA55-7A53-1E07-9A12-B970730830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4201"/>
            <a:ext cx="3822189" cy="374276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Fracture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Concussion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Sprain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Dislocation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Contusion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Whiplash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Crush injury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Shock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Amputation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Internal bleeding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63906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D009D6D5-DAC2-4A8B-A17A-E206B9012D0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AD94A5-1BDE-4EF7-7D4D-6DDF442A2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 fontScale="90000"/>
          </a:bodyPr>
          <a:lstStyle/>
          <a:p>
            <a:r>
              <a:rPr lang="en-GB" dirty="0"/>
              <a:t>Example dialogue – Common cold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CE4DEE3-7FC3-EB0E-8722-CB42EAA21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33297"/>
            <a:ext cx="4619621" cy="3843666"/>
          </a:xfrm>
        </p:spPr>
        <p:txBody>
          <a:bodyPr>
            <a:normAutofit fontScale="92500" lnSpcReduction="10000"/>
          </a:bodyPr>
          <a:lstStyle/>
          <a:p>
            <a:r>
              <a:rPr lang="en-GB" sz="1400" b="1" dirty="0"/>
              <a:t>Patient:</a:t>
            </a:r>
            <a:r>
              <a:rPr lang="en-GB" sz="1400" dirty="0"/>
              <a:t> Good morning, doctor.</a:t>
            </a:r>
          </a:p>
          <a:p>
            <a:r>
              <a:rPr lang="en-GB" sz="1400" b="1" dirty="0"/>
              <a:t>Doctor:</a:t>
            </a:r>
            <a:r>
              <a:rPr lang="en-GB" sz="1400" dirty="0"/>
              <a:t> Good morning. What brings you in today?</a:t>
            </a:r>
          </a:p>
          <a:p>
            <a:r>
              <a:rPr lang="en-GB" sz="1400" b="1" dirty="0"/>
              <a:t>Patient:</a:t>
            </a:r>
            <a:r>
              <a:rPr lang="en-GB" sz="1400" dirty="0"/>
              <a:t> I’ve been feeling unwell for a few days. I have a sore throat, a runny nose, and a cough.</a:t>
            </a:r>
          </a:p>
          <a:p>
            <a:r>
              <a:rPr lang="en-GB" sz="1400" b="1" dirty="0"/>
              <a:t>Doctor:</a:t>
            </a:r>
            <a:r>
              <a:rPr lang="en-GB" sz="1400" dirty="0"/>
              <a:t> I see. Do you have any other symptoms, like a fever or body aches?</a:t>
            </a:r>
          </a:p>
          <a:p>
            <a:r>
              <a:rPr lang="en-GB" sz="1400" b="1" dirty="0"/>
              <a:t>Patient:</a:t>
            </a:r>
            <a:r>
              <a:rPr lang="en-GB" sz="1400" dirty="0"/>
              <a:t> Yes, I’ve had a mild fever and some body aches, especially in the evenings.</a:t>
            </a:r>
          </a:p>
          <a:p>
            <a:r>
              <a:rPr lang="en-GB" sz="1400" b="1" dirty="0"/>
              <a:t>Doctor:</a:t>
            </a:r>
            <a:r>
              <a:rPr lang="en-GB" sz="1400" dirty="0"/>
              <a:t> It sounds like you might have a common cold. Make sure to drink plenty of fluids, get lots of rest, and you can take over-the-counter medication for your symptoms. If it doesn’t improve in a week, come back to see me.</a:t>
            </a:r>
          </a:p>
          <a:p>
            <a:r>
              <a:rPr lang="en-GB" sz="1400" b="1" dirty="0"/>
              <a:t>Patient:</a:t>
            </a:r>
            <a:r>
              <a:rPr lang="en-GB" sz="1400" dirty="0"/>
              <a:t> Thank you, doctor. I’ll do that.</a:t>
            </a:r>
          </a:p>
          <a:p>
            <a:endParaRPr lang="en-GB" sz="1400" dirty="0"/>
          </a:p>
        </p:txBody>
      </p:sp>
      <p:pic>
        <p:nvPicPr>
          <p:cNvPr id="5" name="Picture 4" descr="Desk with stethoscope and computer keyboard">
            <a:extLst>
              <a:ext uri="{FF2B5EF4-FFF2-40B4-BE49-F238E27FC236}">
                <a16:creationId xmlns:a16="http://schemas.microsoft.com/office/drawing/2014/main" xmlns="" id="{BB9C5DFF-8CF2-8FF9-C34D-43181305E1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964" r="-1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66782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xmlns="" id="{9F7D5CDA-D291-4307-BF55-1381FED2963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ople holding hands">
            <a:extLst>
              <a:ext uri="{FF2B5EF4-FFF2-40B4-BE49-F238E27FC236}">
                <a16:creationId xmlns:a16="http://schemas.microsoft.com/office/drawing/2014/main" xmlns="" id="{F314B449-DF4C-5143-27F5-3CE32D6D7B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448" r="14286" b="-1"/>
          <a:stretch/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59B296B9-C5A5-4E4F-9B60-C907B5F1466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xmlns="" id="{D0300FD3-5AF1-6305-15FA-9078072672E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6A9FA30-51DB-BFA9-EEE0-EFC085EFF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 fontScale="90000"/>
          </a:bodyPr>
          <a:lstStyle/>
          <a:p>
            <a:r>
              <a:rPr lang="en-GB" sz="2500"/>
              <a:t>Role play – Doctors and patients</a:t>
            </a:r>
            <a:br>
              <a:rPr lang="en-GB" sz="2500"/>
            </a:br>
            <a:r>
              <a:rPr lang="en-GB" sz="2500"/>
              <a:t>Choose a dialogue and act it out with a partner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D2667C-F24A-D295-835D-8302FA657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anchor="ctr">
            <a:normAutofit fontScale="92500" lnSpcReduction="10000"/>
          </a:bodyPr>
          <a:lstStyle/>
          <a:p>
            <a:r>
              <a:rPr lang="en-GB" sz="1300" b="1" dirty="0"/>
              <a:t>Sprained Ankle</a:t>
            </a:r>
          </a:p>
          <a:p>
            <a:r>
              <a:rPr lang="en-GB" sz="1300" b="1" dirty="0"/>
              <a:t>Patient:</a:t>
            </a:r>
            <a:r>
              <a:rPr lang="en-GB" sz="1300" dirty="0"/>
              <a:t> Hello, doctor. I twisted my ankle while playing soccer yesterday, and it’s really swollen.</a:t>
            </a:r>
          </a:p>
          <a:p>
            <a:r>
              <a:rPr lang="en-GB" sz="1300" b="1" dirty="0"/>
              <a:t>Food Poisoning</a:t>
            </a:r>
          </a:p>
          <a:p>
            <a:r>
              <a:rPr lang="en-GB" sz="1300" b="1" dirty="0"/>
              <a:t>Patient:</a:t>
            </a:r>
            <a:r>
              <a:rPr lang="en-GB" sz="1300" dirty="0"/>
              <a:t> Hi, doctor. I’ve been having severe stomach cramps and diarrhoea since last night. I think I might have food poisoning.</a:t>
            </a:r>
          </a:p>
          <a:p>
            <a:r>
              <a:rPr lang="en-GB" sz="1300" b="1" dirty="0"/>
              <a:t>Seasonal Allergies</a:t>
            </a:r>
          </a:p>
          <a:p>
            <a:r>
              <a:rPr lang="en-GB" sz="1300" dirty="0"/>
              <a:t>Good afternoon, doctor. I’ve been sneezing a lot and my eyes are itchy and watery.</a:t>
            </a:r>
          </a:p>
          <a:p>
            <a:r>
              <a:rPr lang="en-GB" sz="1300" b="1" dirty="0"/>
              <a:t>Migraine</a:t>
            </a:r>
          </a:p>
          <a:p>
            <a:r>
              <a:rPr lang="en-GB" sz="1300" b="1" dirty="0"/>
              <a:t>Patient:</a:t>
            </a:r>
            <a:r>
              <a:rPr lang="en-GB" sz="1300" dirty="0"/>
              <a:t> Doctor, I’ve been having severe headaches that last for hours and sometimes make me nauseous.</a:t>
            </a:r>
          </a:p>
          <a:p>
            <a:endParaRPr lang="en-GB" sz="1300" dirty="0"/>
          </a:p>
        </p:txBody>
      </p:sp>
    </p:spTree>
    <p:extLst>
      <p:ext uri="{BB962C8B-B14F-4D97-AF65-F5344CB8AC3E}">
        <p14:creationId xmlns:p14="http://schemas.microsoft.com/office/powerpoint/2010/main" val="3222716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09588DA8-065E-4F6F-8EFD-43104AB2E0C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C4285719-470E-454C-AF62-8323075F1F5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CD9FE4EF-C4D8-49A0-B2FF-81D8DB7D8A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4300840D-0A0B-4512-BACA-B439D5B9C57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D2B78728-A580-49A7-84F9-6EF6F583AD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xmlns="" id="{38FAA1A1-D861-433F-88FA-1E9D6FD31D1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8D71EDA1-87BF-4D5D-AB79-F346FD19278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54F160F-D621-9333-B53F-A6B390BD6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4000">
                <a:solidFill>
                  <a:srgbClr val="FFFFFF"/>
                </a:solidFill>
              </a:rPr>
              <a:t>Now switch roles and try the following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84375A9-11EE-995F-E736-CBCE28059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 fontScale="92500"/>
          </a:bodyPr>
          <a:lstStyle/>
          <a:p>
            <a:r>
              <a:rPr lang="en-GB" sz="1900" b="1"/>
              <a:t>Stomach Ulcer</a:t>
            </a:r>
          </a:p>
          <a:p>
            <a:r>
              <a:rPr lang="en-GB" sz="1900" b="1"/>
              <a:t>Patient:</a:t>
            </a:r>
            <a:r>
              <a:rPr lang="en-GB" sz="1900"/>
              <a:t> Hello, doctor. I’ve been having a burning pain in my stomach for a few weeks now, especially after eating.</a:t>
            </a:r>
          </a:p>
          <a:p>
            <a:r>
              <a:rPr lang="en-GB" sz="1900" b="1"/>
              <a:t>Asthma Attack</a:t>
            </a:r>
          </a:p>
          <a:p>
            <a:r>
              <a:rPr lang="en-GB" sz="1900" b="1"/>
              <a:t>Patient:</a:t>
            </a:r>
            <a:r>
              <a:rPr lang="en-GB" sz="1900"/>
              <a:t> Doctor, I’ve been having difficulty breathing and wheezing a lot lately.</a:t>
            </a:r>
          </a:p>
          <a:p>
            <a:r>
              <a:rPr lang="en-GB" sz="1900" b="1"/>
              <a:t>High Blood Pressure</a:t>
            </a:r>
          </a:p>
          <a:p>
            <a:r>
              <a:rPr lang="en-GB" sz="1900" b="1"/>
              <a:t>Patient:</a:t>
            </a:r>
            <a:r>
              <a:rPr lang="en-GB" sz="1900"/>
              <a:t> Good morning, doctor. I’ve been feeling dizzy and have headaches frequently.</a:t>
            </a:r>
          </a:p>
          <a:p>
            <a:r>
              <a:rPr lang="en-GB" sz="1900" b="1"/>
              <a:t>Anxiety</a:t>
            </a:r>
          </a:p>
          <a:p>
            <a:r>
              <a:rPr lang="en-GB" sz="1900" b="1"/>
              <a:t>Patient:</a:t>
            </a:r>
            <a:r>
              <a:rPr lang="en-GB" sz="1900"/>
              <a:t> Hello, doctor. I’ve been feeling very anxious and it’s affecting my sleep and daily activities.</a:t>
            </a:r>
          </a:p>
          <a:p>
            <a:r>
              <a:rPr lang="en-GB" sz="1900" b="1"/>
              <a:t>Back Pain</a:t>
            </a:r>
          </a:p>
          <a:p>
            <a:r>
              <a:rPr lang="en-GB" sz="1900" b="1"/>
              <a:t>Patient:</a:t>
            </a:r>
            <a:r>
              <a:rPr lang="en-GB" sz="1900"/>
              <a:t> Good afternoon, doctor. I’ve been having lower back pain for a few weeks now.</a:t>
            </a:r>
          </a:p>
          <a:p>
            <a:endParaRPr lang="en-GB" sz="1900"/>
          </a:p>
        </p:txBody>
      </p:sp>
    </p:spTree>
    <p:extLst>
      <p:ext uri="{BB962C8B-B14F-4D97-AF65-F5344CB8AC3E}">
        <p14:creationId xmlns:p14="http://schemas.microsoft.com/office/powerpoint/2010/main" val="2868050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99D1EA-DB20-6CB9-85F7-C5CFA11BD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Delayed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1D09F7F-834E-B33C-0815-10828AA1A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593A1C4-3CC2-5629-E19D-497E68016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4575" y="466725"/>
            <a:ext cx="1638300" cy="76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41E4A39-2301-C33C-FC73-F570A998F1CD}"/>
              </a:ext>
            </a:extLst>
          </p:cNvPr>
          <p:cNvSpPr txBox="1"/>
          <p:nvPr/>
        </p:nvSpPr>
        <p:spPr>
          <a:xfrm>
            <a:off x="238125" y="630820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fontAlgn="auto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err="1">
                <a:solidFill>
                  <a:srgbClr val="898989"/>
                </a:solidFill>
                <a:latin typeface="Calibri" panose="020F0502020204030204" pitchFamily="34" charset="0"/>
              </a:rPr>
              <a:t>t</a:t>
            </a:r>
            <a:r>
              <a:rPr lang="en-GB" sz="1800" b="0" i="0" kern="1200" spc="0" baseline="0" err="1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uSpeaking</a:t>
            </a:r>
            <a:r>
              <a:rPr lang="en-GB" sz="1800" b="0" i="0" kern="1200" spc="0" baseline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2024,  </a:t>
            </a:r>
            <a:r>
              <a:rPr lang="en-GB" sz="1800" b="0" i="0" kern="1200" spc="0" baseline="0" dirty="0">
                <a:ln>
                  <a:noFill/>
                </a:ln>
                <a:solidFill>
                  <a:srgbClr val="898989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All rights reserved</a:t>
            </a:r>
            <a:endParaRPr lang="en-GB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23058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2129</TotalTime>
  <Words>468</Words>
  <Application>Microsoft Office PowerPoint</Application>
  <PresentationFormat>Panorámica</PresentationFormat>
  <Paragraphs>97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Healthcare</vt:lpstr>
      <vt:lpstr>Warm up</vt:lpstr>
      <vt:lpstr>Vocabulary - Symptoms</vt:lpstr>
      <vt:lpstr>Vocabulary - Health Protection Methods</vt:lpstr>
      <vt:lpstr>Vocabulary - Treatments</vt:lpstr>
      <vt:lpstr>Vocabulary - Wounds</vt:lpstr>
      <vt:lpstr>Vocabulary - Traumas</vt:lpstr>
      <vt:lpstr>Example dialogue – Common cold</vt:lpstr>
      <vt:lpstr>Role play – Doctors and patients Choose a dialogue and act it out with a partner</vt:lpstr>
      <vt:lpstr>Now switch roles and try the following</vt:lpstr>
      <vt:lpstr>Delayed feedback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</dc:title>
  <dc:creator>Clarke, Theodore James Dalgliesh</dc:creator>
  <cp:lastModifiedBy>JaviRo</cp:lastModifiedBy>
  <cp:revision>36</cp:revision>
  <dcterms:created xsi:type="dcterms:W3CDTF">2024-05-27T11:38:08Z</dcterms:created>
  <dcterms:modified xsi:type="dcterms:W3CDTF">2025-01-02T10:56:49Z</dcterms:modified>
</cp:coreProperties>
</file>