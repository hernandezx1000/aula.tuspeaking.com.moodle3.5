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C1AF-F97E-42D9-70F2-73246078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6CCF7-09EA-EF24-CA59-77DD798D3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4C9C-93E7-C001-FF69-6AF1AC04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E9FE1-E46E-10CA-BFB4-D62E4B5D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3CFFC-186E-2D22-8A20-C402C31F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63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0AC0-7BAB-42FD-A14D-E98AC90F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1335-2A8F-170C-3E06-A17D8FC42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F207-7325-691D-7558-93D79C29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1EBE4-85DC-4003-C620-E8F36CF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854F1-D41C-3CC2-5721-D004BEDC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472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33A2-BE6C-F007-35DF-DB18EB5A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6D36A-023F-990D-2132-DAF0B108A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899C1-A401-DE45-847B-0B185A68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AC5C8-7355-2DFD-C46A-0095017E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ADD88-D204-7DED-C6FC-580596FD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2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BC41-A709-2695-FDDB-DEF95219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C6BB-0304-36DE-ED0F-1D4E5901B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D193C-630D-F76A-CE57-D5164BD03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2F5DA-9A48-19BF-001E-BD95D180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8B40E-0048-9761-0D95-11051577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0FC3-39D7-1D03-F65A-F38B16AF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4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EC7F-4A0B-7552-24B5-418EF231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561CC-BA1D-6900-881B-43C963A8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9D28D-E182-9235-BB04-24E7925F1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EA499-453D-D1E8-1F0D-8002B18B7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57ABC-3857-2ECB-ECD6-B9940CBE6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38EA1-F7A5-314C-E8B7-A294885C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69A93-6746-6EC1-489E-3B88CF5F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AC476-549A-9277-09DE-16CB28FC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960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A455-5702-0D90-0837-CC0089CB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9CCF3-27C5-8386-543C-AF7EC142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9BCA5-3937-ABA6-F589-5858F743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A6931-93FC-5689-9617-68424A20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22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932FF-887D-5BA6-EC51-588A25D4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7026B-B8FE-1C15-EABB-5343C78F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E1182-435D-7D6E-2DEC-12A936D2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9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B42B-D6CC-3E5D-D2BC-135196C2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7EB3D-D35D-CD53-1EE1-2727F26D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DF5E1-CB3C-4487-FC6F-1C4270FD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D60E3-BE87-906F-E825-42DE22A2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4C5C-15A2-8D24-E5B2-718049C2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C70BA-ADAA-9CD7-FC89-4BF55E4A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87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E71E-CCBA-8EFF-4356-14F55DB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E3A8B-7E12-6301-02B2-F53DB6377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77F21-5F6F-3423-C453-9947D843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362BA-7570-69F1-DE41-CF5AF508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A4496-A53F-97DF-3346-0EEA1283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0624F-70E0-AD7E-9707-FFF6151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6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48F6-7E4D-40C6-9F09-465D3610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C2694-3800-D0EA-DF24-8FBBAECF8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37E86-61A3-929A-42FC-624F496D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49A6-0B25-143D-17B8-87237B86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50C2-73DA-78A4-EB45-1798B29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75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EE382-9B97-983B-3762-22016DA02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3B383-3588-99C8-661E-1909F707A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CB3AF-6C86-9C2C-B127-7B03BA59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C4437-4FBD-7C26-A4A1-4ACF4F11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9BD5-6E13-7CEA-23FA-25DEE97B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279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261F8-741E-CD1E-A1DA-194C587F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7091-5949-7FB4-F73D-B199F5534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6589-3C73-9F8C-741A-8B4CAD027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C1E50-26DE-4488-9273-C33D0904EE24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6E24-BD98-3D9F-8E50-A6A253340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6180-76F4-3F94-4436-1AC4C4C5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2098-5B59-44C2-A768-3465517E77D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36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D3F6-EBA4-16A3-9B23-6BFFC3629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Mass</a:t>
            </a:r>
            <a:r>
              <a:rPr lang="es-ES" dirty="0"/>
              <a:t> media and </a:t>
            </a:r>
            <a:r>
              <a:rPr lang="es-ES" dirty="0" err="1"/>
              <a:t>communication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C802C-AC53-EDBB-1597-A7974DF572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English B2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FDBDF-CB86-63E0-2DFB-C2162BA2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D579B-D628-979F-8467-4BE088E03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 b="1" dirty="0"/>
              <a:t>Warm up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6879-8153-6093-B6AF-DEAEAD39C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GB" sz="2000" dirty="0"/>
              <a:t>Do you prefer reading news online or in print? Why?</a:t>
            </a:r>
          </a:p>
          <a:p>
            <a:endParaRPr lang="en-GB" sz="2000" dirty="0"/>
          </a:p>
          <a:p>
            <a:r>
              <a:rPr lang="en-GB" sz="2000" dirty="0"/>
              <a:t>Have you ever encountered fake news? How did you recognize it?</a:t>
            </a:r>
          </a:p>
          <a:p>
            <a:endParaRPr lang="en-GB" sz="2000" dirty="0"/>
          </a:p>
          <a:p>
            <a:r>
              <a:rPr lang="en-GB" sz="2000" dirty="0"/>
              <a:t>What impact does advertising have on your consumption of media?</a:t>
            </a:r>
          </a:p>
          <a:p>
            <a:endParaRPr lang="en-GB" sz="2000" dirty="0"/>
          </a:p>
          <a:p>
            <a:r>
              <a:rPr lang="en-GB" sz="2000" dirty="0"/>
              <a:t>What is the most important thing for you when choosing a communication platform (e.g., Facebook, Twitter, WhatsApp)?</a:t>
            </a:r>
          </a:p>
        </p:txBody>
      </p:sp>
      <p:pic>
        <p:nvPicPr>
          <p:cNvPr id="5" name="Picture 4" descr="Sheets of magazines being recycled">
            <a:extLst>
              <a:ext uri="{FF2B5EF4-FFF2-40B4-BE49-F238E27FC236}">
                <a16:creationId xmlns:a16="http://schemas.microsoft.com/office/drawing/2014/main" id="{D215FDCF-3303-A3ED-6C94-AF92EFEB80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8" r="11766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4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mera lens close up">
            <a:extLst>
              <a:ext uri="{FF2B5EF4-FFF2-40B4-BE49-F238E27FC236}">
                <a16:creationId xmlns:a16="http://schemas.microsoft.com/office/drawing/2014/main" id="{FBF568BF-9F06-0704-E617-28E292F938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52968-6101-D337-B1D4-4A0B3A1B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Vocabulary 2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9F17-AEE1-231C-7112-09B5DF6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Autofit/>
          </a:bodyPr>
          <a:lstStyle/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Clarity: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quality of being clear, easy to understand, and free from ambiguity in media messages.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Conciseness: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Expressing ideas in a clear and brief manner without unnecessary details or redundancy.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Credibility: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trustworthiness and reliability of the source of information, crucial for effective communication.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Engagement: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ability of media content to capture and maintain the audience's attention, involvement, and interest.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Feedback: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Responses, reactions, or opinions provided by the audience to the media content, facilitating a two-way communication process.</a:t>
            </a:r>
          </a:p>
          <a:p>
            <a:pPr lvl="1"/>
            <a:endParaRPr lang="en-GB" sz="1400" dirty="0">
              <a:solidFill>
                <a:srgbClr val="FFFFFF"/>
              </a:solidFill>
            </a:endParaRPr>
          </a:p>
          <a:p>
            <a:pPr lvl="1"/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endParaRPr lang="en-GB" sz="1400" dirty="0">
              <a:solidFill>
                <a:srgbClr val="FFFFFF"/>
              </a:solidFill>
            </a:endParaRPr>
          </a:p>
          <a:p>
            <a:pPr lvl="1"/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Inclusivity: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Ensuring that media content is designed to be accessible and relatable to a diverse audience, representing various backgrounds and perspectives.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Interactivity: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degree to which the audience can actively engage with and participate in media content, often facilitated by digital platforms.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Message Framing: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deliberate presentation of information in a particular way to shape the audience's perception or interpretation.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Multimodal Communication: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Using multiple modes of communication, such as text, images, audio, and video, to convey a message effectively.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Narrative Storytelling: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Presenting information or messages in the form of a story, making it more engaging and relatable for the audience.</a:t>
            </a:r>
          </a:p>
          <a:p>
            <a:endParaRPr lang="es-E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620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ack of newspaper">
            <a:extLst>
              <a:ext uri="{FF2B5EF4-FFF2-40B4-BE49-F238E27FC236}">
                <a16:creationId xmlns:a16="http://schemas.microsoft.com/office/drawing/2014/main" id="{CB8F4B95-CF5F-2575-0348-F02D543F34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9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52968-6101-D337-B1D4-4A0B3A1B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solidFill>
                  <a:schemeClr val="bg1"/>
                </a:solidFill>
              </a:rPr>
              <a:t>Vocabulary 2</a:t>
            </a:r>
            <a:endParaRPr lang="es-ES" sz="5400">
              <a:solidFill>
                <a:schemeClr val="bg1"/>
              </a:solidFill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9F17-AEE1-231C-7112-09B5DF6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 numCol="2"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Objectivity: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Presenting information without personal bias or opinion, maintaining a neutral and impartial stance in media content.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Persuasion: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use of techniques to influence or change the attitudes, beliefs, or behaviours of the audience through media messages.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Sensationalism: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use of exaggerated or sensationalized content to evoke strong emotions or reactions from the audience.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Transparency: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Openness and honesty in communication, providing clear information about sources, motives, and intentions.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User Experience (UX):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overall experience of a person using media content or platforms, encompassing usability, accessibility, and satisfaction.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Visual Communication: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Conveying information or messages through visual elements such as images, graphics, and videos.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Digital Literacy: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ability to access, analyse, and evaluate information effectively in the digital age, including understanding media sources and content.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Ethical Journalism: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Adhering to moral principles and standards in journalism, including truthfulness, accuracy, and respect for individuals' rights and privacy.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Media Advocacy: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Using media channels to promote a cause or social issue, aiming to influence public opinion or policy.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Gatekeeping: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process by which media professionals decide which information is selected, presented, and omitted in news coverage.</a:t>
            </a:r>
          </a:p>
          <a:p>
            <a:endParaRPr lang="es-E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4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C4A41-916A-4D94-92B3-82B7CD96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s-ES" b="1" i="0" dirty="0">
                <a:effectLst/>
                <a:latin typeface="+mn-lt"/>
              </a:rPr>
              <a:t>5. </a:t>
            </a:r>
            <a:r>
              <a:rPr lang="es-ES" b="1" i="0" dirty="0" err="1">
                <a:effectLst/>
                <a:latin typeface="+mn-lt"/>
              </a:rPr>
              <a:t>Censorship</a:t>
            </a:r>
            <a:r>
              <a:rPr lang="es-ES" b="1" i="0" dirty="0">
                <a:effectLst/>
                <a:latin typeface="+mn-lt"/>
              </a:rPr>
              <a:t>:</a:t>
            </a:r>
            <a:endParaRPr lang="es-ES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3692D-2A00-CF8F-3746-365A6397B3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96" r="531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0D033-62D1-1A19-0D01-E24FFC831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2000" b="0" i="1" dirty="0">
                <a:effectLst/>
              </a:rPr>
              <a:t>Discussion:</a:t>
            </a:r>
            <a:r>
              <a:rPr lang="en-GB" sz="2000" b="0" i="0" dirty="0">
                <a:effectLst/>
              </a:rPr>
              <a:t> Explore the concept of censorship in the media. Under what circumstances, if any, is censorship justifiable?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92315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47545-7BA1-2443-2967-41AABD8C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4200" b="1" i="0">
                <a:effectLst/>
                <a:latin typeface="+mn-lt"/>
              </a:rPr>
              <a:t>6. Media Ownership and Independence:</a:t>
            </a:r>
            <a:endParaRPr lang="es-ES" sz="4200">
              <a:latin typeface="+mn-lt"/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6678-C6C7-D60E-BB5A-F86CF8019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0" i="1" dirty="0">
                <a:effectLst/>
              </a:rPr>
              <a:t>Discussion:</a:t>
            </a:r>
            <a:r>
              <a:rPr lang="en-GB" sz="2200" b="0" i="0" dirty="0">
                <a:effectLst/>
              </a:rPr>
              <a:t> Explore the ethical implications of media ownership and its potential impact on editorial independence. How can media organizations maintain integrity in the face of corporate or political influence?</a:t>
            </a:r>
            <a:endParaRPr lang="es-ES" sz="2200" dirty="0"/>
          </a:p>
        </p:txBody>
      </p:sp>
      <p:pic>
        <p:nvPicPr>
          <p:cNvPr id="1026" name="Picture 2" descr="Berlusconi: 'Il Cavaliere' que reinó en la televisión y moldeó la política  italiana">
            <a:extLst>
              <a:ext uri="{FF2B5EF4-FFF2-40B4-BE49-F238E27FC236}">
                <a16:creationId xmlns:a16="http://schemas.microsoft.com/office/drawing/2014/main" id="{A0F589E5-F6FC-AB58-5FCA-563078ADD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0" r="29040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16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E3973-63C4-C0D8-7A49-D7F66733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ES" sz="5400" b="1" i="0">
                <a:effectLst/>
                <a:latin typeface="+mn-lt"/>
              </a:rPr>
              <a:t>7. Diversity and Inclusivity:</a:t>
            </a:r>
            <a:endParaRPr lang="es-ES" sz="540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ABFEE-DB19-2395-06A2-E02E067AF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13" r="2514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41F8-C236-7EAB-DFA5-6EF4EBB7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How can media organizations promote diversity and inclusivity in their coverage? What are the ethical considerations related to representation in the media?</a:t>
            </a: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346240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C7236-6B8E-8EE4-EDF8-AE7015E9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3400" b="1" i="0">
                <a:effectLst/>
                <a:latin typeface="+mn-lt"/>
              </a:rPr>
              <a:t>8. Whistleblowing and Anonymous Sources:</a:t>
            </a:r>
            <a:endParaRPr lang="es-ES" sz="340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B19D1-399E-6A0B-9261-AD08BEDD4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Explore the ethical considerations surrounding whistleblowing and the use of anonymous sources in journalism. When is it justifiable for journalists to protect their sources?</a:t>
            </a:r>
            <a:endParaRPr lang="es-E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4B52D-0CEC-43F2-1AC9-07DA9803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68552"/>
            <a:ext cx="6903720" cy="35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41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57C06-5401-16EB-5146-DD334675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i="0">
                <a:effectLst/>
                <a:latin typeface="+mn-lt"/>
              </a:rPr>
              <a:t>9. Social Media and Citizen Journalism:</a:t>
            </a:r>
            <a:endParaRPr lang="es-ES" sz="4200">
              <a:latin typeface="+mn-lt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38DA5-F447-B708-C263-AFCDFD49D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How has the rise of social media impacted traditional journalism ethics? Discuss the role of citizen journalism and the challenges it poses.</a:t>
            </a:r>
            <a:endParaRPr lang="es-ES" sz="2200"/>
          </a:p>
        </p:txBody>
      </p:sp>
      <p:pic>
        <p:nvPicPr>
          <p:cNvPr id="5" name="Picture 4" descr="Person holding cellphone to take photo of food bowls, cups of coffee, croissants, napkins, and cutlery on wood table">
            <a:extLst>
              <a:ext uri="{FF2B5EF4-FFF2-40B4-BE49-F238E27FC236}">
                <a16:creationId xmlns:a16="http://schemas.microsoft.com/office/drawing/2014/main" id="{ADEEEB11-A7CC-A73F-398D-68367485A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1" r="17426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842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D373-B57F-7FF7-03F2-D641A5C0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E930-BE18-E6AA-9A5A-7C49A7E3F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F0058F-01C7-50CA-5B72-171CC7BE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6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716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Mass media and communication</vt:lpstr>
      <vt:lpstr>Warm up</vt:lpstr>
      <vt:lpstr>Vocabulary 2</vt:lpstr>
      <vt:lpstr>Vocabulary 2</vt:lpstr>
      <vt:lpstr>5. Censorship:</vt:lpstr>
      <vt:lpstr>6. Media Ownership and Independence:</vt:lpstr>
      <vt:lpstr>7. Diversity and Inclusivity:</vt:lpstr>
      <vt:lpstr>8. Whistleblowing and Anonymous Sources:</vt:lpstr>
      <vt:lpstr>9. Social Media and Citizen Journalism: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media and communication</dc:title>
  <dc:creator>Theo Clarke</dc:creator>
  <cp:lastModifiedBy>Clarke, Theodore James Dalgliesh</cp:lastModifiedBy>
  <cp:revision>5</cp:revision>
  <dcterms:created xsi:type="dcterms:W3CDTF">2024-01-04T11:28:26Z</dcterms:created>
  <dcterms:modified xsi:type="dcterms:W3CDTF">2024-06-12T12:01:34Z</dcterms:modified>
</cp:coreProperties>
</file>