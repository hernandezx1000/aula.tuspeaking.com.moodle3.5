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06" r:id="rId4"/>
  </p:sldMasterIdLst>
  <p:notesMasterIdLst>
    <p:notesMasterId r:id="rId23"/>
  </p:notesMasterIdLst>
  <p:sldIdLst>
    <p:sldId id="3825" r:id="rId5"/>
    <p:sldId id="3842" r:id="rId6"/>
    <p:sldId id="3843" r:id="rId7"/>
    <p:sldId id="3851" r:id="rId8"/>
    <p:sldId id="3850" r:id="rId9"/>
    <p:sldId id="3859" r:id="rId10"/>
    <p:sldId id="3870" r:id="rId11"/>
    <p:sldId id="3865" r:id="rId12"/>
    <p:sldId id="3873" r:id="rId13"/>
    <p:sldId id="3872" r:id="rId14"/>
    <p:sldId id="3853" r:id="rId15"/>
    <p:sldId id="3844" r:id="rId16"/>
    <p:sldId id="3847" r:id="rId17"/>
    <p:sldId id="3862" r:id="rId18"/>
    <p:sldId id="3866" r:id="rId19"/>
    <p:sldId id="3869" r:id="rId20"/>
    <p:sldId id="3841" r:id="rId21"/>
    <p:sldId id="383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orient="horz" pos="3408" userDrawn="1">
          <p15:clr>
            <a:srgbClr val="A4A3A4"/>
          </p15:clr>
        </p15:guide>
        <p15:guide id="3" pos="6936" userDrawn="1">
          <p15:clr>
            <a:srgbClr val="A4A3A4"/>
          </p15:clr>
        </p15:guide>
        <p15:guide id="4" pos="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A8F335-8B87-4980-93C9-076E251819BB}" v="10" dt="2023-03-26T09:17:28.8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guide orient="horz" pos="1200"/>
        <p:guide orient="horz" pos="3408"/>
        <p:guide pos="6936"/>
        <p:guide pos="7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7BA811-8917-4F1D-B22F-E96045BFA4E0}" type="datetimeFigureOut">
              <a:rPr lang="en-US" smtClean="0"/>
              <a:t>3/27/2023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C6A29-4676-420C-BBE3-ACC2B80F64D4}" type="slidenum">
              <a:rPr lang="en-US" smtClean="0"/>
              <a:t>‹#›</a:t>
            </a:fld>
            <a:endParaRPr lang="en-US"/>
          </a:p>
        </p:txBody>
      </p:sp>
    </p:spTree>
    <p:extLst>
      <p:ext uri="{BB962C8B-B14F-4D97-AF65-F5344CB8AC3E}">
        <p14:creationId xmlns:p14="http://schemas.microsoft.com/office/powerpoint/2010/main" val="3804597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5093208" y="2743200"/>
            <a:ext cx="6592824" cy="2386584"/>
          </a:xfrm>
        </p:spPr>
        <p:txBody>
          <a:bodyPr anchor="b"/>
          <a:lstStyle>
            <a:lvl1pPr algn="r">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5093208" y="5221224"/>
            <a:ext cx="6592824" cy="99669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62774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pic>
        <p:nvPicPr>
          <p:cNvPr id="7" name="Picture 6" descr="Logo  Description automatically generated">
            <a:extLst>
              <a:ext uri="{FF2B5EF4-FFF2-40B4-BE49-F238E27FC236}">
                <a16:creationId xmlns:a16="http://schemas.microsoft.com/office/drawing/2014/main" id="{50D7D42C-B56E-2002-0498-CE88D769DFE6}"/>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601120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7200479" y="1150210"/>
            <a:ext cx="2207046" cy="2204178"/>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1800"/>
            </a:lvl1pPr>
          </a:lstStyle>
          <a:p>
            <a:r>
              <a:rPr lang="en-US"/>
              <a:t>Click icon to add picture</a:t>
            </a:r>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8444632" y="2579683"/>
            <a:ext cx="3096807" cy="3096807"/>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10" name="Oval 9">
            <a:extLst>
              <a:ext uri="{FF2B5EF4-FFF2-40B4-BE49-F238E27FC236}">
                <a16:creationId xmlns:a16="http://schemas.microsoft.com/office/drawing/2014/main" id="{E8E71C73-7BAD-4838-88C1-42E045A9D179}"/>
              </a:ext>
            </a:extLst>
          </p:cNvPr>
          <p:cNvSpPr/>
          <p:nvPr userDrawn="1"/>
        </p:nvSpPr>
        <p:spPr>
          <a:xfrm>
            <a:off x="10249620" y="1555068"/>
            <a:ext cx="819303" cy="797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userDrawn="1"/>
        </p:nvSpPr>
        <p:spPr>
          <a:xfrm>
            <a:off x="7590089" y="4034393"/>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Picture 6" descr="Logo  Description automatically generated">
            <a:extLst>
              <a:ext uri="{FF2B5EF4-FFF2-40B4-BE49-F238E27FC236}">
                <a16:creationId xmlns:a16="http://schemas.microsoft.com/office/drawing/2014/main" id="{DF0731B2-198C-03B1-6C26-17F767EED75A}"/>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387359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1 large picture">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pic>
        <p:nvPicPr>
          <p:cNvPr id="8" name="Picture 7" descr="Logo  Description automatically generated">
            <a:extLst>
              <a:ext uri="{FF2B5EF4-FFF2-40B4-BE49-F238E27FC236}">
                <a16:creationId xmlns:a16="http://schemas.microsoft.com/office/drawing/2014/main" id="{6B19892D-C6FC-6DEA-BC94-7ACF19FFB8E9}"/>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2934892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userDrawn="1"/>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9272" y="1380744"/>
            <a:ext cx="5559552" cy="2514600"/>
          </a:xfrm>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3" descr="Logo  Description automatically generated">
            <a:extLst>
              <a:ext uri="{FF2B5EF4-FFF2-40B4-BE49-F238E27FC236}">
                <a16:creationId xmlns:a16="http://schemas.microsoft.com/office/drawing/2014/main" id="{C4E608A4-5FE4-007F-03B2-71BFE7A80D9F}"/>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2888410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179576" y="1911096"/>
            <a:ext cx="98298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descr="Logo  Description automatically generated">
            <a:extLst>
              <a:ext uri="{FF2B5EF4-FFF2-40B4-BE49-F238E27FC236}">
                <a16:creationId xmlns:a16="http://schemas.microsoft.com/office/drawing/2014/main" id="{9E5919BF-BCFB-D7D2-4275-4DB20EECC9E7}"/>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3074040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38200" y="1911096"/>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Logo  Description automatically generated">
            <a:extLst>
              <a:ext uri="{FF2B5EF4-FFF2-40B4-BE49-F238E27FC236}">
                <a16:creationId xmlns:a16="http://schemas.microsoft.com/office/drawing/2014/main" id="{9FDA2D69-3D2E-7CC9-65E2-48E1AF036011}"/>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3045678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2192000" cy="6858000"/>
          </a:xfrm>
        </p:spPr>
        <p:txBody>
          <a:bodyPr/>
          <a:lstStyle>
            <a:lvl1pPr>
              <a:buNone/>
              <a:defRPr>
                <a:solidFill>
                  <a:schemeClr val="bg1"/>
                </a:solidFill>
              </a:defRPr>
            </a:lvl1pPr>
          </a:lstStyle>
          <a:p>
            <a:r>
              <a:rPr lang="en-US"/>
              <a:t>Click icon to add picture</a:t>
            </a:r>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3111500" y="370600"/>
            <a:ext cx="5923842" cy="592384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400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575304" y="4379976"/>
            <a:ext cx="5038344" cy="713232"/>
          </a:xfrm>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white"/>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white"/>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white"/>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white"/>
              </a:solidFill>
              <a:effectLst/>
              <a:uLnTx/>
              <a:uFillTx/>
              <a:latin typeface="Avenir Next LT Pro"/>
              <a:ea typeface="+mn-ea"/>
              <a:cs typeface="+mn-cs"/>
            </a:endParaRPr>
          </a:p>
        </p:txBody>
      </p:sp>
    </p:spTree>
    <p:extLst>
      <p:ext uri="{BB962C8B-B14F-4D97-AF65-F5344CB8AC3E}">
        <p14:creationId xmlns:p14="http://schemas.microsoft.com/office/powerpoint/2010/main" val="3609650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D6941D18-88EA-EE13-DA04-12834369CE40}"/>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1359863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11" descr="Logo  Description automatically generated">
            <a:extLst>
              <a:ext uri="{FF2B5EF4-FFF2-40B4-BE49-F238E27FC236}">
                <a16:creationId xmlns:a16="http://schemas.microsoft.com/office/drawing/2014/main" id="{59CDC33D-E4B8-82EA-FCC7-0F88F8DA1A2D}"/>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1230263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45312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45312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806500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806500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13" descr="Logo  Description automatically generated">
            <a:extLst>
              <a:ext uri="{FF2B5EF4-FFF2-40B4-BE49-F238E27FC236}">
                <a16:creationId xmlns:a16="http://schemas.microsoft.com/office/drawing/2014/main" id="{54132E07-6B69-FD48-AF4F-207926113140}"/>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277929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7901259" y="2727729"/>
            <a:ext cx="4290740" cy="4130271"/>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1800"/>
            </a:lvl1pPr>
          </a:lstStyle>
          <a:p>
            <a:r>
              <a:rPr lang="en-US"/>
              <a:t>Click icon to add picture</a:t>
            </a:r>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6261609" y="0"/>
            <a:ext cx="3519311" cy="3007909"/>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1800"/>
            </a:lvl1pPr>
          </a:lstStyle>
          <a:p>
            <a:r>
              <a:rPr lang="en-US"/>
              <a:t>Click icon to add picture</a:t>
            </a:r>
          </a:p>
        </p:txBody>
      </p:sp>
      <p:sp>
        <p:nvSpPr>
          <p:cNvPr id="10" name="Oval 9">
            <a:extLst>
              <a:ext uri="{FF2B5EF4-FFF2-40B4-BE49-F238E27FC236}">
                <a16:creationId xmlns:a16="http://schemas.microsoft.com/office/drawing/2014/main" id="{B7BFFB5A-A05C-4B0C-905C-5884361304B2}"/>
              </a:ext>
            </a:extLst>
          </p:cNvPr>
          <p:cNvSpPr/>
          <p:nvPr userDrawn="1"/>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userDrawn="1"/>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841248" y="365760"/>
            <a:ext cx="5120640" cy="1325880"/>
          </a:xfrm>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41248" y="1828800"/>
            <a:ext cx="5093208" cy="4352544"/>
          </a:xfrm>
        </p:spPr>
        <p:txBody>
          <a:bodyPr/>
          <a:lstStyle>
            <a:lvl1pPr marL="0" indent="0">
              <a:buNone/>
              <a:defRPr sz="24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6" name="Picture 5" descr="Logo  Description automatically generated">
            <a:extLst>
              <a:ext uri="{FF2B5EF4-FFF2-40B4-BE49-F238E27FC236}">
                <a16:creationId xmlns:a16="http://schemas.microsoft.com/office/drawing/2014/main" id="{64B18F1F-BB25-6E8B-718B-1E6EE792B4EA}"/>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32291165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userDrawn="1"/>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userDrawn="1"/>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389888" y="1234440"/>
            <a:ext cx="3236976" cy="4069080"/>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665976" y="2551176"/>
            <a:ext cx="4709160" cy="1755648"/>
          </a:xfrm>
        </p:spPr>
        <p:txBody>
          <a:bodyPr/>
          <a:lstStyle>
            <a:lvl1pPr marL="0" indent="0">
              <a:buNone/>
              <a:defRPr sz="2400"/>
            </a:lvl1pPr>
            <a:lvl2pPr marL="228600">
              <a:defRPr sz="1800"/>
            </a:lvl2pPr>
            <a:lvl3pPr marL="457200">
              <a:defRPr sz="1800"/>
            </a:lvl3pPr>
          </a:lstStyle>
          <a:p>
            <a:pPr lvl="0"/>
            <a:r>
              <a:rPr lang="en-US"/>
              <a:t>Click to edit Master text styles</a:t>
            </a:r>
          </a:p>
          <a:p>
            <a:pPr lvl="1"/>
            <a:r>
              <a:rPr lang="en-US"/>
              <a:t>Second level</a:t>
            </a:r>
          </a:p>
          <a:p>
            <a:pPr lvl="2"/>
            <a:r>
              <a:rPr lang="en-US"/>
              <a:t>Third level</a:t>
            </a:r>
          </a:p>
        </p:txBody>
      </p:sp>
      <p:pic>
        <p:nvPicPr>
          <p:cNvPr id="6" name="Picture 5" descr="Logo  Description automatically generated">
            <a:extLst>
              <a:ext uri="{FF2B5EF4-FFF2-40B4-BE49-F238E27FC236}">
                <a16:creationId xmlns:a16="http://schemas.microsoft.com/office/drawing/2014/main" id="{6DFFC9EE-3430-9BF8-F5F9-E9A9D9E0D1D2}"/>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872322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Logo  Description automatically generated">
            <a:extLst>
              <a:ext uri="{FF2B5EF4-FFF2-40B4-BE49-F238E27FC236}">
                <a16:creationId xmlns:a16="http://schemas.microsoft.com/office/drawing/2014/main" id="{2F5302F5-B6A7-DA9A-672B-BC62F4D0EAAC}"/>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419701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pic>
        <p:nvPicPr>
          <p:cNvPr id="8" name="Picture 7" descr="Logo  Description automatically generated">
            <a:extLst>
              <a:ext uri="{FF2B5EF4-FFF2-40B4-BE49-F238E27FC236}">
                <a16:creationId xmlns:a16="http://schemas.microsoft.com/office/drawing/2014/main" id="{78AB3098-5EC9-C275-0EDB-E83545E15CF8}"/>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1194954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E4FA05E5-0669-BBF8-8E37-FF3157065FE2}"/>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6378747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B14C3C37-633F-54AF-8613-783EB1E431AC}"/>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2112136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Tree>
    <p:extLst>
      <p:ext uri="{BB962C8B-B14F-4D97-AF65-F5344CB8AC3E}">
        <p14:creationId xmlns:p14="http://schemas.microsoft.com/office/powerpoint/2010/main" val="1676725123"/>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41"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08836-40C5-46C2-81BA-21AA27176925}"/>
              </a:ext>
            </a:extLst>
          </p:cNvPr>
          <p:cNvSpPr>
            <a:spLocks noGrp="1"/>
          </p:cNvSpPr>
          <p:nvPr>
            <p:ph type="ctrTitle"/>
          </p:nvPr>
        </p:nvSpPr>
        <p:spPr/>
        <p:txBody>
          <a:bodyPr/>
          <a:lstStyle/>
          <a:p>
            <a:r>
              <a:rPr lang="en-US" dirty="0">
                <a:solidFill>
                  <a:srgbClr val="FFFFFF"/>
                </a:solidFill>
              </a:rPr>
              <a:t>B1 Business trips</a:t>
            </a:r>
            <a:endParaRPr lang="en-US" dirty="0"/>
          </a:p>
        </p:txBody>
      </p:sp>
      <p:sp>
        <p:nvSpPr>
          <p:cNvPr id="3" name="Subtitle 2">
            <a:extLst>
              <a:ext uri="{FF2B5EF4-FFF2-40B4-BE49-F238E27FC236}">
                <a16:creationId xmlns:a16="http://schemas.microsoft.com/office/drawing/2014/main" id="{72CC4EC4-809C-4FD2-AA20-009F08590DA6}"/>
              </a:ext>
            </a:extLst>
          </p:cNvPr>
          <p:cNvSpPr>
            <a:spLocks noGrp="1"/>
          </p:cNvSpPr>
          <p:nvPr>
            <p:ph type="subTitle" idx="1"/>
          </p:nvPr>
        </p:nvSpPr>
        <p:spPr/>
        <p:txBody>
          <a:bodyPr/>
          <a:lstStyle/>
          <a:p>
            <a:r>
              <a:rPr lang="en-US" err="1">
                <a:solidFill>
                  <a:srgbClr val="FFFFFF"/>
                </a:solidFill>
              </a:rPr>
              <a:t>TuSpeaking</a:t>
            </a:r>
            <a:endParaRPr lang="en-US">
              <a:solidFill>
                <a:srgbClr val="FFFFFF"/>
              </a:solidFill>
            </a:endParaRPr>
          </a:p>
          <a:p>
            <a:endParaRPr lang="en-US"/>
          </a:p>
        </p:txBody>
      </p:sp>
      <p:pic>
        <p:nvPicPr>
          <p:cNvPr id="5" name="Picture 4" descr="Icon  Description automatically generated">
            <a:extLst>
              <a:ext uri="{FF2B5EF4-FFF2-40B4-BE49-F238E27FC236}">
                <a16:creationId xmlns:a16="http://schemas.microsoft.com/office/drawing/2014/main" id="{FBBF2D84-E7BF-DBDA-F182-78A399D6E8B9}"/>
              </a:ext>
            </a:extLst>
          </p:cNvPr>
          <p:cNvPicPr>
            <a:picLocks noChangeAspect="1"/>
          </p:cNvPicPr>
          <p:nvPr/>
        </p:nvPicPr>
        <p:blipFill>
          <a:blip r:embed="rId2"/>
          <a:stretch>
            <a:fillRect/>
          </a:stretch>
        </p:blipFill>
        <p:spPr>
          <a:xfrm>
            <a:off x="1920515" y="1028700"/>
            <a:ext cx="1714500" cy="1714500"/>
          </a:xfrm>
          <a:prstGeom prst="rect">
            <a:avLst/>
          </a:prstGeom>
        </p:spPr>
      </p:pic>
      <p:pic>
        <p:nvPicPr>
          <p:cNvPr id="7" name="Picture 6" descr="Logo  Description automatically generated">
            <a:extLst>
              <a:ext uri="{FF2B5EF4-FFF2-40B4-BE49-F238E27FC236}">
                <a16:creationId xmlns:a16="http://schemas.microsoft.com/office/drawing/2014/main" id="{7D462DAB-12EB-B67E-2CC1-A8F197514C75}"/>
              </a:ext>
            </a:extLst>
          </p:cNvPr>
          <p:cNvPicPr>
            <a:picLocks noChangeAspect="1"/>
          </p:cNvPicPr>
          <p:nvPr/>
        </p:nvPicPr>
        <p:blipFill>
          <a:blip r:embed="rId3"/>
          <a:stretch>
            <a:fillRect/>
          </a:stretch>
        </p:blipFill>
        <p:spPr>
          <a:xfrm>
            <a:off x="1998236" y="4957570"/>
            <a:ext cx="1636779" cy="762002"/>
          </a:xfrm>
          <a:prstGeom prst="rect">
            <a:avLst/>
          </a:prstGeom>
        </p:spPr>
      </p:pic>
    </p:spTree>
    <p:extLst>
      <p:ext uri="{BB962C8B-B14F-4D97-AF65-F5344CB8AC3E}">
        <p14:creationId xmlns:p14="http://schemas.microsoft.com/office/powerpoint/2010/main" val="800962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normAutofit/>
          </a:bodyPr>
          <a:lstStyle>
            <a:lvl1pPr algn="ctr">
              <a:defRPr>
                <a:solidFill>
                  <a:schemeClr val="bg1"/>
                </a:solidFill>
              </a:defRPr>
            </a:lvl1pPr>
          </a:lstStyle>
          <a:p>
            <a:r>
              <a:rPr lang="en-US" sz="4000" dirty="0"/>
              <a:t>NETWORKING</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dirty="0"/>
              <a:t>B1 CESCE BUSINESS TRIPS - WEEK 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Warm up</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dirty="0"/>
              <a:t>Discuss the benefits of making useful connections in business. Can anyone share some ideas?</a:t>
            </a:r>
          </a:p>
          <a:p>
            <a:pPr lvl="0"/>
            <a:endParaRPr lang="en-US" dirty="0"/>
          </a:p>
          <a:p>
            <a:pPr lvl="0"/>
            <a:r>
              <a:rPr lang="en-US" dirty="0"/>
              <a:t>When was the last time you travelled to a networking event?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dirty="0"/>
              <a:t>Vocabulary and definitions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sz="1600" dirty="0"/>
              <a:t>1. Networking - The process of building connections and relationships with other professionals to exchange ideas, advice, and opportunities.</a:t>
            </a:r>
          </a:p>
          <a:p>
            <a:pPr lvl="0"/>
            <a:r>
              <a:rPr lang="en-US" sz="1600" dirty="0"/>
              <a:t>2. Networking event - A gathering of professionals with the intention of making new business connections.</a:t>
            </a:r>
          </a:p>
          <a:p>
            <a:pPr lvl="0"/>
            <a:r>
              <a:rPr lang="en-US" sz="1600" dirty="0"/>
              <a:t>3. Business card - A small card containing a person's name, job title, and contact information, which is exchanged during networking.</a:t>
            </a:r>
          </a:p>
          <a:p>
            <a:pPr lvl="0"/>
            <a:r>
              <a:rPr lang="en-US" sz="1600" dirty="0"/>
              <a:t>4. Elevator pitch - A brief, persuasive speech that introduces yourself, your skills, and your goals to a potential business contact.</a:t>
            </a:r>
          </a:p>
          <a:p>
            <a:pPr lvl="0"/>
            <a:r>
              <a:rPr lang="en-US" sz="1600" dirty="0"/>
              <a:t>5. Follow-up - A subsequent communication or meeting with a new contact after an initial introduction or meeting.</a:t>
            </a:r>
          </a:p>
          <a:p>
            <a:pPr lvl="0"/>
            <a:endParaRPr lang="en-US" sz="1600" dirty="0"/>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dirty="0"/>
              <a:t>PHRASES WITH ‘GET’</a:t>
            </a:r>
          </a:p>
        </p:txBody>
      </p:sp>
      <p:graphicFrame>
        <p:nvGraphicFramePr>
          <p:cNvPr id="3" name="Table 3"/>
          <p:cNvGraphicFramePr>
            <a:graphicFrameLocks noGrp="1"/>
          </p:cNvGraphicFramePr>
          <p:nvPr>
            <p:extLst>
              <p:ext uri="{D42A27DB-BD31-4B8C-83A1-F6EECF244321}">
                <p14:modId xmlns:p14="http://schemas.microsoft.com/office/powerpoint/2010/main" val="2107958640"/>
              </p:ext>
            </p:extLst>
          </p:nvPr>
        </p:nvGraphicFramePr>
        <p:xfrm>
          <a:off x="838200" y="1911096"/>
          <a:ext cx="11430000" cy="3474720"/>
        </p:xfrm>
        <a:graphic>
          <a:graphicData uri="http://schemas.openxmlformats.org/drawingml/2006/table">
            <a:tbl>
              <a:tblPr/>
              <a:tblGrid>
                <a:gridCol w="3810000">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tblGrid>
              <a:tr h="242362">
                <a:tc>
                  <a:txBody>
                    <a:bodyPr/>
                    <a:lstStyle/>
                    <a:p>
                      <a:pPr algn="l">
                        <a:defRPr/>
                      </a:pPr>
                      <a:endParaRPr lang="en-US" sz="1100" dirty="0"/>
                    </a:p>
                  </a:txBody>
                  <a:tcPr>
                    <a:lnL>
                      <a:noFill/>
                    </a:lnL>
                    <a:lnR>
                      <a:noFill/>
                    </a:lnR>
                    <a:lnT>
                      <a:noFill/>
                    </a:lnT>
                    <a:lnB>
                      <a:noFill/>
                    </a:lnB>
                  </a:tcPr>
                </a:tc>
                <a:tc>
                  <a:txBody>
                    <a:bodyPr/>
                    <a:lstStyle/>
                    <a:p>
                      <a:pPr algn="l">
                        <a:defRPr/>
                      </a:pPr>
                      <a:r>
                        <a:rPr lang="en-US"/>
                        <a:t>Example</a:t>
                      </a:r>
                      <a:endParaRPr lang="en-US" sz="1100"/>
                    </a:p>
                  </a:txBody>
                  <a:tcPr>
                    <a:lnL>
                      <a:noFill/>
                    </a:lnL>
                    <a:lnR>
                      <a:noFill/>
                    </a:lnR>
                    <a:lnT>
                      <a:noFill/>
                    </a:lnT>
                    <a:lnB>
                      <a:noFill/>
                    </a:lnB>
                  </a:tcPr>
                </a:tc>
                <a:extLst>
                  <a:ext uri="{0D108BD9-81ED-4DB2-BD59-A6C34878D82A}">
                    <a16:rowId xmlns:a16="http://schemas.microsoft.com/office/drawing/2014/main" val="10000"/>
                  </a:ext>
                </a:extLst>
              </a:tr>
              <a:tr h="254000">
                <a:tc>
                  <a:txBody>
                    <a:bodyPr/>
                    <a:lstStyle/>
                    <a:p>
                      <a:pPr algn="l">
                        <a:defRPr/>
                      </a:pPr>
                      <a:r>
                        <a:rPr lang="en-US"/>
                        <a:t>Get to know people</a:t>
                      </a:r>
                      <a:endParaRPr lang="en-US" sz="1100"/>
                    </a:p>
                  </a:txBody>
                  <a:tcPr>
                    <a:lnL>
                      <a:noFill/>
                    </a:lnL>
                    <a:lnR>
                      <a:noFill/>
                    </a:lnR>
                    <a:lnT>
                      <a:noFill/>
                    </a:lnT>
                    <a:lnB>
                      <a:noFill/>
                    </a:lnB>
                  </a:tcPr>
                </a:tc>
                <a:tc>
                  <a:txBody>
                    <a:bodyPr/>
                    <a:lstStyle/>
                    <a:p>
                      <a:pPr algn="l">
                        <a:defRPr/>
                      </a:pPr>
                      <a:r>
                        <a:rPr lang="en-US"/>
                        <a:t>Attend networking events, join professional organizations, and connect with people on social media to start building relationships.</a:t>
                      </a:r>
                      <a:endParaRPr lang="en-US" sz="1100"/>
                    </a:p>
                  </a:txBody>
                  <a:tcPr>
                    <a:lnL>
                      <a:noFill/>
                    </a:lnL>
                    <a:lnR>
                      <a:noFill/>
                    </a:lnR>
                    <a:lnT>
                      <a:noFill/>
                    </a:lnT>
                    <a:lnB>
                      <a:noFill/>
                    </a:lnB>
                  </a:tcPr>
                </a:tc>
                <a:extLst>
                  <a:ext uri="{0D108BD9-81ED-4DB2-BD59-A6C34878D82A}">
                    <a16:rowId xmlns:a16="http://schemas.microsoft.com/office/drawing/2014/main" val="10001"/>
                  </a:ext>
                </a:extLst>
              </a:tr>
              <a:tr h="254000">
                <a:tc>
                  <a:txBody>
                    <a:bodyPr/>
                    <a:lstStyle/>
                    <a:p>
                      <a:pPr algn="l">
                        <a:defRPr/>
                      </a:pPr>
                      <a:r>
                        <a:rPr lang="en-US"/>
                        <a:t>Get your name out there</a:t>
                      </a:r>
                      <a:endParaRPr lang="en-US" sz="1100"/>
                    </a:p>
                  </a:txBody>
                  <a:tcPr>
                    <a:lnL>
                      <a:noFill/>
                    </a:lnL>
                    <a:lnR>
                      <a:noFill/>
                    </a:lnR>
                    <a:lnT>
                      <a:noFill/>
                    </a:lnT>
                    <a:lnB>
                      <a:noFill/>
                    </a:lnB>
                  </a:tcPr>
                </a:tc>
                <a:tc>
                  <a:txBody>
                    <a:bodyPr/>
                    <a:lstStyle/>
                    <a:p>
                      <a:pPr algn="l">
                        <a:defRPr/>
                      </a:pPr>
                      <a:r>
                        <a:rPr lang="en-US"/>
                        <a:t>Write articles for industry publications, create a blog, or give presentations at conferences. By getting your name out there, you'll start to attract the attention of other professionals in your field.</a:t>
                      </a:r>
                      <a:endParaRPr lang="en-US" sz="1100"/>
                    </a:p>
                  </a:txBody>
                  <a:tcPr>
                    <a:lnL>
                      <a:noFill/>
                    </a:lnL>
                    <a:lnR>
                      <a:noFill/>
                    </a:lnR>
                    <a:lnT>
                      <a:noFill/>
                    </a:lnT>
                    <a:lnB>
                      <a:noFill/>
                    </a:lnB>
                  </a:tcPr>
                </a:tc>
                <a:extLst>
                  <a:ext uri="{0D108BD9-81ED-4DB2-BD59-A6C34878D82A}">
                    <a16:rowId xmlns:a16="http://schemas.microsoft.com/office/drawing/2014/main" val="10002"/>
                  </a:ext>
                </a:extLst>
              </a:tr>
              <a:tr h="254000">
                <a:tc>
                  <a:txBody>
                    <a:bodyPr/>
                    <a:lstStyle/>
                    <a:p>
                      <a:pPr algn="l">
                        <a:defRPr/>
                      </a:pPr>
                      <a:r>
                        <a:rPr lang="en-US"/>
                        <a:t>Get referrals</a:t>
                      </a:r>
                      <a:endParaRPr lang="en-US" sz="1100"/>
                    </a:p>
                  </a:txBody>
                  <a:tcPr>
                    <a:lnL>
                      <a:noFill/>
                    </a:lnL>
                    <a:lnR>
                      <a:noFill/>
                    </a:lnR>
                    <a:lnT>
                      <a:noFill/>
                    </a:lnT>
                    <a:lnB>
                      <a:noFill/>
                    </a:lnB>
                  </a:tcPr>
                </a:tc>
                <a:tc>
                  <a:txBody>
                    <a:bodyPr/>
                    <a:lstStyle/>
                    <a:p>
                      <a:pPr algn="l">
                        <a:defRPr/>
                      </a:pPr>
                      <a:r>
                        <a:rPr lang="en-US"/>
                        <a:t>Offer incentives to people who refer new clients to you.</a:t>
                      </a:r>
                      <a:endParaRPr lang="en-US" sz="1100"/>
                    </a:p>
                  </a:txBody>
                  <a:tcPr>
                    <a:lnL>
                      <a:noFill/>
                    </a:lnL>
                    <a:lnR>
                      <a:noFill/>
                    </a:lnR>
                    <a:lnT>
                      <a:noFill/>
                    </a:lnT>
                    <a:lnB>
                      <a:noFill/>
                    </a:lnB>
                  </a:tcPr>
                </a:tc>
                <a:extLst>
                  <a:ext uri="{0D108BD9-81ED-4DB2-BD59-A6C34878D82A}">
                    <a16:rowId xmlns:a16="http://schemas.microsoft.com/office/drawing/2014/main" val="10003"/>
                  </a:ext>
                </a:extLst>
              </a:tr>
              <a:tr h="254000">
                <a:tc>
                  <a:txBody>
                    <a:bodyPr/>
                    <a:lstStyle/>
                    <a:p>
                      <a:pPr algn="l">
                        <a:defRPr/>
                      </a:pPr>
                      <a:r>
                        <a:rPr lang="en-US"/>
                        <a:t>Get involved</a:t>
                      </a:r>
                      <a:endParaRPr lang="en-US" sz="1100"/>
                    </a:p>
                  </a:txBody>
                  <a:tcPr>
                    <a:lnL>
                      <a:noFill/>
                    </a:lnL>
                    <a:lnR>
                      <a:noFill/>
                    </a:lnR>
                    <a:lnT>
                      <a:noFill/>
                    </a:lnT>
                    <a:lnB>
                      <a:noFill/>
                    </a:lnB>
                  </a:tcPr>
                </a:tc>
                <a:tc>
                  <a:txBody>
                    <a:bodyPr/>
                    <a:lstStyle/>
                    <a:p>
                      <a:pPr algn="l">
                        <a:defRPr/>
                      </a:pPr>
                      <a:r>
                        <a:rPr lang="en-US" dirty="0"/>
                        <a:t>Volunteer for industry events, serve on committees, or participate in trade shows. By getting involved, you'll have the opportunity to meet other professionals in your field and build relationships that could lead to new business opportunities.</a:t>
                      </a:r>
                      <a:endParaRPr lang="en-US" sz="1100" dirty="0"/>
                    </a:p>
                  </a:txBody>
                  <a:tcPr>
                    <a:lnL>
                      <a:noFill/>
                    </a:lnL>
                    <a:lnR>
                      <a:noFill/>
                    </a:lnR>
                    <a:lnT>
                      <a:noFill/>
                    </a:lnT>
                    <a:lnB>
                      <a:noFill/>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Dialogue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fontScale="77500" lnSpcReduction="2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sz="1600" dirty="0"/>
              <a:t>A: Hi there, my name is John. What brings you to this networking event?</a:t>
            </a:r>
          </a:p>
          <a:p>
            <a:pPr lvl="0"/>
            <a:r>
              <a:rPr lang="en-US" sz="1600" dirty="0"/>
              <a:t>B: Hi John, my name is Sarah. I'm here to meet other professionals in my industry and hopefully make some new connections.</a:t>
            </a:r>
          </a:p>
          <a:p>
            <a:pPr lvl="0"/>
            <a:r>
              <a:rPr lang="en-US" sz="1600" dirty="0"/>
              <a:t>A: That's great! What industry are you in?</a:t>
            </a:r>
          </a:p>
          <a:p>
            <a:pPr lvl="0"/>
            <a:r>
              <a:rPr lang="en-US" sz="1600" dirty="0"/>
              <a:t>B: I'm in the marketing industry. How about you?</a:t>
            </a:r>
          </a:p>
          <a:p>
            <a:pPr lvl="0"/>
            <a:r>
              <a:rPr lang="en-US" sz="1600" dirty="0"/>
              <a:t>A: I work in finance. Have you met anyone interesting so far?</a:t>
            </a:r>
          </a:p>
          <a:p>
            <a:pPr lvl="0"/>
            <a:r>
              <a:rPr lang="en-US" sz="1600" dirty="0"/>
              <a:t>B: Yes, I've spoken to a few people who work for companies I've been interested in. How about you?</a:t>
            </a:r>
          </a:p>
          <a:p>
            <a:pPr lvl="0"/>
            <a:r>
              <a:rPr lang="en-US" sz="1600" dirty="0"/>
              <a:t>A: I've met a few people who are looking for investors for their start-ups. It's been interesting to hear about the ideas they have.</a:t>
            </a:r>
          </a:p>
          <a:p>
            <a:pPr lvl="0"/>
            <a:r>
              <a:rPr lang="en-US" sz="1600" dirty="0"/>
              <a:t>B: That does sound interesting. Do you think you'll invest in any of them?</a:t>
            </a:r>
          </a:p>
          <a:p>
            <a:pPr lvl="0"/>
            <a:r>
              <a:rPr lang="en-US" sz="1600" dirty="0"/>
              <a:t>A: It's possible. I'm always on the lookout for new investment opportunities. But I want to make sure I do my due diligence first.</a:t>
            </a:r>
          </a:p>
          <a:p>
            <a:pPr lvl="0"/>
            <a:r>
              <a:rPr lang="en-US" sz="1600" dirty="0"/>
              <a:t>B: Of course, that's important. Well, it was nice to meet you, John. I hope to see you at another networking event soon.</a:t>
            </a:r>
          </a:p>
          <a:p>
            <a:pPr lvl="0"/>
            <a:r>
              <a:rPr lang="en-US" sz="1600" dirty="0"/>
              <a:t>A: Likewise, Sarah. Good luck with your networking tonight!</a:t>
            </a:r>
          </a:p>
          <a:p>
            <a:pPr lvl="0"/>
            <a:endParaRPr lang="en-US" sz="1600" dirty="0"/>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3"/>
            <a:ext cx="5806440" cy="2311401"/>
          </a:xfrm>
        </p:spPr>
        <p:txBody>
          <a:bodyPr>
            <a:normAutofit fontScale="90000"/>
          </a:bodyPr>
          <a:lstStyle/>
          <a:p>
            <a:r>
              <a:rPr lang="en-US" dirty="0"/>
              <a:t>Activity  - Networking event</a:t>
            </a:r>
            <a:br>
              <a:rPr lang="en-US" dirty="0"/>
            </a:br>
            <a:r>
              <a:rPr lang="en-US" sz="3100" i="1" dirty="0"/>
              <a:t>Based on the conversation on the previous slide, role play networking with your partner using the prompt below:</a:t>
            </a:r>
            <a:br>
              <a:rPr lang="en-US" dirty="0"/>
            </a:br>
            <a:endParaRPr lang="en-US" dirty="0"/>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2847975"/>
            <a:ext cx="6031610" cy="4263643"/>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sz="1600" dirty="0"/>
              <a:t>A: Hi there, my name is_____.  What brings you to this networking event?</a:t>
            </a:r>
          </a:p>
          <a:p>
            <a:pPr lvl="0"/>
            <a:r>
              <a:rPr lang="en-US" sz="1600" dirty="0"/>
              <a:t>B: Hi ____, my name is _____. I'm here to meet other professionals in my industry and hopefully make some new connections.</a:t>
            </a:r>
          </a:p>
          <a:p>
            <a:pPr lvl="0"/>
            <a:r>
              <a:rPr lang="en-US" sz="1600" dirty="0"/>
              <a:t>A: That's great! What industry are you in?</a:t>
            </a:r>
          </a:p>
          <a:p>
            <a:pPr lvl="0"/>
            <a:r>
              <a:rPr lang="en-US" sz="1600" dirty="0"/>
              <a:t>B: I'm in the ______ industry. How about you?</a:t>
            </a:r>
          </a:p>
          <a:p>
            <a:pPr lvl="0"/>
            <a:r>
              <a:rPr lang="en-US" sz="1600" dirty="0"/>
              <a:t>A: I work in ________. </a:t>
            </a:r>
          </a:p>
          <a:p>
            <a:pPr lvl="0"/>
            <a:r>
              <a:rPr lang="en-US" sz="1600" dirty="0"/>
              <a:t>………………………………</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extLst>
      <p:ext uri="{BB962C8B-B14F-4D97-AF65-F5344CB8AC3E}">
        <p14:creationId xmlns:p14="http://schemas.microsoft.com/office/powerpoint/2010/main" val="587734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Summary</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normAutofit fontScale="62500" lnSpcReduction="20000"/>
          </a:bodyPr>
          <a:lstStyle>
            <a:lvl1pPr marL="0" indent="0">
              <a:buNone/>
              <a:defRPr/>
            </a:lvl1pPr>
            <a:lvl2pPr marL="228600">
              <a:defRPr/>
            </a:lvl2pPr>
            <a:lvl3pPr marL="457200">
              <a:defRPr/>
            </a:lvl3pPr>
            <a:lvl4pPr>
              <a:buNone/>
              <a:defRPr/>
            </a:lvl4pPr>
          </a:lstStyle>
          <a:p>
            <a:pPr lvl="0"/>
            <a:r>
              <a:rPr lang="en-US" dirty="0"/>
              <a:t>- Building business connections is beneficial for career advancement and business growth</a:t>
            </a:r>
          </a:p>
          <a:p>
            <a:pPr lvl="0"/>
            <a:r>
              <a:rPr lang="en-US" dirty="0"/>
              <a:t>- Networking events, professional organizations, and social media are good ways to start building relationships</a:t>
            </a:r>
          </a:p>
          <a:p>
            <a:pPr lvl="0"/>
            <a:r>
              <a:rPr lang="en-US" dirty="0"/>
              <a:t>- Writing articles, creating a blog, or giving presentations can attract attention from other professionals</a:t>
            </a:r>
          </a:p>
          <a:p>
            <a:pPr lvl="0"/>
            <a:r>
              <a:rPr lang="en-US" dirty="0"/>
              <a:t>- Referrals from other professionals can help grow your - Volunteering and participating in trade shows can lead to new business opportunities</a:t>
            </a:r>
          </a:p>
          <a:p>
            <a:pPr lvl="0"/>
            <a:r>
              <a:rPr lang="en-US" dirty="0"/>
              <a:t>- Use of "get" structures can effectively express these ideas</a:t>
            </a:r>
          </a:p>
          <a:p>
            <a:pPr lvl="0"/>
            <a:r>
              <a:rPr lang="en-US"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dirty="0"/>
              <a:t>Warm up 2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For this warm-up activity, we will be playing a game called "Word Association." This game will help us get into the mindset of business trips and the different sub-themes of getting new clients, networking, and travelling to different places for new perspectives.</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dirty="0"/>
              <a:t>Warm up 2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fontScale="62500" lnSpcReduction="2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r>
              <a:rPr lang="en-US" dirty="0"/>
              <a:t>Here's how to play:</a:t>
            </a:r>
          </a:p>
          <a:p>
            <a:r>
              <a:rPr lang="en-US" dirty="0"/>
              <a:t>1. The first person says a word related to business trips, such as</a:t>
            </a:r>
          </a:p>
          <a:p>
            <a:pPr lvl="0"/>
            <a:r>
              <a:rPr lang="en-US" dirty="0"/>
              <a:t>"flight."</a:t>
            </a:r>
          </a:p>
          <a:p>
            <a:pPr lvl="0"/>
            <a:r>
              <a:rPr lang="en-US" dirty="0"/>
              <a:t>2. The next person says a word related to the sub-theme of getting new clients, such as "pitch."</a:t>
            </a:r>
          </a:p>
          <a:p>
            <a:pPr lvl="0"/>
            <a:r>
              <a:rPr lang="en-US" dirty="0"/>
              <a:t>3. The third person says a word related to the sub-theme of networking, such as "conference."</a:t>
            </a:r>
          </a:p>
          <a:p>
            <a:pPr lvl="0"/>
            <a:r>
              <a:rPr lang="en-US" dirty="0"/>
              <a:t>4. The fourth person says a word related to the sub-theme of travelling to different places for new perspectives, such as "culture."</a:t>
            </a:r>
          </a:p>
          <a:p>
            <a:pPr lvl="0"/>
            <a:r>
              <a:rPr lang="en-US" dirty="0"/>
              <a:t>We will continue with each person saying a word related to the appropriate sub-theme. If someone repeats a word, takes too long to come up with a word, or says a word that is not related, they are out.</a:t>
            </a:r>
          </a:p>
          <a:p>
            <a:pPr lvl="0"/>
            <a:r>
              <a:rPr lang="en-US" dirty="0"/>
              <a:t>Let's begin! The first word is "flight."</a:t>
            </a:r>
          </a:p>
          <a:p>
            <a:pPr lvl="0"/>
            <a:endParaRPr lang="en-US" dirty="0"/>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Vocabulary and definition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fontScale="92500" lnSpcReduction="1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r>
              <a:rPr lang="en-US" sz="1600" dirty="0"/>
              <a:t>1. Referral - A recommendation from a trusted source, such as a colleague or business associate, to another potential client or contact.</a:t>
            </a:r>
          </a:p>
          <a:p>
            <a:pPr lvl="0"/>
            <a:r>
              <a:rPr lang="en-US" sz="1600" dirty="0"/>
              <a:t>2. Cold calling - The practice of calling or contacting potential clients or customers who have not expressed any interest in your business.</a:t>
            </a:r>
          </a:p>
          <a:p>
            <a:pPr lvl="0"/>
            <a:r>
              <a:rPr lang="en-US" sz="1600" dirty="0"/>
              <a:t>3. Lead - A potential business contact or customer who has expressed interest in your product or service.</a:t>
            </a:r>
          </a:p>
          <a:p>
            <a:pPr lvl="0"/>
            <a:r>
              <a:rPr lang="en-US" sz="1600" dirty="0"/>
              <a:t>4. Business development - The process of identifying and pursuing new business opportunities and partnerships.</a:t>
            </a:r>
          </a:p>
          <a:p>
            <a:pPr lvl="0"/>
            <a:r>
              <a:rPr lang="en-US" sz="1600" dirty="0"/>
              <a:t>5. Pitch - A formal presentation of your business idea, product, or service to potential investors or clients.</a:t>
            </a:r>
          </a:p>
          <a:p>
            <a:r>
              <a:rPr lang="en-US" sz="1600" dirty="0"/>
              <a:t>6. Mentor - An experienced professional who provides guidance and advice to someone who is less experienced in a particular field.</a:t>
            </a:r>
          </a:p>
          <a:p>
            <a:pPr lvl="0"/>
            <a:endParaRPr lang="en-US" sz="1600" dirty="0"/>
          </a:p>
          <a:p>
            <a:pPr lvl="0"/>
            <a:endParaRPr lang="en-US" sz="1600" dirty="0"/>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dirty="0"/>
              <a:t>Read and discuss</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580334" y="1536192"/>
            <a:ext cx="5111496" cy="3931920"/>
          </a:xfrm>
        </p:spPr>
        <p:txBody>
          <a:bodyPr anchor="ctr">
            <a:noAutofit/>
          </a:bodyPr>
          <a:lstStyle>
            <a:lvl1pPr marL="0" indent="0">
              <a:buNone/>
              <a:defRPr/>
            </a:lvl1pPr>
            <a:lvl2pPr marL="228600">
              <a:defRPr/>
            </a:lvl2pPr>
            <a:lvl3pPr marL="457200">
              <a:defRPr/>
            </a:lvl3pPr>
            <a:lvl4pPr>
              <a:buNone/>
              <a:defRPr/>
            </a:lvl4pPr>
          </a:lstStyle>
          <a:p>
            <a:pPr lvl="0"/>
            <a:r>
              <a:rPr lang="en-US" sz="1200" dirty="0"/>
              <a:t>Making business connections can be very beneficial for those looking to advance their careers or grow their businesses. There are many ways to get started with building business connections and using a variety of structures with 'get' can help you express your ideas more effectively. Here are a few examples:</a:t>
            </a:r>
          </a:p>
          <a:p>
            <a:pPr lvl="0"/>
            <a:endParaRPr lang="en-US" sz="1200" dirty="0"/>
          </a:p>
          <a:p>
            <a:pPr lvl="0"/>
            <a:r>
              <a:rPr lang="en-US" sz="1200" dirty="0"/>
              <a:t>1. Get to know people: One of the easiest ways to build business connections is to get to know people in your industry. Attend networking events, join professional organizations, and connect with people on social media to start building relationships.</a:t>
            </a:r>
          </a:p>
          <a:p>
            <a:pPr lvl="0"/>
            <a:endParaRPr lang="en-US" sz="1200" dirty="0"/>
          </a:p>
          <a:p>
            <a:pPr lvl="0"/>
            <a:r>
              <a:rPr lang="en-US" sz="1200" dirty="0"/>
              <a:t>2. Get your name out there: Another way to build business connections is to get your name out there. This could mean writing articles for industry publications, creating a blog, or giving presentations at conferences. By getting your name out there, you'll start to attract the attention of other professionals in your field.</a:t>
            </a:r>
          </a:p>
          <a:p>
            <a:pPr lvl="0"/>
            <a:endParaRPr lang="en-US" sz="1200" dirty="0"/>
          </a:p>
          <a:p>
            <a:r>
              <a:rPr lang="en-US" sz="1200" dirty="0"/>
              <a:t>3. Get referrals: When you're looking to grow your business, getting referrals from other professionals can be a great way to build your client base. One way to get referrals is to offer incentives to people who refer new clients to you.</a:t>
            </a:r>
          </a:p>
          <a:p>
            <a:pPr lvl="0"/>
            <a:endParaRPr lang="en-US" sz="1200" dirty="0"/>
          </a:p>
          <a:p>
            <a:pPr lvl="0"/>
            <a:endParaRPr lang="en-US" sz="1200" dirty="0"/>
          </a:p>
          <a:p>
            <a:pPr lvl="0"/>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dirty="0"/>
              <a:t>Read and discuss</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normAutofit/>
          </a:bodyPr>
          <a:lstStyle>
            <a:lvl1pPr marL="0" indent="0">
              <a:buNone/>
              <a:defRPr/>
            </a:lvl1pPr>
            <a:lvl2pPr marL="228600">
              <a:defRPr/>
            </a:lvl2pPr>
            <a:lvl3pPr marL="457200">
              <a:defRPr/>
            </a:lvl3pPr>
            <a:lvl4pPr>
              <a:buNone/>
              <a:defRPr/>
            </a:lvl4pPr>
          </a:lstStyle>
          <a:p>
            <a:pPr lvl="0"/>
            <a:endParaRPr lang="en-US" sz="1600" dirty="0"/>
          </a:p>
          <a:p>
            <a:pPr lvl="0"/>
            <a:r>
              <a:rPr lang="en-US" sz="1600" dirty="0"/>
              <a:t>4. Get involved: Finally, getting involved in your industry can be a great way to build business connections. This could mean volunteering for industry events, serving on committees, or participating in trade shows. By getting involved, you'll have the opportunity to meet other professionals in your field and build relationships that could lead to new business opportunities.</a:t>
            </a:r>
          </a:p>
          <a:p>
            <a:pPr lvl="0"/>
            <a:endParaRPr lang="en-US" sz="1600" dirty="0"/>
          </a:p>
          <a:p>
            <a:pPr lvl="0"/>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Discuss</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fontScale="47500" lnSpcReduction="2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1. How important is business networking in today's competitive business world?</a:t>
            </a:r>
          </a:p>
          <a:p>
            <a:pPr lvl="0"/>
            <a:r>
              <a:rPr lang="en-US" dirty="0"/>
              <a:t>2. What are some effective ways to network in the business world?</a:t>
            </a:r>
          </a:p>
          <a:p>
            <a:pPr lvl="0"/>
            <a:r>
              <a:rPr lang="en-US" dirty="0"/>
              <a:t>3. What are some common mistakes people make when networking in a business environment?</a:t>
            </a:r>
          </a:p>
          <a:p>
            <a:pPr lvl="0"/>
            <a:r>
              <a:rPr lang="en-US" dirty="0"/>
              <a:t>4. How do you balance building relationships with networking for business opportunities?</a:t>
            </a:r>
          </a:p>
          <a:p>
            <a:pPr lvl="0"/>
            <a:r>
              <a:rPr lang="en-US" dirty="0"/>
              <a:t>5. Can you share an experience where networking played a crucial role in your business success?</a:t>
            </a:r>
          </a:p>
          <a:p>
            <a:pPr lvl="0"/>
            <a:r>
              <a:rPr lang="en-US" dirty="0"/>
              <a:t>6. How has technology changed the way we network in the business world?</a:t>
            </a:r>
          </a:p>
          <a:p>
            <a:pPr lvl="0"/>
            <a:r>
              <a:rPr lang="en-US" dirty="0"/>
              <a:t>7. What are some ethical considerations when networking in the business world?</a:t>
            </a:r>
          </a:p>
          <a:p>
            <a:pPr lvl="0"/>
            <a:r>
              <a:rPr lang="en-US" dirty="0"/>
              <a:t>8. How do you approach networking with someone who is more experienced or successful than you?</a:t>
            </a:r>
          </a:p>
          <a:p>
            <a:pPr lvl="0"/>
            <a:r>
              <a:rPr lang="en-US" dirty="0"/>
              <a:t>9. What are some strategies for maintaining long-term professional relationships through networking?</a:t>
            </a:r>
          </a:p>
          <a:p>
            <a:pPr lvl="0"/>
            <a:r>
              <a:rPr lang="en-US" dirty="0"/>
              <a:t>10. How do you measure the success of your networking efforts in business?</a:t>
            </a:r>
          </a:p>
          <a:p>
            <a:pPr lvl="0"/>
            <a:endParaRPr lang="en-US" dirty="0"/>
          </a:p>
          <a:p>
            <a:pPr lvl="0"/>
            <a:endParaRPr lang="en-US" dirty="0"/>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dirty="0"/>
              <a:t>Summary</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normAutofit fontScale="47500" lnSpcReduction="20000"/>
          </a:bodyPr>
          <a:lstStyle>
            <a:lvl1pPr marL="0" indent="0">
              <a:buNone/>
              <a:defRPr/>
            </a:lvl1pPr>
            <a:lvl2pPr marL="228600">
              <a:defRPr/>
            </a:lvl2pPr>
            <a:lvl3pPr marL="457200">
              <a:defRPr/>
            </a:lvl3pPr>
            <a:lvl4pPr>
              <a:buNone/>
              <a:defRPr/>
            </a:lvl4pPr>
          </a:lstStyle>
          <a:p>
            <a:pPr lvl="0"/>
            <a:r>
              <a:rPr lang="en-US" dirty="0"/>
              <a:t>- Networking involves building professional relationships and exchanging ideas and opportunities</a:t>
            </a:r>
          </a:p>
          <a:p>
            <a:pPr lvl="0"/>
            <a:r>
              <a:rPr lang="en-US" dirty="0"/>
              <a:t>- A business card is a small card with contact details exchanged during networking</a:t>
            </a:r>
          </a:p>
          <a:p>
            <a:pPr lvl="0"/>
            <a:r>
              <a:rPr lang="en-US" dirty="0"/>
              <a:t>- An elevator pitch is a brief, persuasive speech introducing yourself, skills, and goals</a:t>
            </a:r>
          </a:p>
          <a:p>
            <a:pPr lvl="0"/>
            <a:r>
              <a:rPr lang="en-US" dirty="0"/>
              <a:t>- Follow-up involves subsequent communication or meeting with a new contact</a:t>
            </a:r>
          </a:p>
          <a:p>
            <a:pPr lvl="0"/>
            <a:r>
              <a:rPr lang="en-US" dirty="0"/>
              <a:t>- A referral is a recommendation from a trusted source to another potential client or contact</a:t>
            </a:r>
          </a:p>
          <a:p>
            <a:pPr lvl="0"/>
            <a:r>
              <a:rPr lang="en-US" dirty="0"/>
              <a:t>- Cold calling is contacting potential clients who haven't shown interest in your business</a:t>
            </a:r>
          </a:p>
          <a:p>
            <a:pPr lvl="0"/>
            <a:r>
              <a:rPr lang="en-US" dirty="0"/>
              <a:t>- A lead is a potential business contact or customer who has expressed interest in your work</a:t>
            </a:r>
          </a:p>
          <a:p>
            <a:pPr lvl="0"/>
            <a:r>
              <a:rPr lang="en-US" dirty="0"/>
              <a:t>- Business development is identifying new business opportunities and partnerships</a:t>
            </a:r>
          </a:p>
          <a:p>
            <a:pPr lvl="0"/>
            <a:r>
              <a:rPr lang="en-US" dirty="0"/>
              <a:t>- A pitch is a formal presentation of your business idea, product, or service to potential investors or clients.</a:t>
            </a:r>
          </a:p>
          <a:p>
            <a:pPr lvl="0"/>
            <a:endParaRPr lang="en-US" dirty="0"/>
          </a:p>
          <a:p>
            <a:pPr lvl="0"/>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Disclaimer</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a:t>The content of this slide show was in part generated using AI technology and was formatted and reviewed by Learning Like a Lioness.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BB060C-ABEA-B943-A7B2-D9025FC4C229}"/>
              </a:ext>
            </a:extLst>
          </p:cNvPr>
          <p:cNvSpPr>
            <a:spLocks noGrp="1"/>
          </p:cNvSpPr>
          <p:nvPr>
            <p:ph type="title"/>
          </p:nvPr>
        </p:nvSpPr>
        <p:spPr/>
        <p:txBody>
          <a:bodyPr/>
          <a:lstStyle/>
          <a:p>
            <a:r>
              <a:rPr lang="en-GB"/>
              <a:t>Delayed feedback</a:t>
            </a:r>
            <a:endParaRPr lang="es-ES"/>
          </a:p>
        </p:txBody>
      </p:sp>
      <p:sp>
        <p:nvSpPr>
          <p:cNvPr id="5" name="Date Placeholder 4">
            <a:extLst>
              <a:ext uri="{FF2B5EF4-FFF2-40B4-BE49-F238E27FC236}">
                <a16:creationId xmlns:a16="http://schemas.microsoft.com/office/drawing/2014/main" id="{3E82CB03-0AFA-4E81-BEF9-0279EECA138D}"/>
              </a:ext>
            </a:extLst>
          </p:cNvPr>
          <p:cNvSpPr>
            <a:spLocks noGrp="1"/>
          </p:cNvSpPr>
          <p:nvPr>
            <p:ph type="dt" sz="half" idx="10"/>
          </p:nvPr>
        </p:nvSpPr>
        <p:spPr/>
        <p:txBody>
          <a:bodyPr/>
          <a:lstStyle/>
          <a:p>
            <a:pPr>
              <a:defRPr/>
            </a:pPr>
            <a:r>
              <a:rPr lang="en-GB" err="1">
                <a:solidFill>
                  <a:prstClr val="black">
                    <a:tint val="75000"/>
                  </a:prstClr>
                </a:solidFill>
              </a:rPr>
              <a:t>TuSpeaking</a:t>
            </a:r>
            <a:r>
              <a:rPr lang="en-GB">
                <a:solidFill>
                  <a:prstClr val="black">
                    <a:tint val="75000"/>
                  </a:prstClr>
                </a:solidFill>
              </a:rPr>
              <a:t> 2023,  All rights reserved</a:t>
            </a:r>
            <a:endParaRPr lang="en-US">
              <a:solidFill>
                <a:prstClr val="black">
                  <a:tint val="75000"/>
                </a:prstClr>
              </a:solidFill>
            </a:endParaRPr>
          </a:p>
        </p:txBody>
      </p:sp>
      <p:sp>
        <p:nvSpPr>
          <p:cNvPr id="6" name="Footer Placeholder 5">
            <a:extLst>
              <a:ext uri="{FF2B5EF4-FFF2-40B4-BE49-F238E27FC236}">
                <a16:creationId xmlns:a16="http://schemas.microsoft.com/office/drawing/2014/main" id="{967E87FF-294D-B796-D213-638E6BC79181}"/>
              </a:ext>
            </a:extLst>
          </p:cNvPr>
          <p:cNvSpPr>
            <a:spLocks noGrp="1"/>
          </p:cNvSpPr>
          <p:nvPr>
            <p:ph type="ftr" sz="quarter" idx="11"/>
          </p:nvPr>
        </p:nvSpPr>
        <p:spPr/>
        <p:txBody>
          <a:bodyPr/>
          <a:lstStyle/>
          <a:p>
            <a:pPr>
              <a:defRPr/>
            </a:pPr>
            <a:r>
              <a:rPr lang="en-GB">
                <a:solidFill>
                  <a:prstClr val="black">
                    <a:tint val="75000"/>
                  </a:prstClr>
                </a:solidFill>
              </a:rPr>
              <a:t>Personal information 1</a:t>
            </a:r>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E3D3AFA9-12C5-B439-AAB3-1674D7565F6E}"/>
              </a:ext>
            </a:extLst>
          </p:cNvPr>
          <p:cNvSpPr>
            <a:spLocks noGrp="1"/>
          </p:cNvSpPr>
          <p:nvPr>
            <p:ph type="sldNum" sz="quarter" idx="12"/>
          </p:nvPr>
        </p:nvSpPr>
        <p:spPr/>
        <p:txBody>
          <a:bodyPr/>
          <a:lstStyle/>
          <a:p>
            <a:pPr>
              <a:defRPr/>
            </a:pPr>
            <a:fld id="{D76B855D-E9CC-4FF8-AD85-6CDC7B89A0DE}" type="slidenum">
              <a:rPr lang="en-US" smtClean="0">
                <a:solidFill>
                  <a:prstClr val="black">
                    <a:tint val="75000"/>
                  </a:prstClr>
                </a:solidFill>
              </a:rPr>
              <a:pPr>
                <a:defRPr/>
              </a:pPr>
              <a:t>17</a:t>
            </a:fld>
            <a:endParaRPr lang="en-US">
              <a:solidFill>
                <a:prstClr val="black">
                  <a:tint val="75000"/>
                </a:prstClr>
              </a:solidFill>
            </a:endParaRPr>
          </a:p>
        </p:txBody>
      </p:sp>
      <p:pic>
        <p:nvPicPr>
          <p:cNvPr id="10" name="Picture 9">
            <a:extLst>
              <a:ext uri="{FF2B5EF4-FFF2-40B4-BE49-F238E27FC236}">
                <a16:creationId xmlns:a16="http://schemas.microsoft.com/office/drawing/2014/main" id="{47AF3B66-6F27-D239-6537-CD4823575F9A}"/>
              </a:ext>
            </a:extLst>
          </p:cNvPr>
          <p:cNvPicPr>
            <a:picLocks noChangeAspect="1"/>
          </p:cNvPicPr>
          <p:nvPr/>
        </p:nvPicPr>
        <p:blipFill>
          <a:blip r:embed="rId2"/>
          <a:stretch>
            <a:fillRect/>
          </a:stretch>
        </p:blipFill>
        <p:spPr>
          <a:xfrm>
            <a:off x="9982200" y="266700"/>
            <a:ext cx="1638300" cy="762000"/>
          </a:xfrm>
          <a:prstGeom prst="rect">
            <a:avLst/>
          </a:prstGeom>
        </p:spPr>
      </p:pic>
    </p:spTree>
    <p:extLst>
      <p:ext uri="{BB962C8B-B14F-4D97-AF65-F5344CB8AC3E}">
        <p14:creationId xmlns:p14="http://schemas.microsoft.com/office/powerpoint/2010/main" val="4189554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706C9-F26D-46CA-93BF-8C27012F6B12}"/>
              </a:ext>
            </a:extLst>
          </p:cNvPr>
          <p:cNvSpPr>
            <a:spLocks noGrp="1"/>
          </p:cNvSpPr>
          <p:nvPr>
            <p:ph type="title"/>
          </p:nvPr>
        </p:nvSpPr>
        <p:spPr>
          <a:xfrm>
            <a:off x="1524000" y="3349167"/>
            <a:ext cx="9144000" cy="1748373"/>
          </a:xfrm>
        </p:spPr>
        <p:txBody>
          <a:bodyPr vert="horz" lIns="91440" tIns="45720" rIns="91440" bIns="45720" rtlCol="0" anchor="b">
            <a:normAutofit/>
          </a:bodyPr>
          <a:lstStyle/>
          <a:p>
            <a:r>
              <a:rPr lang="en-US" sz="6000" kern="1200">
                <a:solidFill>
                  <a:schemeClr val="tx1"/>
                </a:solidFill>
                <a:latin typeface="+mj-lt"/>
                <a:ea typeface="+mj-ea"/>
                <a:cs typeface="+mj-cs"/>
              </a:rPr>
              <a:t>Thank you</a:t>
            </a:r>
          </a:p>
        </p:txBody>
      </p:sp>
      <p:sp>
        <p:nvSpPr>
          <p:cNvPr id="4" name="Date Placeholder 3">
            <a:extLst>
              <a:ext uri="{FF2B5EF4-FFF2-40B4-BE49-F238E27FC236}">
                <a16:creationId xmlns:a16="http://schemas.microsoft.com/office/drawing/2014/main" id="{6F95E0EB-F1F4-436B-A218-93E100A66902}"/>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lvl="0">
              <a:spcAft>
                <a:spcPts val="600"/>
              </a:spcAft>
            </a:pPr>
            <a:r>
              <a:rPr lang="en-US" sz="1100" noProof="0" err="1">
                <a:solidFill>
                  <a:prstClr val="black">
                    <a:tint val="75000"/>
                  </a:prstClr>
                </a:solidFill>
              </a:rPr>
              <a:t>TuSpeaking</a:t>
            </a:r>
            <a:r>
              <a:rPr lang="en-US" sz="1100" noProof="0">
                <a:solidFill>
                  <a:prstClr val="black">
                    <a:tint val="75000"/>
                  </a:prstClr>
                </a:solidFill>
              </a:rPr>
              <a:t> 2023,  All rights reserved</a:t>
            </a:r>
          </a:p>
        </p:txBody>
      </p:sp>
      <p:sp>
        <p:nvSpPr>
          <p:cNvPr id="5" name="Footer Placeholder 4">
            <a:extLst>
              <a:ext uri="{FF2B5EF4-FFF2-40B4-BE49-F238E27FC236}">
                <a16:creationId xmlns:a16="http://schemas.microsoft.com/office/drawing/2014/main" id="{C75D06EF-9416-46F7-8230-B49EE1269F53}"/>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lvl="0" algn="ctr">
              <a:spcAft>
                <a:spcPts val="600"/>
              </a:spcAft>
            </a:pPr>
            <a:r>
              <a:rPr lang="en-US" kern="1200" cap="none" spc="0" baseline="0" noProof="0">
                <a:solidFill>
                  <a:prstClr val="black">
                    <a:tint val="75000"/>
                  </a:prstClr>
                </a:solidFill>
                <a:latin typeface="+mn-lt"/>
                <a:ea typeface="+mn-ea"/>
                <a:cs typeface="+mn-cs"/>
              </a:rPr>
              <a:t>Personal information 1</a:t>
            </a:r>
          </a:p>
        </p:txBody>
      </p:sp>
      <p:sp>
        <p:nvSpPr>
          <p:cNvPr id="6" name="Slide Number Placeholder 5">
            <a:extLst>
              <a:ext uri="{FF2B5EF4-FFF2-40B4-BE49-F238E27FC236}">
                <a16:creationId xmlns:a16="http://schemas.microsoft.com/office/drawing/2014/main" id="{7359025F-68D1-4F50-8480-3F981455D4D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lvl="0">
              <a:spcAft>
                <a:spcPts val="600"/>
              </a:spcAft>
            </a:pPr>
            <a:fld id="{D76B855D-E9CC-4FF8-AD85-6CDC7B89A0DE}" type="slidenum">
              <a:rPr lang="en-US" noProof="0">
                <a:solidFill>
                  <a:prstClr val="black">
                    <a:tint val="75000"/>
                  </a:prstClr>
                </a:solidFill>
              </a:rPr>
              <a:pPr lvl="0">
                <a:spcAft>
                  <a:spcPts val="600"/>
                </a:spcAft>
              </a:pPr>
              <a:t>18</a:t>
            </a:fld>
            <a:endParaRPr lang="en-US" noProof="0">
              <a:solidFill>
                <a:prstClr val="black">
                  <a:tint val="75000"/>
                </a:prstClr>
              </a:solidFill>
            </a:endParaRPr>
          </a:p>
        </p:txBody>
      </p:sp>
      <p:pic>
        <p:nvPicPr>
          <p:cNvPr id="12" name="Graphic 11" descr="Handshake">
            <a:extLst>
              <a:ext uri="{FF2B5EF4-FFF2-40B4-BE49-F238E27FC236}">
                <a16:creationId xmlns:a16="http://schemas.microsoft.com/office/drawing/2014/main" id="{A72524B9-2327-1C75-F20F-0E5D91733C3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69584" y="643467"/>
            <a:ext cx="2452830" cy="2452830"/>
          </a:xfrm>
          <a:custGeom>
            <a:avLst/>
            <a:gdLst/>
            <a:ahLst/>
            <a:cxnLst/>
            <a:rect l="l" t="t" r="r" b="b"/>
            <a:pathLst>
              <a:path w="9143998" h="2473607">
                <a:moveTo>
                  <a:pt x="64634" y="0"/>
                </a:moveTo>
                <a:lnTo>
                  <a:pt x="9079363" y="0"/>
                </a:lnTo>
                <a:cubicBezTo>
                  <a:pt x="9115060" y="0"/>
                  <a:pt x="9143998" y="28938"/>
                  <a:pt x="9143998" y="64635"/>
                </a:cubicBezTo>
                <a:lnTo>
                  <a:pt x="9143998" y="2408972"/>
                </a:lnTo>
                <a:cubicBezTo>
                  <a:pt x="9143998" y="2444669"/>
                  <a:pt x="9115060" y="2473607"/>
                  <a:pt x="9079363" y="2473607"/>
                </a:cubicBezTo>
                <a:lnTo>
                  <a:pt x="64634" y="2473607"/>
                </a:lnTo>
                <a:cubicBezTo>
                  <a:pt x="46786" y="2473607"/>
                  <a:pt x="30627" y="2466373"/>
                  <a:pt x="18930" y="2454676"/>
                </a:cubicBezTo>
                <a:lnTo>
                  <a:pt x="0" y="2408974"/>
                </a:lnTo>
                <a:lnTo>
                  <a:pt x="0" y="64633"/>
                </a:lnTo>
                <a:lnTo>
                  <a:pt x="18930" y="18931"/>
                </a:lnTo>
                <a:cubicBezTo>
                  <a:pt x="30627" y="7235"/>
                  <a:pt x="46786" y="0"/>
                  <a:pt x="64634" y="0"/>
                </a:cubicBezTo>
                <a:close/>
              </a:path>
            </a:pathLst>
          </a:custGeom>
        </p:spPr>
      </p:pic>
    </p:spTree>
    <p:extLst>
      <p:ext uri="{BB962C8B-B14F-4D97-AF65-F5344CB8AC3E}">
        <p14:creationId xmlns:p14="http://schemas.microsoft.com/office/powerpoint/2010/main" val="962258905"/>
      </p:ext>
    </p:extLst>
  </p:cSld>
  <p:clrMapOvr>
    <a:masterClrMapping/>
  </p:clrMapOvr>
</p:sld>
</file>

<file path=ppt/theme/theme1.xml><?xml version="1.0" encoding="utf-8"?>
<a:theme xmlns:a="http://schemas.openxmlformats.org/drawingml/2006/main" name="2_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449C04-64B3-4403-94B7-8D2284C38D1B}">
  <ds:schemaRefs>
    <ds:schemaRef ds:uri="http://schemas.microsoft.com/sharepoint/v3/contenttype/forms"/>
  </ds:schemaRefs>
</ds:datastoreItem>
</file>

<file path=customXml/itemProps2.xml><?xml version="1.0" encoding="utf-8"?>
<ds:datastoreItem xmlns:ds="http://schemas.openxmlformats.org/officeDocument/2006/customXml" ds:itemID="{FBDEF148-1770-458F-8F5B-C3D0A278AA97}">
  <ds:schemaRefs>
    <ds:schemaRef ds:uri="16c05727-aa75-4e4a-9b5f-8a80a1165891"/>
    <ds:schemaRef ds:uri="http://schemas.microsoft.com/office/infopath/2007/PartnerControls"/>
    <ds:schemaRef ds:uri="http://www.w3.org/XML/1998/namespace"/>
    <ds:schemaRef ds:uri="http://purl.org/dc/dcmitype/"/>
    <ds:schemaRef ds:uri="71af3243-3dd4-4a8d-8c0d-dd76da1f02a5"/>
    <ds:schemaRef ds:uri="http://purl.org/dc/elements/1.1/"/>
    <ds:schemaRef ds:uri="http://schemas.microsoft.com/office/2006/documentManagement/types"/>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8413533D-8C39-401E-8B75-B1AEEEC56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{8B24966A-AB44-4D33-B07C-1473B01AE46D}tf78504181_win32</Template>
  <TotalTime>116</TotalTime>
  <Words>1669</Words>
  <Application>Microsoft Office PowerPoint</Application>
  <PresentationFormat>Widescreen</PresentationFormat>
  <Paragraphs>118</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Avenir Next LT Pro</vt:lpstr>
      <vt:lpstr>Calibri</vt:lpstr>
      <vt:lpstr>Tw Cen MT</vt:lpstr>
      <vt:lpstr>2_ShapesVTI</vt:lpstr>
      <vt:lpstr>B1 Business trips</vt:lpstr>
      <vt:lpstr>NETWORKING</vt:lpstr>
      <vt:lpstr>Warm up</vt:lpstr>
      <vt:lpstr>Vocabulary and definitions </vt:lpstr>
      <vt:lpstr>PHRASES WITH ‘GET’</vt:lpstr>
      <vt:lpstr>Dialogue</vt:lpstr>
      <vt:lpstr>Activity  - Networking event Based on the conversation on the previous slide, role play networking with your partner using the prompt below: </vt:lpstr>
      <vt:lpstr>Summary</vt:lpstr>
      <vt:lpstr>Warm up 2 </vt:lpstr>
      <vt:lpstr>Warm up 2 </vt:lpstr>
      <vt:lpstr>Vocabulary and definition </vt:lpstr>
      <vt:lpstr>Read and discuss</vt:lpstr>
      <vt:lpstr>Read and discuss</vt:lpstr>
      <vt:lpstr>Discuss</vt:lpstr>
      <vt:lpstr>Summary</vt:lpstr>
      <vt:lpstr>Disclaimer</vt:lpstr>
      <vt:lpstr>Delayed feedback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English for business</dc:title>
  <dc:creator>Theo Clarke</dc:creator>
  <cp:lastModifiedBy>Theo Clarke</cp:lastModifiedBy>
  <cp:revision>10</cp:revision>
  <dcterms:created xsi:type="dcterms:W3CDTF">2022-11-03T16:14:46Z</dcterms:created>
  <dcterms:modified xsi:type="dcterms:W3CDTF">2023-03-27T14:32:24Z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