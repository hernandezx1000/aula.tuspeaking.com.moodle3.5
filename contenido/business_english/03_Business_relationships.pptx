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825" r:id="rId2"/>
    <p:sldId id="3826" r:id="rId3"/>
    <p:sldId id="3828" r:id="rId4"/>
    <p:sldId id="3865" r:id="rId5"/>
    <p:sldId id="3830" r:id="rId6"/>
    <p:sldId id="3849" r:id="rId7"/>
    <p:sldId id="3851" r:id="rId8"/>
    <p:sldId id="3846" r:id="rId9"/>
    <p:sldId id="3853" r:id="rId10"/>
    <p:sldId id="3852" r:id="rId11"/>
    <p:sldId id="3854" r:id="rId12"/>
    <p:sldId id="3874" r:id="rId13"/>
    <p:sldId id="3829" r:id="rId14"/>
    <p:sldId id="3869" r:id="rId15"/>
    <p:sldId id="3868" r:id="rId16"/>
    <p:sldId id="3870" r:id="rId17"/>
    <p:sldId id="3833" r:id="rId18"/>
    <p:sldId id="3871" r:id="rId19"/>
    <p:sldId id="3872" r:id="rId20"/>
    <p:sldId id="3873" r:id="rId21"/>
    <p:sldId id="3845" r:id="rId22"/>
    <p:sldId id="384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94660"/>
  </p:normalViewPr>
  <p:slideViewPr>
    <p:cSldViewPr snapToGrid="0">
      <p:cViewPr varScale="1">
        <p:scale>
          <a:sx n="107" d="100"/>
          <a:sy n="107" d="100"/>
        </p:scale>
        <p:origin x="72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5093208" y="2743200"/>
            <a:ext cx="6592824" cy="2386584"/>
          </a:xfrm>
        </p:spPr>
        <p:txBody>
          <a:bodyPr anchor="b"/>
          <a:lstStyle>
            <a:lvl1pPr algn="r">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5093208" y="5221224"/>
            <a:ext cx="6592824" cy="99669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484212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GB">
                <a:solidFill>
                  <a:prstClr val="black">
                    <a:tint val="75000"/>
                  </a:prstClr>
                </a:solidFill>
              </a:rPr>
              <a:t>TuSpeaking 2022,  All rights reserved</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en-GB">
                <a:solidFill>
                  <a:prstClr val="black">
                    <a:tint val="75000"/>
                  </a:prstClr>
                </a:solidFill>
              </a:rPr>
              <a:t>Corporate identity and corporate image</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172248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7200479" y="1150210"/>
            <a:ext cx="2207046" cy="2204178"/>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8444632" y="2579683"/>
            <a:ext cx="3096807" cy="3096807"/>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GB">
                <a:solidFill>
                  <a:prstClr val="black">
                    <a:tint val="75000"/>
                  </a:prstClr>
                </a:solidFill>
              </a:rPr>
              <a:t>TuSpeaking 2022,  All rights reserved</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en-GB">
                <a:solidFill>
                  <a:prstClr val="black">
                    <a:tint val="75000"/>
                  </a:prstClr>
                </a:solidFill>
              </a:rPr>
              <a:t>Corporate identity and corporate image</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Oval 9">
            <a:extLst>
              <a:ext uri="{FF2B5EF4-FFF2-40B4-BE49-F238E27FC236}">
                <a16:creationId xmlns:a16="http://schemas.microsoft.com/office/drawing/2014/main" id="{E8E71C73-7BAD-4838-88C1-42E045A9D179}"/>
              </a:ext>
            </a:extLst>
          </p:cNvPr>
          <p:cNvSpPr/>
          <p:nvPr userDrawn="1"/>
        </p:nvSpPr>
        <p:spPr>
          <a:xfrm>
            <a:off x="10249620" y="1555068"/>
            <a:ext cx="819303" cy="7970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userDrawn="1"/>
        </p:nvSpPr>
        <p:spPr>
          <a:xfrm>
            <a:off x="7590089" y="4034393"/>
            <a:ext cx="876704" cy="87670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9525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userDrawn="1"/>
        </p:nvSpPr>
        <p:spPr>
          <a:xfrm>
            <a:off x="8165417" y="5241988"/>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319272" y="1380744"/>
            <a:ext cx="5559552" cy="2514600"/>
          </a:xfrm>
        </p:spPr>
        <p:txBody>
          <a:bodyPr anchor="b"/>
          <a:lstStyle>
            <a:lvl1pPr algn="ct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319272" y="4078224"/>
            <a:ext cx="5559552" cy="1536192"/>
          </a:xfrm>
        </p:spPr>
        <p:txBody>
          <a:bodyPr/>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616442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1179576" y="1911096"/>
            <a:ext cx="98298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GB">
                <a:solidFill>
                  <a:prstClr val="black">
                    <a:tint val="75000"/>
                  </a:prstClr>
                </a:solidFill>
              </a:rPr>
              <a:t>TuSpeaking 2022,  All rights reserved</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en-GB">
                <a:solidFill>
                  <a:prstClr val="black">
                    <a:tint val="75000"/>
                  </a:prstClr>
                </a:solidFill>
              </a:rPr>
              <a:t>Corporate identity and corporate image</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7839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GB">
                <a:solidFill>
                  <a:prstClr val="black">
                    <a:tint val="75000"/>
                  </a:prstClr>
                </a:solidFill>
              </a:rPr>
              <a:t>TuSpeaking 2022,  All rights reserved</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en-GB">
                <a:solidFill>
                  <a:prstClr val="black">
                    <a:tint val="75000"/>
                  </a:prstClr>
                </a:solidFill>
              </a:rPr>
              <a:t>Corporate identity and corporate image</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38200" y="1911096"/>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6448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12192000" cy="6858000"/>
          </a:xfrm>
        </p:spPr>
        <p:txBody>
          <a:bodyPr/>
          <a:lstStyle>
            <a:lvl1pPr>
              <a:buNone/>
              <a:defRPr>
                <a:solidFill>
                  <a:schemeClr val="bg1"/>
                </a:solidFill>
              </a:defRPr>
            </a:lvl1pPr>
          </a:lstStyle>
          <a:p>
            <a:r>
              <a:rPr lang="en-US"/>
              <a:t>Click icon to add picture</a:t>
            </a:r>
            <a:endParaRPr lang="en-US" dirty="0"/>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3111500" y="370600"/>
            <a:ext cx="5923842" cy="592384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anchor="b" anchorCtr="0">
            <a:noAutofit/>
          </a:bodyPr>
          <a:lstStyle>
            <a:lvl1pPr algn="ctr">
              <a:defRPr sz="4000">
                <a:solidFill>
                  <a:schemeClr val="tx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575304" y="4379976"/>
            <a:ext cx="5038344" cy="713232"/>
          </a:xfrm>
        </p:spPr>
        <p:txBody>
          <a:bodyPr/>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6B76FE53-FB67-4871-8485-71BAAFD7D1BF}"/>
              </a:ext>
            </a:extLst>
          </p:cNvPr>
          <p:cNvSpPr>
            <a:spLocks noGrp="1"/>
          </p:cNvSpPr>
          <p:nvPr>
            <p:ph type="dt" sz="half" idx="11"/>
          </p:nvPr>
        </p:nvSpPr>
        <p:spPr/>
        <p:txBody>
          <a:bodyPr/>
          <a:lstStyle>
            <a:lvl1pPr>
              <a:defRPr>
                <a:solidFill>
                  <a:schemeClr val="bg1"/>
                </a:solidFill>
                <a:latin typeface="+mn-lt"/>
              </a:defRPr>
            </a:lvl1pPr>
          </a:lstStyle>
          <a:p>
            <a:pPr>
              <a:defRPr/>
            </a:pPr>
            <a:r>
              <a:rPr lang="en-GB"/>
              <a:t>TuSpeaking 2022,  All rights reserved</a:t>
            </a:r>
            <a:endParaRPr lang="en-US" dirty="0"/>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a:lstStyle>
            <a:lvl1pPr>
              <a:defRPr>
                <a:solidFill>
                  <a:schemeClr val="bg1"/>
                </a:solidFill>
                <a:latin typeface="+mn-lt"/>
              </a:defRPr>
            </a:lvl1pPr>
          </a:lstStyle>
          <a:p>
            <a:pPr>
              <a:defRPr/>
            </a:pPr>
            <a:r>
              <a:rPr lang="en-GB"/>
              <a:t>Corporate identity and corporate image</a:t>
            </a:r>
            <a:endParaRPr lang="en-US" dirty="0"/>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a:lstStyle>
            <a:lvl1pPr>
              <a:defRPr>
                <a:solidFill>
                  <a:schemeClr val="bg1"/>
                </a:solidFill>
                <a:latin typeface="+mn-lt"/>
              </a:defRPr>
            </a:lvl1pPr>
          </a:lstStyle>
          <a:p>
            <a:pPr>
              <a:defRPr/>
            </a:pPr>
            <a:fld id="{D76B855D-E9CC-4FF8-AD85-6CDC7B89A0DE}" type="slidenum">
              <a:rPr lang="en-US" smtClean="0"/>
              <a:pPr>
                <a:defRPr/>
              </a:pPr>
              <a:t>‹#›</a:t>
            </a:fld>
            <a:endParaRPr lang="en-US" dirty="0"/>
          </a:p>
        </p:txBody>
      </p:sp>
    </p:spTree>
    <p:extLst>
      <p:ext uri="{BB962C8B-B14F-4D97-AF65-F5344CB8AC3E}">
        <p14:creationId xmlns:p14="http://schemas.microsoft.com/office/powerpoint/2010/main" val="3771644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lvl1pPr>
              <a:defRPr>
                <a:latin typeface="+mn-lt"/>
              </a:defRPr>
            </a:lvl1pPr>
          </a:lstStyle>
          <a:p>
            <a:pPr>
              <a:defRPr/>
            </a:pPr>
            <a:r>
              <a:rPr lang="en-GB">
                <a:solidFill>
                  <a:prstClr val="black">
                    <a:tint val="75000"/>
                  </a:prstClr>
                </a:solidFill>
              </a:rPr>
              <a:t>TuSpeaking 2022,  All rights reserved</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lvl1pPr>
              <a:defRPr>
                <a:latin typeface="+mn-lt"/>
              </a:defRPr>
            </a:lvl1pPr>
          </a:lstStyle>
          <a:p>
            <a:pPr>
              <a:defRPr/>
            </a:pPr>
            <a:r>
              <a:rPr lang="en-GB">
                <a:solidFill>
                  <a:prstClr val="black">
                    <a:tint val="75000"/>
                  </a:prstClr>
                </a:solidFill>
              </a:rPr>
              <a:t>Corporate identity and corporate image</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9847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GB">
                <a:solidFill>
                  <a:prstClr val="black">
                    <a:tint val="75000"/>
                  </a:prstClr>
                </a:solidFill>
              </a:rPr>
              <a:t>TuSpeaking 2022,  All rights reserved</a:t>
            </a:r>
            <a:endParaRPr lang="en-US" dirty="0">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en-GB">
                <a:solidFill>
                  <a:prstClr val="black">
                    <a:tint val="75000"/>
                  </a:prstClr>
                </a:solidFill>
              </a:rPr>
              <a:t>Corporate identity and corporate image</a:t>
            </a:r>
            <a:endParaRPr lang="en-US" dirty="0">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5089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445312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445312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GB">
                <a:solidFill>
                  <a:prstClr val="black">
                    <a:tint val="75000"/>
                  </a:prstClr>
                </a:solidFill>
              </a:rPr>
              <a:t>TuSpeaking 2022,  All rights reserved</a:t>
            </a:r>
            <a:endParaRPr lang="en-US" dirty="0">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en-GB">
                <a:solidFill>
                  <a:prstClr val="black">
                    <a:tint val="75000"/>
                  </a:prstClr>
                </a:solidFill>
              </a:rPr>
              <a:t>Corporate identity and corporate image</a:t>
            </a:r>
            <a:endParaRPr lang="en-US" dirty="0">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806500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806500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53290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7901259" y="2727729"/>
            <a:ext cx="4290740" cy="4130271"/>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6261609" y="0"/>
            <a:ext cx="3519311" cy="3007909"/>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10" name="Oval 9">
            <a:extLst>
              <a:ext uri="{FF2B5EF4-FFF2-40B4-BE49-F238E27FC236}">
                <a16:creationId xmlns:a16="http://schemas.microsoft.com/office/drawing/2014/main" id="{B7BFFB5A-A05C-4B0C-905C-5884361304B2}"/>
              </a:ext>
            </a:extLst>
          </p:cNvPr>
          <p:cNvSpPr/>
          <p:nvPr userDrawn="1"/>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userDrawn="1"/>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841248" y="365760"/>
            <a:ext cx="5120640" cy="132588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GB">
                <a:solidFill>
                  <a:prstClr val="black">
                    <a:tint val="75000"/>
                  </a:prstClr>
                </a:solidFill>
              </a:rPr>
              <a:t>TuSpeaking 2022,  All rights reserved</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en-GB">
                <a:solidFill>
                  <a:prstClr val="black">
                    <a:tint val="75000"/>
                  </a:prstClr>
                </a:solidFill>
              </a:rPr>
              <a:t>Corporate identity and corporate image</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41248" y="1828800"/>
            <a:ext cx="5093208" cy="4352544"/>
          </a:xfrm>
        </p:spPr>
        <p:txBody>
          <a:bodyPr/>
          <a:lstStyle>
            <a:lvl1pPr marL="0" indent="0">
              <a:buNone/>
              <a:defRPr sz="24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597551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userDrawn="1"/>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userDrawn="1"/>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389888" y="1234440"/>
            <a:ext cx="3236976" cy="4069080"/>
          </a:xfrm>
        </p:spPr>
        <p:txBody>
          <a:bodyPr/>
          <a:lstStyle>
            <a:lvl1pPr algn="ct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a:defRPr/>
            </a:pPr>
            <a:r>
              <a:rPr lang="en-GB">
                <a:solidFill>
                  <a:prstClr val="black">
                    <a:tint val="75000"/>
                  </a:prstClr>
                </a:solidFill>
              </a:rPr>
              <a:t>TuSpeaking 2022,  All rights reserved</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algn="l">
              <a:defRPr/>
            </a:pPr>
            <a:r>
              <a:rPr lang="en-GB">
                <a:solidFill>
                  <a:prstClr val="black">
                    <a:tint val="75000"/>
                  </a:prstClr>
                </a:solidFill>
              </a:rPr>
              <a:t>Corporate identity and corporate image</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665976" y="2551176"/>
            <a:ext cx="4709160" cy="1755648"/>
          </a:xfrm>
        </p:spPr>
        <p:txBody>
          <a:bodyPr/>
          <a:lstStyle>
            <a:lvl1pPr marL="0" indent="0">
              <a:buNone/>
              <a:defRPr sz="2400"/>
            </a:lvl1pPr>
            <a:lvl2pPr marL="228600">
              <a:defRPr sz="1800"/>
            </a:lvl2pPr>
            <a:lvl3pPr marL="457200">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17984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GB">
                <a:solidFill>
                  <a:prstClr val="black">
                    <a:tint val="75000"/>
                  </a:prstClr>
                </a:solidFill>
              </a:rPr>
              <a:t>TuSpeaking 2022,  All rights reserved</a:t>
            </a:r>
            <a:endParaRPr lang="en-US" dirty="0">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en-GB">
                <a:solidFill>
                  <a:prstClr val="black">
                    <a:tint val="75000"/>
                  </a:prstClr>
                </a:solidFill>
              </a:rPr>
              <a:t>Corporate identity and corporate image</a:t>
            </a:r>
            <a:endParaRPr lang="en-US" dirty="0">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00001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GB">
                <a:solidFill>
                  <a:prstClr val="black">
                    <a:tint val="75000"/>
                  </a:prstClr>
                </a:solidFill>
              </a:rPr>
              <a:t>TuSpeaking 2022,  All rights reserved</a:t>
            </a:r>
            <a:endParaRPr lang="en-US" dirty="0">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en-GB">
                <a:solidFill>
                  <a:prstClr val="black">
                    <a:tint val="75000"/>
                  </a:prstClr>
                </a:solidFill>
              </a:rPr>
              <a:t>Corporate identity and corporate image</a:t>
            </a:r>
            <a:endParaRPr lang="en-US" dirty="0">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518229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lvl1pPr>
              <a:defRPr>
                <a:latin typeface="+mn-lt"/>
              </a:defRPr>
            </a:lvl1pPr>
          </a:lstStyle>
          <a:p>
            <a:pPr>
              <a:defRPr/>
            </a:pPr>
            <a:r>
              <a:rPr lang="en-GB">
                <a:solidFill>
                  <a:prstClr val="black">
                    <a:tint val="75000"/>
                  </a:prstClr>
                </a:solidFill>
              </a:rPr>
              <a:t>TuSpeaking 2022,  All rights reserved</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lvl1pPr>
              <a:defRPr>
                <a:latin typeface="+mn-lt"/>
              </a:defRPr>
            </a:lvl1pPr>
          </a:lstStyle>
          <a:p>
            <a:pPr>
              <a:defRPr/>
            </a:pPr>
            <a:r>
              <a:rPr lang="en-GB">
                <a:solidFill>
                  <a:prstClr val="black">
                    <a:tint val="75000"/>
                  </a:prstClr>
                </a:solidFill>
              </a:rPr>
              <a:t>Corporate identity and corporate image</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31546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lvl1pPr>
              <a:defRPr>
                <a:latin typeface="+mn-lt"/>
              </a:defRPr>
            </a:lvl1pPr>
          </a:lstStyle>
          <a:p>
            <a:pPr>
              <a:defRPr/>
            </a:pPr>
            <a:r>
              <a:rPr lang="en-GB">
                <a:solidFill>
                  <a:prstClr val="black">
                    <a:tint val="75000"/>
                  </a:prstClr>
                </a:solidFill>
              </a:rPr>
              <a:t>TuSpeaking 2022,  All rights reserved</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lvl1pPr>
              <a:defRPr>
                <a:latin typeface="+mn-lt"/>
              </a:defRPr>
            </a:lvl1pPr>
          </a:lstStyle>
          <a:p>
            <a:pPr>
              <a:defRPr/>
            </a:pPr>
            <a:r>
              <a:rPr lang="en-GB">
                <a:solidFill>
                  <a:prstClr val="black">
                    <a:tint val="75000"/>
                  </a:prstClr>
                </a:solidFill>
              </a:rPr>
              <a:t>Corporate identity and corporate image</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1335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pPr>
              <a:defRPr/>
            </a:pPr>
            <a:r>
              <a:rPr lang="en-GB">
                <a:solidFill>
                  <a:prstClr val="black">
                    <a:tint val="75000"/>
                  </a:prstClr>
                </a:solidFill>
              </a:rPr>
              <a:t>TuSpeaking 2022,  All rights reserved</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pPr>
              <a:defRPr/>
            </a:pPr>
            <a:r>
              <a:rPr lang="en-GB">
                <a:solidFill>
                  <a:prstClr val="black">
                    <a:tint val="75000"/>
                  </a:prstClr>
                </a:solidFill>
              </a:rPr>
              <a:t>Corporate identity and corporate image</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6216135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08836-40C5-46C2-81BA-21AA27176925}"/>
              </a:ext>
            </a:extLst>
          </p:cNvPr>
          <p:cNvSpPr>
            <a:spLocks noGrp="1"/>
          </p:cNvSpPr>
          <p:nvPr>
            <p:ph type="ctrTitle"/>
          </p:nvPr>
        </p:nvSpPr>
        <p:spPr/>
        <p:txBody>
          <a:bodyPr>
            <a:normAutofit/>
          </a:bodyPr>
          <a:lstStyle/>
          <a:p>
            <a:pPr algn="ctr"/>
            <a:r>
              <a:rPr lang="en-US" sz="4000" b="1" dirty="0">
                <a:solidFill>
                  <a:srgbClr val="FFFFFF"/>
                </a:solidFill>
                <a:latin typeface="+mn-lt"/>
              </a:rPr>
              <a:t>ENGLISH FOR BUSINESS</a:t>
            </a:r>
            <a:endParaRPr lang="en-US" sz="4000" b="1" dirty="0">
              <a:latin typeface="+mn-lt"/>
            </a:endParaRPr>
          </a:p>
        </p:txBody>
      </p:sp>
      <p:sp>
        <p:nvSpPr>
          <p:cNvPr id="3" name="Subtitle 2">
            <a:extLst>
              <a:ext uri="{FF2B5EF4-FFF2-40B4-BE49-F238E27FC236}">
                <a16:creationId xmlns:a16="http://schemas.microsoft.com/office/drawing/2014/main" id="{72CC4EC4-809C-4FD2-AA20-009F08590DA6}"/>
              </a:ext>
            </a:extLst>
          </p:cNvPr>
          <p:cNvSpPr>
            <a:spLocks noGrp="1"/>
          </p:cNvSpPr>
          <p:nvPr>
            <p:ph type="subTitle" idx="1"/>
          </p:nvPr>
        </p:nvSpPr>
        <p:spPr/>
        <p:txBody>
          <a:bodyPr/>
          <a:lstStyle/>
          <a:p>
            <a:r>
              <a:rPr lang="en-US" dirty="0" err="1">
                <a:solidFill>
                  <a:srgbClr val="FFFFFF"/>
                </a:solidFill>
              </a:rPr>
              <a:t>TuSpeaking</a:t>
            </a:r>
            <a:endParaRPr lang="en-US" dirty="0">
              <a:solidFill>
                <a:srgbClr val="FFFFFF"/>
              </a:solidFill>
            </a:endParaRPr>
          </a:p>
          <a:p>
            <a:endParaRPr lang="en-US" dirty="0"/>
          </a:p>
        </p:txBody>
      </p:sp>
      <p:pic>
        <p:nvPicPr>
          <p:cNvPr id="5" name="Picture 4" descr="Icon&#10;&#10;Description automatically generated">
            <a:extLst>
              <a:ext uri="{FF2B5EF4-FFF2-40B4-BE49-F238E27FC236}">
                <a16:creationId xmlns:a16="http://schemas.microsoft.com/office/drawing/2014/main" id="{FBBF2D84-E7BF-DBDA-F182-78A399D6E8B9}"/>
              </a:ext>
            </a:extLst>
          </p:cNvPr>
          <p:cNvPicPr>
            <a:picLocks noChangeAspect="1"/>
          </p:cNvPicPr>
          <p:nvPr/>
        </p:nvPicPr>
        <p:blipFill>
          <a:blip r:embed="rId2"/>
          <a:stretch>
            <a:fillRect/>
          </a:stretch>
        </p:blipFill>
        <p:spPr>
          <a:xfrm>
            <a:off x="1920515" y="1028700"/>
            <a:ext cx="1714500" cy="1714500"/>
          </a:xfrm>
          <a:prstGeom prst="rect">
            <a:avLst/>
          </a:prstGeom>
        </p:spPr>
      </p:pic>
      <p:pic>
        <p:nvPicPr>
          <p:cNvPr id="7" name="Picture 6" descr="Logo&#10;&#10;Description automatically generated">
            <a:extLst>
              <a:ext uri="{FF2B5EF4-FFF2-40B4-BE49-F238E27FC236}">
                <a16:creationId xmlns:a16="http://schemas.microsoft.com/office/drawing/2014/main" id="{7D462DAB-12EB-B67E-2CC1-A8F197514C75}"/>
              </a:ext>
            </a:extLst>
          </p:cNvPr>
          <p:cNvPicPr>
            <a:picLocks noChangeAspect="1"/>
          </p:cNvPicPr>
          <p:nvPr/>
        </p:nvPicPr>
        <p:blipFill>
          <a:blip r:embed="rId3"/>
          <a:stretch>
            <a:fillRect/>
          </a:stretch>
        </p:blipFill>
        <p:spPr>
          <a:xfrm>
            <a:off x="1998236" y="4957570"/>
            <a:ext cx="1636779" cy="762002"/>
          </a:xfrm>
          <a:prstGeom prst="rect">
            <a:avLst/>
          </a:prstGeom>
        </p:spPr>
      </p:pic>
    </p:spTree>
    <p:extLst>
      <p:ext uri="{BB962C8B-B14F-4D97-AF65-F5344CB8AC3E}">
        <p14:creationId xmlns:p14="http://schemas.microsoft.com/office/powerpoint/2010/main" val="800962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6E49C-11A0-4C95-8A6E-FC7E9C57C105}"/>
              </a:ext>
            </a:extLst>
          </p:cNvPr>
          <p:cNvSpPr>
            <a:spLocks noGrp="1"/>
          </p:cNvSpPr>
          <p:nvPr>
            <p:ph type="title"/>
          </p:nvPr>
        </p:nvSpPr>
        <p:spPr/>
        <p:txBody>
          <a:bodyPr/>
          <a:lstStyle/>
          <a:p>
            <a:r>
              <a:rPr lang="en-US" b="1" dirty="0">
                <a:solidFill>
                  <a:srgbClr val="FFFFFF"/>
                </a:solidFill>
                <a:latin typeface="+mn-lt"/>
              </a:rPr>
              <a:t>B1</a:t>
            </a:r>
            <a:endParaRPr lang="en-US" b="1" dirty="0">
              <a:latin typeface="+mn-lt"/>
            </a:endParaRPr>
          </a:p>
        </p:txBody>
      </p:sp>
      <p:sp>
        <p:nvSpPr>
          <p:cNvPr id="3" name="Content Placeholder 2">
            <a:extLst>
              <a:ext uri="{FF2B5EF4-FFF2-40B4-BE49-F238E27FC236}">
                <a16:creationId xmlns:a16="http://schemas.microsoft.com/office/drawing/2014/main" id="{869C3FD2-AF88-4EF1-AFB7-5D31BD5AA0BF}"/>
              </a:ext>
            </a:extLst>
          </p:cNvPr>
          <p:cNvSpPr>
            <a:spLocks noGrp="1"/>
          </p:cNvSpPr>
          <p:nvPr>
            <p:ph idx="1"/>
          </p:nvPr>
        </p:nvSpPr>
        <p:spPr>
          <a:xfrm>
            <a:off x="5788152" y="1527048"/>
            <a:ext cx="5381872" cy="3931920"/>
          </a:xfrm>
        </p:spPr>
        <p:txBody>
          <a:bodyPr/>
          <a:lstStyle/>
          <a:p>
            <a:pPr algn="ctr"/>
            <a:r>
              <a:rPr lang="en-GB" b="1" dirty="0"/>
              <a:t>BUSINESS RELATIONSHIPS</a:t>
            </a:r>
          </a:p>
        </p:txBody>
      </p:sp>
      <p:sp>
        <p:nvSpPr>
          <p:cNvPr id="4" name="Date Placeholder 3">
            <a:extLst>
              <a:ext uri="{FF2B5EF4-FFF2-40B4-BE49-F238E27FC236}">
                <a16:creationId xmlns:a16="http://schemas.microsoft.com/office/drawing/2014/main" id="{78C8B647-084C-492D-A242-148BEA5B682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TuSpeaking 2022,  All rights reserved</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A4A2B84E-2163-44C1-99D0-6F162AEA82E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Corporate identity and corporate image</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88AB1A36-2D6E-4392-AAA4-996FFE03208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80DADE99-21C9-05B6-3336-DB399C560392}"/>
              </a:ext>
            </a:extLst>
          </p:cNvPr>
          <p:cNvPicPr>
            <a:picLocks noChangeAspect="1"/>
          </p:cNvPicPr>
          <p:nvPr/>
        </p:nvPicPr>
        <p:blipFill>
          <a:blip r:embed="rId2"/>
          <a:stretch>
            <a:fillRect/>
          </a:stretch>
        </p:blipFill>
        <p:spPr>
          <a:xfrm>
            <a:off x="9383268" y="1527048"/>
            <a:ext cx="1638300" cy="762000"/>
          </a:xfrm>
          <a:prstGeom prst="rect">
            <a:avLst/>
          </a:prstGeom>
        </p:spPr>
      </p:pic>
    </p:spTree>
    <p:extLst>
      <p:ext uri="{BB962C8B-B14F-4D97-AF65-F5344CB8AC3E}">
        <p14:creationId xmlns:p14="http://schemas.microsoft.com/office/powerpoint/2010/main" val="55160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0" name="Freeform: Shape 1049">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2" name="Freeform: Shape 1051">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1054" name="Rectangle 1053">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6" name="Freeform: Shape 1055">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Why Business Relationships Are The Key to Successful Growth!">
            <a:extLst>
              <a:ext uri="{FF2B5EF4-FFF2-40B4-BE49-F238E27FC236}">
                <a16:creationId xmlns:a16="http://schemas.microsoft.com/office/drawing/2014/main" id="{9DF3F703-1677-4C2F-C824-69CF5B94DC7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1774" r="24976"/>
          <a:stretch/>
        </p:blipFill>
        <p:spPr bwMode="auto">
          <a:xfrm>
            <a:off x="6584169" y="1227620"/>
            <a:ext cx="4620959" cy="4620959"/>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1058" name="Arc 1057">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5DDED62-DD0F-396A-2E4E-73FFFF64B37F}"/>
              </a:ext>
            </a:extLst>
          </p:cNvPr>
          <p:cNvSpPr>
            <a:spLocks noGrp="1"/>
          </p:cNvSpPr>
          <p:nvPr>
            <p:ph type="title"/>
          </p:nvPr>
        </p:nvSpPr>
        <p:spPr>
          <a:xfrm>
            <a:off x="838201" y="479493"/>
            <a:ext cx="4292599" cy="1325563"/>
          </a:xfrm>
        </p:spPr>
        <p:txBody>
          <a:bodyPr vert="horz" lIns="91440" tIns="45720" rIns="91440" bIns="45720" rtlCol="0" anchor="ctr">
            <a:normAutofit/>
          </a:bodyPr>
          <a:lstStyle/>
          <a:p>
            <a:pPr algn="ctr"/>
            <a:r>
              <a:rPr lang="en-US" sz="2400" b="1" kern="1200" dirty="0">
                <a:solidFill>
                  <a:schemeClr val="tx1"/>
                </a:solidFill>
                <a:latin typeface="+mn-lt"/>
                <a:ea typeface="+mj-ea"/>
                <a:cs typeface="+mj-cs"/>
              </a:rPr>
              <a:t>OBJECTIVES</a:t>
            </a:r>
          </a:p>
        </p:txBody>
      </p:sp>
      <p:sp>
        <p:nvSpPr>
          <p:cNvPr id="7" name="Text Placeholder 6">
            <a:extLst>
              <a:ext uri="{FF2B5EF4-FFF2-40B4-BE49-F238E27FC236}">
                <a16:creationId xmlns:a16="http://schemas.microsoft.com/office/drawing/2014/main" id="{71EF476B-937E-6FB3-A9B1-1F5D87EF1699}"/>
              </a:ext>
            </a:extLst>
          </p:cNvPr>
          <p:cNvSpPr>
            <a:spLocks noGrp="1"/>
          </p:cNvSpPr>
          <p:nvPr>
            <p:ph type="body" sz="half" idx="2"/>
          </p:nvPr>
        </p:nvSpPr>
        <p:spPr>
          <a:xfrm>
            <a:off x="838201" y="1984443"/>
            <a:ext cx="5257800" cy="4192520"/>
          </a:xfrm>
        </p:spPr>
        <p:txBody>
          <a:bodyPr vert="horz" lIns="91440" tIns="45720" rIns="91440" bIns="45720" rtlCol="0">
            <a:normAutofit/>
          </a:bodyPr>
          <a:lstStyle/>
          <a:p>
            <a:r>
              <a:rPr lang="en-US" sz="2000" b="1" dirty="0"/>
              <a:t>Grammar</a:t>
            </a:r>
          </a:p>
          <a:p>
            <a:pPr marL="285750" indent="-228600">
              <a:buFont typeface="Arial" panose="020B0604020202020204" pitchFamily="34" charset="0"/>
              <a:buChar char="•"/>
            </a:pPr>
            <a:r>
              <a:rPr lang="en-US" sz="2000" dirty="0"/>
              <a:t>Conditional sentences</a:t>
            </a:r>
          </a:p>
          <a:p>
            <a:pPr marL="285750" indent="-228600">
              <a:buFont typeface="Arial" panose="020B0604020202020204" pitchFamily="34" charset="0"/>
              <a:buChar char="•"/>
            </a:pPr>
            <a:r>
              <a:rPr lang="en-US" sz="2000" dirty="0"/>
              <a:t>Past tenses</a:t>
            </a:r>
          </a:p>
          <a:p>
            <a:pPr marL="285750" indent="-228600">
              <a:buFont typeface="Arial" panose="020B0604020202020204" pitchFamily="34" charset="0"/>
              <a:buChar char="•"/>
            </a:pPr>
            <a:endParaRPr lang="en-US" sz="2000" dirty="0"/>
          </a:p>
          <a:p>
            <a:r>
              <a:rPr lang="en-US" sz="2000" b="1" dirty="0"/>
              <a:t>Vocabulary</a:t>
            </a:r>
          </a:p>
          <a:p>
            <a:pPr marL="285750" indent="-228600">
              <a:buFont typeface="Arial" panose="020B0604020202020204" pitchFamily="34" charset="0"/>
              <a:buChar char="•"/>
            </a:pPr>
            <a:r>
              <a:rPr lang="en-US" sz="2000" dirty="0"/>
              <a:t>Vocabulary related to my skills</a:t>
            </a:r>
          </a:p>
          <a:p>
            <a:pPr marL="285750" indent="-228600">
              <a:buFont typeface="Arial" panose="020B0604020202020204" pitchFamily="34" charset="0"/>
              <a:buChar char="•"/>
            </a:pPr>
            <a:endParaRPr lang="en-US" sz="2000" b="1" i="1" dirty="0"/>
          </a:p>
          <a:p>
            <a:pPr marL="57150"/>
            <a:r>
              <a:rPr lang="en-US" sz="2000" b="1" dirty="0"/>
              <a:t>Activity</a:t>
            </a:r>
          </a:p>
          <a:p>
            <a:pPr marL="285750" indent="-228600">
              <a:buFont typeface="Arial" panose="020B0604020202020204" pitchFamily="34" charset="0"/>
              <a:buChar char="•"/>
            </a:pPr>
            <a:r>
              <a:rPr lang="en-US" sz="2000" dirty="0"/>
              <a:t>Conduct a job interview</a:t>
            </a:r>
          </a:p>
        </p:txBody>
      </p:sp>
      <p:sp>
        <p:nvSpPr>
          <p:cNvPr id="4" name="Date Placeholder 3">
            <a:extLst>
              <a:ext uri="{FF2B5EF4-FFF2-40B4-BE49-F238E27FC236}">
                <a16:creationId xmlns:a16="http://schemas.microsoft.com/office/drawing/2014/main" id="{DB126FC3-ADF1-63A2-5812-BFAB1CDE0515}"/>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defRPr/>
            </a:pPr>
            <a:r>
              <a:rPr lang="en-US" sz="1100">
                <a:solidFill>
                  <a:prstClr val="black">
                    <a:tint val="75000"/>
                  </a:prstClr>
                </a:solidFill>
              </a:rPr>
              <a:t>TuSpeaking 2022,  All rights reserved</a:t>
            </a:r>
          </a:p>
        </p:txBody>
      </p:sp>
      <p:sp>
        <p:nvSpPr>
          <p:cNvPr id="5" name="Footer Placeholder 4">
            <a:extLst>
              <a:ext uri="{FF2B5EF4-FFF2-40B4-BE49-F238E27FC236}">
                <a16:creationId xmlns:a16="http://schemas.microsoft.com/office/drawing/2014/main" id="{CE596EDB-308E-25AF-39E5-F9B2DB319162}"/>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cap="none" spc="0" baseline="0">
                <a:solidFill>
                  <a:prstClr val="black">
                    <a:tint val="75000"/>
                  </a:prstClr>
                </a:solidFill>
                <a:latin typeface="+mn-lt"/>
                <a:ea typeface="+mn-ea"/>
                <a:cs typeface="+mn-cs"/>
              </a:rPr>
              <a:t>Corporate identity and corporate image</a:t>
            </a:r>
          </a:p>
        </p:txBody>
      </p:sp>
      <p:sp>
        <p:nvSpPr>
          <p:cNvPr id="6" name="Slide Number Placeholder 5">
            <a:extLst>
              <a:ext uri="{FF2B5EF4-FFF2-40B4-BE49-F238E27FC236}">
                <a16:creationId xmlns:a16="http://schemas.microsoft.com/office/drawing/2014/main" id="{78674126-786A-6849-D290-1DE6353FB94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D76B855D-E9CC-4FF8-AD85-6CDC7B89A0DE}" type="slidenum">
              <a:rPr lang="en-US">
                <a:solidFill>
                  <a:prstClr val="black">
                    <a:tint val="75000"/>
                  </a:prstClr>
                </a:solidFill>
              </a:rPr>
              <a:pPr>
                <a:spcAft>
                  <a:spcPts val="600"/>
                </a:spcAft>
                <a:defRPr/>
              </a:pPr>
              <a:t>3</a:t>
            </a:fld>
            <a:endParaRPr lang="en-US">
              <a:solidFill>
                <a:prstClr val="black">
                  <a:tint val="75000"/>
                </a:prstClr>
              </a:solidFill>
            </a:endParaRPr>
          </a:p>
        </p:txBody>
      </p:sp>
    </p:spTree>
    <p:extLst>
      <p:ext uri="{BB962C8B-B14F-4D97-AF65-F5344CB8AC3E}">
        <p14:creationId xmlns:p14="http://schemas.microsoft.com/office/powerpoint/2010/main" val="3546657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7" name="Freeform: Shape 1056">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9" name="Freeform: Shape 1058">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1061" name="Rectangle 1060">
            <a:extLst>
              <a:ext uri="{FF2B5EF4-FFF2-40B4-BE49-F238E27FC236}">
                <a16:creationId xmlns:a16="http://schemas.microsoft.com/office/drawing/2014/main" id="{1135A26D-9D47-467E-91F1-31149BF0D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045F414-23DB-5221-3CEC-EAE73C0C86B4}"/>
              </a:ext>
            </a:extLst>
          </p:cNvPr>
          <p:cNvSpPr>
            <a:spLocks noGrp="1"/>
          </p:cNvSpPr>
          <p:nvPr>
            <p:ph type="title"/>
          </p:nvPr>
        </p:nvSpPr>
        <p:spPr>
          <a:xfrm>
            <a:off x="657489" y="404113"/>
            <a:ext cx="4000434" cy="1846503"/>
          </a:xfrm>
        </p:spPr>
        <p:txBody>
          <a:bodyPr vert="horz" lIns="91440" tIns="45720" rIns="91440" bIns="45720" rtlCol="0" anchor="ctr">
            <a:normAutofit/>
          </a:bodyPr>
          <a:lstStyle/>
          <a:p>
            <a:pPr algn="ctr"/>
            <a:r>
              <a:rPr lang="en-US" sz="2400" b="1" kern="1200" dirty="0">
                <a:solidFill>
                  <a:schemeClr val="tx1"/>
                </a:solidFill>
                <a:latin typeface="+mj-lt"/>
                <a:ea typeface="+mj-ea"/>
                <a:cs typeface="+mj-cs"/>
              </a:rPr>
              <a:t>Conversation questions – Warm up</a:t>
            </a:r>
          </a:p>
        </p:txBody>
      </p:sp>
      <p:sp>
        <p:nvSpPr>
          <p:cNvPr id="1063" name="Freeform: Shape 1062">
            <a:extLst>
              <a:ext uri="{FF2B5EF4-FFF2-40B4-BE49-F238E27FC236}">
                <a16:creationId xmlns:a16="http://schemas.microsoft.com/office/drawing/2014/main" id="{CB147A70-DC29-4DDF-A34C-2B82C6E229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19333" y="0"/>
            <a:ext cx="842502" cy="354793"/>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4E4BD9AF-1F9E-F2BB-53B6-570E4075E6ED}"/>
              </a:ext>
            </a:extLst>
          </p:cNvPr>
          <p:cNvSpPr>
            <a:spLocks noGrp="1"/>
          </p:cNvSpPr>
          <p:nvPr>
            <p:ph type="body" sz="half" idx="2"/>
          </p:nvPr>
        </p:nvSpPr>
        <p:spPr>
          <a:xfrm>
            <a:off x="548955" y="1905148"/>
            <a:ext cx="5393361" cy="3856457"/>
          </a:xfrm>
        </p:spPr>
        <p:txBody>
          <a:bodyPr vert="horz" lIns="91440" tIns="45720" rIns="91440" bIns="45720" rtlCol="0">
            <a:normAutofit/>
          </a:bodyPr>
          <a:lstStyle/>
          <a:p>
            <a:pPr indent="-228600">
              <a:buFont typeface="Arial" panose="020B0604020202020204" pitchFamily="34" charset="0"/>
              <a:buChar char="•"/>
            </a:pPr>
            <a:endParaRPr lang="en-US" sz="1600" b="1" dirty="0"/>
          </a:p>
          <a:p>
            <a:pPr marL="342900" indent="-342900">
              <a:buAutoNum type="arabicPeriod"/>
            </a:pPr>
            <a:r>
              <a:rPr lang="en-GB" sz="1800" dirty="0">
                <a:latin typeface="+mj-lt"/>
              </a:rPr>
              <a:t>What relationships do people have at work/in business? </a:t>
            </a:r>
          </a:p>
          <a:p>
            <a:r>
              <a:rPr lang="en-GB" sz="1800" dirty="0">
                <a:latin typeface="+mj-lt"/>
              </a:rPr>
              <a:t>2.   Are you good at making relationships? Why or why not?</a:t>
            </a:r>
          </a:p>
          <a:p>
            <a:r>
              <a:rPr lang="en-GB" sz="1800" dirty="0">
                <a:latin typeface="+mj-lt"/>
              </a:rPr>
              <a:t>3. Are technical skills or soft skills more important in the workplace?</a:t>
            </a:r>
          </a:p>
          <a:p>
            <a:endParaRPr lang="en-US" sz="1800" b="1" dirty="0">
              <a:solidFill>
                <a:schemeClr val="accent4">
                  <a:lumMod val="75000"/>
                </a:schemeClr>
              </a:solidFill>
            </a:endParaRPr>
          </a:p>
        </p:txBody>
      </p:sp>
      <p:sp>
        <p:nvSpPr>
          <p:cNvPr id="1065" name="Oval 1064">
            <a:extLst>
              <a:ext uri="{FF2B5EF4-FFF2-40B4-BE49-F238E27FC236}">
                <a16:creationId xmlns:a16="http://schemas.microsoft.com/office/drawing/2014/main" id="{3B438362-1E1E-4C62-A99E-4134CB163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80791" y="1327365"/>
            <a:ext cx="610857" cy="61085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67" name="Freeform: Shape 1066">
            <a:extLst>
              <a:ext uri="{FF2B5EF4-FFF2-40B4-BE49-F238E27FC236}">
                <a16:creationId xmlns:a16="http://schemas.microsoft.com/office/drawing/2014/main" id="{6C077334-5571-4B83-A83E-4CCCFA7B5E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9536" y="0"/>
            <a:ext cx="2093996" cy="1402773"/>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8058476D-E10D-ED2A-FF08-F931AC2435F1}"/>
              </a:ext>
            </a:extLst>
          </p:cNvPr>
          <p:cNvSpPr>
            <a:spLocks noGrp="1"/>
          </p:cNvSpPr>
          <p:nvPr>
            <p:ph type="dt" sz="half" idx="10"/>
          </p:nvPr>
        </p:nvSpPr>
        <p:spPr>
          <a:xfrm>
            <a:off x="838200" y="6356350"/>
            <a:ext cx="1550642" cy="365125"/>
          </a:xfrm>
        </p:spPr>
        <p:txBody>
          <a:bodyPr vert="horz" lIns="91440" tIns="45720" rIns="91440" bIns="45720" rtlCol="0" anchor="ctr">
            <a:normAutofit/>
          </a:bodyPr>
          <a:lstStyle/>
          <a:p>
            <a:pPr>
              <a:lnSpc>
                <a:spcPct val="90000"/>
              </a:lnSpc>
              <a:spcAft>
                <a:spcPts val="600"/>
              </a:spcAft>
              <a:defRPr/>
            </a:pPr>
            <a:r>
              <a:rPr lang="en-US" sz="900">
                <a:solidFill>
                  <a:prstClr val="black">
                    <a:tint val="75000"/>
                  </a:prstClr>
                </a:solidFill>
              </a:rPr>
              <a:t>TuSpeaking 2022,  All rights reserved</a:t>
            </a:r>
          </a:p>
        </p:txBody>
      </p:sp>
      <p:sp>
        <p:nvSpPr>
          <p:cNvPr id="6" name="Footer Placeholder 5">
            <a:extLst>
              <a:ext uri="{FF2B5EF4-FFF2-40B4-BE49-F238E27FC236}">
                <a16:creationId xmlns:a16="http://schemas.microsoft.com/office/drawing/2014/main" id="{44736DA8-3D6B-C495-EF69-6E1D571333D4}"/>
              </a:ext>
            </a:extLst>
          </p:cNvPr>
          <p:cNvSpPr>
            <a:spLocks noGrp="1"/>
          </p:cNvSpPr>
          <p:nvPr>
            <p:ph type="ftr" sz="quarter" idx="11"/>
          </p:nvPr>
        </p:nvSpPr>
        <p:spPr>
          <a:xfrm>
            <a:off x="2776816" y="6356350"/>
            <a:ext cx="3454746" cy="365125"/>
          </a:xfrm>
        </p:spPr>
        <p:txBody>
          <a:bodyPr vert="horz" lIns="91440" tIns="45720" rIns="91440" bIns="45720" rtlCol="0" anchor="ctr">
            <a:normAutofit/>
          </a:bodyPr>
          <a:lstStyle/>
          <a:p>
            <a:pPr algn="r">
              <a:spcAft>
                <a:spcPts val="600"/>
              </a:spcAft>
              <a:defRPr/>
            </a:pPr>
            <a:r>
              <a:rPr lang="en-US" kern="1200" cap="none" spc="0" baseline="0">
                <a:solidFill>
                  <a:prstClr val="black">
                    <a:tint val="75000"/>
                  </a:prstClr>
                </a:solidFill>
                <a:latin typeface="+mn-lt"/>
                <a:ea typeface="+mn-ea"/>
                <a:cs typeface="+mn-cs"/>
              </a:rPr>
              <a:t>Corporate identity and corporate image</a:t>
            </a:r>
          </a:p>
        </p:txBody>
      </p:sp>
      <p:sp>
        <p:nvSpPr>
          <p:cNvPr id="7" name="Slide Number Placeholder 6">
            <a:extLst>
              <a:ext uri="{FF2B5EF4-FFF2-40B4-BE49-F238E27FC236}">
                <a16:creationId xmlns:a16="http://schemas.microsoft.com/office/drawing/2014/main" id="{B3FF2780-E0D1-CDA1-D09A-6D57E9D27123}"/>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D76B855D-E9CC-4FF8-AD85-6CDC7B89A0DE}" type="slidenum">
              <a:rPr lang="en-US">
                <a:solidFill>
                  <a:prstClr val="black">
                    <a:tint val="75000"/>
                  </a:prstClr>
                </a:solidFill>
              </a:rPr>
              <a:pPr>
                <a:spcAft>
                  <a:spcPts val="600"/>
                </a:spcAft>
                <a:defRPr/>
              </a:pPr>
              <a:t>4</a:t>
            </a:fld>
            <a:endParaRPr lang="en-US">
              <a:solidFill>
                <a:prstClr val="black">
                  <a:tint val="75000"/>
                </a:prstClr>
              </a:solidFill>
            </a:endParaRPr>
          </a:p>
        </p:txBody>
      </p:sp>
      <p:sp>
        <p:nvSpPr>
          <p:cNvPr id="1069" name="Arc 1068">
            <a:extLst>
              <a:ext uri="{FF2B5EF4-FFF2-40B4-BE49-F238E27FC236}">
                <a16:creationId xmlns:a16="http://schemas.microsoft.com/office/drawing/2014/main" id="{4D3DC50D-CA0F-48F9-B17E-20D8669AA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76147" y="5530635"/>
            <a:ext cx="3939038" cy="3939038"/>
          </a:xfrm>
          <a:prstGeom prst="arc">
            <a:avLst>
              <a:gd name="adj1" fmla="val 16200000"/>
              <a:gd name="adj2" fmla="val 20354996"/>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1" name="Freeform: Shape 1070">
            <a:extLst>
              <a:ext uri="{FF2B5EF4-FFF2-40B4-BE49-F238E27FC236}">
                <a16:creationId xmlns:a16="http://schemas.microsoft.com/office/drawing/2014/main" id="{D1B80E9C-CF8A-440B-B8F5-54BF121BF4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9536" y="6066084"/>
            <a:ext cx="1913062" cy="791916"/>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26" name="Picture 2" descr="How to Win Friends and Influence People - Wikipedia">
            <a:extLst>
              <a:ext uri="{FF2B5EF4-FFF2-40B4-BE49-F238E27FC236}">
                <a16:creationId xmlns:a16="http://schemas.microsoft.com/office/drawing/2014/main" id="{EA504839-5D45-CCE3-4955-2015A7C81FB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324579" y="881776"/>
            <a:ext cx="2085797" cy="29516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601C93B0-499B-D284-FFEC-B8D901A49066}"/>
              </a:ext>
            </a:extLst>
          </p:cNvPr>
          <p:cNvSpPr txBox="1"/>
          <p:nvPr/>
        </p:nvSpPr>
        <p:spPr>
          <a:xfrm>
            <a:off x="7015761" y="3899592"/>
            <a:ext cx="4552117" cy="1781325"/>
          </a:xfrm>
          <a:prstGeom prst="rect">
            <a:avLst/>
          </a:prstGeom>
          <a:noFill/>
        </p:spPr>
        <p:txBody>
          <a:bodyPr wrap="square">
            <a:spAutoFit/>
          </a:bodyPr>
          <a:lstStyle/>
          <a:p>
            <a:pPr algn="ctr" fontAlgn="base"/>
            <a:r>
              <a:rPr lang="en-GB" b="0" i="1" dirty="0">
                <a:effectLst/>
                <a:latin typeface="+mj-lt"/>
              </a:rPr>
              <a:t>"You can make more friends in two months by becoming interested in other people than you can in two years by trying to get other people interested in you."</a:t>
            </a:r>
          </a:p>
          <a:p>
            <a:pPr algn="ctr"/>
            <a:r>
              <a:rPr lang="en-GB" b="1" i="0" dirty="0">
                <a:effectLst/>
                <a:latin typeface="+mj-lt"/>
              </a:rPr>
              <a:t>Dale Carnegie (1888 – 1955), American self-improvement writer and speaker</a:t>
            </a:r>
            <a:endParaRPr lang="es-ES" dirty="0">
              <a:latin typeface="+mj-lt"/>
            </a:endParaRPr>
          </a:p>
        </p:txBody>
      </p:sp>
    </p:spTree>
    <p:extLst>
      <p:ext uri="{BB962C8B-B14F-4D97-AF65-F5344CB8AC3E}">
        <p14:creationId xmlns:p14="http://schemas.microsoft.com/office/powerpoint/2010/main" val="461857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Freeform: Shape 10">
            <a:extLst>
              <a:ext uri="{FF2B5EF4-FFF2-40B4-BE49-F238E27FC236}">
                <a16:creationId xmlns:a16="http://schemas.microsoft.com/office/drawing/2014/main" id="{8A7BA06D-B3FF-4E91-8639-B4569AE3A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Arc 12">
            <a:extLst>
              <a:ext uri="{FF2B5EF4-FFF2-40B4-BE49-F238E27FC236}">
                <a16:creationId xmlns:a16="http://schemas.microsoft.com/office/drawing/2014/main" id="{2B30C86D-5A07-48BC-9C9D-6F9A2DB1E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useBgFill="1">
        <p:nvSpPr>
          <p:cNvPr id="35" name="Rectangle 14">
            <a:extLst>
              <a:ext uri="{FF2B5EF4-FFF2-40B4-BE49-F238E27FC236}">
                <a16:creationId xmlns:a16="http://schemas.microsoft.com/office/drawing/2014/main" id="{5AB83C82-30AD-4DF2-A9AD-CE1547FDED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ectangle 16">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Oval 18">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FC037F-9B04-45A9-8AE6-A8517884947F}"/>
              </a:ext>
            </a:extLst>
          </p:cNvPr>
          <p:cNvSpPr>
            <a:spLocks noGrp="1"/>
          </p:cNvSpPr>
          <p:nvPr>
            <p:ph type="title"/>
          </p:nvPr>
        </p:nvSpPr>
        <p:spPr>
          <a:xfrm>
            <a:off x="3315031" y="2549236"/>
            <a:ext cx="5561938" cy="1727200"/>
          </a:xfrm>
        </p:spPr>
        <p:txBody>
          <a:bodyPr vert="horz" lIns="91440" tIns="45720" rIns="91440" bIns="45720" rtlCol="0" anchor="b">
            <a:normAutofit/>
          </a:bodyPr>
          <a:lstStyle/>
          <a:p>
            <a:r>
              <a:rPr lang="en-US" sz="4400" b="1" kern="1200" dirty="0">
                <a:solidFill>
                  <a:srgbClr val="FFFFFF"/>
                </a:solidFill>
                <a:latin typeface="+mn-lt"/>
                <a:ea typeface="+mj-ea"/>
                <a:cs typeface="+mj-cs"/>
              </a:rPr>
              <a:t>BUSINESS RELATIONSHIPS   </a:t>
            </a:r>
          </a:p>
        </p:txBody>
      </p:sp>
      <p:sp>
        <p:nvSpPr>
          <p:cNvPr id="38" name="Arc 20">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Oval 22">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65417" y="5241988"/>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Logo&#10;&#10;Description automatically generated">
            <a:extLst>
              <a:ext uri="{FF2B5EF4-FFF2-40B4-BE49-F238E27FC236}">
                <a16:creationId xmlns:a16="http://schemas.microsoft.com/office/drawing/2014/main" id="{49BC6A8E-3EF6-F893-3A4A-23BF3A5C78E4}"/>
              </a:ext>
            </a:extLst>
          </p:cNvPr>
          <p:cNvPicPr>
            <a:picLocks noChangeAspect="1"/>
          </p:cNvPicPr>
          <p:nvPr/>
        </p:nvPicPr>
        <p:blipFill>
          <a:blip r:embed="rId2"/>
          <a:stretch>
            <a:fillRect/>
          </a:stretch>
        </p:blipFill>
        <p:spPr>
          <a:xfrm>
            <a:off x="631350" y="451558"/>
            <a:ext cx="1636779" cy="762002"/>
          </a:xfrm>
          <a:prstGeom prst="rect">
            <a:avLst/>
          </a:prstGeom>
        </p:spPr>
      </p:pic>
    </p:spTree>
    <p:extLst>
      <p:ext uri="{BB962C8B-B14F-4D97-AF65-F5344CB8AC3E}">
        <p14:creationId xmlns:p14="http://schemas.microsoft.com/office/powerpoint/2010/main" val="4283594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Freeform: Shape 73">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Freeform: Shape 75">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78" name="Rectangle 77">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71F97C7-35D5-B6B3-EF75-2E1F2A84F463}"/>
              </a:ext>
            </a:extLst>
          </p:cNvPr>
          <p:cNvSpPr>
            <a:spLocks noGrp="1"/>
          </p:cNvSpPr>
          <p:nvPr>
            <p:ph type="title"/>
          </p:nvPr>
        </p:nvSpPr>
        <p:spPr>
          <a:xfrm>
            <a:off x="838200" y="365125"/>
            <a:ext cx="5588478" cy="1325563"/>
          </a:xfrm>
        </p:spPr>
        <p:txBody>
          <a:bodyPr vert="horz" lIns="91440" tIns="45720" rIns="91440" bIns="45720" rtlCol="0" anchor="ctr">
            <a:normAutofit/>
          </a:bodyPr>
          <a:lstStyle/>
          <a:p>
            <a:pPr algn="ctr"/>
            <a:r>
              <a:rPr lang="en-US" sz="2800" b="1" kern="1200" dirty="0">
                <a:solidFill>
                  <a:schemeClr val="tx1"/>
                </a:solidFill>
                <a:latin typeface="+mn-lt"/>
                <a:ea typeface="+mj-ea"/>
                <a:cs typeface="+mj-cs"/>
              </a:rPr>
              <a:t>GETTING ALONG WITH YOUR SUPERVISOR</a:t>
            </a:r>
            <a:r>
              <a:rPr lang="en-US" sz="2800" b="1" dirty="0">
                <a:latin typeface="+mn-lt"/>
              </a:rPr>
              <a:t>/</a:t>
            </a:r>
            <a:r>
              <a:rPr lang="en-US" sz="2800" b="1" kern="1200" dirty="0">
                <a:solidFill>
                  <a:schemeClr val="tx1"/>
                </a:solidFill>
                <a:latin typeface="+mn-lt"/>
                <a:ea typeface="+mj-ea"/>
                <a:cs typeface="+mj-cs"/>
              </a:rPr>
              <a:t>BOSS</a:t>
            </a:r>
          </a:p>
        </p:txBody>
      </p:sp>
      <p:sp>
        <p:nvSpPr>
          <p:cNvPr id="80" name="Freeform: Shape 79">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7E0A0E76-B668-79A0-0DF1-CCE98CEFA0C1}"/>
              </a:ext>
            </a:extLst>
          </p:cNvPr>
          <p:cNvSpPr>
            <a:spLocks noGrp="1"/>
          </p:cNvSpPr>
          <p:nvPr>
            <p:ph type="body" sz="half" idx="2"/>
          </p:nvPr>
        </p:nvSpPr>
        <p:spPr>
          <a:xfrm>
            <a:off x="838199" y="2214879"/>
            <a:ext cx="5588479" cy="3818915"/>
          </a:xfrm>
        </p:spPr>
        <p:txBody>
          <a:bodyPr vert="horz" lIns="91440" tIns="45720" rIns="91440" bIns="45720" rtlCol="0">
            <a:normAutofit/>
          </a:bodyPr>
          <a:lstStyle/>
          <a:p>
            <a:r>
              <a:rPr lang="en-US" sz="1500" b="1" dirty="0"/>
              <a:t>The role of a supervisor/manager/boss</a:t>
            </a:r>
          </a:p>
          <a:p>
            <a:pPr marL="285750" indent="-285750" algn="just">
              <a:buFont typeface="Arial" panose="020B0604020202020204" pitchFamily="34" charset="0"/>
              <a:buChar char="•"/>
            </a:pPr>
            <a:r>
              <a:rPr lang="en-US" dirty="0"/>
              <a:t>A manager is someone who </a:t>
            </a:r>
            <a:r>
              <a:rPr lang="en-US" b="1" i="1" dirty="0">
                <a:solidFill>
                  <a:schemeClr val="accent1">
                    <a:lumMod val="50000"/>
                  </a:schemeClr>
                </a:solidFill>
              </a:rPr>
              <a:t>supervises</a:t>
            </a:r>
            <a:r>
              <a:rPr lang="en-US" dirty="0"/>
              <a:t> your productivity and manages workplace assignments and large projects.</a:t>
            </a:r>
          </a:p>
          <a:p>
            <a:pPr marL="285750" indent="-285750" algn="just">
              <a:buFont typeface="Arial" panose="020B0604020202020204" pitchFamily="34" charset="0"/>
              <a:buChar char="•"/>
            </a:pPr>
            <a:r>
              <a:rPr lang="en-US" dirty="0"/>
              <a:t>Depending on your role, you may find that you have somewhat regular interactions with people in this position as you must directly report to them. </a:t>
            </a:r>
          </a:p>
          <a:p>
            <a:pPr marL="285750" indent="-285750" algn="just">
              <a:buFont typeface="Arial" panose="020B0604020202020204" pitchFamily="34" charset="0"/>
              <a:buChar char="•"/>
            </a:pPr>
            <a:r>
              <a:rPr lang="en-US" dirty="0"/>
              <a:t>The supervisor regularly sets workplace goals for </a:t>
            </a:r>
            <a:r>
              <a:rPr lang="en-US" b="1" i="1" dirty="0">
                <a:solidFill>
                  <a:schemeClr val="accent1">
                    <a:lumMod val="50000"/>
                  </a:schemeClr>
                </a:solidFill>
              </a:rPr>
              <a:t>subordinates</a:t>
            </a:r>
            <a:r>
              <a:rPr lang="en-US" dirty="0"/>
              <a:t> within an organization and communicates with higher-ups within the organization to make recommendations about renewing contracts, </a:t>
            </a:r>
          </a:p>
          <a:p>
            <a:pPr marL="285750" indent="-285750" algn="just">
              <a:buFont typeface="Arial" panose="020B0604020202020204" pitchFamily="34" charset="0"/>
              <a:buChar char="•"/>
            </a:pPr>
            <a:r>
              <a:rPr lang="en-US" dirty="0"/>
              <a:t>The supervisor also defines or manages workplace responsibilities and suggests people for advancement or promotion.</a:t>
            </a:r>
          </a:p>
          <a:p>
            <a:pPr marL="285750" indent="-285750" algn="just">
              <a:buFont typeface="Arial" panose="020B0604020202020204" pitchFamily="34" charset="0"/>
              <a:buChar char="•"/>
            </a:pPr>
            <a:endParaRPr lang="en-US" sz="1500" dirty="0"/>
          </a:p>
          <a:p>
            <a:endParaRPr lang="en-US" sz="1500" b="1" i="1" dirty="0"/>
          </a:p>
        </p:txBody>
      </p:sp>
      <p:sp>
        <p:nvSpPr>
          <p:cNvPr id="82" name="Oval 81">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Content Placeholder 10">
            <a:extLst>
              <a:ext uri="{FF2B5EF4-FFF2-40B4-BE49-F238E27FC236}">
                <a16:creationId xmlns:a16="http://schemas.microsoft.com/office/drawing/2014/main" id="{6BF303BD-7BF4-F53C-2127-909F2D1C3673}"/>
              </a:ext>
            </a:extLst>
          </p:cNvPr>
          <p:cNvPicPr>
            <a:picLocks noGrp="1" noChangeAspect="1"/>
          </p:cNvPicPr>
          <p:nvPr>
            <p:ph idx="1"/>
          </p:nvPr>
        </p:nvPicPr>
        <p:blipFill>
          <a:blip r:embed="rId2"/>
          <a:stretch>
            <a:fillRect/>
          </a:stretch>
        </p:blipFill>
        <p:spPr>
          <a:xfrm>
            <a:off x="7805059" y="1081689"/>
            <a:ext cx="3462227" cy="3860908"/>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91" name="Freeform: Shape 83">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93" name="Straight Connector 85">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8168A6D1-2C10-F31B-162D-6706E45CBF23}"/>
              </a:ext>
            </a:extLst>
          </p:cNvPr>
          <p:cNvSpPr>
            <a:spLocks noGrp="1"/>
          </p:cNvSpPr>
          <p:nvPr>
            <p:ph type="dt" sz="half" idx="10"/>
          </p:nvPr>
        </p:nvSpPr>
        <p:spPr>
          <a:xfrm>
            <a:off x="838200" y="6356350"/>
            <a:ext cx="1905000" cy="365125"/>
          </a:xfrm>
        </p:spPr>
        <p:txBody>
          <a:bodyPr vert="horz" lIns="91440" tIns="45720" rIns="91440" bIns="45720" rtlCol="0" anchor="ctr">
            <a:normAutofit/>
          </a:bodyPr>
          <a:lstStyle/>
          <a:p>
            <a:pPr>
              <a:lnSpc>
                <a:spcPct val="90000"/>
              </a:lnSpc>
              <a:spcAft>
                <a:spcPts val="600"/>
              </a:spcAft>
              <a:defRPr/>
            </a:pPr>
            <a:r>
              <a:rPr lang="en-US" sz="900">
                <a:solidFill>
                  <a:prstClr val="black">
                    <a:tint val="75000"/>
                  </a:prstClr>
                </a:solidFill>
              </a:rPr>
              <a:t>TuSpeaking 2022,  All rights reserved</a:t>
            </a:r>
            <a:endParaRPr lang="en-US" sz="900" dirty="0">
              <a:solidFill>
                <a:prstClr val="black">
                  <a:tint val="75000"/>
                </a:prstClr>
              </a:solidFill>
            </a:endParaRPr>
          </a:p>
        </p:txBody>
      </p:sp>
      <p:sp>
        <p:nvSpPr>
          <p:cNvPr id="6" name="Footer Placeholder 5">
            <a:extLst>
              <a:ext uri="{FF2B5EF4-FFF2-40B4-BE49-F238E27FC236}">
                <a16:creationId xmlns:a16="http://schemas.microsoft.com/office/drawing/2014/main" id="{316D329B-3953-76D7-0CDD-DA0002A3340F}"/>
              </a:ext>
            </a:extLst>
          </p:cNvPr>
          <p:cNvSpPr>
            <a:spLocks noGrp="1"/>
          </p:cNvSpPr>
          <p:nvPr>
            <p:ph type="ftr" sz="quarter" idx="11"/>
          </p:nvPr>
        </p:nvSpPr>
        <p:spPr>
          <a:xfrm>
            <a:off x="2858610" y="6356350"/>
            <a:ext cx="3372951" cy="365125"/>
          </a:xfrm>
        </p:spPr>
        <p:txBody>
          <a:bodyPr vert="horz" lIns="91440" tIns="45720" rIns="91440" bIns="45720" rtlCol="0" anchor="ctr">
            <a:normAutofit/>
          </a:bodyPr>
          <a:lstStyle/>
          <a:p>
            <a:pPr algn="r">
              <a:spcAft>
                <a:spcPts val="600"/>
              </a:spcAft>
              <a:defRPr/>
            </a:pPr>
            <a:r>
              <a:rPr lang="en-US" kern="1200" cap="none" spc="0" baseline="0">
                <a:solidFill>
                  <a:prstClr val="black">
                    <a:tint val="75000"/>
                  </a:prstClr>
                </a:solidFill>
                <a:latin typeface="+mn-lt"/>
                <a:ea typeface="+mn-ea"/>
                <a:cs typeface="+mn-cs"/>
              </a:rPr>
              <a:t>Corporate identity and corporate image</a:t>
            </a:r>
          </a:p>
        </p:txBody>
      </p:sp>
      <p:sp>
        <p:nvSpPr>
          <p:cNvPr id="94" name="Freeform: Shape 87">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Freeform: Shape 89">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C2E17882-6736-06C3-AA51-5241CF48C2BB}"/>
              </a:ext>
            </a:extLst>
          </p:cNvPr>
          <p:cNvSpPr>
            <a:spLocks noGrp="1"/>
          </p:cNvSpPr>
          <p:nvPr>
            <p:ph type="sldNum" sz="quarter" idx="12"/>
          </p:nvPr>
        </p:nvSpPr>
        <p:spPr>
          <a:xfrm>
            <a:off x="10030244" y="6356350"/>
            <a:ext cx="1323555" cy="365125"/>
          </a:xfrm>
        </p:spPr>
        <p:txBody>
          <a:bodyPr vert="horz" lIns="91440" tIns="45720" rIns="91440" bIns="45720" rtlCol="0" anchor="ctr">
            <a:normAutofit/>
          </a:bodyPr>
          <a:lstStyle/>
          <a:p>
            <a:pPr>
              <a:spcAft>
                <a:spcPts val="600"/>
              </a:spcAft>
              <a:defRPr/>
            </a:pPr>
            <a:fld id="{D76B855D-E9CC-4FF8-AD85-6CDC7B89A0DE}" type="slidenum">
              <a:rPr lang="en-US" smtClean="0">
                <a:solidFill>
                  <a:prstClr val="black">
                    <a:tint val="75000"/>
                  </a:prstClr>
                </a:solidFill>
              </a:rPr>
              <a:pPr>
                <a:spcAft>
                  <a:spcPts val="600"/>
                </a:spcAft>
                <a:defRPr/>
              </a:pPr>
              <a:t>6</a:t>
            </a:fld>
            <a:endParaRPr lang="en-US">
              <a:solidFill>
                <a:prstClr val="black">
                  <a:tint val="75000"/>
                </a:prstClr>
              </a:solidFill>
            </a:endParaRPr>
          </a:p>
        </p:txBody>
      </p:sp>
      <p:sp>
        <p:nvSpPr>
          <p:cNvPr id="92" name="Freeform: Shape 91">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A778E83B-A6CD-9371-12CB-FDC300A30723}"/>
              </a:ext>
            </a:extLst>
          </p:cNvPr>
          <p:cNvSpPr txBox="1"/>
          <p:nvPr/>
        </p:nvSpPr>
        <p:spPr>
          <a:xfrm>
            <a:off x="8042058" y="4805000"/>
            <a:ext cx="3852645" cy="338554"/>
          </a:xfrm>
          <a:prstGeom prst="rect">
            <a:avLst/>
          </a:prstGeom>
          <a:noFill/>
        </p:spPr>
        <p:txBody>
          <a:bodyPr wrap="square" rtlCol="0">
            <a:spAutoFit/>
          </a:bodyPr>
          <a:lstStyle/>
          <a:p>
            <a:r>
              <a:rPr lang="en-US" sz="1600" b="1" dirty="0">
                <a:solidFill>
                  <a:schemeClr val="accent4">
                    <a:lumMod val="75000"/>
                  </a:schemeClr>
                </a:solidFill>
              </a:rPr>
              <a:t>What is the role of your supervisor? </a:t>
            </a:r>
          </a:p>
        </p:txBody>
      </p:sp>
    </p:spTree>
    <p:extLst>
      <p:ext uri="{BB962C8B-B14F-4D97-AF65-F5344CB8AC3E}">
        <p14:creationId xmlns:p14="http://schemas.microsoft.com/office/powerpoint/2010/main" val="1090633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Freeform: Shape 73">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Freeform: Shape 75">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78" name="Rectangle 77">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71F97C7-35D5-B6B3-EF75-2E1F2A84F463}"/>
              </a:ext>
            </a:extLst>
          </p:cNvPr>
          <p:cNvSpPr>
            <a:spLocks noGrp="1"/>
          </p:cNvSpPr>
          <p:nvPr>
            <p:ph type="title"/>
          </p:nvPr>
        </p:nvSpPr>
        <p:spPr>
          <a:xfrm>
            <a:off x="838200" y="365125"/>
            <a:ext cx="5573921" cy="1325563"/>
          </a:xfrm>
        </p:spPr>
        <p:txBody>
          <a:bodyPr vert="horz" lIns="91440" tIns="45720" rIns="91440" bIns="45720" rtlCol="0" anchor="ctr">
            <a:normAutofit/>
          </a:bodyPr>
          <a:lstStyle/>
          <a:p>
            <a:pPr algn="ctr"/>
            <a:r>
              <a:rPr lang="en-US" sz="2400" b="1" kern="1200" dirty="0">
                <a:solidFill>
                  <a:schemeClr val="tx1"/>
                </a:solidFill>
                <a:latin typeface="+mn-lt"/>
                <a:ea typeface="+mj-ea"/>
                <a:cs typeface="+mj-cs"/>
              </a:rPr>
              <a:t>GETTING ALONG WITH YOUR SUPERVISOR/BOSS </a:t>
            </a:r>
            <a:br>
              <a:rPr lang="en-US" sz="2400" b="1" kern="1200" dirty="0">
                <a:solidFill>
                  <a:schemeClr val="tx1"/>
                </a:solidFill>
                <a:latin typeface="+mn-lt"/>
                <a:ea typeface="+mj-ea"/>
                <a:cs typeface="+mj-cs"/>
              </a:rPr>
            </a:br>
            <a:r>
              <a:rPr lang="en-US" sz="2400" b="1" kern="1200" dirty="0">
                <a:solidFill>
                  <a:schemeClr val="tx1"/>
                </a:solidFill>
                <a:latin typeface="+mn-lt"/>
                <a:ea typeface="+mj-ea"/>
                <a:cs typeface="+mj-cs"/>
              </a:rPr>
              <a:t>Vocabulary</a:t>
            </a:r>
          </a:p>
        </p:txBody>
      </p:sp>
      <p:sp>
        <p:nvSpPr>
          <p:cNvPr id="80" name="Freeform: Shape 79">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7E0A0E76-B668-79A0-0DF1-CCE98CEFA0C1}"/>
              </a:ext>
            </a:extLst>
          </p:cNvPr>
          <p:cNvSpPr>
            <a:spLocks noGrp="1"/>
          </p:cNvSpPr>
          <p:nvPr>
            <p:ph type="body" sz="half" idx="2"/>
          </p:nvPr>
        </p:nvSpPr>
        <p:spPr>
          <a:xfrm>
            <a:off x="760705" y="1690687"/>
            <a:ext cx="5588479" cy="4343107"/>
          </a:xfrm>
        </p:spPr>
        <p:txBody>
          <a:bodyPr vert="horz" lIns="91440" tIns="45720" rIns="91440" bIns="45720" rtlCol="0">
            <a:normAutofit lnSpcReduction="10000"/>
          </a:bodyPr>
          <a:lstStyle/>
          <a:p>
            <a:r>
              <a:rPr lang="en-US" b="1" dirty="0"/>
              <a:t>Benefits to Cultivating a Better Relationship With Your Boss</a:t>
            </a:r>
          </a:p>
          <a:p>
            <a:pPr marL="285750" indent="-285750">
              <a:buFont typeface="Arial" panose="020B0604020202020204" pitchFamily="34" charset="0"/>
              <a:buChar char="•"/>
            </a:pPr>
            <a:r>
              <a:rPr lang="en-US" dirty="0"/>
              <a:t>You get better feedback</a:t>
            </a:r>
          </a:p>
          <a:p>
            <a:pPr marL="285750" indent="-285750">
              <a:buFont typeface="Arial" panose="020B0604020202020204" pitchFamily="34" charset="0"/>
              <a:buChar char="•"/>
            </a:pPr>
            <a:r>
              <a:rPr lang="en-US" dirty="0"/>
              <a:t>You become more trusted</a:t>
            </a:r>
          </a:p>
          <a:p>
            <a:pPr marL="285750" indent="-285750">
              <a:buFont typeface="Arial" panose="020B0604020202020204" pitchFamily="34" charset="0"/>
              <a:buChar char="•"/>
            </a:pPr>
            <a:r>
              <a:rPr lang="en-US" dirty="0"/>
              <a:t>You are more likely to get promotions and raises.</a:t>
            </a:r>
          </a:p>
          <a:p>
            <a:pPr marL="285750" indent="-285750">
              <a:buFont typeface="Arial" panose="020B0604020202020204" pitchFamily="34" charset="0"/>
              <a:buChar char="•"/>
            </a:pPr>
            <a:r>
              <a:rPr lang="en-US" dirty="0"/>
              <a:t>You feel more motivated at work</a:t>
            </a:r>
          </a:p>
          <a:p>
            <a:endParaRPr lang="en-US" sz="1500" b="1" i="1" dirty="0"/>
          </a:p>
          <a:p>
            <a:pPr algn="just"/>
            <a:r>
              <a:rPr lang="en-US" sz="1700" b="1" dirty="0">
                <a:solidFill>
                  <a:schemeClr val="accent4">
                    <a:lumMod val="75000"/>
                  </a:schemeClr>
                </a:solidFill>
              </a:rPr>
              <a:t>What does your supervisor/manager/boss expect from you?</a:t>
            </a:r>
          </a:p>
          <a:p>
            <a:pPr marL="742950" lvl="1" indent="-285750" algn="just">
              <a:buFont typeface="Arial" panose="020B0604020202020204" pitchFamily="34" charset="0"/>
              <a:buChar char="•"/>
            </a:pPr>
            <a:r>
              <a:rPr lang="en-US" sz="1600" dirty="0">
                <a:solidFill>
                  <a:schemeClr val="accent4">
                    <a:lumMod val="75000"/>
                  </a:schemeClr>
                </a:solidFill>
              </a:rPr>
              <a:t>Commitment</a:t>
            </a:r>
          </a:p>
          <a:p>
            <a:pPr marL="742950" lvl="1" indent="-285750" algn="just">
              <a:buFont typeface="Arial" panose="020B0604020202020204" pitchFamily="34" charset="0"/>
              <a:buChar char="•"/>
            </a:pPr>
            <a:r>
              <a:rPr lang="en-US" sz="1600" dirty="0">
                <a:solidFill>
                  <a:schemeClr val="accent4">
                    <a:lumMod val="75000"/>
                  </a:schemeClr>
                </a:solidFill>
              </a:rPr>
              <a:t>loyalty</a:t>
            </a:r>
          </a:p>
          <a:p>
            <a:pPr marL="742950" lvl="1" indent="-285750" algn="just">
              <a:buFont typeface="Arial" panose="020B0604020202020204" pitchFamily="34" charset="0"/>
              <a:buChar char="•"/>
            </a:pPr>
            <a:r>
              <a:rPr lang="en-US" sz="1600" dirty="0">
                <a:solidFill>
                  <a:schemeClr val="accent4">
                    <a:lumMod val="75000"/>
                  </a:schemeClr>
                </a:solidFill>
              </a:rPr>
              <a:t>hard-work</a:t>
            </a:r>
          </a:p>
          <a:p>
            <a:pPr marL="742950" lvl="1" indent="-285750" algn="just">
              <a:buFont typeface="Arial" panose="020B0604020202020204" pitchFamily="34" charset="0"/>
              <a:buChar char="•"/>
            </a:pPr>
            <a:r>
              <a:rPr lang="en-US" sz="1600" dirty="0">
                <a:solidFill>
                  <a:schemeClr val="accent4">
                    <a:lumMod val="75000"/>
                  </a:schemeClr>
                </a:solidFill>
              </a:rPr>
              <a:t>honesty</a:t>
            </a:r>
          </a:p>
          <a:p>
            <a:pPr marL="742950" lvl="1" indent="-285750" algn="just">
              <a:buFont typeface="Arial" panose="020B0604020202020204" pitchFamily="34" charset="0"/>
              <a:buChar char="•"/>
            </a:pPr>
            <a:r>
              <a:rPr lang="en-US" sz="1600" dirty="0">
                <a:solidFill>
                  <a:schemeClr val="accent4">
                    <a:lumMod val="75000"/>
                  </a:schemeClr>
                </a:solidFill>
              </a:rPr>
              <a:t>competency</a:t>
            </a:r>
          </a:p>
          <a:p>
            <a:pPr marL="742950" lvl="1" indent="-285750" algn="just">
              <a:buFont typeface="Arial" panose="020B0604020202020204" pitchFamily="34" charset="0"/>
              <a:buChar char="•"/>
            </a:pPr>
            <a:r>
              <a:rPr lang="en-US" sz="1600" dirty="0">
                <a:solidFill>
                  <a:schemeClr val="accent4">
                    <a:lumMod val="75000"/>
                  </a:schemeClr>
                </a:solidFill>
              </a:rPr>
              <a:t>reliability </a:t>
            </a:r>
          </a:p>
          <a:p>
            <a:endParaRPr lang="en-US" sz="1500" b="1" i="1" dirty="0"/>
          </a:p>
        </p:txBody>
      </p:sp>
      <p:sp>
        <p:nvSpPr>
          <p:cNvPr id="82" name="Oval 81">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Content Placeholder 10">
            <a:extLst>
              <a:ext uri="{FF2B5EF4-FFF2-40B4-BE49-F238E27FC236}">
                <a16:creationId xmlns:a16="http://schemas.microsoft.com/office/drawing/2014/main" id="{6BF303BD-7BF4-F53C-2127-909F2D1C3673}"/>
              </a:ext>
            </a:extLst>
          </p:cNvPr>
          <p:cNvPicPr>
            <a:picLocks noGrp="1" noChangeAspect="1"/>
          </p:cNvPicPr>
          <p:nvPr>
            <p:ph idx="1"/>
          </p:nvPr>
        </p:nvPicPr>
        <p:blipFill>
          <a:blip r:embed="rId2"/>
          <a:stretch>
            <a:fillRect/>
          </a:stretch>
        </p:blipFill>
        <p:spPr>
          <a:xfrm>
            <a:off x="7805059" y="1081689"/>
            <a:ext cx="3462227" cy="3860908"/>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91" name="Freeform: Shape 83">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93" name="Straight Connector 85">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8168A6D1-2C10-F31B-162D-6706E45CBF23}"/>
              </a:ext>
            </a:extLst>
          </p:cNvPr>
          <p:cNvSpPr>
            <a:spLocks noGrp="1"/>
          </p:cNvSpPr>
          <p:nvPr>
            <p:ph type="dt" sz="half" idx="10"/>
          </p:nvPr>
        </p:nvSpPr>
        <p:spPr>
          <a:xfrm>
            <a:off x="838200" y="6356350"/>
            <a:ext cx="1905000" cy="365125"/>
          </a:xfrm>
        </p:spPr>
        <p:txBody>
          <a:bodyPr vert="horz" lIns="91440" tIns="45720" rIns="91440" bIns="45720" rtlCol="0" anchor="ctr">
            <a:normAutofit/>
          </a:bodyPr>
          <a:lstStyle/>
          <a:p>
            <a:pPr>
              <a:lnSpc>
                <a:spcPct val="90000"/>
              </a:lnSpc>
              <a:spcAft>
                <a:spcPts val="600"/>
              </a:spcAft>
              <a:defRPr/>
            </a:pPr>
            <a:r>
              <a:rPr lang="en-US" sz="900">
                <a:solidFill>
                  <a:prstClr val="black">
                    <a:tint val="75000"/>
                  </a:prstClr>
                </a:solidFill>
              </a:rPr>
              <a:t>TuSpeaking 2022,  All rights reserved</a:t>
            </a:r>
            <a:endParaRPr lang="en-US" sz="900" dirty="0">
              <a:solidFill>
                <a:prstClr val="black">
                  <a:tint val="75000"/>
                </a:prstClr>
              </a:solidFill>
            </a:endParaRPr>
          </a:p>
        </p:txBody>
      </p:sp>
      <p:sp>
        <p:nvSpPr>
          <p:cNvPr id="6" name="Footer Placeholder 5">
            <a:extLst>
              <a:ext uri="{FF2B5EF4-FFF2-40B4-BE49-F238E27FC236}">
                <a16:creationId xmlns:a16="http://schemas.microsoft.com/office/drawing/2014/main" id="{316D329B-3953-76D7-0CDD-DA0002A3340F}"/>
              </a:ext>
            </a:extLst>
          </p:cNvPr>
          <p:cNvSpPr>
            <a:spLocks noGrp="1"/>
          </p:cNvSpPr>
          <p:nvPr>
            <p:ph type="ftr" sz="quarter" idx="11"/>
          </p:nvPr>
        </p:nvSpPr>
        <p:spPr>
          <a:xfrm>
            <a:off x="2858610" y="6356350"/>
            <a:ext cx="3372951" cy="365125"/>
          </a:xfrm>
        </p:spPr>
        <p:txBody>
          <a:bodyPr vert="horz" lIns="91440" tIns="45720" rIns="91440" bIns="45720" rtlCol="0" anchor="ctr">
            <a:normAutofit/>
          </a:bodyPr>
          <a:lstStyle/>
          <a:p>
            <a:pPr algn="r">
              <a:spcAft>
                <a:spcPts val="600"/>
              </a:spcAft>
              <a:defRPr/>
            </a:pPr>
            <a:r>
              <a:rPr lang="en-US" kern="1200" cap="none" spc="0" baseline="0">
                <a:solidFill>
                  <a:prstClr val="black">
                    <a:tint val="75000"/>
                  </a:prstClr>
                </a:solidFill>
                <a:latin typeface="+mn-lt"/>
                <a:ea typeface="+mn-ea"/>
                <a:cs typeface="+mn-cs"/>
              </a:rPr>
              <a:t>Corporate identity and corporate image</a:t>
            </a:r>
          </a:p>
        </p:txBody>
      </p:sp>
      <p:sp>
        <p:nvSpPr>
          <p:cNvPr id="94" name="Freeform: Shape 87">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Freeform: Shape 89">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C2E17882-6736-06C3-AA51-5241CF48C2BB}"/>
              </a:ext>
            </a:extLst>
          </p:cNvPr>
          <p:cNvSpPr>
            <a:spLocks noGrp="1"/>
          </p:cNvSpPr>
          <p:nvPr>
            <p:ph type="sldNum" sz="quarter" idx="12"/>
          </p:nvPr>
        </p:nvSpPr>
        <p:spPr>
          <a:xfrm>
            <a:off x="10030244" y="6356350"/>
            <a:ext cx="1323555" cy="365125"/>
          </a:xfrm>
        </p:spPr>
        <p:txBody>
          <a:bodyPr vert="horz" lIns="91440" tIns="45720" rIns="91440" bIns="45720" rtlCol="0" anchor="ctr">
            <a:normAutofit/>
          </a:bodyPr>
          <a:lstStyle/>
          <a:p>
            <a:pPr>
              <a:spcAft>
                <a:spcPts val="600"/>
              </a:spcAft>
              <a:defRPr/>
            </a:pPr>
            <a:fld id="{D76B855D-E9CC-4FF8-AD85-6CDC7B89A0DE}" type="slidenum">
              <a:rPr lang="en-US" smtClean="0">
                <a:solidFill>
                  <a:prstClr val="black">
                    <a:tint val="75000"/>
                  </a:prstClr>
                </a:solidFill>
              </a:rPr>
              <a:pPr>
                <a:spcAft>
                  <a:spcPts val="600"/>
                </a:spcAft>
                <a:defRPr/>
              </a:pPr>
              <a:t>7</a:t>
            </a:fld>
            <a:endParaRPr lang="en-US">
              <a:solidFill>
                <a:prstClr val="black">
                  <a:tint val="75000"/>
                </a:prstClr>
              </a:solidFill>
            </a:endParaRPr>
          </a:p>
        </p:txBody>
      </p:sp>
      <p:sp>
        <p:nvSpPr>
          <p:cNvPr id="92" name="Freeform: Shape 91">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A778E83B-A6CD-9371-12CB-FDC300A30723}"/>
              </a:ext>
            </a:extLst>
          </p:cNvPr>
          <p:cNvSpPr txBox="1"/>
          <p:nvPr/>
        </p:nvSpPr>
        <p:spPr>
          <a:xfrm>
            <a:off x="7528560" y="4805000"/>
            <a:ext cx="4076207" cy="369332"/>
          </a:xfrm>
          <a:prstGeom prst="rect">
            <a:avLst/>
          </a:prstGeom>
          <a:noFill/>
        </p:spPr>
        <p:txBody>
          <a:bodyPr wrap="square" rtlCol="0">
            <a:spAutoFit/>
          </a:bodyPr>
          <a:lstStyle/>
          <a:p>
            <a:r>
              <a:rPr lang="en-US" b="1" dirty="0">
                <a:solidFill>
                  <a:schemeClr val="accent4">
                    <a:lumMod val="75000"/>
                  </a:schemeClr>
                </a:solidFill>
              </a:rPr>
              <a:t>What other benefits can you think of? </a:t>
            </a:r>
          </a:p>
        </p:txBody>
      </p:sp>
    </p:spTree>
    <p:extLst>
      <p:ext uri="{BB962C8B-B14F-4D97-AF65-F5344CB8AC3E}">
        <p14:creationId xmlns:p14="http://schemas.microsoft.com/office/powerpoint/2010/main" val="4243816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97C7-35D5-B6B3-EF75-2E1F2A84F463}"/>
              </a:ext>
            </a:extLst>
          </p:cNvPr>
          <p:cNvSpPr>
            <a:spLocks noGrp="1"/>
          </p:cNvSpPr>
          <p:nvPr>
            <p:ph type="title"/>
          </p:nvPr>
        </p:nvSpPr>
        <p:spPr>
          <a:xfrm>
            <a:off x="584201" y="669291"/>
            <a:ext cx="5120561" cy="1325563"/>
          </a:xfrm>
        </p:spPr>
        <p:txBody>
          <a:bodyPr vert="horz" lIns="91440" tIns="45720" rIns="91440" bIns="45720" rtlCol="0" anchor="ctr">
            <a:normAutofit/>
          </a:bodyPr>
          <a:lstStyle/>
          <a:p>
            <a:pPr algn="ctr"/>
            <a:r>
              <a:rPr lang="en-US" sz="2400" b="1" kern="1200" dirty="0">
                <a:solidFill>
                  <a:schemeClr val="tx1"/>
                </a:solidFill>
                <a:latin typeface="+mn-lt"/>
                <a:ea typeface="+mj-ea"/>
                <a:cs typeface="+mj-cs"/>
              </a:rPr>
              <a:t>GETTING ALONG WITH YOUR  EMPLOYEES/SUBORDINATES</a:t>
            </a:r>
          </a:p>
        </p:txBody>
      </p:sp>
      <p:sp>
        <p:nvSpPr>
          <p:cNvPr id="4" name="Text Placeholder 3">
            <a:extLst>
              <a:ext uri="{FF2B5EF4-FFF2-40B4-BE49-F238E27FC236}">
                <a16:creationId xmlns:a16="http://schemas.microsoft.com/office/drawing/2014/main" id="{7E0A0E76-B668-79A0-0DF1-CCE98CEFA0C1}"/>
              </a:ext>
            </a:extLst>
          </p:cNvPr>
          <p:cNvSpPr>
            <a:spLocks noGrp="1"/>
          </p:cNvSpPr>
          <p:nvPr>
            <p:ph type="body" sz="half" idx="2"/>
          </p:nvPr>
        </p:nvSpPr>
        <p:spPr>
          <a:xfrm>
            <a:off x="838201" y="2174241"/>
            <a:ext cx="5092194" cy="4002722"/>
          </a:xfrm>
        </p:spPr>
        <p:txBody>
          <a:bodyPr vert="horz" lIns="91440" tIns="45720" rIns="91440" bIns="45720" rtlCol="0">
            <a:normAutofit/>
          </a:bodyPr>
          <a:lstStyle/>
          <a:p>
            <a:pPr marL="285750" indent="-285750">
              <a:buFont typeface="Arial" panose="020B0604020202020204" pitchFamily="34" charset="0"/>
              <a:buChar char="•"/>
            </a:pPr>
            <a:r>
              <a:rPr lang="en-US" dirty="0"/>
              <a:t>Strong employee/employer relations can take many forms.</a:t>
            </a:r>
          </a:p>
          <a:p>
            <a:pPr marL="285750" indent="-285750">
              <a:buFont typeface="Arial" panose="020B0604020202020204" pitchFamily="34" charset="0"/>
              <a:buChar char="•"/>
            </a:pPr>
            <a:r>
              <a:rPr lang="en-US" dirty="0"/>
              <a:t>What works for one business may not work for another.</a:t>
            </a:r>
          </a:p>
          <a:p>
            <a:pPr marL="285750" indent="-285750">
              <a:buFont typeface="Arial" panose="020B0604020202020204" pitchFamily="34" charset="0"/>
              <a:buChar char="•"/>
            </a:pPr>
            <a:r>
              <a:rPr lang="en-US" dirty="0"/>
              <a:t>Employers should, therefore, not try to model their employee/employer relations on someone else’s ideals.</a:t>
            </a:r>
          </a:p>
          <a:p>
            <a:pPr marL="285750" indent="-285750">
              <a:buFont typeface="Arial" panose="020B0604020202020204" pitchFamily="34" charset="0"/>
              <a:buChar char="•"/>
            </a:pPr>
            <a:r>
              <a:rPr lang="en-US" dirty="0"/>
              <a:t>Employers should find out what works for them, and then strive to maintain a good relationship with their team.</a:t>
            </a:r>
          </a:p>
          <a:p>
            <a:pPr marL="285750" indent="-285750">
              <a:buFont typeface="Arial" panose="020B0604020202020204" pitchFamily="34" charset="0"/>
              <a:buChar char="•"/>
            </a:pPr>
            <a:r>
              <a:rPr lang="en-US" dirty="0"/>
              <a:t>When you make strong employee/employer relations a priority, you set your business on the road to success.</a:t>
            </a:r>
          </a:p>
        </p:txBody>
      </p:sp>
      <p:sp>
        <p:nvSpPr>
          <p:cNvPr id="5" name="Date Placeholder 4">
            <a:extLst>
              <a:ext uri="{FF2B5EF4-FFF2-40B4-BE49-F238E27FC236}">
                <a16:creationId xmlns:a16="http://schemas.microsoft.com/office/drawing/2014/main" id="{8168A6D1-2C10-F31B-162D-6706E45CBF23}"/>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r>
              <a:rPr kumimoji="0" lang="en-US" sz="1100" b="0" i="0" u="none" strike="noStrike" normalizeH="0" noProof="0">
                <a:ln>
                  <a:noFill/>
                </a:ln>
                <a:solidFill>
                  <a:prstClr val="black">
                    <a:tint val="75000"/>
                  </a:prstClr>
                </a:solidFill>
                <a:effectLst/>
                <a:uLnTx/>
                <a:uFillTx/>
              </a:rPr>
              <a:t>TuSpeaking 2022,  All rights reserved</a:t>
            </a:r>
          </a:p>
        </p:txBody>
      </p:sp>
      <p:pic>
        <p:nvPicPr>
          <p:cNvPr id="13" name="Picture 12">
            <a:extLst>
              <a:ext uri="{FF2B5EF4-FFF2-40B4-BE49-F238E27FC236}">
                <a16:creationId xmlns:a16="http://schemas.microsoft.com/office/drawing/2014/main" id="{40AB2DC1-165D-E9D0-D9C0-CC9E64BD4FDC}"/>
              </a:ext>
            </a:extLst>
          </p:cNvPr>
          <p:cNvPicPr>
            <a:picLocks noChangeAspect="1"/>
          </p:cNvPicPr>
          <p:nvPr/>
        </p:nvPicPr>
        <p:blipFill rotWithShape="1">
          <a:blip r:embed="rId2"/>
          <a:srcRect l="14103" r="20189" b="-1"/>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pic>
        <p:nvPicPr>
          <p:cNvPr id="17" name="Content Placeholder 16">
            <a:extLst>
              <a:ext uri="{FF2B5EF4-FFF2-40B4-BE49-F238E27FC236}">
                <a16:creationId xmlns:a16="http://schemas.microsoft.com/office/drawing/2014/main" id="{86EDE432-2539-99B4-CD9F-FC4CEFA9727F}"/>
              </a:ext>
            </a:extLst>
          </p:cNvPr>
          <p:cNvPicPr>
            <a:picLocks noGrp="1" noChangeAspect="1"/>
          </p:cNvPicPr>
          <p:nvPr>
            <p:ph idx="1"/>
          </p:nvPr>
        </p:nvPicPr>
        <p:blipFill rotWithShape="1">
          <a:blip r:embed="rId3"/>
          <a:srcRect t="3152" r="-3" b="-3"/>
          <a:stretch/>
        </p:blipFill>
        <p:spPr>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
        <p:nvSpPr>
          <p:cNvPr id="6" name="Footer Placeholder 5">
            <a:extLst>
              <a:ext uri="{FF2B5EF4-FFF2-40B4-BE49-F238E27FC236}">
                <a16:creationId xmlns:a16="http://schemas.microsoft.com/office/drawing/2014/main" id="{316D329B-3953-76D7-0CDD-DA0002A3340F}"/>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r>
              <a:rPr kumimoji="0" lang="en-US" b="0" i="0" u="none" strike="noStrike" kern="1200" cap="none" spc="0" normalizeH="0" baseline="0" noProof="0">
                <a:ln>
                  <a:noFill/>
                </a:ln>
                <a:solidFill>
                  <a:prstClr val="black">
                    <a:tint val="75000"/>
                  </a:prstClr>
                </a:solidFill>
                <a:effectLst/>
                <a:uLnTx/>
                <a:uFillTx/>
                <a:latin typeface="+mn-lt"/>
                <a:ea typeface="+mn-ea"/>
                <a:cs typeface="+mn-cs"/>
              </a:rPr>
              <a:t>Corporate identity and corporate image</a:t>
            </a:r>
          </a:p>
        </p:txBody>
      </p:sp>
      <p:sp>
        <p:nvSpPr>
          <p:cNvPr id="7" name="Slide Number Placeholder 6">
            <a:extLst>
              <a:ext uri="{FF2B5EF4-FFF2-40B4-BE49-F238E27FC236}">
                <a16:creationId xmlns:a16="http://schemas.microsoft.com/office/drawing/2014/main" id="{C2E17882-6736-06C3-AA51-5241CF48C2B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D76B855D-E9CC-4FF8-AD85-6CDC7B89A0DE}" type="slidenum">
              <a:rPr kumimoji="0" lang="en-US" b="0" i="0" u="none" strike="noStrike" normalizeH="0" noProof="0">
                <a:ln>
                  <a:noFill/>
                </a:ln>
                <a:solidFill>
                  <a:srgbClr val="FFFFFF"/>
                </a:solidFill>
                <a:effectLst/>
                <a:uLnTx/>
                <a:uFillTx/>
              </a:rPr>
              <a:pPr marR="0" lvl="0" indent="0" fontAlgn="auto">
                <a:spcBef>
                  <a:spcPts val="0"/>
                </a:spcBef>
                <a:spcAft>
                  <a:spcPts val="600"/>
                </a:spcAft>
                <a:buClrTx/>
                <a:buSzTx/>
                <a:buFontTx/>
                <a:buNone/>
                <a:tabLst/>
                <a:defRPr/>
              </a:pPr>
              <a:t>8</a:t>
            </a:fld>
            <a:endParaRPr kumimoji="0" lang="en-US" b="0" i="0" u="none" strike="noStrike" normalizeH="0" noProof="0">
              <a:ln>
                <a:noFill/>
              </a:ln>
              <a:solidFill>
                <a:srgbClr val="FFFFFF"/>
              </a:solidFill>
              <a:effectLst/>
              <a:uLnTx/>
              <a:uFillTx/>
            </a:endParaRPr>
          </a:p>
        </p:txBody>
      </p:sp>
    </p:spTree>
    <p:extLst>
      <p:ext uri="{BB962C8B-B14F-4D97-AF65-F5344CB8AC3E}">
        <p14:creationId xmlns:p14="http://schemas.microsoft.com/office/powerpoint/2010/main" val="1518204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97C7-35D5-B6B3-EF75-2E1F2A84F463}"/>
              </a:ext>
            </a:extLst>
          </p:cNvPr>
          <p:cNvSpPr>
            <a:spLocks noGrp="1"/>
          </p:cNvSpPr>
          <p:nvPr>
            <p:ph type="title"/>
          </p:nvPr>
        </p:nvSpPr>
        <p:spPr>
          <a:xfrm>
            <a:off x="838201" y="367075"/>
            <a:ext cx="5120561" cy="1325563"/>
          </a:xfrm>
        </p:spPr>
        <p:txBody>
          <a:bodyPr vert="horz" lIns="91440" tIns="45720" rIns="91440" bIns="45720" rtlCol="0" anchor="ctr">
            <a:normAutofit/>
          </a:bodyPr>
          <a:lstStyle/>
          <a:p>
            <a:pPr algn="ctr"/>
            <a:r>
              <a:rPr lang="en-US" sz="2400" b="1" kern="1200" dirty="0">
                <a:solidFill>
                  <a:schemeClr val="tx1"/>
                </a:solidFill>
                <a:latin typeface="+mn-lt"/>
                <a:ea typeface="+mj-ea"/>
                <a:cs typeface="+mj-cs"/>
              </a:rPr>
              <a:t>GETTING ALONG WITH YOUR  EMPLOYEES/SUBORDINATES</a:t>
            </a:r>
          </a:p>
        </p:txBody>
      </p:sp>
      <p:sp>
        <p:nvSpPr>
          <p:cNvPr id="4" name="Text Placeholder 3">
            <a:extLst>
              <a:ext uri="{FF2B5EF4-FFF2-40B4-BE49-F238E27FC236}">
                <a16:creationId xmlns:a16="http://schemas.microsoft.com/office/drawing/2014/main" id="{7E0A0E76-B668-79A0-0DF1-CCE98CEFA0C1}"/>
              </a:ext>
            </a:extLst>
          </p:cNvPr>
          <p:cNvSpPr>
            <a:spLocks noGrp="1"/>
          </p:cNvSpPr>
          <p:nvPr>
            <p:ph type="body" sz="half" idx="2"/>
          </p:nvPr>
        </p:nvSpPr>
        <p:spPr>
          <a:xfrm>
            <a:off x="838201" y="1825625"/>
            <a:ext cx="5092194" cy="4351338"/>
          </a:xfrm>
        </p:spPr>
        <p:txBody>
          <a:bodyPr vert="horz" lIns="91440" tIns="45720" rIns="91440" bIns="45720" rtlCol="0">
            <a:normAutofit/>
          </a:bodyPr>
          <a:lstStyle/>
          <a:p>
            <a:r>
              <a:rPr lang="en-US" b="1" dirty="0"/>
              <a:t>Useful phrases to use when speaking with your employees</a:t>
            </a:r>
          </a:p>
          <a:p>
            <a:endParaRPr lang="en-US" b="1" dirty="0"/>
          </a:p>
          <a:p>
            <a:pPr marL="285750" indent="-285750">
              <a:buFont typeface="Arial" panose="020B0604020202020204" pitchFamily="34" charset="0"/>
              <a:buChar char="•"/>
            </a:pPr>
            <a:r>
              <a:rPr lang="en-US" dirty="0"/>
              <a:t>You have great potential. </a:t>
            </a:r>
          </a:p>
          <a:p>
            <a:pPr marL="285750" indent="-285750">
              <a:buFont typeface="Arial" panose="020B0604020202020204" pitchFamily="34" charset="0"/>
              <a:buChar char="•"/>
            </a:pPr>
            <a:r>
              <a:rPr lang="en-US" dirty="0"/>
              <a:t>My expectations for you are …</a:t>
            </a:r>
          </a:p>
          <a:p>
            <a:pPr marL="285750" indent="-285750">
              <a:buFont typeface="Arial" panose="020B0604020202020204" pitchFamily="34" charset="0"/>
              <a:buChar char="•"/>
            </a:pPr>
            <a:r>
              <a:rPr lang="en-US" dirty="0"/>
              <a:t>How can I help you?</a:t>
            </a:r>
          </a:p>
          <a:p>
            <a:pPr marL="285750" indent="-285750">
              <a:buFont typeface="Arial" panose="020B0604020202020204" pitchFamily="34" charset="0"/>
              <a:buChar char="•"/>
            </a:pPr>
            <a:r>
              <a:rPr lang="en-US" dirty="0"/>
              <a:t>How can I be of assistance?</a:t>
            </a:r>
          </a:p>
          <a:p>
            <a:pPr marL="285750" indent="-285750">
              <a:buFont typeface="Arial" panose="020B0604020202020204" pitchFamily="34" charset="0"/>
              <a:buChar char="•"/>
            </a:pPr>
            <a:r>
              <a:rPr lang="en-US" dirty="0"/>
              <a:t>Great job!</a:t>
            </a:r>
          </a:p>
          <a:p>
            <a:pPr marL="285750" indent="-285750">
              <a:buFont typeface="Arial" panose="020B0604020202020204" pitchFamily="34" charset="0"/>
              <a:buChar char="•"/>
            </a:pPr>
            <a:r>
              <a:rPr lang="en-US" dirty="0"/>
              <a:t>What do you think about this? </a:t>
            </a:r>
          </a:p>
          <a:p>
            <a:pPr marL="285750" indent="-285750">
              <a:buFont typeface="Arial" panose="020B0604020202020204" pitchFamily="34" charset="0"/>
              <a:buChar char="•"/>
            </a:pPr>
            <a:r>
              <a:rPr lang="en-US" dirty="0"/>
              <a:t>What are your thoughts? </a:t>
            </a:r>
          </a:p>
          <a:p>
            <a:pPr marL="285750" indent="-285750">
              <a:buFont typeface="Arial" panose="020B0604020202020204" pitchFamily="34" charset="0"/>
              <a:buChar char="•"/>
            </a:pPr>
            <a:r>
              <a:rPr lang="en-US" dirty="0"/>
              <a:t>Let’s try it your way.</a:t>
            </a:r>
          </a:p>
          <a:p>
            <a:pPr marL="285750" indent="-285750">
              <a:buFont typeface="Arial" panose="020B0604020202020204" pitchFamily="34" charset="0"/>
              <a:buChar char="•"/>
            </a:pPr>
            <a:endParaRPr lang="en-US" dirty="0"/>
          </a:p>
        </p:txBody>
      </p:sp>
      <p:sp>
        <p:nvSpPr>
          <p:cNvPr id="5" name="Date Placeholder 4">
            <a:extLst>
              <a:ext uri="{FF2B5EF4-FFF2-40B4-BE49-F238E27FC236}">
                <a16:creationId xmlns:a16="http://schemas.microsoft.com/office/drawing/2014/main" id="{8168A6D1-2C10-F31B-162D-6706E45CBF23}"/>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r>
              <a:rPr kumimoji="0" lang="en-US" sz="1100" b="0" i="0" u="none" strike="noStrike" normalizeH="0" noProof="0">
                <a:ln>
                  <a:noFill/>
                </a:ln>
                <a:solidFill>
                  <a:prstClr val="black">
                    <a:tint val="75000"/>
                  </a:prstClr>
                </a:solidFill>
                <a:effectLst/>
                <a:uLnTx/>
                <a:uFillTx/>
              </a:rPr>
              <a:t>TuSpeaking 2022,  All rights reserved</a:t>
            </a:r>
          </a:p>
        </p:txBody>
      </p:sp>
      <p:pic>
        <p:nvPicPr>
          <p:cNvPr id="13" name="Picture 12">
            <a:extLst>
              <a:ext uri="{FF2B5EF4-FFF2-40B4-BE49-F238E27FC236}">
                <a16:creationId xmlns:a16="http://schemas.microsoft.com/office/drawing/2014/main" id="{40AB2DC1-165D-E9D0-D9C0-CC9E64BD4FDC}"/>
              </a:ext>
            </a:extLst>
          </p:cNvPr>
          <p:cNvPicPr>
            <a:picLocks noChangeAspect="1"/>
          </p:cNvPicPr>
          <p:nvPr/>
        </p:nvPicPr>
        <p:blipFill rotWithShape="1">
          <a:blip r:embed="rId2"/>
          <a:srcRect l="14103" r="20189" b="-1"/>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pic>
        <p:nvPicPr>
          <p:cNvPr id="17" name="Content Placeholder 16">
            <a:extLst>
              <a:ext uri="{FF2B5EF4-FFF2-40B4-BE49-F238E27FC236}">
                <a16:creationId xmlns:a16="http://schemas.microsoft.com/office/drawing/2014/main" id="{86EDE432-2539-99B4-CD9F-FC4CEFA9727F}"/>
              </a:ext>
            </a:extLst>
          </p:cNvPr>
          <p:cNvPicPr>
            <a:picLocks noGrp="1" noChangeAspect="1"/>
          </p:cNvPicPr>
          <p:nvPr>
            <p:ph idx="1"/>
          </p:nvPr>
        </p:nvPicPr>
        <p:blipFill rotWithShape="1">
          <a:blip r:embed="rId3"/>
          <a:srcRect t="3152" r="-3" b="-3"/>
          <a:stretch/>
        </p:blipFill>
        <p:spPr>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
        <p:nvSpPr>
          <p:cNvPr id="6" name="Footer Placeholder 5">
            <a:extLst>
              <a:ext uri="{FF2B5EF4-FFF2-40B4-BE49-F238E27FC236}">
                <a16:creationId xmlns:a16="http://schemas.microsoft.com/office/drawing/2014/main" id="{316D329B-3953-76D7-0CDD-DA0002A3340F}"/>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r>
              <a:rPr kumimoji="0" lang="en-US" b="0" i="0" u="none" strike="noStrike" kern="1200" cap="none" spc="0" normalizeH="0" baseline="0" noProof="0">
                <a:ln>
                  <a:noFill/>
                </a:ln>
                <a:solidFill>
                  <a:prstClr val="black">
                    <a:tint val="75000"/>
                  </a:prstClr>
                </a:solidFill>
                <a:effectLst/>
                <a:uLnTx/>
                <a:uFillTx/>
                <a:latin typeface="+mn-lt"/>
                <a:ea typeface="+mn-ea"/>
                <a:cs typeface="+mn-cs"/>
              </a:rPr>
              <a:t>Corporate identity and corporate image</a:t>
            </a:r>
          </a:p>
        </p:txBody>
      </p:sp>
      <p:sp>
        <p:nvSpPr>
          <p:cNvPr id="7" name="Slide Number Placeholder 6">
            <a:extLst>
              <a:ext uri="{FF2B5EF4-FFF2-40B4-BE49-F238E27FC236}">
                <a16:creationId xmlns:a16="http://schemas.microsoft.com/office/drawing/2014/main" id="{C2E17882-6736-06C3-AA51-5241CF48C2B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D76B855D-E9CC-4FF8-AD85-6CDC7B89A0DE}" type="slidenum">
              <a:rPr kumimoji="0" lang="en-US" b="0" i="0" u="none" strike="noStrike" normalizeH="0" noProof="0">
                <a:ln>
                  <a:noFill/>
                </a:ln>
                <a:solidFill>
                  <a:srgbClr val="FFFFFF"/>
                </a:solidFill>
                <a:effectLst/>
                <a:uLnTx/>
                <a:uFillTx/>
              </a:rPr>
              <a:pPr marR="0" lvl="0" indent="0" fontAlgn="auto">
                <a:spcBef>
                  <a:spcPts val="0"/>
                </a:spcBef>
                <a:spcAft>
                  <a:spcPts val="600"/>
                </a:spcAft>
                <a:buClrTx/>
                <a:buSzTx/>
                <a:buFontTx/>
                <a:buNone/>
                <a:tabLst/>
                <a:defRPr/>
              </a:pPr>
              <a:t>9</a:t>
            </a:fld>
            <a:endParaRPr kumimoji="0" lang="en-US" b="0" i="0" u="none" strike="noStrike" normalizeH="0" noProof="0">
              <a:ln>
                <a:noFill/>
              </a:ln>
              <a:solidFill>
                <a:srgbClr val="FFFFFF"/>
              </a:solidFill>
              <a:effectLst/>
              <a:uLnTx/>
              <a:uFillTx/>
            </a:endParaRPr>
          </a:p>
        </p:txBody>
      </p:sp>
    </p:spTree>
    <p:extLst>
      <p:ext uri="{BB962C8B-B14F-4D97-AF65-F5344CB8AC3E}">
        <p14:creationId xmlns:p14="http://schemas.microsoft.com/office/powerpoint/2010/main" val="832457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97C7-35D5-B6B3-EF75-2E1F2A84F463}"/>
              </a:ext>
            </a:extLst>
          </p:cNvPr>
          <p:cNvSpPr>
            <a:spLocks noGrp="1"/>
          </p:cNvSpPr>
          <p:nvPr>
            <p:ph type="title"/>
          </p:nvPr>
        </p:nvSpPr>
        <p:spPr>
          <a:xfrm>
            <a:off x="838201" y="367075"/>
            <a:ext cx="5552439" cy="1325563"/>
          </a:xfrm>
        </p:spPr>
        <p:txBody>
          <a:bodyPr vert="horz" lIns="91440" tIns="45720" rIns="91440" bIns="45720" rtlCol="0" anchor="ctr">
            <a:normAutofit/>
          </a:bodyPr>
          <a:lstStyle/>
          <a:p>
            <a:pPr algn="ctr"/>
            <a:r>
              <a:rPr lang="en-US" sz="2400" b="1" kern="1200" dirty="0">
                <a:solidFill>
                  <a:schemeClr val="tx1"/>
                </a:solidFill>
                <a:latin typeface="+mn-lt"/>
                <a:ea typeface="+mj-ea"/>
                <a:cs typeface="+mj-cs"/>
              </a:rPr>
              <a:t>GETTING ALONG WITH YOUR  EMPLOYEES/SUBORDINATES</a:t>
            </a:r>
          </a:p>
        </p:txBody>
      </p:sp>
      <p:sp>
        <p:nvSpPr>
          <p:cNvPr id="4" name="Text Placeholder 3">
            <a:extLst>
              <a:ext uri="{FF2B5EF4-FFF2-40B4-BE49-F238E27FC236}">
                <a16:creationId xmlns:a16="http://schemas.microsoft.com/office/drawing/2014/main" id="{7E0A0E76-B668-79A0-0DF1-CCE98CEFA0C1}"/>
              </a:ext>
            </a:extLst>
          </p:cNvPr>
          <p:cNvSpPr>
            <a:spLocks noGrp="1"/>
          </p:cNvSpPr>
          <p:nvPr>
            <p:ph type="body" sz="half" idx="2"/>
          </p:nvPr>
        </p:nvSpPr>
        <p:spPr>
          <a:xfrm>
            <a:off x="838201" y="1825625"/>
            <a:ext cx="5092194" cy="4351338"/>
          </a:xfrm>
        </p:spPr>
        <p:txBody>
          <a:bodyPr vert="horz" lIns="91440" tIns="45720" rIns="91440" bIns="45720" rtlCol="0">
            <a:normAutofit/>
          </a:bodyPr>
          <a:lstStyle/>
          <a:p>
            <a:r>
              <a:rPr lang="en-US" b="1" dirty="0"/>
              <a:t>WAYS OF DEVELOPING GOOD RELATIONSHIPS WITH YOUR EMPLOYEES</a:t>
            </a:r>
          </a:p>
          <a:p>
            <a:endParaRPr lang="en-US" b="1" dirty="0"/>
          </a:p>
          <a:p>
            <a:pPr marL="285750" indent="-285750">
              <a:buFont typeface="Arial" panose="020B0604020202020204" pitchFamily="34" charset="0"/>
              <a:buChar char="•"/>
            </a:pPr>
            <a:r>
              <a:rPr lang="en-US" sz="1500" dirty="0"/>
              <a:t>Avoid micromanaging</a:t>
            </a:r>
          </a:p>
          <a:p>
            <a:pPr marL="285750" indent="-285750">
              <a:buFont typeface="Arial" panose="020B0604020202020204" pitchFamily="34" charset="0"/>
              <a:buChar char="•"/>
            </a:pPr>
            <a:r>
              <a:rPr lang="en-US" sz="1500" dirty="0"/>
              <a:t>Embrace diversity</a:t>
            </a:r>
          </a:p>
          <a:p>
            <a:pPr marL="285750" indent="-285750">
              <a:buFont typeface="Arial" panose="020B0604020202020204" pitchFamily="34" charset="0"/>
              <a:buChar char="•"/>
            </a:pPr>
            <a:r>
              <a:rPr lang="en-US" sz="1500" dirty="0"/>
              <a:t>Be fair </a:t>
            </a:r>
          </a:p>
          <a:p>
            <a:pPr marL="285750" indent="-285750">
              <a:buFont typeface="Arial" panose="020B0604020202020204" pitchFamily="34" charset="0"/>
              <a:buChar char="•"/>
            </a:pPr>
            <a:r>
              <a:rPr lang="en-US" sz="1500" dirty="0"/>
              <a:t>Delegate work to others </a:t>
            </a:r>
          </a:p>
          <a:p>
            <a:pPr marL="285750" indent="-285750">
              <a:buFont typeface="Arial" panose="020B0604020202020204" pitchFamily="34" charset="0"/>
              <a:buChar char="•"/>
            </a:pPr>
            <a:r>
              <a:rPr lang="en-US" sz="1500" dirty="0"/>
              <a:t>Set reasonable goals</a:t>
            </a:r>
          </a:p>
          <a:p>
            <a:pPr marL="285750" indent="-285750">
              <a:buFont typeface="Arial" panose="020B0604020202020204" pitchFamily="34" charset="0"/>
              <a:buChar char="•"/>
            </a:pPr>
            <a:r>
              <a:rPr lang="en-US" sz="1500" dirty="0"/>
              <a:t>Include employees in decision making</a:t>
            </a:r>
          </a:p>
          <a:p>
            <a:pPr marL="285750" indent="-285750">
              <a:buFont typeface="Arial" panose="020B0604020202020204" pitchFamily="34" charset="0"/>
              <a:buChar char="•"/>
            </a:pPr>
            <a:r>
              <a:rPr lang="en-US" sz="1500" dirty="0"/>
              <a:t>Conduct performance reviews </a:t>
            </a:r>
          </a:p>
        </p:txBody>
      </p:sp>
      <p:sp>
        <p:nvSpPr>
          <p:cNvPr id="5" name="Date Placeholder 4">
            <a:extLst>
              <a:ext uri="{FF2B5EF4-FFF2-40B4-BE49-F238E27FC236}">
                <a16:creationId xmlns:a16="http://schemas.microsoft.com/office/drawing/2014/main" id="{8168A6D1-2C10-F31B-162D-6706E45CBF23}"/>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r>
              <a:rPr kumimoji="0" lang="en-US" sz="1100" b="0" i="0" u="none" strike="noStrike" normalizeH="0" noProof="0">
                <a:ln>
                  <a:noFill/>
                </a:ln>
                <a:solidFill>
                  <a:prstClr val="black">
                    <a:tint val="75000"/>
                  </a:prstClr>
                </a:solidFill>
                <a:effectLst/>
                <a:uLnTx/>
                <a:uFillTx/>
              </a:rPr>
              <a:t>TuSpeaking 2022,  All rights reserved</a:t>
            </a:r>
          </a:p>
        </p:txBody>
      </p:sp>
      <p:pic>
        <p:nvPicPr>
          <p:cNvPr id="13" name="Picture 12">
            <a:extLst>
              <a:ext uri="{FF2B5EF4-FFF2-40B4-BE49-F238E27FC236}">
                <a16:creationId xmlns:a16="http://schemas.microsoft.com/office/drawing/2014/main" id="{40AB2DC1-165D-E9D0-D9C0-CC9E64BD4FDC}"/>
              </a:ext>
            </a:extLst>
          </p:cNvPr>
          <p:cNvPicPr>
            <a:picLocks noChangeAspect="1"/>
          </p:cNvPicPr>
          <p:nvPr/>
        </p:nvPicPr>
        <p:blipFill rotWithShape="1">
          <a:blip r:embed="rId2"/>
          <a:srcRect l="14103" r="20189" b="-1"/>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pic>
        <p:nvPicPr>
          <p:cNvPr id="17" name="Content Placeholder 16">
            <a:extLst>
              <a:ext uri="{FF2B5EF4-FFF2-40B4-BE49-F238E27FC236}">
                <a16:creationId xmlns:a16="http://schemas.microsoft.com/office/drawing/2014/main" id="{86EDE432-2539-99B4-CD9F-FC4CEFA9727F}"/>
              </a:ext>
            </a:extLst>
          </p:cNvPr>
          <p:cNvPicPr>
            <a:picLocks noGrp="1" noChangeAspect="1"/>
          </p:cNvPicPr>
          <p:nvPr>
            <p:ph idx="1"/>
          </p:nvPr>
        </p:nvPicPr>
        <p:blipFill rotWithShape="1">
          <a:blip r:embed="rId3"/>
          <a:srcRect t="3152" r="-3" b="-3"/>
          <a:stretch/>
        </p:blipFill>
        <p:spPr>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
        <p:nvSpPr>
          <p:cNvPr id="6" name="Footer Placeholder 5">
            <a:extLst>
              <a:ext uri="{FF2B5EF4-FFF2-40B4-BE49-F238E27FC236}">
                <a16:creationId xmlns:a16="http://schemas.microsoft.com/office/drawing/2014/main" id="{316D329B-3953-76D7-0CDD-DA0002A3340F}"/>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r>
              <a:rPr kumimoji="0" lang="en-US" b="0" i="0" u="none" strike="noStrike" kern="1200" cap="none" spc="0" normalizeH="0" baseline="0" noProof="0">
                <a:ln>
                  <a:noFill/>
                </a:ln>
                <a:solidFill>
                  <a:prstClr val="black">
                    <a:tint val="75000"/>
                  </a:prstClr>
                </a:solidFill>
                <a:effectLst/>
                <a:uLnTx/>
                <a:uFillTx/>
                <a:latin typeface="+mn-lt"/>
                <a:ea typeface="+mn-ea"/>
                <a:cs typeface="+mn-cs"/>
              </a:rPr>
              <a:t>Corporate identity and corporate image</a:t>
            </a:r>
          </a:p>
        </p:txBody>
      </p:sp>
      <p:sp>
        <p:nvSpPr>
          <p:cNvPr id="7" name="Slide Number Placeholder 6">
            <a:extLst>
              <a:ext uri="{FF2B5EF4-FFF2-40B4-BE49-F238E27FC236}">
                <a16:creationId xmlns:a16="http://schemas.microsoft.com/office/drawing/2014/main" id="{C2E17882-6736-06C3-AA51-5241CF48C2B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D76B855D-E9CC-4FF8-AD85-6CDC7B89A0DE}" type="slidenum">
              <a:rPr kumimoji="0" lang="en-US" b="0" i="0" u="none" strike="noStrike" normalizeH="0" noProof="0">
                <a:ln>
                  <a:noFill/>
                </a:ln>
                <a:solidFill>
                  <a:srgbClr val="FFFFFF"/>
                </a:solidFill>
                <a:effectLst/>
                <a:uLnTx/>
                <a:uFillTx/>
              </a:rPr>
              <a:pPr marR="0" lvl="0" indent="0" fontAlgn="auto">
                <a:spcBef>
                  <a:spcPts val="0"/>
                </a:spcBef>
                <a:spcAft>
                  <a:spcPts val="600"/>
                </a:spcAft>
                <a:buClrTx/>
                <a:buSzTx/>
                <a:buFontTx/>
                <a:buNone/>
                <a:tabLst/>
                <a:defRPr/>
              </a:pPr>
              <a:t>10</a:t>
            </a:fld>
            <a:endParaRPr kumimoji="0" lang="en-US" b="0" i="0" u="none" strike="noStrike" normalizeH="0" noProof="0">
              <a:ln>
                <a:noFill/>
              </a:ln>
              <a:solidFill>
                <a:srgbClr val="FFFFFF"/>
              </a:solidFill>
              <a:effectLst/>
              <a:uLnTx/>
              <a:uFillTx/>
            </a:endParaRPr>
          </a:p>
        </p:txBody>
      </p:sp>
      <p:sp>
        <p:nvSpPr>
          <p:cNvPr id="3" name="TextBox 2">
            <a:extLst>
              <a:ext uri="{FF2B5EF4-FFF2-40B4-BE49-F238E27FC236}">
                <a16:creationId xmlns:a16="http://schemas.microsoft.com/office/drawing/2014/main" id="{11EA04C5-E015-9310-BA81-C2D31D4C550B}"/>
              </a:ext>
            </a:extLst>
          </p:cNvPr>
          <p:cNvSpPr txBox="1"/>
          <p:nvPr/>
        </p:nvSpPr>
        <p:spPr>
          <a:xfrm>
            <a:off x="3738830" y="5321896"/>
            <a:ext cx="4439863" cy="923330"/>
          </a:xfrm>
          <a:prstGeom prst="rect">
            <a:avLst/>
          </a:prstGeom>
          <a:noFill/>
        </p:spPr>
        <p:txBody>
          <a:bodyPr wrap="square" rtlCol="0">
            <a:spAutoFit/>
          </a:bodyPr>
          <a:lstStyle/>
          <a:p>
            <a:r>
              <a:rPr lang="en-US" b="1" dirty="0">
                <a:solidFill>
                  <a:schemeClr val="accent4">
                    <a:lumMod val="75000"/>
                  </a:schemeClr>
                </a:solidFill>
              </a:rPr>
              <a:t>Can you think of other ways of developing good relations with your employees?</a:t>
            </a:r>
          </a:p>
        </p:txBody>
      </p:sp>
    </p:spTree>
    <p:extLst>
      <p:ext uri="{BB962C8B-B14F-4D97-AF65-F5344CB8AC3E}">
        <p14:creationId xmlns:p14="http://schemas.microsoft.com/office/powerpoint/2010/main" val="2052658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 name="Freeform: Shape 111">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 name="Freeform: Shape 113">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123" name="Rectangle 115">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71F97C7-35D5-B6B3-EF75-2E1F2A84F463}"/>
              </a:ext>
            </a:extLst>
          </p:cNvPr>
          <p:cNvSpPr>
            <a:spLocks noGrp="1"/>
          </p:cNvSpPr>
          <p:nvPr>
            <p:ph type="title"/>
          </p:nvPr>
        </p:nvSpPr>
        <p:spPr>
          <a:xfrm>
            <a:off x="293076" y="1064545"/>
            <a:ext cx="5120561" cy="1325563"/>
          </a:xfrm>
        </p:spPr>
        <p:txBody>
          <a:bodyPr vert="horz" lIns="91440" tIns="45720" rIns="91440" bIns="45720" rtlCol="0" anchor="ctr">
            <a:normAutofit/>
          </a:bodyPr>
          <a:lstStyle/>
          <a:p>
            <a:pPr algn="ctr"/>
            <a:r>
              <a:rPr lang="en-US" sz="2400" b="1" kern="1200" dirty="0">
                <a:solidFill>
                  <a:schemeClr val="tx1"/>
                </a:solidFill>
                <a:latin typeface="+mn-lt"/>
                <a:ea typeface="+mj-ea"/>
                <a:cs typeface="+mj-cs"/>
              </a:rPr>
              <a:t>GETTING ALONG WITH YOUR CO-WORKERS</a:t>
            </a:r>
          </a:p>
        </p:txBody>
      </p:sp>
      <p:sp>
        <p:nvSpPr>
          <p:cNvPr id="4" name="Text Placeholder 3">
            <a:extLst>
              <a:ext uri="{FF2B5EF4-FFF2-40B4-BE49-F238E27FC236}">
                <a16:creationId xmlns:a16="http://schemas.microsoft.com/office/drawing/2014/main" id="{7E0A0E76-B668-79A0-0DF1-CCE98CEFA0C1}"/>
              </a:ext>
            </a:extLst>
          </p:cNvPr>
          <p:cNvSpPr>
            <a:spLocks noGrp="1"/>
          </p:cNvSpPr>
          <p:nvPr>
            <p:ph type="body" sz="half" idx="2"/>
          </p:nvPr>
        </p:nvSpPr>
        <p:spPr>
          <a:xfrm>
            <a:off x="420776" y="2895600"/>
            <a:ext cx="5092194" cy="3281362"/>
          </a:xfrm>
        </p:spPr>
        <p:txBody>
          <a:bodyPr vert="horz" lIns="91440" tIns="45720" rIns="91440" bIns="45720" rtlCol="0">
            <a:normAutofit/>
          </a:bodyPr>
          <a:lstStyle/>
          <a:p>
            <a:pPr marL="285750" indent="-228600">
              <a:buFont typeface="Arial" panose="020B0604020202020204" pitchFamily="34" charset="0"/>
              <a:buChar char="•"/>
            </a:pPr>
            <a:r>
              <a:rPr lang="en-US" dirty="0"/>
              <a:t>Getting along with colleagues can not only make working more pleasant, but it can also help boost your career.</a:t>
            </a:r>
          </a:p>
          <a:p>
            <a:pPr marL="285750" indent="-228600">
              <a:buFont typeface="Arial" panose="020B0604020202020204" pitchFamily="34" charset="0"/>
              <a:buChar char="•"/>
            </a:pPr>
            <a:r>
              <a:rPr lang="en-US" dirty="0"/>
              <a:t>Good manners, respect, and general kindness toward your colleagues go a long way.</a:t>
            </a:r>
          </a:p>
          <a:p>
            <a:pPr marL="285750" indent="-228600">
              <a:buFont typeface="Arial" panose="020B0604020202020204" pitchFamily="34" charset="0"/>
              <a:buChar char="•"/>
            </a:pPr>
            <a:r>
              <a:rPr lang="en-US" dirty="0"/>
              <a:t>Resist oversharing or talking about sensitive topics that can alienate colleagues.</a:t>
            </a:r>
          </a:p>
          <a:p>
            <a:pPr marL="285750" indent="-228600">
              <a:buFont typeface="Arial" panose="020B0604020202020204" pitchFamily="34" charset="0"/>
              <a:buChar char="•"/>
            </a:pPr>
            <a:endParaRPr lang="en-US" dirty="0"/>
          </a:p>
          <a:p>
            <a:pPr marL="285750" indent="-228600">
              <a:buFont typeface="Arial" panose="020B0604020202020204" pitchFamily="34" charset="0"/>
              <a:buChar char="•"/>
            </a:pPr>
            <a:endParaRPr lang="en-US" dirty="0"/>
          </a:p>
          <a:p>
            <a:pPr marL="57150"/>
            <a:endParaRPr lang="en-US" dirty="0"/>
          </a:p>
        </p:txBody>
      </p:sp>
      <p:sp>
        <p:nvSpPr>
          <p:cNvPr id="124" name="Oval 117">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8168A6D1-2C10-F31B-162D-6706E45CBF23}"/>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r>
              <a:rPr kumimoji="0" lang="en-US" sz="1100" b="0" i="0" u="none" strike="noStrike" normalizeH="0" noProof="0">
                <a:ln>
                  <a:noFill/>
                </a:ln>
                <a:solidFill>
                  <a:prstClr val="black">
                    <a:tint val="75000"/>
                  </a:prstClr>
                </a:solidFill>
                <a:effectLst/>
                <a:uLnTx/>
                <a:uFillTx/>
              </a:rPr>
              <a:t>TuSpeaking 2022,  All rights reserved</a:t>
            </a:r>
          </a:p>
        </p:txBody>
      </p:sp>
      <p:pic>
        <p:nvPicPr>
          <p:cNvPr id="12" name="Picture 11">
            <a:extLst>
              <a:ext uri="{FF2B5EF4-FFF2-40B4-BE49-F238E27FC236}">
                <a16:creationId xmlns:a16="http://schemas.microsoft.com/office/drawing/2014/main" id="{5A38DB4F-0701-3D2F-DF55-4B835605D922}"/>
              </a:ext>
            </a:extLst>
          </p:cNvPr>
          <p:cNvPicPr>
            <a:picLocks noChangeAspect="1"/>
          </p:cNvPicPr>
          <p:nvPr/>
        </p:nvPicPr>
        <p:blipFill rotWithShape="1">
          <a:blip r:embed="rId2"/>
          <a:srcRect l="4249" r="42511" b="2"/>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120" name="Arc 119">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Content Placeholder 9">
            <a:extLst>
              <a:ext uri="{FF2B5EF4-FFF2-40B4-BE49-F238E27FC236}">
                <a16:creationId xmlns:a16="http://schemas.microsoft.com/office/drawing/2014/main" id="{AB401960-D8B2-7FF3-1E21-A00954EBDB7E}"/>
              </a:ext>
            </a:extLst>
          </p:cNvPr>
          <p:cNvPicPr>
            <a:picLocks noGrp="1" noChangeAspect="1"/>
          </p:cNvPicPr>
          <p:nvPr>
            <p:ph idx="1"/>
          </p:nvPr>
        </p:nvPicPr>
        <p:blipFill rotWithShape="1">
          <a:blip r:embed="rId3"/>
          <a:srcRect r="7349" b="-4"/>
          <a:stretch/>
        </p:blipFill>
        <p:spPr>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
        <p:nvSpPr>
          <p:cNvPr id="6" name="Footer Placeholder 5">
            <a:extLst>
              <a:ext uri="{FF2B5EF4-FFF2-40B4-BE49-F238E27FC236}">
                <a16:creationId xmlns:a16="http://schemas.microsoft.com/office/drawing/2014/main" id="{316D329B-3953-76D7-0CDD-DA0002A3340F}"/>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r>
              <a:rPr kumimoji="0" lang="en-US" b="0" i="0" u="none" strike="noStrike" kern="1200" cap="none" spc="0" normalizeH="0" baseline="0" noProof="0">
                <a:ln>
                  <a:noFill/>
                </a:ln>
                <a:solidFill>
                  <a:prstClr val="black">
                    <a:tint val="75000"/>
                  </a:prstClr>
                </a:solidFill>
                <a:effectLst/>
                <a:uLnTx/>
                <a:uFillTx/>
                <a:latin typeface="+mn-lt"/>
                <a:ea typeface="+mn-ea"/>
                <a:cs typeface="+mn-cs"/>
              </a:rPr>
              <a:t>Corporate identity and corporate image</a:t>
            </a:r>
          </a:p>
        </p:txBody>
      </p:sp>
      <p:sp>
        <p:nvSpPr>
          <p:cNvPr id="7" name="Slide Number Placeholder 6">
            <a:extLst>
              <a:ext uri="{FF2B5EF4-FFF2-40B4-BE49-F238E27FC236}">
                <a16:creationId xmlns:a16="http://schemas.microsoft.com/office/drawing/2014/main" id="{C2E17882-6736-06C3-AA51-5241CF48C2B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D76B855D-E9CC-4FF8-AD85-6CDC7B89A0DE}" type="slidenum">
              <a:rPr kumimoji="0" lang="en-US" b="0" i="0" u="none" strike="noStrike" normalizeH="0" noProof="0" smtClean="0">
                <a:ln>
                  <a:noFill/>
                </a:ln>
                <a:solidFill>
                  <a:srgbClr val="FFFFFF"/>
                </a:solidFill>
                <a:effectLst/>
                <a:uLnTx/>
                <a:uFillTx/>
              </a:rPr>
              <a:pPr marR="0" lvl="0" indent="0" fontAlgn="auto">
                <a:spcBef>
                  <a:spcPts val="0"/>
                </a:spcBef>
                <a:spcAft>
                  <a:spcPts val="600"/>
                </a:spcAft>
                <a:buClrTx/>
                <a:buSzTx/>
                <a:buFontTx/>
                <a:buNone/>
                <a:tabLst/>
                <a:defRPr/>
              </a:pPr>
              <a:t>11</a:t>
            </a:fld>
            <a:endParaRPr kumimoji="0" lang="en-US" b="0" i="0" u="none" strike="noStrike" normalizeH="0" noProof="0">
              <a:ln>
                <a:noFill/>
              </a:ln>
              <a:solidFill>
                <a:srgbClr val="FFFFFF"/>
              </a:solidFill>
              <a:effectLst/>
              <a:uLnTx/>
              <a:uFillTx/>
            </a:endParaRPr>
          </a:p>
        </p:txBody>
      </p:sp>
      <p:sp>
        <p:nvSpPr>
          <p:cNvPr id="14" name="TextBox 13">
            <a:extLst>
              <a:ext uri="{FF2B5EF4-FFF2-40B4-BE49-F238E27FC236}">
                <a16:creationId xmlns:a16="http://schemas.microsoft.com/office/drawing/2014/main" id="{E274CA7B-8CCF-D0C1-0BDE-AE20EE4A7C99}"/>
              </a:ext>
            </a:extLst>
          </p:cNvPr>
          <p:cNvSpPr txBox="1"/>
          <p:nvPr/>
        </p:nvSpPr>
        <p:spPr>
          <a:xfrm>
            <a:off x="1297652" y="5095827"/>
            <a:ext cx="6594318" cy="369332"/>
          </a:xfrm>
          <a:prstGeom prst="rect">
            <a:avLst/>
          </a:prstGeom>
          <a:noFill/>
        </p:spPr>
        <p:txBody>
          <a:bodyPr wrap="square" rtlCol="0">
            <a:spAutoFit/>
          </a:bodyPr>
          <a:lstStyle/>
          <a:p>
            <a:r>
              <a:rPr lang="en-US" b="1" dirty="0">
                <a:solidFill>
                  <a:schemeClr val="accent4">
                    <a:lumMod val="75000"/>
                  </a:schemeClr>
                </a:solidFill>
              </a:rPr>
              <a:t>Activity - Describe a good co-worker.</a:t>
            </a:r>
            <a:endParaRPr lang="en-US" dirty="0"/>
          </a:p>
        </p:txBody>
      </p:sp>
    </p:spTree>
    <p:extLst>
      <p:ext uri="{BB962C8B-B14F-4D97-AF65-F5344CB8AC3E}">
        <p14:creationId xmlns:p14="http://schemas.microsoft.com/office/powerpoint/2010/main" val="2387022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Freeform: Shape 10">
            <a:extLst>
              <a:ext uri="{FF2B5EF4-FFF2-40B4-BE49-F238E27FC236}">
                <a16:creationId xmlns:a16="http://schemas.microsoft.com/office/drawing/2014/main" id="{8A7BA06D-B3FF-4E91-8639-B4569AE3A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Arc 12">
            <a:extLst>
              <a:ext uri="{FF2B5EF4-FFF2-40B4-BE49-F238E27FC236}">
                <a16:creationId xmlns:a16="http://schemas.microsoft.com/office/drawing/2014/main" id="{2B30C86D-5A07-48BC-9C9D-6F9A2DB1E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useBgFill="1">
        <p:nvSpPr>
          <p:cNvPr id="35" name="Rectangle 14">
            <a:extLst>
              <a:ext uri="{FF2B5EF4-FFF2-40B4-BE49-F238E27FC236}">
                <a16:creationId xmlns:a16="http://schemas.microsoft.com/office/drawing/2014/main" id="{5AB83C82-30AD-4DF2-A9AD-CE1547FDED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ectangle 16">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Oval 18">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FC037F-9B04-45A9-8AE6-A8517884947F}"/>
              </a:ext>
            </a:extLst>
          </p:cNvPr>
          <p:cNvSpPr>
            <a:spLocks noGrp="1"/>
          </p:cNvSpPr>
          <p:nvPr>
            <p:ph type="title"/>
          </p:nvPr>
        </p:nvSpPr>
        <p:spPr>
          <a:xfrm>
            <a:off x="3315031" y="2549236"/>
            <a:ext cx="5561938" cy="1727200"/>
          </a:xfrm>
        </p:spPr>
        <p:txBody>
          <a:bodyPr vert="horz" lIns="91440" tIns="45720" rIns="91440" bIns="45720" rtlCol="0" anchor="b">
            <a:normAutofit fontScale="90000"/>
          </a:bodyPr>
          <a:lstStyle/>
          <a:p>
            <a:r>
              <a:rPr lang="en-US" sz="4400" b="1" kern="1200" dirty="0">
                <a:solidFill>
                  <a:srgbClr val="FFFFFF"/>
                </a:solidFill>
                <a:latin typeface="+mn-lt"/>
                <a:ea typeface="+mj-ea"/>
                <a:cs typeface="+mj-cs"/>
              </a:rPr>
              <a:t>BUSINESS RELATIONSHIPS</a:t>
            </a:r>
            <a:br>
              <a:rPr lang="en-US" sz="4400" b="1" kern="1200" dirty="0">
                <a:solidFill>
                  <a:srgbClr val="FFFFFF"/>
                </a:solidFill>
                <a:latin typeface="+mn-lt"/>
                <a:ea typeface="+mj-ea"/>
                <a:cs typeface="+mj-cs"/>
              </a:rPr>
            </a:br>
            <a:r>
              <a:rPr lang="en-US" sz="4400" b="1" kern="1200" dirty="0">
                <a:solidFill>
                  <a:srgbClr val="FFFFFF"/>
                </a:solidFill>
                <a:latin typeface="+mn-lt"/>
                <a:ea typeface="+mj-ea"/>
                <a:cs typeface="+mj-cs"/>
              </a:rPr>
              <a:t>Part 2 – Carry out a job interview   </a:t>
            </a:r>
          </a:p>
        </p:txBody>
      </p:sp>
      <p:sp>
        <p:nvSpPr>
          <p:cNvPr id="38" name="Arc 20">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Oval 22">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65417" y="5241988"/>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Logo&#10;&#10;Description automatically generated">
            <a:extLst>
              <a:ext uri="{FF2B5EF4-FFF2-40B4-BE49-F238E27FC236}">
                <a16:creationId xmlns:a16="http://schemas.microsoft.com/office/drawing/2014/main" id="{49BC6A8E-3EF6-F893-3A4A-23BF3A5C78E4}"/>
              </a:ext>
            </a:extLst>
          </p:cNvPr>
          <p:cNvPicPr>
            <a:picLocks noChangeAspect="1"/>
          </p:cNvPicPr>
          <p:nvPr/>
        </p:nvPicPr>
        <p:blipFill>
          <a:blip r:embed="rId2"/>
          <a:stretch>
            <a:fillRect/>
          </a:stretch>
        </p:blipFill>
        <p:spPr>
          <a:xfrm>
            <a:off x="631350" y="451558"/>
            <a:ext cx="1636779" cy="762002"/>
          </a:xfrm>
          <a:prstGeom prst="rect">
            <a:avLst/>
          </a:prstGeom>
        </p:spPr>
      </p:pic>
    </p:spTree>
    <p:extLst>
      <p:ext uri="{BB962C8B-B14F-4D97-AF65-F5344CB8AC3E}">
        <p14:creationId xmlns:p14="http://schemas.microsoft.com/office/powerpoint/2010/main" val="2735162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Freeform: Shape 1030">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3" name="Freeform: Shape 1032">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1035" name="Rectangle 1034">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7" name="Arc 1036">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F67D3F2-C154-0CF2-77BB-5A2E76AFC63E}"/>
              </a:ext>
            </a:extLst>
          </p:cNvPr>
          <p:cNvSpPr>
            <a:spLocks noGrp="1"/>
          </p:cNvSpPr>
          <p:nvPr>
            <p:ph type="title"/>
          </p:nvPr>
        </p:nvSpPr>
        <p:spPr>
          <a:xfrm>
            <a:off x="5894962" y="479493"/>
            <a:ext cx="5458838" cy="1325563"/>
          </a:xfrm>
        </p:spPr>
        <p:txBody>
          <a:bodyPr vert="horz" lIns="91440" tIns="45720" rIns="91440" bIns="45720" rtlCol="0" anchor="ctr">
            <a:normAutofit/>
          </a:bodyPr>
          <a:lstStyle/>
          <a:p>
            <a:br>
              <a:rPr lang="en-US" sz="4400" b="1" kern="1200">
                <a:solidFill>
                  <a:schemeClr val="tx1"/>
                </a:solidFill>
                <a:latin typeface="+mj-lt"/>
                <a:ea typeface="+mj-ea"/>
                <a:cs typeface="+mj-cs"/>
              </a:rPr>
            </a:br>
            <a:endParaRPr lang="en-US" sz="4400" b="1" kern="1200">
              <a:solidFill>
                <a:schemeClr val="tx1"/>
              </a:solidFill>
              <a:latin typeface="+mj-lt"/>
              <a:ea typeface="+mj-ea"/>
              <a:cs typeface="+mj-cs"/>
            </a:endParaRPr>
          </a:p>
        </p:txBody>
      </p:sp>
      <p:sp>
        <p:nvSpPr>
          <p:cNvPr id="1039" name="Freeform: Shape 1038">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5 Soft skills que todo programador debe dominar | Talently Blog">
            <a:extLst>
              <a:ext uri="{FF2B5EF4-FFF2-40B4-BE49-F238E27FC236}">
                <a16:creationId xmlns:a16="http://schemas.microsoft.com/office/drawing/2014/main" id="{2D1EEE89-89C8-2842-ED49-438721E9141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3182" y="2004131"/>
            <a:ext cx="4777381" cy="267999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4" name="Text Placeholder 3">
            <a:extLst>
              <a:ext uri="{FF2B5EF4-FFF2-40B4-BE49-F238E27FC236}">
                <a16:creationId xmlns:a16="http://schemas.microsoft.com/office/drawing/2014/main" id="{32DECB73-CC63-4712-8E35-4CB010D411BD}"/>
              </a:ext>
            </a:extLst>
          </p:cNvPr>
          <p:cNvSpPr>
            <a:spLocks noGrp="1"/>
          </p:cNvSpPr>
          <p:nvPr>
            <p:ph type="body" sz="half" idx="2"/>
          </p:nvPr>
        </p:nvSpPr>
        <p:spPr>
          <a:xfrm>
            <a:off x="5894962" y="1644336"/>
            <a:ext cx="5458838" cy="4192520"/>
          </a:xfrm>
        </p:spPr>
        <p:txBody>
          <a:bodyPr vert="horz" lIns="91440" tIns="45720" rIns="91440" bIns="45720" rtlCol="0">
            <a:normAutofit/>
          </a:bodyPr>
          <a:lstStyle/>
          <a:p>
            <a:pPr marL="57150" indent="-228600">
              <a:buFont typeface="Arial" panose="020B0604020202020204" pitchFamily="34" charset="0"/>
              <a:buChar char="•"/>
            </a:pPr>
            <a:r>
              <a:rPr lang="en-US" sz="2400" dirty="0"/>
              <a:t>Soft skills </a:t>
            </a:r>
          </a:p>
          <a:p>
            <a:pPr marL="57150" indent="-228600">
              <a:buFont typeface="Arial" panose="020B0604020202020204" pitchFamily="34" charset="0"/>
              <a:buChar char="•"/>
            </a:pPr>
            <a:endParaRPr lang="en-US" sz="2400" dirty="0"/>
          </a:p>
          <a:p>
            <a:pPr marL="57150" indent="-228600">
              <a:buFont typeface="Arial" panose="020B0604020202020204" pitchFamily="34" charset="0"/>
              <a:buChar char="•"/>
            </a:pPr>
            <a:r>
              <a:rPr lang="en-US" sz="2400" dirty="0"/>
              <a:t>Interpersonal skills</a:t>
            </a:r>
          </a:p>
          <a:p>
            <a:pPr marL="57150" indent="-228600">
              <a:buFont typeface="Arial" panose="020B0604020202020204" pitchFamily="34" charset="0"/>
              <a:buChar char="•"/>
            </a:pPr>
            <a:r>
              <a:rPr lang="en-US" sz="2400" dirty="0"/>
              <a:t>Adaptability</a:t>
            </a:r>
          </a:p>
          <a:p>
            <a:pPr marL="57150" indent="-228600">
              <a:buFont typeface="Arial" panose="020B0604020202020204" pitchFamily="34" charset="0"/>
              <a:buChar char="•"/>
            </a:pPr>
            <a:r>
              <a:rPr lang="es-ES" sz="2400" dirty="0"/>
              <a:t>Active </a:t>
            </a:r>
            <a:r>
              <a:rPr lang="es-ES" sz="2400" dirty="0" err="1"/>
              <a:t>listening</a:t>
            </a:r>
            <a:endParaRPr lang="en-US" sz="2400" dirty="0"/>
          </a:p>
          <a:p>
            <a:pPr marL="57150" indent="-228600">
              <a:buFont typeface="Arial" panose="020B0604020202020204" pitchFamily="34" charset="0"/>
              <a:buChar char="•"/>
            </a:pPr>
            <a:r>
              <a:rPr lang="en-US" sz="2400" dirty="0"/>
              <a:t>Attention to detail</a:t>
            </a:r>
          </a:p>
          <a:p>
            <a:pPr marL="57150" indent="-228600">
              <a:buFont typeface="Arial" panose="020B0604020202020204" pitchFamily="34" charset="0"/>
              <a:buChar char="•"/>
            </a:pPr>
            <a:endParaRPr lang="en-US" sz="2400" b="0" i="0" dirty="0">
              <a:effectLst/>
            </a:endParaRPr>
          </a:p>
          <a:p>
            <a:pPr marL="57150" indent="-228600">
              <a:buFont typeface="Arial" panose="020B0604020202020204" pitchFamily="34" charset="0"/>
              <a:buChar char="•"/>
            </a:pPr>
            <a:endParaRPr lang="en-US" sz="2400" b="1" i="1" dirty="0">
              <a:effectLst/>
            </a:endParaRPr>
          </a:p>
        </p:txBody>
      </p:sp>
      <p:sp>
        <p:nvSpPr>
          <p:cNvPr id="5" name="Date Placeholder 4">
            <a:extLst>
              <a:ext uri="{FF2B5EF4-FFF2-40B4-BE49-F238E27FC236}">
                <a16:creationId xmlns:a16="http://schemas.microsoft.com/office/drawing/2014/main" id="{F96808BC-8623-5D67-5DF4-B109EBCC7083}"/>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defRPr/>
            </a:pPr>
            <a:r>
              <a:rPr lang="en-US" sz="1100">
                <a:solidFill>
                  <a:prstClr val="black">
                    <a:tint val="75000"/>
                  </a:prstClr>
                </a:solidFill>
              </a:rPr>
              <a:t>TuSpeaking 2022,  All rights reserved</a:t>
            </a:r>
          </a:p>
        </p:txBody>
      </p:sp>
      <p:sp>
        <p:nvSpPr>
          <p:cNvPr id="6" name="Footer Placeholder 5">
            <a:extLst>
              <a:ext uri="{FF2B5EF4-FFF2-40B4-BE49-F238E27FC236}">
                <a16:creationId xmlns:a16="http://schemas.microsoft.com/office/drawing/2014/main" id="{CCEF6751-35C7-B2EB-D1F1-4964EBE39786}"/>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cap="none" spc="0" baseline="0">
                <a:solidFill>
                  <a:prstClr val="black">
                    <a:tint val="75000"/>
                  </a:prstClr>
                </a:solidFill>
                <a:latin typeface="+mn-lt"/>
                <a:ea typeface="+mn-ea"/>
                <a:cs typeface="+mn-cs"/>
              </a:rPr>
              <a:t>Corporate identity and corporate image</a:t>
            </a:r>
          </a:p>
        </p:txBody>
      </p:sp>
      <p:sp>
        <p:nvSpPr>
          <p:cNvPr id="7" name="Slide Number Placeholder 6">
            <a:extLst>
              <a:ext uri="{FF2B5EF4-FFF2-40B4-BE49-F238E27FC236}">
                <a16:creationId xmlns:a16="http://schemas.microsoft.com/office/drawing/2014/main" id="{E5B512C4-DC2A-9AC6-5B82-4C9EA4470926}"/>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D76B855D-E9CC-4FF8-AD85-6CDC7B89A0DE}" type="slidenum">
              <a:rPr lang="en-US">
                <a:solidFill>
                  <a:prstClr val="black">
                    <a:tint val="75000"/>
                  </a:prstClr>
                </a:solidFill>
              </a:rPr>
              <a:pPr>
                <a:spcAft>
                  <a:spcPts val="600"/>
                </a:spcAft>
                <a:defRPr/>
              </a:pPr>
              <a:t>13</a:t>
            </a:fld>
            <a:endParaRPr lang="en-US">
              <a:solidFill>
                <a:prstClr val="black">
                  <a:tint val="75000"/>
                </a:prstClr>
              </a:solidFill>
            </a:endParaRPr>
          </a:p>
        </p:txBody>
      </p:sp>
      <p:sp>
        <p:nvSpPr>
          <p:cNvPr id="3" name="TextBox 2">
            <a:extLst>
              <a:ext uri="{FF2B5EF4-FFF2-40B4-BE49-F238E27FC236}">
                <a16:creationId xmlns:a16="http://schemas.microsoft.com/office/drawing/2014/main" id="{FEAEC576-94AC-FEB0-0702-27F8875D6CDB}"/>
              </a:ext>
            </a:extLst>
          </p:cNvPr>
          <p:cNvSpPr txBox="1"/>
          <p:nvPr/>
        </p:nvSpPr>
        <p:spPr>
          <a:xfrm>
            <a:off x="5961529" y="4948518"/>
            <a:ext cx="4984377" cy="369332"/>
          </a:xfrm>
          <a:prstGeom prst="rect">
            <a:avLst/>
          </a:prstGeom>
          <a:noFill/>
        </p:spPr>
        <p:txBody>
          <a:bodyPr wrap="square" rtlCol="0">
            <a:spAutoFit/>
          </a:bodyPr>
          <a:lstStyle/>
          <a:p>
            <a:r>
              <a:rPr lang="en-GB" dirty="0"/>
              <a:t>Can you think of any other soft skills?</a:t>
            </a:r>
            <a:endParaRPr lang="es-ES" dirty="0"/>
          </a:p>
        </p:txBody>
      </p:sp>
    </p:spTree>
    <p:extLst>
      <p:ext uri="{BB962C8B-B14F-4D97-AF65-F5344CB8AC3E}">
        <p14:creationId xmlns:p14="http://schemas.microsoft.com/office/powerpoint/2010/main" val="3634576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Freeform: Shape 1030">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3" name="Freeform: Shape 1032">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1035" name="Rectangle 1034">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7" name="Arc 1036">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F67D3F2-C154-0CF2-77BB-5A2E76AFC63E}"/>
              </a:ext>
            </a:extLst>
          </p:cNvPr>
          <p:cNvSpPr>
            <a:spLocks noGrp="1"/>
          </p:cNvSpPr>
          <p:nvPr>
            <p:ph type="title"/>
          </p:nvPr>
        </p:nvSpPr>
        <p:spPr>
          <a:xfrm>
            <a:off x="5894962" y="479493"/>
            <a:ext cx="5458838" cy="1325563"/>
          </a:xfrm>
        </p:spPr>
        <p:txBody>
          <a:bodyPr vert="horz" lIns="91440" tIns="45720" rIns="91440" bIns="45720" rtlCol="0" anchor="ctr">
            <a:normAutofit/>
          </a:bodyPr>
          <a:lstStyle/>
          <a:p>
            <a:br>
              <a:rPr lang="en-US" sz="4400" b="1" kern="1200">
                <a:solidFill>
                  <a:schemeClr val="tx1"/>
                </a:solidFill>
                <a:latin typeface="+mj-lt"/>
                <a:ea typeface="+mj-ea"/>
                <a:cs typeface="+mj-cs"/>
              </a:rPr>
            </a:br>
            <a:endParaRPr lang="en-US" sz="4400" b="1" kern="1200">
              <a:solidFill>
                <a:schemeClr val="tx1"/>
              </a:solidFill>
              <a:latin typeface="+mj-lt"/>
              <a:ea typeface="+mj-ea"/>
              <a:cs typeface="+mj-cs"/>
            </a:endParaRPr>
          </a:p>
        </p:txBody>
      </p:sp>
      <p:sp>
        <p:nvSpPr>
          <p:cNvPr id="1039" name="Freeform: Shape 1038">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5 Soft skills que todo programador debe dominar | Talently Blog">
            <a:extLst>
              <a:ext uri="{FF2B5EF4-FFF2-40B4-BE49-F238E27FC236}">
                <a16:creationId xmlns:a16="http://schemas.microsoft.com/office/drawing/2014/main" id="{2D1EEE89-89C8-2842-ED49-438721E9141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3182" y="2004131"/>
            <a:ext cx="4777381" cy="267999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4" name="Text Placeholder 3">
            <a:extLst>
              <a:ext uri="{FF2B5EF4-FFF2-40B4-BE49-F238E27FC236}">
                <a16:creationId xmlns:a16="http://schemas.microsoft.com/office/drawing/2014/main" id="{32DECB73-CC63-4712-8E35-4CB010D411BD}"/>
              </a:ext>
            </a:extLst>
          </p:cNvPr>
          <p:cNvSpPr>
            <a:spLocks noGrp="1"/>
          </p:cNvSpPr>
          <p:nvPr>
            <p:ph type="body" sz="half" idx="2"/>
          </p:nvPr>
        </p:nvSpPr>
        <p:spPr>
          <a:xfrm>
            <a:off x="5894962" y="1644336"/>
            <a:ext cx="5458838" cy="4192520"/>
          </a:xfrm>
        </p:spPr>
        <p:txBody>
          <a:bodyPr vert="horz" lIns="91440" tIns="45720" rIns="91440" bIns="45720" rtlCol="0">
            <a:normAutofit/>
          </a:bodyPr>
          <a:lstStyle/>
          <a:p>
            <a:pPr marL="57150" indent="-228600">
              <a:buFont typeface="Arial" panose="020B0604020202020204" pitchFamily="34" charset="0"/>
              <a:buChar char="•"/>
            </a:pPr>
            <a:r>
              <a:rPr lang="en-US" sz="2400" dirty="0"/>
              <a:t>Technical skills</a:t>
            </a:r>
          </a:p>
          <a:p>
            <a:pPr marL="57150" indent="-228600">
              <a:buFont typeface="Arial" panose="020B0604020202020204" pitchFamily="34" charset="0"/>
              <a:buChar char="•"/>
            </a:pPr>
            <a:endParaRPr lang="en-US" sz="2400" dirty="0"/>
          </a:p>
          <a:p>
            <a:pPr marL="57150" indent="-228600">
              <a:buFont typeface="Arial" panose="020B0604020202020204" pitchFamily="34" charset="0"/>
              <a:buChar char="•"/>
            </a:pPr>
            <a:r>
              <a:rPr lang="en-US" sz="2400" dirty="0"/>
              <a:t>CAD software</a:t>
            </a:r>
          </a:p>
          <a:p>
            <a:pPr marL="57150" indent="-228600">
              <a:buFont typeface="Arial" panose="020B0604020202020204" pitchFamily="34" charset="0"/>
              <a:buChar char="•"/>
            </a:pPr>
            <a:r>
              <a:rPr lang="en-US" sz="2400" dirty="0"/>
              <a:t>Video editing</a:t>
            </a:r>
          </a:p>
          <a:p>
            <a:pPr marL="57150" indent="-228600">
              <a:buFont typeface="Arial" panose="020B0604020202020204" pitchFamily="34" charset="0"/>
              <a:buChar char="•"/>
            </a:pPr>
            <a:r>
              <a:rPr lang="en-US" sz="2400" dirty="0"/>
              <a:t>Programming languages (such as Java, Python, or C++)</a:t>
            </a:r>
          </a:p>
          <a:p>
            <a:pPr marL="57150" indent="-228600">
              <a:buFont typeface="Arial" panose="020B0604020202020204" pitchFamily="34" charset="0"/>
              <a:buChar char="•"/>
            </a:pPr>
            <a:r>
              <a:rPr lang="en-GB" sz="2400" b="0" i="0" dirty="0">
                <a:effectLst/>
              </a:rPr>
              <a:t>Operating systems (such as Windows, Linux, or macOS)</a:t>
            </a:r>
            <a:endParaRPr lang="en-US" sz="2400" b="0" i="0" dirty="0">
              <a:effectLst/>
            </a:endParaRPr>
          </a:p>
          <a:p>
            <a:pPr marL="57150" indent="-228600">
              <a:buFont typeface="Arial" panose="020B0604020202020204" pitchFamily="34" charset="0"/>
              <a:buChar char="•"/>
            </a:pPr>
            <a:endParaRPr lang="en-US" sz="2400" b="1" i="1" dirty="0">
              <a:effectLst/>
            </a:endParaRPr>
          </a:p>
        </p:txBody>
      </p:sp>
      <p:sp>
        <p:nvSpPr>
          <p:cNvPr id="5" name="Date Placeholder 4">
            <a:extLst>
              <a:ext uri="{FF2B5EF4-FFF2-40B4-BE49-F238E27FC236}">
                <a16:creationId xmlns:a16="http://schemas.microsoft.com/office/drawing/2014/main" id="{F96808BC-8623-5D67-5DF4-B109EBCC7083}"/>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defRPr/>
            </a:pPr>
            <a:r>
              <a:rPr lang="en-US" sz="1100">
                <a:solidFill>
                  <a:prstClr val="black">
                    <a:tint val="75000"/>
                  </a:prstClr>
                </a:solidFill>
              </a:rPr>
              <a:t>TuSpeaking 2022,  All rights reserved</a:t>
            </a:r>
          </a:p>
        </p:txBody>
      </p:sp>
      <p:sp>
        <p:nvSpPr>
          <p:cNvPr id="6" name="Footer Placeholder 5">
            <a:extLst>
              <a:ext uri="{FF2B5EF4-FFF2-40B4-BE49-F238E27FC236}">
                <a16:creationId xmlns:a16="http://schemas.microsoft.com/office/drawing/2014/main" id="{CCEF6751-35C7-B2EB-D1F1-4964EBE39786}"/>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cap="none" spc="0" baseline="0">
                <a:solidFill>
                  <a:prstClr val="black">
                    <a:tint val="75000"/>
                  </a:prstClr>
                </a:solidFill>
                <a:latin typeface="+mn-lt"/>
                <a:ea typeface="+mn-ea"/>
                <a:cs typeface="+mn-cs"/>
              </a:rPr>
              <a:t>Corporate identity and corporate image</a:t>
            </a:r>
          </a:p>
        </p:txBody>
      </p:sp>
      <p:sp>
        <p:nvSpPr>
          <p:cNvPr id="7" name="Slide Number Placeholder 6">
            <a:extLst>
              <a:ext uri="{FF2B5EF4-FFF2-40B4-BE49-F238E27FC236}">
                <a16:creationId xmlns:a16="http://schemas.microsoft.com/office/drawing/2014/main" id="{E5B512C4-DC2A-9AC6-5B82-4C9EA4470926}"/>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D76B855D-E9CC-4FF8-AD85-6CDC7B89A0DE}" type="slidenum">
              <a:rPr lang="en-US">
                <a:solidFill>
                  <a:prstClr val="black">
                    <a:tint val="75000"/>
                  </a:prstClr>
                </a:solidFill>
              </a:rPr>
              <a:pPr>
                <a:spcAft>
                  <a:spcPts val="600"/>
                </a:spcAft>
                <a:defRPr/>
              </a:pPr>
              <a:t>14</a:t>
            </a:fld>
            <a:endParaRPr lang="en-US">
              <a:solidFill>
                <a:prstClr val="black">
                  <a:tint val="75000"/>
                </a:prstClr>
              </a:solidFill>
            </a:endParaRPr>
          </a:p>
        </p:txBody>
      </p:sp>
      <p:sp>
        <p:nvSpPr>
          <p:cNvPr id="3" name="TextBox 2">
            <a:extLst>
              <a:ext uri="{FF2B5EF4-FFF2-40B4-BE49-F238E27FC236}">
                <a16:creationId xmlns:a16="http://schemas.microsoft.com/office/drawing/2014/main" id="{F0974D4F-7EB3-612E-B222-E11DAC986519}"/>
              </a:ext>
            </a:extLst>
          </p:cNvPr>
          <p:cNvSpPr txBox="1"/>
          <p:nvPr/>
        </p:nvSpPr>
        <p:spPr>
          <a:xfrm>
            <a:off x="5297918" y="5348573"/>
            <a:ext cx="4984377" cy="369332"/>
          </a:xfrm>
          <a:prstGeom prst="rect">
            <a:avLst/>
          </a:prstGeom>
          <a:noFill/>
        </p:spPr>
        <p:txBody>
          <a:bodyPr wrap="square" rtlCol="0">
            <a:spAutoFit/>
          </a:bodyPr>
          <a:lstStyle/>
          <a:p>
            <a:r>
              <a:rPr lang="en-GB" dirty="0"/>
              <a:t>Can you think of any other technical skills?</a:t>
            </a:r>
            <a:endParaRPr lang="es-ES" dirty="0"/>
          </a:p>
        </p:txBody>
      </p:sp>
    </p:spTree>
    <p:extLst>
      <p:ext uri="{BB962C8B-B14F-4D97-AF65-F5344CB8AC3E}">
        <p14:creationId xmlns:p14="http://schemas.microsoft.com/office/powerpoint/2010/main" val="2676728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6" name="Freeform: Shape 1075">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78" name="Freeform: Shape 1077">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1080" name="Rectangle 1079">
            <a:extLst>
              <a:ext uri="{FF2B5EF4-FFF2-40B4-BE49-F238E27FC236}">
                <a16:creationId xmlns:a16="http://schemas.microsoft.com/office/drawing/2014/main" id="{DB304A14-32D0-4873-B914-423ED7B8D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045F414-23DB-5221-3CEC-EAE73C0C86B4}"/>
              </a:ext>
            </a:extLst>
          </p:cNvPr>
          <p:cNvSpPr>
            <a:spLocks noGrp="1"/>
          </p:cNvSpPr>
          <p:nvPr>
            <p:ph type="title"/>
          </p:nvPr>
        </p:nvSpPr>
        <p:spPr>
          <a:xfrm>
            <a:off x="838200" y="365125"/>
            <a:ext cx="5387502" cy="1325563"/>
          </a:xfrm>
        </p:spPr>
        <p:txBody>
          <a:bodyPr vert="horz" lIns="91440" tIns="45720" rIns="91440" bIns="45720" rtlCol="0" anchor="ctr">
            <a:normAutofit/>
          </a:bodyPr>
          <a:lstStyle/>
          <a:p>
            <a:r>
              <a:rPr lang="en-US" sz="4400" b="1" kern="1200">
                <a:solidFill>
                  <a:schemeClr val="tx1"/>
                </a:solidFill>
                <a:latin typeface="+mj-lt"/>
                <a:ea typeface="+mj-ea"/>
                <a:cs typeface="+mj-cs"/>
              </a:rPr>
              <a:t>Vocabulary</a:t>
            </a:r>
          </a:p>
        </p:txBody>
      </p:sp>
      <p:sp>
        <p:nvSpPr>
          <p:cNvPr id="8" name="Text Placeholder 7">
            <a:extLst>
              <a:ext uri="{FF2B5EF4-FFF2-40B4-BE49-F238E27FC236}">
                <a16:creationId xmlns:a16="http://schemas.microsoft.com/office/drawing/2014/main" id="{CFCD5225-7C23-F17D-F7BB-77D21F0F58C6}"/>
              </a:ext>
            </a:extLst>
          </p:cNvPr>
          <p:cNvSpPr>
            <a:spLocks noGrp="1"/>
          </p:cNvSpPr>
          <p:nvPr>
            <p:ph type="body" sz="half" idx="2"/>
          </p:nvPr>
        </p:nvSpPr>
        <p:spPr>
          <a:xfrm>
            <a:off x="838200" y="1825625"/>
            <a:ext cx="5387502" cy="4351338"/>
          </a:xfrm>
        </p:spPr>
        <p:txBody>
          <a:bodyPr vert="horz" lIns="91440" tIns="45720" rIns="91440" bIns="45720" rtlCol="0">
            <a:normAutofit/>
          </a:bodyPr>
          <a:lstStyle/>
          <a:p>
            <a:pPr indent="-228600">
              <a:buFont typeface="Arial" panose="020B0604020202020204" pitchFamily="34" charset="0"/>
              <a:buChar char="•"/>
            </a:pPr>
            <a:r>
              <a:rPr lang="en-US" sz="1500" b="1" i="0">
                <a:effectLst/>
              </a:rPr>
              <a:t>Interviewer</a:t>
            </a:r>
            <a:r>
              <a:rPr lang="en-US" sz="1500" i="0">
                <a:effectLst/>
              </a:rPr>
              <a:t> - the person who conducts the job interview</a:t>
            </a:r>
          </a:p>
          <a:p>
            <a:pPr indent="-228600">
              <a:buFont typeface="Arial" panose="020B0604020202020204" pitchFamily="34" charset="0"/>
              <a:buChar char="•"/>
            </a:pPr>
            <a:r>
              <a:rPr lang="en-US" sz="1500" b="1" i="0">
                <a:effectLst/>
              </a:rPr>
              <a:t>Candidate</a:t>
            </a:r>
            <a:r>
              <a:rPr lang="en-US" sz="1500" i="0">
                <a:effectLst/>
              </a:rPr>
              <a:t> - the person who is being interviewed for the job</a:t>
            </a:r>
          </a:p>
          <a:p>
            <a:pPr indent="-228600">
              <a:buFont typeface="Arial" panose="020B0604020202020204" pitchFamily="34" charset="0"/>
              <a:buChar char="•"/>
            </a:pPr>
            <a:r>
              <a:rPr lang="en-US" sz="1500" b="1" i="0">
                <a:effectLst/>
              </a:rPr>
              <a:t>Resume/CV </a:t>
            </a:r>
            <a:r>
              <a:rPr lang="en-US" sz="1500" i="0">
                <a:effectLst/>
              </a:rPr>
              <a:t>- a document summarizing the candidate's work experience, skills, and education</a:t>
            </a:r>
          </a:p>
          <a:p>
            <a:pPr indent="-228600">
              <a:buFont typeface="Arial" panose="020B0604020202020204" pitchFamily="34" charset="0"/>
              <a:buChar char="•"/>
            </a:pPr>
            <a:r>
              <a:rPr lang="en-US" sz="1500" b="1" i="0">
                <a:effectLst/>
              </a:rPr>
              <a:t>Cover letter </a:t>
            </a:r>
            <a:r>
              <a:rPr lang="en-US" sz="1500" i="0">
                <a:effectLst/>
              </a:rPr>
              <a:t>- a letter sent with a resume/CV that explains why the candidate is interested in the job and how they are qualified for it</a:t>
            </a:r>
          </a:p>
          <a:p>
            <a:pPr indent="-228600">
              <a:buFont typeface="Arial" panose="020B0604020202020204" pitchFamily="34" charset="0"/>
              <a:buChar char="•"/>
            </a:pPr>
            <a:r>
              <a:rPr lang="en-US" sz="1500" b="1" i="0">
                <a:effectLst/>
              </a:rPr>
              <a:t>Job application </a:t>
            </a:r>
            <a:r>
              <a:rPr lang="en-US" sz="1500" i="0">
                <a:effectLst/>
              </a:rPr>
              <a:t>- a document used to apply for a job</a:t>
            </a:r>
          </a:p>
          <a:p>
            <a:pPr indent="-228600">
              <a:buFont typeface="Arial" panose="020B0604020202020204" pitchFamily="34" charset="0"/>
              <a:buChar char="•"/>
            </a:pPr>
            <a:r>
              <a:rPr lang="en-US" sz="1500" b="1" i="0">
                <a:effectLst/>
              </a:rPr>
              <a:t>Qualifications</a:t>
            </a:r>
            <a:r>
              <a:rPr lang="en-US" sz="1500" i="0">
                <a:effectLst/>
              </a:rPr>
              <a:t> - the skills, education, and experience needed for a particular job</a:t>
            </a:r>
          </a:p>
          <a:p>
            <a:pPr indent="-228600">
              <a:buFont typeface="Arial" panose="020B0604020202020204" pitchFamily="34" charset="0"/>
              <a:buChar char="•"/>
            </a:pPr>
            <a:r>
              <a:rPr lang="en-US" sz="1500" b="1" i="0">
                <a:effectLst/>
              </a:rPr>
              <a:t>Experience </a:t>
            </a:r>
            <a:r>
              <a:rPr lang="en-US" sz="1500" i="0">
                <a:effectLst/>
              </a:rPr>
              <a:t>- previous work or life experience that relates to the job</a:t>
            </a:r>
          </a:p>
          <a:p>
            <a:pPr indent="-228600">
              <a:buFont typeface="Arial" panose="020B0604020202020204" pitchFamily="34" charset="0"/>
              <a:buChar char="•"/>
            </a:pPr>
            <a:r>
              <a:rPr lang="en-US" sz="1500" b="1" i="0">
                <a:effectLst/>
              </a:rPr>
              <a:t>Skills</a:t>
            </a:r>
            <a:r>
              <a:rPr lang="en-US" sz="1500" i="0">
                <a:effectLst/>
              </a:rPr>
              <a:t> - specific abilities and knowledge that are relevant to the job</a:t>
            </a:r>
          </a:p>
          <a:p>
            <a:pPr indent="-228600">
              <a:buFont typeface="Arial" panose="020B0604020202020204" pitchFamily="34" charset="0"/>
              <a:buChar char="•"/>
            </a:pPr>
            <a:endParaRPr lang="en-US" sz="1500" i="0">
              <a:effectLst/>
            </a:endParaRPr>
          </a:p>
          <a:p>
            <a:pPr indent="-228600">
              <a:buFont typeface="Arial" panose="020B0604020202020204" pitchFamily="34" charset="0"/>
              <a:buChar char="•"/>
            </a:pPr>
            <a:endParaRPr lang="en-US" sz="1500"/>
          </a:p>
        </p:txBody>
      </p:sp>
      <p:sp>
        <p:nvSpPr>
          <p:cNvPr id="5" name="Date Placeholder 4">
            <a:extLst>
              <a:ext uri="{FF2B5EF4-FFF2-40B4-BE49-F238E27FC236}">
                <a16:creationId xmlns:a16="http://schemas.microsoft.com/office/drawing/2014/main" id="{8058476D-E10D-ED2A-FF08-F931AC2435F1}"/>
              </a:ext>
            </a:extLst>
          </p:cNvPr>
          <p:cNvSpPr>
            <a:spLocks noGrp="1"/>
          </p:cNvSpPr>
          <p:nvPr>
            <p:ph type="dt" sz="half" idx="10"/>
          </p:nvPr>
        </p:nvSpPr>
        <p:spPr>
          <a:xfrm>
            <a:off x="838200" y="6356350"/>
            <a:ext cx="1835227" cy="365125"/>
          </a:xfrm>
        </p:spPr>
        <p:txBody>
          <a:bodyPr vert="horz" lIns="91440" tIns="45720" rIns="91440" bIns="45720" rtlCol="0" anchor="ctr">
            <a:normAutofit/>
          </a:bodyPr>
          <a:lstStyle/>
          <a:p>
            <a:pPr>
              <a:lnSpc>
                <a:spcPct val="90000"/>
              </a:lnSpc>
              <a:spcAft>
                <a:spcPts val="600"/>
              </a:spcAft>
              <a:defRPr/>
            </a:pPr>
            <a:r>
              <a:rPr lang="en-US" sz="900">
                <a:solidFill>
                  <a:prstClr val="black">
                    <a:tint val="75000"/>
                  </a:prstClr>
                </a:solidFill>
                <a:latin typeface="Calibri" panose="020F0502020204030204"/>
              </a:rPr>
              <a:t>TuSpeaking 2022,  All rights reserved</a:t>
            </a:r>
          </a:p>
        </p:txBody>
      </p:sp>
      <p:sp>
        <p:nvSpPr>
          <p:cNvPr id="6" name="Footer Placeholder 5">
            <a:extLst>
              <a:ext uri="{FF2B5EF4-FFF2-40B4-BE49-F238E27FC236}">
                <a16:creationId xmlns:a16="http://schemas.microsoft.com/office/drawing/2014/main" id="{44736DA8-3D6B-C495-EF69-6E1D571333D4}"/>
              </a:ext>
            </a:extLst>
          </p:cNvPr>
          <p:cNvSpPr>
            <a:spLocks noGrp="1"/>
          </p:cNvSpPr>
          <p:nvPr>
            <p:ph type="ftr" sz="quarter" idx="11"/>
          </p:nvPr>
        </p:nvSpPr>
        <p:spPr>
          <a:xfrm>
            <a:off x="3213253" y="6356350"/>
            <a:ext cx="3012449" cy="365125"/>
          </a:xfrm>
        </p:spPr>
        <p:txBody>
          <a:bodyPr vert="horz" lIns="91440" tIns="45720" rIns="91440" bIns="45720" rtlCol="0" anchor="ctr">
            <a:normAutofit/>
          </a:bodyPr>
          <a:lstStyle/>
          <a:p>
            <a:pPr algn="r">
              <a:spcAft>
                <a:spcPts val="600"/>
              </a:spcAft>
              <a:defRPr/>
            </a:pPr>
            <a:r>
              <a:rPr lang="en-US" kern="1200" cap="none" spc="0" baseline="0">
                <a:solidFill>
                  <a:prstClr val="black">
                    <a:tint val="75000"/>
                  </a:prstClr>
                </a:solidFill>
                <a:latin typeface="Calibri" panose="020F0502020204030204"/>
                <a:ea typeface="+mn-ea"/>
                <a:cs typeface="+mn-cs"/>
              </a:rPr>
              <a:t>Corporate identity and corporate image</a:t>
            </a:r>
          </a:p>
        </p:txBody>
      </p:sp>
      <p:pic>
        <p:nvPicPr>
          <p:cNvPr id="12" name="Picture 11" descr="People in a job interview">
            <a:extLst>
              <a:ext uri="{FF2B5EF4-FFF2-40B4-BE49-F238E27FC236}">
                <a16:creationId xmlns:a16="http://schemas.microsoft.com/office/drawing/2014/main" id="{CBBBF777-47BC-10BB-A24A-D3D70037E85A}"/>
              </a:ext>
            </a:extLst>
          </p:cNvPr>
          <p:cNvPicPr>
            <a:picLocks noChangeAspect="1"/>
          </p:cNvPicPr>
          <p:nvPr/>
        </p:nvPicPr>
        <p:blipFill rotWithShape="1">
          <a:blip r:embed="rId2">
            <a:extLst>
              <a:ext uri="{28A0092B-C50C-407E-A947-70E740481C1C}">
                <a14:useLocalDpi xmlns:a14="http://schemas.microsoft.com/office/drawing/2010/main" val="0"/>
              </a:ext>
            </a:extLst>
          </a:blip>
          <a:srcRect l="24448" r="8706" b="2"/>
          <a:stretch/>
        </p:blipFill>
        <p:spPr>
          <a:xfrm>
            <a:off x="6621294" y="1295416"/>
            <a:ext cx="5570706" cy="5562584"/>
          </a:xfrm>
          <a:custGeom>
            <a:avLst/>
            <a:gdLst/>
            <a:ahLst/>
            <a:cxnLst/>
            <a:rect l="l" t="t" r="r" b="b"/>
            <a:pathLst>
              <a:path w="5570706" h="5562584">
                <a:moveTo>
                  <a:pt x="3374687" y="0"/>
                </a:moveTo>
                <a:cubicBezTo>
                  <a:pt x="4190094" y="0"/>
                  <a:pt x="4937956" y="289196"/>
                  <a:pt x="5521301" y="770615"/>
                </a:cubicBezTo>
                <a:lnTo>
                  <a:pt x="5570706" y="815517"/>
                </a:lnTo>
                <a:lnTo>
                  <a:pt x="5570706" y="5562584"/>
                </a:lnTo>
                <a:lnTo>
                  <a:pt x="808135" y="5562584"/>
                </a:lnTo>
                <a:lnTo>
                  <a:pt x="770615" y="5521302"/>
                </a:lnTo>
                <a:cubicBezTo>
                  <a:pt x="289196" y="4937957"/>
                  <a:pt x="0" y="4190095"/>
                  <a:pt x="0" y="3374687"/>
                </a:cubicBezTo>
                <a:cubicBezTo>
                  <a:pt x="0" y="1510899"/>
                  <a:pt x="1510899" y="0"/>
                  <a:pt x="3374687" y="0"/>
                </a:cubicBezTo>
                <a:close/>
              </a:path>
            </a:pathLst>
          </a:custGeom>
        </p:spPr>
      </p:pic>
      <p:sp>
        <p:nvSpPr>
          <p:cNvPr id="1082" name="!!Oval">
            <a:extLst>
              <a:ext uri="{FF2B5EF4-FFF2-40B4-BE49-F238E27FC236}">
                <a16:creationId xmlns:a16="http://schemas.microsoft.com/office/drawing/2014/main" id="{1D460C86-854F-4FB3-ABC2-E823D8FEB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3451" y="1656147"/>
            <a:ext cx="546100" cy="5461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84" name="!!Arc">
            <a:extLst>
              <a:ext uri="{FF2B5EF4-FFF2-40B4-BE49-F238E27FC236}">
                <a16:creationId xmlns:a16="http://schemas.microsoft.com/office/drawing/2014/main" id="{BB48116A-278A-4CC5-89D3-9DE8E8FF12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4739" y="587516"/>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B3FF2780-E0D1-CDA1-D09A-6D57E9D27123}"/>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D76B855D-E9CC-4FF8-AD85-6CDC7B89A0DE}" type="slidenum">
              <a:rPr lang="en-US">
                <a:solidFill>
                  <a:srgbClr val="FFFFFF"/>
                </a:solidFill>
                <a:latin typeface="Calibri" panose="020F0502020204030204"/>
              </a:rPr>
              <a:pPr>
                <a:spcAft>
                  <a:spcPts val="600"/>
                </a:spcAft>
                <a:defRPr/>
              </a:pPr>
              <a:t>15</a:t>
            </a:fld>
            <a:endParaRPr lang="en-US">
              <a:solidFill>
                <a:srgbClr val="FFFFFF"/>
              </a:solidFill>
              <a:latin typeface="Calibri" panose="020F0502020204030204"/>
            </a:endParaRPr>
          </a:p>
        </p:txBody>
      </p:sp>
    </p:spTree>
    <p:extLst>
      <p:ext uri="{BB962C8B-B14F-4D97-AF65-F5344CB8AC3E}">
        <p14:creationId xmlns:p14="http://schemas.microsoft.com/office/powerpoint/2010/main" val="1770887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6" name="Freeform: Shape 1075">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78" name="Freeform: Shape 1077">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1080" name="Rectangle 1079">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Businesswoman at job interview">
            <a:extLst>
              <a:ext uri="{FF2B5EF4-FFF2-40B4-BE49-F238E27FC236}">
                <a16:creationId xmlns:a16="http://schemas.microsoft.com/office/drawing/2014/main" id="{A4957005-4509-FC0A-43E3-21F484BAB679}"/>
              </a:ext>
            </a:extLst>
          </p:cNvPr>
          <p:cNvPicPr>
            <a:picLocks noChangeAspect="1"/>
          </p:cNvPicPr>
          <p:nvPr/>
        </p:nvPicPr>
        <p:blipFill rotWithShape="1">
          <a:blip r:embed="rId2">
            <a:extLst>
              <a:ext uri="{28A0092B-C50C-407E-A947-70E740481C1C}">
                <a14:useLocalDpi xmlns:a14="http://schemas.microsoft.com/office/drawing/2010/main" val="0"/>
              </a:ext>
            </a:extLst>
          </a:blip>
          <a:srcRect l="44245" r="8494" b="-1"/>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1082"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045F414-23DB-5221-3CEC-EAE73C0C86B4}"/>
              </a:ext>
            </a:extLst>
          </p:cNvPr>
          <p:cNvSpPr>
            <a:spLocks noGrp="1"/>
          </p:cNvSpPr>
          <p:nvPr>
            <p:ph type="title"/>
          </p:nvPr>
        </p:nvSpPr>
        <p:spPr>
          <a:xfrm>
            <a:off x="5827048" y="407987"/>
            <a:ext cx="5721484" cy="1325563"/>
          </a:xfrm>
        </p:spPr>
        <p:txBody>
          <a:bodyPr vert="horz" lIns="91440" tIns="45720" rIns="91440" bIns="45720" rtlCol="0" anchor="ctr">
            <a:normAutofit/>
          </a:bodyPr>
          <a:lstStyle/>
          <a:p>
            <a:r>
              <a:rPr lang="en-US" sz="4400" b="1" kern="1200">
                <a:solidFill>
                  <a:schemeClr val="tx1"/>
                </a:solidFill>
                <a:latin typeface="+mj-lt"/>
                <a:ea typeface="+mj-ea"/>
                <a:cs typeface="+mj-cs"/>
              </a:rPr>
              <a:t>Vocabulary</a:t>
            </a:r>
          </a:p>
        </p:txBody>
      </p:sp>
      <p:sp>
        <p:nvSpPr>
          <p:cNvPr id="8" name="Text Placeholder 7">
            <a:extLst>
              <a:ext uri="{FF2B5EF4-FFF2-40B4-BE49-F238E27FC236}">
                <a16:creationId xmlns:a16="http://schemas.microsoft.com/office/drawing/2014/main" id="{CFCD5225-7C23-F17D-F7BB-77D21F0F58C6}"/>
              </a:ext>
            </a:extLst>
          </p:cNvPr>
          <p:cNvSpPr>
            <a:spLocks noGrp="1"/>
          </p:cNvSpPr>
          <p:nvPr>
            <p:ph type="body" sz="half" idx="2"/>
          </p:nvPr>
        </p:nvSpPr>
        <p:spPr>
          <a:xfrm>
            <a:off x="5827048" y="1868487"/>
            <a:ext cx="5721484" cy="4351338"/>
          </a:xfrm>
        </p:spPr>
        <p:txBody>
          <a:bodyPr vert="horz" lIns="91440" tIns="45720" rIns="91440" bIns="45720" rtlCol="0">
            <a:normAutofit/>
          </a:bodyPr>
          <a:lstStyle/>
          <a:p>
            <a:pPr marL="0" indent="-228600">
              <a:spcBef>
                <a:spcPts val="1000"/>
              </a:spcBef>
              <a:spcAft>
                <a:spcPts val="0"/>
              </a:spcAft>
              <a:buFont typeface="Arial" panose="020B0604020202020204" pitchFamily="34" charset="0"/>
              <a:buChar char="•"/>
            </a:pPr>
            <a:r>
              <a:rPr lang="en-US" b="1" i="0">
                <a:effectLst/>
              </a:rPr>
              <a:t>Strengths </a:t>
            </a:r>
            <a:r>
              <a:rPr lang="en-US" i="0">
                <a:effectLst/>
              </a:rPr>
              <a:t>- positive qualities or attributes that the candidate possesses</a:t>
            </a:r>
            <a:endParaRPr lang="en-US">
              <a:effectLst/>
            </a:endParaRPr>
          </a:p>
          <a:p>
            <a:pPr marL="0" indent="-228600">
              <a:spcBef>
                <a:spcPts val="1000"/>
              </a:spcBef>
              <a:spcAft>
                <a:spcPts val="0"/>
              </a:spcAft>
              <a:buFont typeface="Arial" panose="020B0604020202020204" pitchFamily="34" charset="0"/>
              <a:buChar char="•"/>
            </a:pPr>
            <a:r>
              <a:rPr lang="en-US" b="1" i="0">
                <a:effectLst/>
              </a:rPr>
              <a:t>Weaknesses </a:t>
            </a:r>
            <a:r>
              <a:rPr lang="en-US" i="0">
                <a:effectLst/>
              </a:rPr>
              <a:t>- areas in which the candidate needs improvement</a:t>
            </a:r>
            <a:endParaRPr lang="en-US">
              <a:effectLst/>
            </a:endParaRPr>
          </a:p>
          <a:p>
            <a:pPr marL="0" indent="-228600">
              <a:spcBef>
                <a:spcPts val="1000"/>
              </a:spcBef>
              <a:spcAft>
                <a:spcPts val="0"/>
              </a:spcAft>
              <a:buFont typeface="Arial" panose="020B0604020202020204" pitchFamily="34" charset="0"/>
              <a:buChar char="•"/>
            </a:pPr>
            <a:r>
              <a:rPr lang="en-US" b="1" i="0">
                <a:effectLst/>
              </a:rPr>
              <a:t>Reference </a:t>
            </a:r>
            <a:r>
              <a:rPr lang="en-US" b="0" i="0">
                <a:effectLst/>
              </a:rPr>
              <a:t>- a person who can provide a recommendation for the candidate</a:t>
            </a:r>
            <a:endParaRPr lang="en-US">
              <a:effectLst/>
            </a:endParaRPr>
          </a:p>
          <a:p>
            <a:pPr marL="0" indent="-228600">
              <a:spcBef>
                <a:spcPts val="1000"/>
              </a:spcBef>
              <a:spcAft>
                <a:spcPts val="0"/>
              </a:spcAft>
              <a:buFont typeface="Arial" panose="020B0604020202020204" pitchFamily="34" charset="0"/>
              <a:buChar char="•"/>
            </a:pPr>
            <a:r>
              <a:rPr lang="en-US" b="1" i="0">
                <a:effectLst/>
              </a:rPr>
              <a:t>Salary </a:t>
            </a:r>
            <a:r>
              <a:rPr lang="en-US" b="0" i="0">
                <a:effectLst/>
              </a:rPr>
              <a:t>- the amount of money paid to the employee for their work</a:t>
            </a:r>
            <a:endParaRPr lang="en-US">
              <a:effectLst/>
            </a:endParaRPr>
          </a:p>
          <a:p>
            <a:pPr marL="0" indent="-228600">
              <a:spcBef>
                <a:spcPts val="1000"/>
              </a:spcBef>
              <a:spcAft>
                <a:spcPts val="0"/>
              </a:spcAft>
              <a:buFont typeface="Arial" panose="020B0604020202020204" pitchFamily="34" charset="0"/>
              <a:buChar char="•"/>
            </a:pPr>
            <a:r>
              <a:rPr lang="en-US" b="1" i="0">
                <a:effectLst/>
              </a:rPr>
              <a:t>Benefits</a:t>
            </a:r>
            <a:r>
              <a:rPr lang="en-US" b="0" i="0">
                <a:effectLst/>
              </a:rPr>
              <a:t> - additional compensation or perks offered to employees, such as health insurance, vacation time, or retirement plans</a:t>
            </a:r>
            <a:endParaRPr lang="en-US">
              <a:effectLst/>
            </a:endParaRPr>
          </a:p>
          <a:p>
            <a:pPr marL="0" indent="-228600">
              <a:spcBef>
                <a:spcPts val="1000"/>
              </a:spcBef>
              <a:spcAft>
                <a:spcPts val="0"/>
              </a:spcAft>
              <a:buFont typeface="Arial" panose="020B0604020202020204" pitchFamily="34" charset="0"/>
              <a:buChar char="•"/>
            </a:pPr>
            <a:r>
              <a:rPr lang="en-US" b="1" i="0">
                <a:effectLst/>
              </a:rPr>
              <a:t>Performance review </a:t>
            </a:r>
            <a:r>
              <a:rPr lang="en-US" b="0" i="0">
                <a:effectLst/>
              </a:rPr>
              <a:t>- a meeting between the employer and employee to discuss the employee's job performance</a:t>
            </a:r>
            <a:endParaRPr lang="en-US">
              <a:effectLst/>
            </a:endParaRPr>
          </a:p>
          <a:p>
            <a:pPr marL="0" indent="-228600">
              <a:spcBef>
                <a:spcPts val="1000"/>
              </a:spcBef>
              <a:spcAft>
                <a:spcPts val="0"/>
              </a:spcAft>
              <a:buFont typeface="Arial" panose="020B0604020202020204" pitchFamily="34" charset="0"/>
              <a:buChar char="•"/>
            </a:pPr>
            <a:r>
              <a:rPr lang="en-US" b="1" i="0">
                <a:effectLst/>
              </a:rPr>
              <a:t>Job offer </a:t>
            </a:r>
            <a:r>
              <a:rPr lang="en-US" b="0" i="0">
                <a:effectLst/>
              </a:rPr>
              <a:t>- an offer of employment given to a candidate who has successfully completed the interview process.</a:t>
            </a:r>
            <a:endParaRPr lang="en-US">
              <a:effectLst/>
            </a:endParaRPr>
          </a:p>
          <a:p>
            <a:pPr indent="-228600">
              <a:buFont typeface="Arial" panose="020B0604020202020204" pitchFamily="34" charset="0"/>
              <a:buChar char="•"/>
            </a:pPr>
            <a:endParaRPr lang="en-US" i="0">
              <a:effectLst/>
            </a:endParaRPr>
          </a:p>
          <a:p>
            <a:pPr indent="-228600">
              <a:buFont typeface="Arial" panose="020B0604020202020204" pitchFamily="34" charset="0"/>
              <a:buChar char="•"/>
            </a:pPr>
            <a:endParaRPr lang="en-US"/>
          </a:p>
        </p:txBody>
      </p:sp>
      <p:sp>
        <p:nvSpPr>
          <p:cNvPr id="5" name="Date Placeholder 4">
            <a:extLst>
              <a:ext uri="{FF2B5EF4-FFF2-40B4-BE49-F238E27FC236}">
                <a16:creationId xmlns:a16="http://schemas.microsoft.com/office/drawing/2014/main" id="{8058476D-E10D-ED2A-FF08-F931AC2435F1}"/>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defRPr/>
            </a:pPr>
            <a:r>
              <a:rPr lang="en-US">
                <a:solidFill>
                  <a:srgbClr val="FFFFFF"/>
                </a:solidFill>
                <a:latin typeface="Calibri" panose="020F0502020204030204"/>
              </a:rPr>
              <a:t>TuSpeaking 2022,  All rights reserved</a:t>
            </a:r>
          </a:p>
        </p:txBody>
      </p:sp>
      <p:sp>
        <p:nvSpPr>
          <p:cNvPr id="6" name="Footer Placeholder 5">
            <a:extLst>
              <a:ext uri="{FF2B5EF4-FFF2-40B4-BE49-F238E27FC236}">
                <a16:creationId xmlns:a16="http://schemas.microsoft.com/office/drawing/2014/main" id="{44736DA8-3D6B-C495-EF69-6E1D571333D4}"/>
              </a:ext>
            </a:extLst>
          </p:cNvPr>
          <p:cNvSpPr>
            <a:spLocks noGrp="1"/>
          </p:cNvSpPr>
          <p:nvPr>
            <p:ph type="ftr" sz="quarter" idx="11"/>
          </p:nvPr>
        </p:nvSpPr>
        <p:spPr>
          <a:xfrm>
            <a:off x="5827047" y="6356350"/>
            <a:ext cx="3944913" cy="365125"/>
          </a:xfrm>
        </p:spPr>
        <p:txBody>
          <a:bodyPr vert="horz" lIns="91440" tIns="45720" rIns="91440" bIns="45720" rtlCol="0" anchor="ctr">
            <a:normAutofit/>
          </a:bodyPr>
          <a:lstStyle/>
          <a:p>
            <a:pPr algn="l">
              <a:spcAft>
                <a:spcPts val="600"/>
              </a:spcAft>
              <a:defRPr/>
            </a:pPr>
            <a:r>
              <a:rPr lang="en-US" kern="1200" cap="none" spc="0" baseline="0">
                <a:solidFill>
                  <a:prstClr val="black">
                    <a:tint val="75000"/>
                  </a:prstClr>
                </a:solidFill>
                <a:latin typeface="Calibri" panose="020F0502020204030204"/>
                <a:ea typeface="+mn-ea"/>
                <a:cs typeface="+mn-cs"/>
              </a:rPr>
              <a:t>Corporate identity and corporate image</a:t>
            </a:r>
          </a:p>
        </p:txBody>
      </p:sp>
      <p:sp>
        <p:nvSpPr>
          <p:cNvPr id="7" name="Slide Number Placeholder 6">
            <a:extLst>
              <a:ext uri="{FF2B5EF4-FFF2-40B4-BE49-F238E27FC236}">
                <a16:creationId xmlns:a16="http://schemas.microsoft.com/office/drawing/2014/main" id="{B3FF2780-E0D1-CDA1-D09A-6D57E9D27123}"/>
              </a:ext>
            </a:extLst>
          </p:cNvPr>
          <p:cNvSpPr>
            <a:spLocks noGrp="1"/>
          </p:cNvSpPr>
          <p:nvPr>
            <p:ph type="sldNum" sz="quarter" idx="12"/>
          </p:nvPr>
        </p:nvSpPr>
        <p:spPr>
          <a:xfrm>
            <a:off x="10047382" y="6356350"/>
            <a:ext cx="1306417" cy="365125"/>
          </a:xfrm>
        </p:spPr>
        <p:txBody>
          <a:bodyPr vert="horz" lIns="91440" tIns="45720" rIns="91440" bIns="45720" rtlCol="0" anchor="ctr">
            <a:normAutofit/>
          </a:bodyPr>
          <a:lstStyle/>
          <a:p>
            <a:pPr>
              <a:spcAft>
                <a:spcPts val="600"/>
              </a:spcAft>
              <a:defRPr/>
            </a:pPr>
            <a:fld id="{D76B855D-E9CC-4FF8-AD85-6CDC7B89A0DE}" type="slidenum">
              <a:rPr lang="en-US">
                <a:solidFill>
                  <a:prstClr val="black">
                    <a:tint val="75000"/>
                  </a:prstClr>
                </a:solidFill>
                <a:latin typeface="Calibri" panose="020F0502020204030204"/>
              </a:rPr>
              <a:pPr>
                <a:spcAft>
                  <a:spcPts val="600"/>
                </a:spcAft>
                <a:defRPr/>
              </a:pPr>
              <a:t>16</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1159883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4" name="Freeform: Shape 2073">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6" name="Freeform: Shape 2075">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2078" name="Rectangle 2077">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71F97C7-35D5-B6B3-EF75-2E1F2A84F463}"/>
              </a:ext>
            </a:extLst>
          </p:cNvPr>
          <p:cNvSpPr>
            <a:spLocks noGrp="1"/>
          </p:cNvSpPr>
          <p:nvPr>
            <p:ph type="title"/>
          </p:nvPr>
        </p:nvSpPr>
        <p:spPr>
          <a:xfrm>
            <a:off x="838200" y="365125"/>
            <a:ext cx="5393361" cy="1325563"/>
          </a:xfrm>
        </p:spPr>
        <p:txBody>
          <a:bodyPr vert="horz" lIns="91440" tIns="45720" rIns="91440" bIns="45720" rtlCol="0" anchor="ctr">
            <a:normAutofit/>
          </a:bodyPr>
          <a:lstStyle/>
          <a:p>
            <a:r>
              <a:rPr lang="en-US" sz="4400" b="1" kern="1200">
                <a:solidFill>
                  <a:schemeClr val="tx1"/>
                </a:solidFill>
                <a:latin typeface="+mj-lt"/>
                <a:ea typeface="+mj-ea"/>
                <a:cs typeface="+mj-cs"/>
              </a:rPr>
              <a:t>Job interview questions</a:t>
            </a:r>
          </a:p>
        </p:txBody>
      </p:sp>
      <p:sp>
        <p:nvSpPr>
          <p:cNvPr id="4" name="Text Placeholder 3">
            <a:extLst>
              <a:ext uri="{FF2B5EF4-FFF2-40B4-BE49-F238E27FC236}">
                <a16:creationId xmlns:a16="http://schemas.microsoft.com/office/drawing/2014/main" id="{7E0A0E76-B668-79A0-0DF1-CCE98CEFA0C1}"/>
              </a:ext>
            </a:extLst>
          </p:cNvPr>
          <p:cNvSpPr>
            <a:spLocks noGrp="1"/>
          </p:cNvSpPr>
          <p:nvPr>
            <p:ph type="body" sz="half" idx="2"/>
          </p:nvPr>
        </p:nvSpPr>
        <p:spPr>
          <a:xfrm>
            <a:off x="838200" y="1825625"/>
            <a:ext cx="5393361" cy="4351338"/>
          </a:xfrm>
        </p:spPr>
        <p:txBody>
          <a:bodyPr vert="horz" lIns="91440" tIns="45720" rIns="91440" bIns="45720" rtlCol="0">
            <a:normAutofit/>
          </a:bodyPr>
          <a:lstStyle/>
          <a:p>
            <a:pPr indent="-228600">
              <a:buFont typeface="Arial" panose="020B0604020202020204" pitchFamily="34" charset="0"/>
              <a:buChar char="•"/>
            </a:pPr>
            <a:r>
              <a:rPr lang="en-US" sz="1200" b="0" i="0">
                <a:effectLst/>
              </a:rPr>
              <a:t>Can you tell me about yourself?</a:t>
            </a:r>
          </a:p>
          <a:p>
            <a:pPr marL="285750" indent="-228600">
              <a:buFont typeface="Arial" panose="020B0604020202020204" pitchFamily="34" charset="0"/>
              <a:buChar char="•"/>
            </a:pPr>
            <a:r>
              <a:rPr lang="en-US" sz="1200" b="0" i="0">
                <a:effectLst/>
              </a:rPr>
              <a:t>Sure, I'm a recent college graduate with a degree in marketing. I've completed several internships in the field and I'm excited to start my career. In my free time, I enjoy hiking and reading.</a:t>
            </a:r>
          </a:p>
          <a:p>
            <a:pPr indent="-228600">
              <a:buFont typeface="Arial" panose="020B0604020202020204" pitchFamily="34" charset="0"/>
              <a:buChar char="•"/>
            </a:pPr>
            <a:r>
              <a:rPr lang="en-US" sz="1200" b="0" i="0">
                <a:effectLst/>
              </a:rPr>
              <a:t>What are your strengths?</a:t>
            </a:r>
          </a:p>
          <a:p>
            <a:pPr marL="285750" indent="-228600">
              <a:buFont typeface="Arial" panose="020B0604020202020204" pitchFamily="34" charset="0"/>
              <a:buChar char="•"/>
            </a:pPr>
            <a:r>
              <a:rPr lang="en-US" sz="1200" b="0" i="0">
                <a:effectLst/>
              </a:rPr>
              <a:t>One of my strengths is my ability to work well in a team. I enjoy collaborating with others and I think that my communication skills help facilitate teamwork. Another strength of mine is my attention to detail, which allows me to catch mistakes and ensure that my work is of high quality.</a:t>
            </a:r>
          </a:p>
          <a:p>
            <a:pPr indent="-228600">
              <a:buFont typeface="Arial" panose="020B0604020202020204" pitchFamily="34" charset="0"/>
              <a:buChar char="•"/>
            </a:pPr>
            <a:r>
              <a:rPr lang="en-US" sz="1200" b="0" i="0">
                <a:effectLst/>
              </a:rPr>
              <a:t>What are your weaknesses?</a:t>
            </a:r>
          </a:p>
          <a:p>
            <a:pPr marL="285750" indent="-228600">
              <a:buFont typeface="Arial" panose="020B0604020202020204" pitchFamily="34" charset="0"/>
              <a:buChar char="•"/>
            </a:pPr>
            <a:r>
              <a:rPr lang="en-US" sz="1200" b="0" i="0">
                <a:effectLst/>
              </a:rPr>
              <a:t>I would say that one of my weaknesses is public speaking. It's not something that comes naturally to me, but I've been working on it by practicing in front of a mirror and taking public speaking courses.</a:t>
            </a:r>
          </a:p>
          <a:p>
            <a:pPr indent="-228600">
              <a:buFont typeface="Arial" panose="020B0604020202020204" pitchFamily="34" charset="0"/>
              <a:buChar char="•"/>
            </a:pPr>
            <a:r>
              <a:rPr lang="en-US" sz="1200" b="0" i="0">
                <a:effectLst/>
              </a:rPr>
              <a:t>Why do you want to work for this company?</a:t>
            </a:r>
          </a:p>
          <a:p>
            <a:pPr marL="285750" indent="-228600">
              <a:buFont typeface="Arial" panose="020B0604020202020204" pitchFamily="34" charset="0"/>
              <a:buChar char="•"/>
            </a:pPr>
            <a:r>
              <a:rPr lang="en-US" sz="1200" b="0" i="0">
                <a:effectLst/>
              </a:rPr>
              <a:t>I'm excited about the work that this company is doing in the field of sustainable energy. I've always been interested in environmental issues, and I think that this company's mission aligns with my values.</a:t>
            </a:r>
          </a:p>
          <a:p>
            <a:pPr indent="-228600">
              <a:buFont typeface="Arial" panose="020B0604020202020204" pitchFamily="34" charset="0"/>
              <a:buChar char="•"/>
            </a:pPr>
            <a:endParaRPr lang="en-US" sz="1200" b="1"/>
          </a:p>
          <a:p>
            <a:pPr indent="-228600">
              <a:buFont typeface="Arial" panose="020B0604020202020204" pitchFamily="34" charset="0"/>
              <a:buChar char="•"/>
            </a:pPr>
            <a:endParaRPr lang="en-US" sz="1200" b="1" i="1"/>
          </a:p>
          <a:p>
            <a:pPr indent="-228600">
              <a:buFont typeface="Arial" panose="020B0604020202020204" pitchFamily="34" charset="0"/>
              <a:buChar char="•"/>
            </a:pPr>
            <a:endParaRPr lang="en-US" sz="1200" b="1" i="1"/>
          </a:p>
          <a:p>
            <a:pPr indent="-228600">
              <a:buFont typeface="Arial" panose="020B0604020202020204" pitchFamily="34" charset="0"/>
              <a:buChar char="•"/>
            </a:pPr>
            <a:endParaRPr lang="en-US" sz="1200" b="1" i="1"/>
          </a:p>
        </p:txBody>
      </p:sp>
      <p:pic>
        <p:nvPicPr>
          <p:cNvPr id="9" name="Content Placeholder 8" descr="Two business people communicating">
            <a:extLst>
              <a:ext uri="{FF2B5EF4-FFF2-40B4-BE49-F238E27FC236}">
                <a16:creationId xmlns:a16="http://schemas.microsoft.com/office/drawing/2014/main" id="{3FEB8D3E-0EBD-317E-0CE1-B57F7215FC2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250" r="29999" b="-2"/>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5" name="Date Placeholder 4">
            <a:extLst>
              <a:ext uri="{FF2B5EF4-FFF2-40B4-BE49-F238E27FC236}">
                <a16:creationId xmlns:a16="http://schemas.microsoft.com/office/drawing/2014/main" id="{8168A6D1-2C10-F31B-162D-6706E45CBF23}"/>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defRPr/>
            </a:pPr>
            <a:r>
              <a:rPr lang="en-US">
                <a:solidFill>
                  <a:prstClr val="black">
                    <a:tint val="75000"/>
                  </a:prstClr>
                </a:solidFill>
                <a:latin typeface="Calibri" panose="020F0502020204030204"/>
              </a:rPr>
              <a:t>TuSpeaking 2022,  All rights reserved</a:t>
            </a:r>
          </a:p>
        </p:txBody>
      </p:sp>
      <p:sp>
        <p:nvSpPr>
          <p:cNvPr id="6" name="Footer Placeholder 5">
            <a:extLst>
              <a:ext uri="{FF2B5EF4-FFF2-40B4-BE49-F238E27FC236}">
                <a16:creationId xmlns:a16="http://schemas.microsoft.com/office/drawing/2014/main" id="{316D329B-3953-76D7-0CDD-DA0002A3340F}"/>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cap="none" spc="0" baseline="0">
                <a:solidFill>
                  <a:prstClr val="black">
                    <a:tint val="75000"/>
                  </a:prstClr>
                </a:solidFill>
                <a:latin typeface="Calibri" panose="020F0502020204030204"/>
                <a:ea typeface="+mn-ea"/>
                <a:cs typeface="+mn-cs"/>
              </a:rPr>
              <a:t>Corporate identity and corporate image</a:t>
            </a:r>
          </a:p>
        </p:txBody>
      </p:sp>
      <p:sp>
        <p:nvSpPr>
          <p:cNvPr id="7" name="Slide Number Placeholder 6">
            <a:extLst>
              <a:ext uri="{FF2B5EF4-FFF2-40B4-BE49-F238E27FC236}">
                <a16:creationId xmlns:a16="http://schemas.microsoft.com/office/drawing/2014/main" id="{C2E17882-6736-06C3-AA51-5241CF48C2B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D76B855D-E9CC-4FF8-AD85-6CDC7B89A0DE}" type="slidenum">
              <a:rPr lang="en-US">
                <a:solidFill>
                  <a:prstClr val="black">
                    <a:tint val="75000"/>
                  </a:prstClr>
                </a:solidFill>
                <a:latin typeface="Calibri" panose="020F0502020204030204"/>
              </a:rPr>
              <a:pPr>
                <a:spcAft>
                  <a:spcPts val="600"/>
                </a:spcAft>
                <a:defRPr/>
              </a:pPr>
              <a:t>17</a:t>
            </a:fld>
            <a:endParaRPr lang="en-US">
              <a:solidFill>
                <a:prstClr val="black">
                  <a:tint val="75000"/>
                </a:prstClr>
              </a:solidFill>
              <a:latin typeface="Calibri" panose="020F0502020204030204"/>
            </a:endParaRPr>
          </a:p>
        </p:txBody>
      </p:sp>
      <p:sp>
        <p:nvSpPr>
          <p:cNvPr id="2080"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82"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9428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4" name="Freeform: Shape 2073">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6" name="Freeform: Shape 2075">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2078" name="Rectangle 2077">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71F97C7-35D5-B6B3-EF75-2E1F2A84F463}"/>
              </a:ext>
            </a:extLst>
          </p:cNvPr>
          <p:cNvSpPr>
            <a:spLocks noGrp="1"/>
          </p:cNvSpPr>
          <p:nvPr>
            <p:ph type="title"/>
          </p:nvPr>
        </p:nvSpPr>
        <p:spPr>
          <a:xfrm>
            <a:off x="838200" y="365125"/>
            <a:ext cx="5393361" cy="1325563"/>
          </a:xfrm>
        </p:spPr>
        <p:txBody>
          <a:bodyPr vert="horz" lIns="91440" tIns="45720" rIns="91440" bIns="45720" rtlCol="0" anchor="ctr">
            <a:normAutofit/>
          </a:bodyPr>
          <a:lstStyle/>
          <a:p>
            <a:r>
              <a:rPr lang="en-US" sz="4400" b="1" kern="1200" dirty="0">
                <a:solidFill>
                  <a:schemeClr val="tx1"/>
                </a:solidFill>
                <a:latin typeface="+mj-lt"/>
                <a:ea typeface="+mj-ea"/>
                <a:cs typeface="+mj-cs"/>
              </a:rPr>
              <a:t>Job interview questions</a:t>
            </a:r>
          </a:p>
        </p:txBody>
      </p:sp>
      <p:sp>
        <p:nvSpPr>
          <p:cNvPr id="4" name="Text Placeholder 3">
            <a:extLst>
              <a:ext uri="{FF2B5EF4-FFF2-40B4-BE49-F238E27FC236}">
                <a16:creationId xmlns:a16="http://schemas.microsoft.com/office/drawing/2014/main" id="{7E0A0E76-B668-79A0-0DF1-CCE98CEFA0C1}"/>
              </a:ext>
            </a:extLst>
          </p:cNvPr>
          <p:cNvSpPr>
            <a:spLocks noGrp="1"/>
          </p:cNvSpPr>
          <p:nvPr>
            <p:ph type="body" sz="half" idx="2"/>
          </p:nvPr>
        </p:nvSpPr>
        <p:spPr>
          <a:xfrm>
            <a:off x="838200" y="1825625"/>
            <a:ext cx="5393361" cy="4351338"/>
          </a:xfrm>
        </p:spPr>
        <p:txBody>
          <a:bodyPr vert="horz" lIns="91440" tIns="45720" rIns="91440" bIns="45720" rtlCol="0">
            <a:normAutofit/>
          </a:bodyPr>
          <a:lstStyle/>
          <a:p>
            <a:pPr indent="-228600">
              <a:buFont typeface="Arial" panose="020B0604020202020204" pitchFamily="34" charset="0"/>
              <a:buChar char="•"/>
            </a:pPr>
            <a:r>
              <a:rPr lang="en-US" sz="1200" b="1" i="0" dirty="0">
                <a:effectLst/>
              </a:rPr>
              <a:t>Can you tell me about yourself?</a:t>
            </a:r>
          </a:p>
          <a:p>
            <a:pPr marL="285750" indent="-228600">
              <a:buFont typeface="Arial" panose="020B0604020202020204" pitchFamily="34" charset="0"/>
              <a:buChar char="•"/>
            </a:pPr>
            <a:r>
              <a:rPr lang="en-US" sz="1200" b="0" i="0" dirty="0">
                <a:effectLst/>
              </a:rPr>
              <a:t>Sure, I'm a recent college graduate with a degree in marketing. I've completed several internships in the field and I'm excited to start my career. In my free time, I enjoy hiking and reading.</a:t>
            </a:r>
          </a:p>
          <a:p>
            <a:pPr indent="-228600">
              <a:buFont typeface="Arial" panose="020B0604020202020204" pitchFamily="34" charset="0"/>
              <a:buChar char="•"/>
            </a:pPr>
            <a:r>
              <a:rPr lang="en-US" sz="1200" b="1" i="0" dirty="0">
                <a:effectLst/>
              </a:rPr>
              <a:t>What are your strengths?</a:t>
            </a:r>
          </a:p>
          <a:p>
            <a:pPr marL="285750" indent="-228600">
              <a:buFont typeface="Arial" panose="020B0604020202020204" pitchFamily="34" charset="0"/>
              <a:buChar char="•"/>
            </a:pPr>
            <a:r>
              <a:rPr lang="en-US" sz="1200" b="0" i="0" dirty="0">
                <a:effectLst/>
              </a:rPr>
              <a:t>One of my strengths is my ability to work well in a team. I enjoy collaborating with others and I think that my communication skills help facilitate teamwork. Another strength of mine is my attention to detail, which allows me to catch mistakes and ensure that my work is of high quality.</a:t>
            </a:r>
          </a:p>
          <a:p>
            <a:pPr indent="-228600">
              <a:buFont typeface="Arial" panose="020B0604020202020204" pitchFamily="34" charset="0"/>
              <a:buChar char="•"/>
            </a:pPr>
            <a:r>
              <a:rPr lang="en-US" sz="1200" b="1" i="0" dirty="0">
                <a:effectLst/>
              </a:rPr>
              <a:t>What are your weaknesses?</a:t>
            </a:r>
          </a:p>
          <a:p>
            <a:pPr marL="285750" indent="-228600">
              <a:buFont typeface="Arial" panose="020B0604020202020204" pitchFamily="34" charset="0"/>
              <a:buChar char="•"/>
            </a:pPr>
            <a:r>
              <a:rPr lang="en-US" sz="1200" b="0" i="0" dirty="0">
                <a:effectLst/>
              </a:rPr>
              <a:t>I would say that one of my weaknesses is public speaking. It's not something that comes naturally to me, but I've been working on it by practicing in front of a mirror and taking public speaking courses.</a:t>
            </a:r>
          </a:p>
          <a:p>
            <a:pPr indent="-228600">
              <a:buFont typeface="Arial" panose="020B0604020202020204" pitchFamily="34" charset="0"/>
              <a:buChar char="•"/>
            </a:pPr>
            <a:r>
              <a:rPr lang="en-US" sz="1200" b="1" i="0" dirty="0">
                <a:effectLst/>
              </a:rPr>
              <a:t>Why do you want to work for this company?</a:t>
            </a:r>
          </a:p>
          <a:p>
            <a:pPr marL="285750" indent="-228600">
              <a:buFont typeface="Arial" panose="020B0604020202020204" pitchFamily="34" charset="0"/>
              <a:buChar char="•"/>
            </a:pPr>
            <a:r>
              <a:rPr lang="en-US" sz="1200" b="0" i="0" dirty="0">
                <a:effectLst/>
              </a:rPr>
              <a:t>I'm excited about the work that this company is doing in the field of sustainable energy. I've always been interested in environmental issues, and I think that this company's mission aligns with my values.</a:t>
            </a:r>
          </a:p>
          <a:p>
            <a:pPr indent="-228600">
              <a:buFont typeface="Arial" panose="020B0604020202020204" pitchFamily="34" charset="0"/>
              <a:buChar char="•"/>
            </a:pPr>
            <a:endParaRPr lang="en-US" sz="1200" b="1" dirty="0"/>
          </a:p>
          <a:p>
            <a:pPr indent="-228600">
              <a:buFont typeface="Arial" panose="020B0604020202020204" pitchFamily="34" charset="0"/>
              <a:buChar char="•"/>
            </a:pPr>
            <a:endParaRPr lang="en-US" sz="1200" b="1" i="1" dirty="0"/>
          </a:p>
          <a:p>
            <a:pPr indent="-228600">
              <a:buFont typeface="Arial" panose="020B0604020202020204" pitchFamily="34" charset="0"/>
              <a:buChar char="•"/>
            </a:pPr>
            <a:endParaRPr lang="en-US" sz="1200" b="1" i="1" dirty="0"/>
          </a:p>
          <a:p>
            <a:pPr indent="-228600">
              <a:buFont typeface="Arial" panose="020B0604020202020204" pitchFamily="34" charset="0"/>
              <a:buChar char="•"/>
            </a:pPr>
            <a:endParaRPr lang="en-US" sz="1200" b="1" i="1" dirty="0"/>
          </a:p>
        </p:txBody>
      </p:sp>
      <p:pic>
        <p:nvPicPr>
          <p:cNvPr id="9" name="Content Placeholder 8" descr="Two business people communicating">
            <a:extLst>
              <a:ext uri="{FF2B5EF4-FFF2-40B4-BE49-F238E27FC236}">
                <a16:creationId xmlns:a16="http://schemas.microsoft.com/office/drawing/2014/main" id="{3FEB8D3E-0EBD-317E-0CE1-B57F7215FC2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250" r="29999" b="-2"/>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5" name="Date Placeholder 4">
            <a:extLst>
              <a:ext uri="{FF2B5EF4-FFF2-40B4-BE49-F238E27FC236}">
                <a16:creationId xmlns:a16="http://schemas.microsoft.com/office/drawing/2014/main" id="{8168A6D1-2C10-F31B-162D-6706E45CBF23}"/>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defRPr/>
            </a:pPr>
            <a:r>
              <a:rPr lang="en-US">
                <a:solidFill>
                  <a:prstClr val="black">
                    <a:tint val="75000"/>
                  </a:prstClr>
                </a:solidFill>
                <a:latin typeface="Calibri" panose="020F0502020204030204"/>
              </a:rPr>
              <a:t>TuSpeaking 2022,  All rights reserved</a:t>
            </a:r>
          </a:p>
        </p:txBody>
      </p:sp>
      <p:sp>
        <p:nvSpPr>
          <p:cNvPr id="6" name="Footer Placeholder 5">
            <a:extLst>
              <a:ext uri="{FF2B5EF4-FFF2-40B4-BE49-F238E27FC236}">
                <a16:creationId xmlns:a16="http://schemas.microsoft.com/office/drawing/2014/main" id="{316D329B-3953-76D7-0CDD-DA0002A3340F}"/>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cap="none" spc="0" baseline="0">
                <a:solidFill>
                  <a:prstClr val="black">
                    <a:tint val="75000"/>
                  </a:prstClr>
                </a:solidFill>
                <a:latin typeface="Calibri" panose="020F0502020204030204"/>
                <a:ea typeface="+mn-ea"/>
                <a:cs typeface="+mn-cs"/>
              </a:rPr>
              <a:t>Corporate identity and corporate image</a:t>
            </a:r>
          </a:p>
        </p:txBody>
      </p:sp>
      <p:sp>
        <p:nvSpPr>
          <p:cNvPr id="7" name="Slide Number Placeholder 6">
            <a:extLst>
              <a:ext uri="{FF2B5EF4-FFF2-40B4-BE49-F238E27FC236}">
                <a16:creationId xmlns:a16="http://schemas.microsoft.com/office/drawing/2014/main" id="{C2E17882-6736-06C3-AA51-5241CF48C2B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D76B855D-E9CC-4FF8-AD85-6CDC7B89A0DE}" type="slidenum">
              <a:rPr lang="en-US">
                <a:solidFill>
                  <a:prstClr val="black">
                    <a:tint val="75000"/>
                  </a:prstClr>
                </a:solidFill>
                <a:latin typeface="Calibri" panose="020F0502020204030204"/>
              </a:rPr>
              <a:pPr>
                <a:spcAft>
                  <a:spcPts val="600"/>
                </a:spcAft>
                <a:defRPr/>
              </a:pPr>
              <a:t>18</a:t>
            </a:fld>
            <a:endParaRPr lang="en-US">
              <a:solidFill>
                <a:prstClr val="black">
                  <a:tint val="75000"/>
                </a:prstClr>
              </a:solidFill>
              <a:latin typeface="Calibri" panose="020F0502020204030204"/>
            </a:endParaRPr>
          </a:p>
        </p:txBody>
      </p:sp>
      <p:sp>
        <p:nvSpPr>
          <p:cNvPr id="2080"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82"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5676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87" name="Freeform: Shape 2086">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9" name="Freeform: Shape 2088">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2091" name="Rectangle 2090">
            <a:extLst>
              <a:ext uri="{FF2B5EF4-FFF2-40B4-BE49-F238E27FC236}">
                <a16:creationId xmlns:a16="http://schemas.microsoft.com/office/drawing/2014/main" id="{6A84B152-3496-4C52-AF08-97AFFC09D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3" name="Freeform: Shape 2092">
            <a:extLst>
              <a:ext uri="{FF2B5EF4-FFF2-40B4-BE49-F238E27FC236}">
                <a16:creationId xmlns:a16="http://schemas.microsoft.com/office/drawing/2014/main" id="{6B2ADB95-0FA3-4BD7-A8AC-89D014A8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7E0A0E76-B668-79A0-0DF1-CCE98CEFA0C1}"/>
              </a:ext>
            </a:extLst>
          </p:cNvPr>
          <p:cNvSpPr>
            <a:spLocks noGrp="1"/>
          </p:cNvSpPr>
          <p:nvPr>
            <p:ph type="body" sz="half" idx="2"/>
          </p:nvPr>
        </p:nvSpPr>
        <p:spPr>
          <a:xfrm>
            <a:off x="838200" y="1825625"/>
            <a:ext cx="5393361" cy="4351338"/>
          </a:xfrm>
        </p:spPr>
        <p:txBody>
          <a:bodyPr vert="horz" lIns="91440" tIns="45720" rIns="91440" bIns="45720" rtlCol="0">
            <a:normAutofit/>
          </a:bodyPr>
          <a:lstStyle/>
          <a:p>
            <a:pPr indent="-228600">
              <a:buFont typeface="Arial" panose="020B0604020202020204" pitchFamily="34" charset="0"/>
              <a:buChar char="•"/>
            </a:pPr>
            <a:r>
              <a:rPr lang="en-US" sz="1400" b="1" i="0" dirty="0">
                <a:effectLst/>
              </a:rPr>
              <a:t>Can you tell me about yourself?</a:t>
            </a:r>
          </a:p>
          <a:p>
            <a:pPr indent="-228600">
              <a:lnSpc>
                <a:spcPct val="300000"/>
              </a:lnSpc>
              <a:buFont typeface="Arial" panose="020B0604020202020204" pitchFamily="34" charset="0"/>
              <a:buChar char="•"/>
            </a:pPr>
            <a:r>
              <a:rPr lang="en-US" sz="1400" b="1" i="0" dirty="0">
                <a:effectLst/>
              </a:rPr>
              <a:t>What are your strengths?</a:t>
            </a:r>
          </a:p>
          <a:p>
            <a:pPr indent="-228600">
              <a:lnSpc>
                <a:spcPct val="300000"/>
              </a:lnSpc>
              <a:buFont typeface="Arial" panose="020B0604020202020204" pitchFamily="34" charset="0"/>
              <a:buChar char="•"/>
            </a:pPr>
            <a:r>
              <a:rPr lang="en-US" sz="1400" b="1" i="0" dirty="0">
                <a:effectLst/>
              </a:rPr>
              <a:t>What are your weaknesses?</a:t>
            </a:r>
          </a:p>
          <a:p>
            <a:pPr indent="-228600">
              <a:lnSpc>
                <a:spcPct val="300000"/>
              </a:lnSpc>
              <a:buFont typeface="Arial" panose="020B0604020202020204" pitchFamily="34" charset="0"/>
              <a:buChar char="•"/>
            </a:pPr>
            <a:r>
              <a:rPr lang="en-GB" sz="1400" b="1" dirty="0"/>
              <a:t>What skills do you have?</a:t>
            </a:r>
            <a:endParaRPr lang="en-US" sz="1400" b="1" dirty="0"/>
          </a:p>
          <a:p>
            <a:pPr indent="-228600">
              <a:lnSpc>
                <a:spcPct val="300000"/>
              </a:lnSpc>
              <a:buFont typeface="Arial" panose="020B0604020202020204" pitchFamily="34" charset="0"/>
              <a:buChar char="•"/>
            </a:pPr>
            <a:r>
              <a:rPr lang="en-US" sz="1400" b="1" dirty="0"/>
              <a:t>What motivates you?</a:t>
            </a:r>
          </a:p>
          <a:p>
            <a:pPr indent="-228600">
              <a:lnSpc>
                <a:spcPct val="300000"/>
              </a:lnSpc>
              <a:buFont typeface="Arial" panose="020B0604020202020204" pitchFamily="34" charset="0"/>
              <a:buChar char="•"/>
            </a:pPr>
            <a:r>
              <a:rPr lang="en-GB" sz="1400" b="1" dirty="0"/>
              <a:t>What experience do you have?</a:t>
            </a:r>
            <a:endParaRPr lang="en-US" sz="1400" b="1" dirty="0"/>
          </a:p>
          <a:p>
            <a:pPr indent="-228600">
              <a:buFont typeface="Arial" panose="020B0604020202020204" pitchFamily="34" charset="0"/>
              <a:buChar char="•"/>
            </a:pPr>
            <a:endParaRPr lang="en-US" sz="1200" b="1" i="1" dirty="0"/>
          </a:p>
        </p:txBody>
      </p:sp>
      <p:sp>
        <p:nvSpPr>
          <p:cNvPr id="2095" name="Oval 2094">
            <a:extLst>
              <a:ext uri="{FF2B5EF4-FFF2-40B4-BE49-F238E27FC236}">
                <a16:creationId xmlns:a16="http://schemas.microsoft.com/office/drawing/2014/main" id="{C924DBCE-E731-4B22-8181-A39C1D862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630884" cy="630884"/>
          </a:xfrm>
          <a:prstGeom prst="ellipse">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8168A6D1-2C10-F31B-162D-6706E45CBF23}"/>
              </a:ext>
            </a:extLst>
          </p:cNvPr>
          <p:cNvSpPr>
            <a:spLocks noGrp="1"/>
          </p:cNvSpPr>
          <p:nvPr>
            <p:ph type="dt" sz="half" idx="10"/>
          </p:nvPr>
        </p:nvSpPr>
        <p:spPr>
          <a:xfrm>
            <a:off x="838200" y="6356350"/>
            <a:ext cx="1332123" cy="365125"/>
          </a:xfrm>
        </p:spPr>
        <p:txBody>
          <a:bodyPr vert="horz" lIns="91440" tIns="45720" rIns="91440" bIns="45720" rtlCol="0" anchor="ctr">
            <a:normAutofit/>
          </a:bodyPr>
          <a:lstStyle/>
          <a:p>
            <a:pPr>
              <a:lnSpc>
                <a:spcPct val="90000"/>
              </a:lnSpc>
              <a:spcAft>
                <a:spcPts val="600"/>
              </a:spcAft>
              <a:defRPr/>
            </a:pPr>
            <a:r>
              <a:rPr lang="en-US" sz="900">
                <a:solidFill>
                  <a:prstClr val="black">
                    <a:tint val="75000"/>
                  </a:prstClr>
                </a:solidFill>
                <a:latin typeface="Calibri" panose="020F0502020204030204"/>
              </a:rPr>
              <a:t>TuSpeaking 2022,  All rights reserved</a:t>
            </a:r>
          </a:p>
        </p:txBody>
      </p:sp>
      <p:sp>
        <p:nvSpPr>
          <p:cNvPr id="6" name="Footer Placeholder 5">
            <a:extLst>
              <a:ext uri="{FF2B5EF4-FFF2-40B4-BE49-F238E27FC236}">
                <a16:creationId xmlns:a16="http://schemas.microsoft.com/office/drawing/2014/main" id="{316D329B-3953-76D7-0CDD-DA0002A3340F}"/>
              </a:ext>
            </a:extLst>
          </p:cNvPr>
          <p:cNvSpPr>
            <a:spLocks noGrp="1"/>
          </p:cNvSpPr>
          <p:nvPr>
            <p:ph type="ftr" sz="quarter" idx="11"/>
          </p:nvPr>
        </p:nvSpPr>
        <p:spPr>
          <a:xfrm>
            <a:off x="2798284" y="6356350"/>
            <a:ext cx="3433277" cy="365125"/>
          </a:xfrm>
        </p:spPr>
        <p:txBody>
          <a:bodyPr vert="horz" lIns="91440" tIns="45720" rIns="91440" bIns="45720" rtlCol="0" anchor="ctr">
            <a:normAutofit/>
          </a:bodyPr>
          <a:lstStyle/>
          <a:p>
            <a:pPr algn="r">
              <a:spcAft>
                <a:spcPts val="600"/>
              </a:spcAft>
              <a:defRPr/>
            </a:pPr>
            <a:r>
              <a:rPr lang="en-US" kern="1200" cap="none" spc="0" baseline="0">
                <a:solidFill>
                  <a:prstClr val="black">
                    <a:tint val="75000"/>
                  </a:prstClr>
                </a:solidFill>
                <a:latin typeface="Calibri" panose="020F0502020204030204"/>
                <a:ea typeface="+mn-ea"/>
                <a:cs typeface="+mn-cs"/>
              </a:rPr>
              <a:t>Corporate identity and corporate image</a:t>
            </a:r>
          </a:p>
        </p:txBody>
      </p:sp>
      <p:sp>
        <p:nvSpPr>
          <p:cNvPr id="7" name="Slide Number Placeholder 6">
            <a:extLst>
              <a:ext uri="{FF2B5EF4-FFF2-40B4-BE49-F238E27FC236}">
                <a16:creationId xmlns:a16="http://schemas.microsoft.com/office/drawing/2014/main" id="{C2E17882-6736-06C3-AA51-5241CF48C2B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D76B855D-E9CC-4FF8-AD85-6CDC7B89A0DE}" type="slidenum">
              <a:rPr lang="en-US">
                <a:solidFill>
                  <a:prstClr val="black">
                    <a:tint val="75000"/>
                  </a:prstClr>
                </a:solidFill>
                <a:latin typeface="Calibri" panose="020F0502020204030204"/>
              </a:rPr>
              <a:pPr>
                <a:spcAft>
                  <a:spcPts val="600"/>
                </a:spcAft>
                <a:defRPr/>
              </a:pPr>
              <a:t>19</a:t>
            </a:fld>
            <a:endParaRPr lang="en-US">
              <a:solidFill>
                <a:prstClr val="black">
                  <a:tint val="75000"/>
                </a:prstClr>
              </a:solidFill>
              <a:latin typeface="Calibri" panose="020F0502020204030204"/>
            </a:endParaRPr>
          </a:p>
        </p:txBody>
      </p:sp>
      <p:sp>
        <p:nvSpPr>
          <p:cNvPr id="2097" name="Freeform: Shape 2096">
            <a:extLst>
              <a:ext uri="{FF2B5EF4-FFF2-40B4-BE49-F238E27FC236}">
                <a16:creationId xmlns:a16="http://schemas.microsoft.com/office/drawing/2014/main" id="{4CBF9756-6AC8-4C65-84DF-56FBFFA1D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0227"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Content Placeholder 8" descr="People at a job interview">
            <a:extLst>
              <a:ext uri="{FF2B5EF4-FFF2-40B4-BE49-F238E27FC236}">
                <a16:creationId xmlns:a16="http://schemas.microsoft.com/office/drawing/2014/main" id="{3FEB8D3E-0EBD-317E-0CE1-B57F7215FC2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5185" r="8065"/>
          <a:stretch/>
        </p:blipFill>
        <p:spPr>
          <a:xfrm>
            <a:off x="7751975" y="1075239"/>
            <a:ext cx="4128603" cy="4128603"/>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2099" name="Freeform: Shape 2098">
            <a:extLst>
              <a:ext uri="{FF2B5EF4-FFF2-40B4-BE49-F238E27FC236}">
                <a16:creationId xmlns:a16="http://schemas.microsoft.com/office/drawing/2014/main" id="{2D385988-EAAF-4C27-AF8A-2BFBECAF3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4254"/>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101" name="Straight Connector 2100">
            <a:extLst>
              <a:ext uri="{FF2B5EF4-FFF2-40B4-BE49-F238E27FC236}">
                <a16:creationId xmlns:a16="http://schemas.microsoft.com/office/drawing/2014/main" id="{43621FD4-D14D-45D5-9A57-9A2DE5EA59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103" name="Freeform: Shape 2102">
            <a:extLst>
              <a:ext uri="{FF2B5EF4-FFF2-40B4-BE49-F238E27FC236}">
                <a16:creationId xmlns:a16="http://schemas.microsoft.com/office/drawing/2014/main" id="{B621D332-7329-4994-8836-C429A51B7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05" name="Freeform: Shape 2104">
            <a:extLst>
              <a:ext uri="{FF2B5EF4-FFF2-40B4-BE49-F238E27FC236}">
                <a16:creationId xmlns:a16="http://schemas.microsoft.com/office/drawing/2014/main" id="{2D20F754-35A9-4508-BE3C-C59996D14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23449"/>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71F97C7-35D5-B6B3-EF75-2E1F2A84F463}"/>
              </a:ext>
            </a:extLst>
          </p:cNvPr>
          <p:cNvSpPr>
            <a:spLocks noGrp="1"/>
          </p:cNvSpPr>
          <p:nvPr>
            <p:ph type="title"/>
          </p:nvPr>
        </p:nvSpPr>
        <p:spPr>
          <a:xfrm>
            <a:off x="838200" y="365125"/>
            <a:ext cx="8843682" cy="1325563"/>
          </a:xfrm>
        </p:spPr>
        <p:txBody>
          <a:bodyPr vert="horz" lIns="91440" tIns="45720" rIns="91440" bIns="45720" rtlCol="0" anchor="ctr">
            <a:normAutofit/>
          </a:bodyPr>
          <a:lstStyle/>
          <a:p>
            <a:r>
              <a:rPr lang="en-US" sz="4400" b="1" kern="1200" dirty="0">
                <a:solidFill>
                  <a:schemeClr val="tx1"/>
                </a:solidFill>
                <a:latin typeface="+mj-lt"/>
                <a:ea typeface="+mj-ea"/>
                <a:cs typeface="+mj-cs"/>
              </a:rPr>
              <a:t>Job interview questions – Ask and answer the questions</a:t>
            </a:r>
          </a:p>
        </p:txBody>
      </p:sp>
    </p:spTree>
    <p:extLst>
      <p:ext uri="{BB962C8B-B14F-4D97-AF65-F5344CB8AC3E}">
        <p14:creationId xmlns:p14="http://schemas.microsoft.com/office/powerpoint/2010/main" val="4055015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87" name="Freeform: Shape 2086">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9" name="Freeform: Shape 2088">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2091" name="Rectangle 2090">
            <a:extLst>
              <a:ext uri="{FF2B5EF4-FFF2-40B4-BE49-F238E27FC236}">
                <a16:creationId xmlns:a16="http://schemas.microsoft.com/office/drawing/2014/main" id="{6A84B152-3496-4C52-AF08-97AFFC09D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3" name="Freeform: Shape 2092">
            <a:extLst>
              <a:ext uri="{FF2B5EF4-FFF2-40B4-BE49-F238E27FC236}">
                <a16:creationId xmlns:a16="http://schemas.microsoft.com/office/drawing/2014/main" id="{6B2ADB95-0FA3-4BD7-A8AC-89D014A8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7E0A0E76-B668-79A0-0DF1-CCE98CEFA0C1}"/>
              </a:ext>
            </a:extLst>
          </p:cNvPr>
          <p:cNvSpPr>
            <a:spLocks noGrp="1"/>
          </p:cNvSpPr>
          <p:nvPr>
            <p:ph type="body" sz="half" idx="2"/>
          </p:nvPr>
        </p:nvSpPr>
        <p:spPr>
          <a:xfrm>
            <a:off x="1912079" y="2967310"/>
            <a:ext cx="5205686" cy="3478587"/>
          </a:xfrm>
        </p:spPr>
        <p:txBody>
          <a:bodyPr vert="horz" lIns="91440" tIns="45720" rIns="91440" bIns="45720" rtlCol="0">
            <a:normAutofit/>
          </a:bodyPr>
          <a:lstStyle/>
          <a:p>
            <a:pPr indent="-228600">
              <a:buFont typeface="Arial" panose="020B0604020202020204" pitchFamily="34" charset="0"/>
              <a:buChar char="•"/>
            </a:pPr>
            <a:r>
              <a:rPr lang="es-ES" sz="1400" b="1" i="0" dirty="0" err="1">
                <a:effectLst/>
              </a:rPr>
              <a:t>What</a:t>
            </a:r>
            <a:endParaRPr lang="es-ES" sz="1400" b="1" i="0" dirty="0">
              <a:effectLst/>
            </a:endParaRPr>
          </a:p>
          <a:p>
            <a:pPr indent="-228600">
              <a:buFont typeface="Arial" panose="020B0604020202020204" pitchFamily="34" charset="0"/>
              <a:buChar char="•"/>
            </a:pPr>
            <a:r>
              <a:rPr lang="es-ES" sz="1400" b="1" dirty="0" err="1"/>
              <a:t>When</a:t>
            </a:r>
            <a:endParaRPr lang="es-ES" sz="1400" b="1" dirty="0"/>
          </a:p>
          <a:p>
            <a:pPr indent="-228600">
              <a:buFont typeface="Arial" panose="020B0604020202020204" pitchFamily="34" charset="0"/>
              <a:buChar char="•"/>
            </a:pPr>
            <a:r>
              <a:rPr lang="es-ES" sz="1400" b="1" dirty="0" err="1"/>
              <a:t>How</a:t>
            </a:r>
            <a:endParaRPr lang="es-ES" sz="1400" b="1" dirty="0"/>
          </a:p>
          <a:p>
            <a:pPr indent="-228600">
              <a:buFont typeface="Arial" panose="020B0604020202020204" pitchFamily="34" charset="0"/>
              <a:buChar char="•"/>
            </a:pPr>
            <a:r>
              <a:rPr lang="es-ES" sz="1400" b="1" dirty="0" err="1"/>
              <a:t>Why</a:t>
            </a:r>
            <a:endParaRPr lang="es-ES" sz="1400" b="1" dirty="0"/>
          </a:p>
          <a:p>
            <a:pPr indent="-228600">
              <a:buFont typeface="Arial" panose="020B0604020202020204" pitchFamily="34" charset="0"/>
              <a:buChar char="•"/>
            </a:pPr>
            <a:r>
              <a:rPr lang="es-ES" sz="1400" b="1" dirty="0" err="1"/>
              <a:t>Where</a:t>
            </a:r>
            <a:endParaRPr lang="es-ES" sz="1400" b="1" dirty="0"/>
          </a:p>
          <a:p>
            <a:pPr indent="-228600">
              <a:buFont typeface="Arial" panose="020B0604020202020204" pitchFamily="34" charset="0"/>
              <a:buChar char="•"/>
            </a:pPr>
            <a:r>
              <a:rPr lang="es-ES" sz="1400" b="1" dirty="0" err="1"/>
              <a:t>Have</a:t>
            </a:r>
            <a:r>
              <a:rPr lang="es-ES" sz="1400" b="1" dirty="0"/>
              <a:t> </a:t>
            </a:r>
            <a:r>
              <a:rPr lang="es-ES" sz="1400" b="1" dirty="0" err="1"/>
              <a:t>you</a:t>
            </a:r>
            <a:endParaRPr lang="es-ES" sz="1400" b="1" dirty="0"/>
          </a:p>
          <a:p>
            <a:pPr indent="-228600">
              <a:buFont typeface="Arial" panose="020B0604020202020204" pitchFamily="34" charset="0"/>
              <a:buChar char="•"/>
            </a:pPr>
            <a:r>
              <a:rPr lang="es-ES" sz="1400" b="1" dirty="0" err="1"/>
              <a:t>Did</a:t>
            </a:r>
            <a:r>
              <a:rPr lang="es-ES" sz="1400" b="1" dirty="0"/>
              <a:t> </a:t>
            </a:r>
            <a:r>
              <a:rPr lang="es-ES" sz="1400" b="1" dirty="0" err="1"/>
              <a:t>you</a:t>
            </a:r>
            <a:endParaRPr lang="en-US" sz="1400" b="1" dirty="0"/>
          </a:p>
          <a:p>
            <a:pPr indent="-228600">
              <a:buFont typeface="Arial" panose="020B0604020202020204" pitchFamily="34" charset="0"/>
              <a:buChar char="•"/>
            </a:pPr>
            <a:endParaRPr lang="en-US" sz="1200" b="1" i="1" dirty="0"/>
          </a:p>
        </p:txBody>
      </p:sp>
      <p:sp>
        <p:nvSpPr>
          <p:cNvPr id="2095" name="Oval 2094">
            <a:extLst>
              <a:ext uri="{FF2B5EF4-FFF2-40B4-BE49-F238E27FC236}">
                <a16:creationId xmlns:a16="http://schemas.microsoft.com/office/drawing/2014/main" id="{C924DBCE-E731-4B22-8181-A39C1D862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630884" cy="630884"/>
          </a:xfrm>
          <a:prstGeom prst="ellipse">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8168A6D1-2C10-F31B-162D-6706E45CBF23}"/>
              </a:ext>
            </a:extLst>
          </p:cNvPr>
          <p:cNvSpPr>
            <a:spLocks noGrp="1"/>
          </p:cNvSpPr>
          <p:nvPr>
            <p:ph type="dt" sz="half" idx="10"/>
          </p:nvPr>
        </p:nvSpPr>
        <p:spPr>
          <a:xfrm>
            <a:off x="838200" y="6356350"/>
            <a:ext cx="1332123" cy="365125"/>
          </a:xfrm>
        </p:spPr>
        <p:txBody>
          <a:bodyPr vert="horz" lIns="91440" tIns="45720" rIns="91440" bIns="45720" rtlCol="0" anchor="ctr">
            <a:normAutofit/>
          </a:bodyPr>
          <a:lstStyle/>
          <a:p>
            <a:pPr>
              <a:lnSpc>
                <a:spcPct val="90000"/>
              </a:lnSpc>
              <a:spcAft>
                <a:spcPts val="600"/>
              </a:spcAft>
              <a:defRPr/>
            </a:pPr>
            <a:r>
              <a:rPr lang="en-US" sz="900">
                <a:solidFill>
                  <a:prstClr val="black">
                    <a:tint val="75000"/>
                  </a:prstClr>
                </a:solidFill>
                <a:latin typeface="Calibri" panose="020F0502020204030204"/>
              </a:rPr>
              <a:t>TuSpeaking 2022,  All rights reserved</a:t>
            </a:r>
          </a:p>
        </p:txBody>
      </p:sp>
      <p:sp>
        <p:nvSpPr>
          <p:cNvPr id="6" name="Footer Placeholder 5">
            <a:extLst>
              <a:ext uri="{FF2B5EF4-FFF2-40B4-BE49-F238E27FC236}">
                <a16:creationId xmlns:a16="http://schemas.microsoft.com/office/drawing/2014/main" id="{316D329B-3953-76D7-0CDD-DA0002A3340F}"/>
              </a:ext>
            </a:extLst>
          </p:cNvPr>
          <p:cNvSpPr>
            <a:spLocks noGrp="1"/>
          </p:cNvSpPr>
          <p:nvPr>
            <p:ph type="ftr" sz="quarter" idx="11"/>
          </p:nvPr>
        </p:nvSpPr>
        <p:spPr>
          <a:xfrm>
            <a:off x="2798284" y="6356350"/>
            <a:ext cx="3433277" cy="365125"/>
          </a:xfrm>
        </p:spPr>
        <p:txBody>
          <a:bodyPr vert="horz" lIns="91440" tIns="45720" rIns="91440" bIns="45720" rtlCol="0" anchor="ctr">
            <a:normAutofit/>
          </a:bodyPr>
          <a:lstStyle/>
          <a:p>
            <a:pPr algn="r">
              <a:spcAft>
                <a:spcPts val="600"/>
              </a:spcAft>
              <a:defRPr/>
            </a:pPr>
            <a:r>
              <a:rPr lang="en-US" kern="1200" cap="none" spc="0" baseline="0">
                <a:solidFill>
                  <a:prstClr val="black">
                    <a:tint val="75000"/>
                  </a:prstClr>
                </a:solidFill>
                <a:latin typeface="Calibri" panose="020F0502020204030204"/>
                <a:ea typeface="+mn-ea"/>
                <a:cs typeface="+mn-cs"/>
              </a:rPr>
              <a:t>Corporate identity and corporate image</a:t>
            </a:r>
          </a:p>
        </p:txBody>
      </p:sp>
      <p:sp>
        <p:nvSpPr>
          <p:cNvPr id="7" name="Slide Number Placeholder 6">
            <a:extLst>
              <a:ext uri="{FF2B5EF4-FFF2-40B4-BE49-F238E27FC236}">
                <a16:creationId xmlns:a16="http://schemas.microsoft.com/office/drawing/2014/main" id="{C2E17882-6736-06C3-AA51-5241CF48C2B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D76B855D-E9CC-4FF8-AD85-6CDC7B89A0DE}" type="slidenum">
              <a:rPr lang="en-US">
                <a:solidFill>
                  <a:prstClr val="black">
                    <a:tint val="75000"/>
                  </a:prstClr>
                </a:solidFill>
                <a:latin typeface="Calibri" panose="020F0502020204030204"/>
              </a:rPr>
              <a:pPr>
                <a:spcAft>
                  <a:spcPts val="600"/>
                </a:spcAft>
                <a:defRPr/>
              </a:pPr>
              <a:t>20</a:t>
            </a:fld>
            <a:endParaRPr lang="en-US">
              <a:solidFill>
                <a:prstClr val="black">
                  <a:tint val="75000"/>
                </a:prstClr>
              </a:solidFill>
              <a:latin typeface="Calibri" panose="020F0502020204030204"/>
            </a:endParaRPr>
          </a:p>
        </p:txBody>
      </p:sp>
      <p:sp>
        <p:nvSpPr>
          <p:cNvPr id="2097" name="Freeform: Shape 2096">
            <a:extLst>
              <a:ext uri="{FF2B5EF4-FFF2-40B4-BE49-F238E27FC236}">
                <a16:creationId xmlns:a16="http://schemas.microsoft.com/office/drawing/2014/main" id="{4CBF9756-6AC8-4C65-84DF-56FBFFA1D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0227"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Content Placeholder 8" descr="People at a job interview">
            <a:extLst>
              <a:ext uri="{FF2B5EF4-FFF2-40B4-BE49-F238E27FC236}">
                <a16:creationId xmlns:a16="http://schemas.microsoft.com/office/drawing/2014/main" id="{3FEB8D3E-0EBD-317E-0CE1-B57F7215FC2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5185" r="8065"/>
          <a:stretch/>
        </p:blipFill>
        <p:spPr>
          <a:xfrm>
            <a:off x="7751975" y="1075239"/>
            <a:ext cx="4128603" cy="4128603"/>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2099" name="Freeform: Shape 2098">
            <a:extLst>
              <a:ext uri="{FF2B5EF4-FFF2-40B4-BE49-F238E27FC236}">
                <a16:creationId xmlns:a16="http://schemas.microsoft.com/office/drawing/2014/main" id="{2D385988-EAAF-4C27-AF8A-2BFBECAF3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4254"/>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101" name="Straight Connector 2100">
            <a:extLst>
              <a:ext uri="{FF2B5EF4-FFF2-40B4-BE49-F238E27FC236}">
                <a16:creationId xmlns:a16="http://schemas.microsoft.com/office/drawing/2014/main" id="{43621FD4-D14D-45D5-9A57-9A2DE5EA59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103" name="Freeform: Shape 2102">
            <a:extLst>
              <a:ext uri="{FF2B5EF4-FFF2-40B4-BE49-F238E27FC236}">
                <a16:creationId xmlns:a16="http://schemas.microsoft.com/office/drawing/2014/main" id="{B621D332-7329-4994-8836-C429A51B7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05" name="Freeform: Shape 2104">
            <a:extLst>
              <a:ext uri="{FF2B5EF4-FFF2-40B4-BE49-F238E27FC236}">
                <a16:creationId xmlns:a16="http://schemas.microsoft.com/office/drawing/2014/main" id="{2D20F754-35A9-4508-BE3C-C59996D14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23449"/>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71F97C7-35D5-B6B3-EF75-2E1F2A84F463}"/>
              </a:ext>
            </a:extLst>
          </p:cNvPr>
          <p:cNvSpPr>
            <a:spLocks noGrp="1"/>
          </p:cNvSpPr>
          <p:nvPr>
            <p:ph type="title"/>
          </p:nvPr>
        </p:nvSpPr>
        <p:spPr>
          <a:xfrm>
            <a:off x="838200" y="939015"/>
            <a:ext cx="8843682" cy="1325563"/>
          </a:xfrm>
        </p:spPr>
        <p:txBody>
          <a:bodyPr vert="horz" lIns="91440" tIns="45720" rIns="91440" bIns="45720" rtlCol="0" anchor="ctr">
            <a:normAutofit fontScale="90000"/>
          </a:bodyPr>
          <a:lstStyle/>
          <a:p>
            <a:r>
              <a:rPr lang="en-US" sz="4400" b="1" kern="1200" dirty="0">
                <a:solidFill>
                  <a:schemeClr val="tx1"/>
                </a:solidFill>
                <a:latin typeface="+mj-lt"/>
                <a:ea typeface="+mj-ea"/>
                <a:cs typeface="+mj-cs"/>
              </a:rPr>
              <a:t>Job interview questions – </a:t>
            </a:r>
            <a:br>
              <a:rPr lang="en-US" sz="4400" b="1" kern="1200" dirty="0">
                <a:solidFill>
                  <a:schemeClr val="tx1"/>
                </a:solidFill>
                <a:latin typeface="+mj-lt"/>
                <a:ea typeface="+mj-ea"/>
                <a:cs typeface="+mj-cs"/>
              </a:rPr>
            </a:br>
            <a:r>
              <a:rPr lang="en-US" sz="4400" b="1" kern="1200" dirty="0">
                <a:solidFill>
                  <a:schemeClr val="tx1"/>
                </a:solidFill>
                <a:latin typeface="+mj-lt"/>
                <a:ea typeface="+mj-ea"/>
                <a:cs typeface="+mj-cs"/>
              </a:rPr>
              <a:t>Brainstorm some interview questions for your own role, then interview your partner for your job</a:t>
            </a:r>
          </a:p>
        </p:txBody>
      </p:sp>
    </p:spTree>
    <p:extLst>
      <p:ext uri="{BB962C8B-B14F-4D97-AF65-F5344CB8AC3E}">
        <p14:creationId xmlns:p14="http://schemas.microsoft.com/office/powerpoint/2010/main" val="3903498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7110F-B680-2C29-61F1-6DE36774F715}"/>
              </a:ext>
            </a:extLst>
          </p:cNvPr>
          <p:cNvSpPr>
            <a:spLocks noGrp="1"/>
          </p:cNvSpPr>
          <p:nvPr>
            <p:ph type="title"/>
          </p:nvPr>
        </p:nvSpPr>
        <p:spPr/>
        <p:txBody>
          <a:bodyPr/>
          <a:lstStyle/>
          <a:p>
            <a:r>
              <a:rPr lang="en-US" b="1" dirty="0"/>
              <a:t>FEEDBACK</a:t>
            </a:r>
          </a:p>
        </p:txBody>
      </p:sp>
      <p:sp>
        <p:nvSpPr>
          <p:cNvPr id="5" name="Date Placeholder 4">
            <a:extLst>
              <a:ext uri="{FF2B5EF4-FFF2-40B4-BE49-F238E27FC236}">
                <a16:creationId xmlns:a16="http://schemas.microsoft.com/office/drawing/2014/main" id="{F9EC6EEE-DC13-A4BE-D4F7-4E206B25E5B1}"/>
              </a:ext>
            </a:extLst>
          </p:cNvPr>
          <p:cNvSpPr>
            <a:spLocks noGrp="1"/>
          </p:cNvSpPr>
          <p:nvPr>
            <p:ph type="dt" sz="half" idx="10"/>
          </p:nvPr>
        </p:nvSpPr>
        <p:spPr/>
        <p:txBody>
          <a:bodyPr/>
          <a:lstStyle/>
          <a:p>
            <a:pPr>
              <a:defRPr/>
            </a:pPr>
            <a:r>
              <a:rPr lang="en-GB">
                <a:solidFill>
                  <a:prstClr val="black">
                    <a:tint val="75000"/>
                  </a:prstClr>
                </a:solidFill>
              </a:rPr>
              <a:t>TuSpeaking 2022,  All rights reserved</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EE92538D-6BD0-3CCA-A503-990D1B69A960}"/>
              </a:ext>
            </a:extLst>
          </p:cNvPr>
          <p:cNvSpPr>
            <a:spLocks noGrp="1"/>
          </p:cNvSpPr>
          <p:nvPr>
            <p:ph type="ftr" sz="quarter" idx="11"/>
          </p:nvPr>
        </p:nvSpPr>
        <p:spPr/>
        <p:txBody>
          <a:bodyPr/>
          <a:lstStyle/>
          <a:p>
            <a:pPr>
              <a:defRPr/>
            </a:pPr>
            <a:r>
              <a:rPr lang="en-GB">
                <a:solidFill>
                  <a:prstClr val="black">
                    <a:tint val="75000"/>
                  </a:prstClr>
                </a:solidFill>
              </a:rPr>
              <a:t>Corporate identity and corporate image</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B2A1E96A-7CB6-2EA0-D371-7AC3FDFA4C3F}"/>
              </a:ext>
            </a:extLst>
          </p:cNvPr>
          <p:cNvSpPr>
            <a:spLocks noGrp="1"/>
          </p:cNvSpPr>
          <p:nvPr>
            <p:ph type="sldNum" sz="quarter" idx="12"/>
          </p:nvPr>
        </p:nvSpPr>
        <p:spPr/>
        <p:txBody>
          <a:bodyPr/>
          <a:lstStyle/>
          <a:p>
            <a:pPr>
              <a:defRPr/>
            </a:pPr>
            <a:fld id="{D76B855D-E9CC-4FF8-AD85-6CDC7B89A0DE}" type="slidenum">
              <a:rPr lang="en-US" smtClean="0">
                <a:solidFill>
                  <a:prstClr val="black">
                    <a:tint val="75000"/>
                  </a:prstClr>
                </a:solidFill>
              </a:rPr>
              <a:pPr>
                <a:defRPr/>
              </a:pPr>
              <a:t>21</a:t>
            </a:fld>
            <a:endParaRPr lang="en-US" dirty="0">
              <a:solidFill>
                <a:prstClr val="black">
                  <a:tint val="75000"/>
                </a:prstClr>
              </a:solidFill>
            </a:endParaRPr>
          </a:p>
        </p:txBody>
      </p:sp>
    </p:spTree>
    <p:extLst>
      <p:ext uri="{BB962C8B-B14F-4D97-AF65-F5344CB8AC3E}">
        <p14:creationId xmlns:p14="http://schemas.microsoft.com/office/powerpoint/2010/main" val="28987257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706C9-F26D-46CA-93BF-8C27012F6B12}"/>
              </a:ext>
            </a:extLst>
          </p:cNvPr>
          <p:cNvSpPr>
            <a:spLocks noGrp="1"/>
          </p:cNvSpPr>
          <p:nvPr>
            <p:ph type="title"/>
          </p:nvPr>
        </p:nvSpPr>
        <p:spPr/>
        <p:txBody>
          <a:bodyPr/>
          <a:lstStyle/>
          <a:p>
            <a:r>
              <a:rPr lang="en-US" dirty="0"/>
              <a:t>Thank you</a:t>
            </a:r>
          </a:p>
        </p:txBody>
      </p:sp>
      <p:sp>
        <p:nvSpPr>
          <p:cNvPr id="4" name="Date Placeholder 3">
            <a:extLst>
              <a:ext uri="{FF2B5EF4-FFF2-40B4-BE49-F238E27FC236}">
                <a16:creationId xmlns:a16="http://schemas.microsoft.com/office/drawing/2014/main" id="{6F95E0EB-F1F4-436B-A218-93E100A6690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TuSpeaking 2022,  All rights reserved</a:t>
            </a:r>
            <a:endParaRPr kumimoji="0" lang="en-US" sz="1200" b="0" i="0" u="none" strike="noStrike" kern="1200" cap="none" spc="0" normalizeH="0" baseline="0" noProof="0" dirty="0">
              <a:ln>
                <a:noFill/>
              </a:ln>
              <a:solidFill>
                <a:prstClr val="black">
                  <a:tint val="75000"/>
                </a:prstClr>
              </a:solidFill>
              <a:effectLst/>
              <a:uLnTx/>
              <a:uFillTx/>
              <a:latin typeface="Avenir Next LT Pro"/>
              <a:ea typeface="+mn-ea"/>
              <a:cs typeface="+mn-cs"/>
            </a:endParaRPr>
          </a:p>
        </p:txBody>
      </p:sp>
      <p:sp>
        <p:nvSpPr>
          <p:cNvPr id="5" name="Footer Placeholder 4">
            <a:extLst>
              <a:ext uri="{FF2B5EF4-FFF2-40B4-BE49-F238E27FC236}">
                <a16:creationId xmlns:a16="http://schemas.microsoft.com/office/drawing/2014/main" id="{C75D06EF-9416-46F7-8230-B49EE1269F53}"/>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Corporate identity and corporate image</a:t>
            </a:r>
            <a:endParaRPr kumimoji="0" lang="en-US" sz="1200" b="0" i="0" u="none" strike="noStrike" kern="1200" cap="none" spc="0" normalizeH="0" baseline="0" noProof="0" dirty="0">
              <a:ln>
                <a:noFill/>
              </a:ln>
              <a:solidFill>
                <a:prstClr val="black">
                  <a:tint val="75000"/>
                </a:prstClr>
              </a:solidFill>
              <a:effectLst/>
              <a:uLnTx/>
              <a:uFillTx/>
              <a:latin typeface="Avenir Next LT Pro"/>
              <a:ea typeface="+mn-ea"/>
              <a:cs typeface="+mn-cs"/>
            </a:endParaRPr>
          </a:p>
        </p:txBody>
      </p:sp>
      <p:sp>
        <p:nvSpPr>
          <p:cNvPr id="6" name="Slide Number Placeholder 5">
            <a:extLst>
              <a:ext uri="{FF2B5EF4-FFF2-40B4-BE49-F238E27FC236}">
                <a16:creationId xmlns:a16="http://schemas.microsoft.com/office/drawing/2014/main" id="{7359025F-68D1-4F50-8480-3F981455D4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tint val="75000"/>
                </a:prstClr>
              </a:solidFill>
              <a:effectLst/>
              <a:uLnTx/>
              <a:uFillTx/>
              <a:latin typeface="Avenir Next LT Pro"/>
              <a:ea typeface="+mn-ea"/>
              <a:cs typeface="+mn-cs"/>
            </a:endParaRPr>
          </a:p>
        </p:txBody>
      </p:sp>
      <p:sp>
        <p:nvSpPr>
          <p:cNvPr id="3" name="Content Placeholder 2">
            <a:extLst>
              <a:ext uri="{FF2B5EF4-FFF2-40B4-BE49-F238E27FC236}">
                <a16:creationId xmlns:a16="http://schemas.microsoft.com/office/drawing/2014/main" id="{21F0B6E0-1F7C-4E6A-87B1-554ADE739CD1}"/>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962258905"/>
      </p:ext>
    </p:extLst>
  </p:cSld>
  <p:clrMapOvr>
    <a:masterClrMapping/>
  </p:clrMapOvr>
</p:sld>
</file>

<file path=ppt/theme/theme1.xml><?xml version="1.0" encoding="utf-8"?>
<a:theme xmlns:a="http://schemas.openxmlformats.org/drawingml/2006/main" name="ShapesVTI">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docProps/app.xml><?xml version="1.0" encoding="utf-8"?>
<Properties xmlns="http://schemas.openxmlformats.org/officeDocument/2006/extended-properties" xmlns:vt="http://schemas.openxmlformats.org/officeDocument/2006/docPropsVTypes">
  <TotalTime>2551</TotalTime>
  <Words>1543</Words>
  <Application>Microsoft Office PowerPoint</Application>
  <PresentationFormat>Widescreen</PresentationFormat>
  <Paragraphs>208</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Avenir Next LT Pro</vt:lpstr>
      <vt:lpstr>Calibri</vt:lpstr>
      <vt:lpstr>Tw Cen MT</vt:lpstr>
      <vt:lpstr>ShapesVTI</vt:lpstr>
      <vt:lpstr>ENGLISH FOR BUSINESS</vt:lpstr>
      <vt:lpstr>B1</vt:lpstr>
      <vt:lpstr>OBJECTIVES</vt:lpstr>
      <vt:lpstr>Conversation questions – Warm up</vt:lpstr>
      <vt:lpstr>BUSINESS RELATIONSHIPS   </vt:lpstr>
      <vt:lpstr>GETTING ALONG WITH YOUR SUPERVISOR/BOSS</vt:lpstr>
      <vt:lpstr>GETTING ALONG WITH YOUR SUPERVISOR/BOSS  Vocabulary</vt:lpstr>
      <vt:lpstr>GETTING ALONG WITH YOUR  EMPLOYEES/SUBORDINATES</vt:lpstr>
      <vt:lpstr>GETTING ALONG WITH YOUR  EMPLOYEES/SUBORDINATES</vt:lpstr>
      <vt:lpstr>GETTING ALONG WITH YOUR  EMPLOYEES/SUBORDINATES</vt:lpstr>
      <vt:lpstr>GETTING ALONG WITH YOUR CO-WORKERS</vt:lpstr>
      <vt:lpstr>BUSINESS RELATIONSHIPS Part 2 – Carry out a job interview   </vt:lpstr>
      <vt:lpstr> </vt:lpstr>
      <vt:lpstr> </vt:lpstr>
      <vt:lpstr>Vocabulary</vt:lpstr>
      <vt:lpstr>Vocabulary</vt:lpstr>
      <vt:lpstr>Job interview questions</vt:lpstr>
      <vt:lpstr>Job interview questions</vt:lpstr>
      <vt:lpstr>Job interview questions – Ask and answer the questions</vt:lpstr>
      <vt:lpstr>Job interview questions –  Brainstorm some interview questions for your own role, then interview your partner for your job</vt:lpstr>
      <vt:lpstr>FEEDBACK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English for business</dc:title>
  <dc:creator>Laetitia Kanengoni</dc:creator>
  <cp:lastModifiedBy>Theo Clarke</cp:lastModifiedBy>
  <cp:revision>50</cp:revision>
  <dcterms:created xsi:type="dcterms:W3CDTF">2023-01-16T07:45:29Z</dcterms:created>
  <dcterms:modified xsi:type="dcterms:W3CDTF">2023-03-09T11:02:44Z</dcterms:modified>
</cp:coreProperties>
</file>