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3" r:id="rId5"/>
    <p:sldId id="264" r:id="rId6"/>
    <p:sldId id="272" r:id="rId7"/>
    <p:sldId id="265" r:id="rId8"/>
    <p:sldId id="266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FE1A-98D5-7B29-819C-7C68201F9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C8BF39-95CF-5472-A34B-AEB2CC8761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EDF85-DD1A-1EAD-88B5-F5087A204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C77A0-6CB8-BFC7-A227-8612B683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1313E-743F-CD27-E31E-29CEC0DC0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0298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71046-D8F1-2B80-1F09-0FB7DAEF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3992-B115-0143-2B55-149A5DB9B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9DCF-A5C0-1815-64F4-D0C1EA920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FCCE4-C025-4793-6DD8-398447B7E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A9F5F-D939-D72B-5E60-BCD4CA802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9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988D-82B7-DBDD-AE0B-D157088B5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78963-0BC5-3D9B-D942-EF2F860BB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A1C25-0AA1-48FA-3B15-CDC10BEA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47479-9882-8C34-8B3A-19F7C094C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024A-FE62-438E-F93C-A742A5131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1346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0062-DB7C-2BBB-CE5C-6DCCB0A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5E24E-B8C0-BB15-6EEE-79AA39BB0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1AF3B-7CDF-B590-C7D8-66070D393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A9904-0D27-FE8B-FAF8-CA073EF5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D1410-A31F-2AA3-7B0A-18752B05A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D4864-0113-1437-8589-B07E46067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7480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7F9F-79FE-FCCC-615B-5D7D2CB65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4785A-6F25-B0D0-7F0D-C673DCF88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8E5BB-AFCF-5E29-469F-6DF8042A8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B0A69-DE67-2C3A-7439-2B970D0125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2363E6-4132-E899-6CBE-3F188054C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264106-B9F9-0C76-6C4C-279511E3B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01256-B1C1-5225-21E3-0B45279CB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B210F-2160-B547-AEB3-256E6FE0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262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42213-05AD-01B6-6D05-C20FED5AC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D0F1E-59E9-50DC-3B04-ABC3F1F3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645D3-29D2-38A9-539A-1A7FA2EF3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8EE222-B282-708D-B4C7-D83613BA0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0493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853A90-160D-511F-9CBE-CE6933AFD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A0975-AA85-2FB4-6827-5EEF5C45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92E142-71CA-BE34-E012-C09E2B12B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3127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44D14-CB5D-4172-EB47-03DC259A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9907A-11E6-1E3F-A2E7-6159D5867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28318-EC22-72B3-9137-CBFDD4AA1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895C3-355F-BBA3-5D7E-CF865119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C16FA-C1AC-44FE-BC0B-91CDA8945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02F2F-C3CC-3D23-99E3-00821135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695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8E31-A65E-8C2E-1D53-5BFA6F65A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AFFD3F-C887-5BEA-4D82-9FFF6C771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F9314-D72F-D72F-4705-53168C705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D2E8D-6493-717C-CE90-D2FB63D2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10BC1-5783-1C99-69A1-75086E2BA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26E43-3353-7016-58D8-F4454D31C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5192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A6A69-D855-0CC1-F626-9447E0740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B0CDB-4A54-FFCC-37ED-50EB8F805B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7472F-67D4-D5E1-8916-BC97F24E3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922C0-EC1F-20B8-25C8-EDD824B68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25E56-4C74-4D23-37F5-FF28D1D5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347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E29C4D-4E4D-5FD7-4F37-3A2A961CCB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FDFC1-8DF8-9DD9-681B-568F07D79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A4B624-AC3B-A7C2-A789-8790C791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2C93D-83E2-DC4F-32CF-071E9906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CFFE-D2EC-1523-1954-B14F8598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0795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9CD1C1-A044-C5B1-6E93-B90FE87CB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38A99-531D-28F2-D982-4440E4C74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79050-D1A1-A25F-FD11-8B7ECF3F1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DB6D9-05DC-475C-93F2-9CACAD7B97E8}" type="datetimeFigureOut">
              <a:rPr lang="es-ES" smtClean="0"/>
              <a:t>12/09/2024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B7F443-5377-88DB-EE59-144BD0CBB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7C36A-5440-E4BE-7A2C-C39A0B9CB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B126E-EF77-4455-82E3-F2658C6BF0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27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7C2B-C875-4A3F-005F-06DED18130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media and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climate</a:t>
            </a:r>
            <a:endParaRPr lang="es-E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47E82-4743-303D-B7FA-1BF327F10C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B1 English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81B206-5E12-3CD4-A75B-83812EAE6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2225" y="5876925"/>
            <a:ext cx="16383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97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azine printing process">
            <a:extLst>
              <a:ext uri="{FF2B5EF4-FFF2-40B4-BE49-F238E27FC236}">
                <a16:creationId xmlns:a16="http://schemas.microsoft.com/office/drawing/2014/main" id="{25FAF46E-0504-F4FA-D276-11ADBA6852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" r="-1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81701-2934-66A2-1068-89BF3CCF3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Framing</a:t>
            </a:r>
            <a:endParaRPr lang="es-E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6195C-7606-CBBD-39D8-A74980987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 lnSpcReduction="10000"/>
          </a:bodyPr>
          <a:lstStyle/>
          <a:p>
            <a:r>
              <a:rPr lang="en-GB" sz="2400" b="0" i="0" dirty="0">
                <a:solidFill>
                  <a:srgbClr val="374151"/>
                </a:solidFill>
                <a:effectLst/>
              </a:rPr>
              <a:t>In the media, framing means how information is presented to shape how we see an issue or event. It's like putting a frame around a picture—deciding what parts to show prominently and what to keep in the background. This can really affect how people understand and feel about the news.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148984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6EF3-E384-2755-A112-78FC1F11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374151"/>
                </a:solidFill>
                <a:effectLst/>
                <a:latin typeface="+mn-lt"/>
              </a:rPr>
              <a:t>Key aspects of framing in media include:</a:t>
            </a:r>
            <a:endParaRPr lang="es-ES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6FD10-A43B-7F34-F7D5-8AF9BD6BF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Choosing Information: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Deciding on specific details and facts to include in a news story.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Emphasis and Prioritization: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Making certain elements stand out more to grab the audience's attention.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Language and Tone: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Using different words to create emotions and set the overall feeling of the story.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Contextualization: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Giving background information to help people understand the story better.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Visual Elements: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Selecting and showing pictures or videos that can affect how people feel and understand the news.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Cultural and Social Context: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sz="2500" b="0" i="0" dirty="0">
                <a:solidFill>
                  <a:srgbClr val="374151"/>
                </a:solidFill>
                <a:effectLst/>
              </a:rPr>
              <a:t>Considering cultural and social norms, values, and perspectives when presenting the news.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Narrative Structure:</a:t>
            </a:r>
            <a:r>
              <a:rPr lang="en-GB" b="0" i="0" dirty="0">
                <a:solidFill>
                  <a:srgbClr val="374151"/>
                </a:solidFill>
                <a:effectLst/>
              </a:rPr>
              <a:t> 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the story is organized, including the order of information and storytelling methods, plays a role in how it's understood.</a:t>
            </a:r>
          </a:p>
        </p:txBody>
      </p:sp>
    </p:spTree>
    <p:extLst>
      <p:ext uri="{BB962C8B-B14F-4D97-AF65-F5344CB8AC3E}">
        <p14:creationId xmlns:p14="http://schemas.microsoft.com/office/powerpoint/2010/main" val="700673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098" name="Picture 2" descr="HELL BUS AT SHELL HQ">
            <a:extLst>
              <a:ext uri="{FF2B5EF4-FFF2-40B4-BE49-F238E27FC236}">
                <a16:creationId xmlns:a16="http://schemas.microsoft.com/office/drawing/2014/main" id="{1EA93E6E-0879-BC57-5BED-2FBAB571A2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6" b="5920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0C24E7-3D58-3DEB-AA31-407476ACCEBE}"/>
              </a:ext>
            </a:extLst>
          </p:cNvPr>
          <p:cNvSpPr txBox="1"/>
          <p:nvPr/>
        </p:nvSpPr>
        <p:spPr>
          <a:xfrm>
            <a:off x="6200775" y="5646182"/>
            <a:ext cx="59912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bg1"/>
                </a:solidFill>
              </a:rPr>
              <a:t>Look at the bus</a:t>
            </a:r>
            <a:endParaRPr lang="es-E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548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0" name="Rectangle 615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HELL BUS AT SHELL HQ">
            <a:extLst>
              <a:ext uri="{FF2B5EF4-FFF2-40B4-BE49-F238E27FC236}">
                <a16:creationId xmlns:a16="http://schemas.microsoft.com/office/drawing/2014/main" id="{92010818-FA85-1B96-BB98-A79933CD4E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2" r="9091"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2" name="Rectangle 616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8C9DDA-933C-90B5-A10A-AAFE5888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Can you find anything untrue or misleading?</a:t>
            </a:r>
          </a:p>
        </p:txBody>
      </p:sp>
      <p:sp>
        <p:nvSpPr>
          <p:cNvPr id="6164" name="Rectangle: Rounded Corners 616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5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50BB-B80F-2DDD-3A9F-B11D147FA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cooling towers work</a:t>
            </a:r>
            <a:endParaRPr lang="es-ES" dirty="0"/>
          </a:p>
        </p:txBody>
      </p:sp>
      <p:pic>
        <p:nvPicPr>
          <p:cNvPr id="7170" name="Picture 2" descr="Assembly drawing of water-cooled radiator of cooling tower in thermal... |  Download Scientific Diagram">
            <a:extLst>
              <a:ext uri="{FF2B5EF4-FFF2-40B4-BE49-F238E27FC236}">
                <a16:creationId xmlns:a16="http://schemas.microsoft.com/office/drawing/2014/main" id="{E38B2286-AD74-3BAF-7443-75BD966BBA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57917"/>
            <a:ext cx="505278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52C2D3-D7EB-F716-AA01-FD8EF097673A}"/>
              </a:ext>
            </a:extLst>
          </p:cNvPr>
          <p:cNvSpPr txBox="1"/>
          <p:nvPr/>
        </p:nvSpPr>
        <p:spPr>
          <a:xfrm>
            <a:off x="6619875" y="2053167"/>
            <a:ext cx="4800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just water vapour. It’s not green….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So, who should we believe?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Discuss advocacy versus objectivity in climate change reporting, then choose another discussion point from the following pages.   </a:t>
            </a:r>
          </a:p>
          <a:p>
            <a:endParaRPr lang="en-GB" dirty="0"/>
          </a:p>
          <a:p>
            <a:r>
              <a:rPr lang="en-GB" dirty="0"/>
              <a:t>There are 12, but you don’t need to discuss them all. </a:t>
            </a:r>
          </a:p>
        </p:txBody>
      </p:sp>
    </p:spTree>
    <p:extLst>
      <p:ext uri="{BB962C8B-B14F-4D97-AF65-F5344CB8AC3E}">
        <p14:creationId xmlns:p14="http://schemas.microsoft.com/office/powerpoint/2010/main" val="1593403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6EE4-BF3C-850D-28ED-81F35505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 – Choose topics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24F1-9A9B-32EC-27E0-4E410165F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Advocacy in Climate Reporting: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can journalists help people understand climate change through their reporting?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Do you think journalists should support specific climate-related issues? Why or why not?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Balancing Scientific Consensus and Scepticism: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Should journalists share both the scientific agreement on climate change and sceptical viewpoints?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challenges might journalists face when trying to present a fair balance of opinions?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Role of Advocacy Organizations: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Do you think advocacy groups have a role in influencing how the media covers climate change?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can journalists report information from advocacy organizations while staying accurate and unbiased?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829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6EE4-BF3C-850D-28ED-81F35505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 – Choose topics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24F1-9A9B-32EC-27E0-4E410165F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Transparency in Reporting: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Do you think journalists should tell people about their own opinions on climate change? How might this affect how people see their reporting?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Framing Climate Change Solutions: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do news outlets talk about ways to solve climate change? Do you think they might show a preference for certain solutions?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can journalists do to make sure they show a fair picture of different ways to address climate change?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Balancing Local and Global Perspectives: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Why is it important to talk about how climate change affects different places?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challenges do journalists face when trying to show both the big picture and how it impacts local communities?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0538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6EE4-BF3C-850D-28ED-81F35505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 – Choose topics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24F1-9A9B-32EC-27E0-4E410165F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Consumer Expectations and Media Coverage: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do what people want to hear affect how the media talks about climate change?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Can talking too much about exciting or simple things lead to problems in how people understand climate news?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Avoiding False Balance: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might happen if journalists try to show both sides of an argument, even when most scientists agree on one side?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can journalists make sure they're being fair while also sharing the most accurate information?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The Role of Objectivity in Climate Reporting: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Is it possible for reporters to be completely neutral when talking about climate change? Why or why not?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Should journalists tell people how serious climate change is, or should they try to stay neutral? How can they balance these things?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7503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6EE4-BF3C-850D-28ED-81F35505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 points – Choose topics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824F1-9A9B-32EC-27E0-4E410165F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Impact on Public Opinion: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do the stories we hear about climate change in the news affect what people think and do?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Can news stories help everyone agree on what to do about climate change, or might they make people disagree more?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Editorial Policies and Guidelines: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are the rules that news organizations follow when talking about climate change? Why do you think these rules are important?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How can news outlets make sure they're being fair and telling the truth when talking about climate change?</a:t>
            </a:r>
          </a:p>
          <a:p>
            <a:pPr algn="l">
              <a:buFont typeface="+mj-lt"/>
              <a:buAutoNum type="arabicPeriod"/>
            </a:pPr>
            <a:r>
              <a:rPr lang="en-GB" b="1" i="0" dirty="0">
                <a:solidFill>
                  <a:srgbClr val="374151"/>
                </a:solidFill>
                <a:effectLst/>
              </a:rPr>
              <a:t>Inclusion of Diverse Voices:</a:t>
            </a:r>
            <a:endParaRPr lang="en-GB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Why is it important to hear from different kinds of people when talking about climate change?</a:t>
            </a:r>
          </a:p>
          <a:p>
            <a:pPr lvl="1"/>
            <a:r>
              <a:rPr lang="en-GB" b="0" i="0" dirty="0">
                <a:solidFill>
                  <a:srgbClr val="374151"/>
                </a:solidFill>
                <a:effectLst/>
              </a:rPr>
              <a:t>What challenges might journalists face when trying to share the experiences and opinions of people who are usually not heard?</a:t>
            </a:r>
          </a:p>
        </p:txBody>
      </p:sp>
    </p:spTree>
    <p:extLst>
      <p:ext uri="{BB962C8B-B14F-4D97-AF65-F5344CB8AC3E}">
        <p14:creationId xmlns:p14="http://schemas.microsoft.com/office/powerpoint/2010/main" val="295564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FE9E-0483-36ED-9F4D-A49C3DEB4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45C5E-5563-B49B-1DD0-0DEEB1EB0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7953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783</Words>
  <Application>Microsoft Office PowerPoint</Application>
  <PresentationFormat>Widescreen</PresentationFormat>
  <Paragraphs>71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The media and the climate</vt:lpstr>
      <vt:lpstr>Framing</vt:lpstr>
      <vt:lpstr>Key aspects of framing in media include:</vt:lpstr>
      <vt:lpstr>PowerPoint Presentation</vt:lpstr>
      <vt:lpstr>Can you find anything untrue or misleading?</vt:lpstr>
      <vt:lpstr>How cooling towers work</vt:lpstr>
      <vt:lpstr>Discussion points – Choose topics</vt:lpstr>
      <vt:lpstr>Discussion points – Choose topics</vt:lpstr>
      <vt:lpstr>Discussion points – Choose topics</vt:lpstr>
      <vt:lpstr>Discussion points – Choose topics</vt:lpstr>
      <vt:lpstr>Delayed 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media and the climate</dc:title>
  <dc:creator>Theo Clarke</dc:creator>
  <cp:lastModifiedBy>Clarke, Theodore James Dalgliesh</cp:lastModifiedBy>
  <cp:revision>7</cp:revision>
  <dcterms:created xsi:type="dcterms:W3CDTF">2024-01-04T14:46:56Z</dcterms:created>
  <dcterms:modified xsi:type="dcterms:W3CDTF">2024-09-12T13:20:16Z</dcterms:modified>
</cp:coreProperties>
</file>