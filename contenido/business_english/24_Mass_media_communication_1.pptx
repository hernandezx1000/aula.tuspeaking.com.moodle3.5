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1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4C1AF-F97E-42D9-70F2-73246078F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26CCF7-09EA-EF24-CA59-77DD798D3D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C4C9C-93E7-C001-FF69-6AF1AC044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C1E50-26DE-4488-9273-C33D0904EE24}" type="datetimeFigureOut">
              <a:rPr lang="es-ES" smtClean="0"/>
              <a:t>12/06/2024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E9FE1-E46E-10CA-BFB4-D62E4B5D8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3CFFC-186E-2D22-8A20-C402C31F0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42098-5B59-44C2-A768-3465517E77D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30634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C0AC0-7BAB-42FD-A14D-E98AC90F0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31335-2A8F-170C-3E06-A17D8FC42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AF207-7325-691D-7558-93D79C292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C1E50-26DE-4488-9273-C33D0904EE24}" type="datetimeFigureOut">
              <a:rPr lang="es-ES" smtClean="0"/>
              <a:t>12/06/2024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D1EBE4-85DC-4003-C620-E8F36CF8F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8854F1-D41C-3CC2-5721-D004BEDC7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42098-5B59-44C2-A768-3465517E77D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84725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D33A2-BE6C-F007-35DF-DB18EB5A9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66D36A-023F-990D-2132-DAF0B108A5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899C1-A401-DE45-847B-0B185A688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C1E50-26DE-4488-9273-C33D0904EE24}" type="datetimeFigureOut">
              <a:rPr lang="es-ES" smtClean="0"/>
              <a:t>12/06/2024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AC5C8-7355-2DFD-C46A-0095017E6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ADD88-D204-7DED-C6FC-580596FD7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42098-5B59-44C2-A768-3465517E77D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33287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BBC41-A709-2695-FDDB-DEF952199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3C6BB-0304-36DE-ED0F-1D4E5901BA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ED193C-630D-F76A-CE57-D5164BD031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E2F5DA-9A48-19BF-001E-BD95D1808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C1E50-26DE-4488-9273-C33D0904EE24}" type="datetimeFigureOut">
              <a:rPr lang="es-ES" smtClean="0"/>
              <a:t>12/06/2024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C8B40E-0048-9761-0D95-110515778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EA0FC3-39D7-1D03-F65A-F38B16AF6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42098-5B59-44C2-A768-3465517E77D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42744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6EC7F-4A0B-7552-24B5-418EF2311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561CC-BA1D-6900-881B-43C963A86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F9D28D-E182-9235-BB04-24E7925F15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0EA499-453D-D1E8-1F0D-8002B18B7D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557ABC-3857-2ECB-ECD6-B9940CBE6D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B38EA1-F7A5-314C-E8B7-A294885CF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C1E50-26DE-4488-9273-C33D0904EE24}" type="datetimeFigureOut">
              <a:rPr lang="es-ES" smtClean="0"/>
              <a:t>12/06/2024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569A93-6746-6EC1-489E-3B88CF5F1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FAC476-549A-9277-09DE-16CB28FC3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42098-5B59-44C2-A768-3465517E77D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09603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0A455-5702-0D90-0837-CC0089CB1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79CCF3-27C5-8386-543C-AF7EC142A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C1E50-26DE-4488-9273-C33D0904EE24}" type="datetimeFigureOut">
              <a:rPr lang="es-ES" smtClean="0"/>
              <a:t>12/06/2024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59BCA5-3937-ABA6-F589-5858F743C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2A6931-93FC-5689-9617-68424A209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42098-5B59-44C2-A768-3465517E77D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80228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3932FF-887D-5BA6-EC51-588A25D47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C1E50-26DE-4488-9273-C33D0904EE24}" type="datetimeFigureOut">
              <a:rPr lang="es-ES" smtClean="0"/>
              <a:t>12/06/2024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27026B-B8FE-1C15-EABB-5343C78FD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E1182-435D-7D6E-2DEC-12A936D22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42098-5B59-44C2-A768-3465517E77D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31097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BB42B-D6CC-3E5D-D2BC-135196C29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7EB3D-D35D-CD53-1EE1-2727F26D7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DF5E1-CB3C-4487-FC6F-1C4270FDB1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9D60E3-BE87-906F-E825-42DE22A25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C1E50-26DE-4488-9273-C33D0904EE24}" type="datetimeFigureOut">
              <a:rPr lang="es-ES" smtClean="0"/>
              <a:t>12/06/2024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FE4C5C-15A2-8D24-E5B2-718049C2E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1C70BA-ADAA-9CD7-FC89-4BF55E4A1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42098-5B59-44C2-A768-3465517E77D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55870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AE71E-CCBA-8EFF-4356-14F55DB3B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6E3A8B-7E12-6301-02B2-F53DB63778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F77F21-5F6F-3423-C453-9947D843A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1362BA-7570-69F1-DE41-CF5AF508E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C1E50-26DE-4488-9273-C33D0904EE24}" type="datetimeFigureOut">
              <a:rPr lang="es-ES" smtClean="0"/>
              <a:t>12/06/2024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EA4496-A53F-97DF-3346-0EEA1283B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F0624F-70E0-AD7E-9707-FFF6151B1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42098-5B59-44C2-A768-3465517E77D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162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448F6-7E4D-40C6-9F09-465D36106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0C2694-3800-D0EA-DF24-8FBBAECF86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37E86-61A3-929A-42FC-624F496DE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C1E50-26DE-4488-9273-C33D0904EE24}" type="datetimeFigureOut">
              <a:rPr lang="es-ES" smtClean="0"/>
              <a:t>12/06/2024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AC49A6-0B25-143D-17B8-87237B864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3150C2-73DA-78A4-EB45-1798B291D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42098-5B59-44C2-A768-3465517E77D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91754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EEE382-9B97-983B-3762-22016DA029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B3B383-3588-99C8-661E-1909F707A6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8CB3AF-6C86-9C2C-B127-7B03BA594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C1E50-26DE-4488-9273-C33D0904EE24}" type="datetimeFigureOut">
              <a:rPr lang="es-ES" smtClean="0"/>
              <a:t>12/06/2024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7C4437-4FBD-7C26-A4A1-4ACF4F11C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309BD5-6E13-7CEA-23FA-25DEE97BA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42098-5B59-44C2-A768-3465517E77D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22791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8261F8-741E-CD1E-A1DA-194C587FE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8F7091-5949-7FB4-F73D-B199F55342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26589-3C73-9F8C-741A-8B4CAD0271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9C1E50-26DE-4488-9273-C33D0904EE24}" type="datetimeFigureOut">
              <a:rPr lang="es-ES" smtClean="0"/>
              <a:t>12/06/2024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B6E24-BD98-3D9F-8E50-A6A2533400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96180-76F4-3F94-4436-1AC4C4C5D5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D42098-5B59-44C2-A768-3465517E77D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17363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FD3F6-EBA4-16A3-9B23-6BFFC3629D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err="1"/>
              <a:t>Mass</a:t>
            </a:r>
            <a:r>
              <a:rPr lang="es-ES" dirty="0"/>
              <a:t> media and </a:t>
            </a:r>
            <a:r>
              <a:rPr lang="es-ES" dirty="0" err="1"/>
              <a:t>communication</a:t>
            </a:r>
            <a:endParaRPr lang="es-E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2C802C-AC53-EDBB-1597-A7974DF572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English B2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0FDBDF-CB86-63E0-2DFB-C2162BA2B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0775" y="5734049"/>
            <a:ext cx="16383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611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On air sign with the light on">
            <a:extLst>
              <a:ext uri="{FF2B5EF4-FFF2-40B4-BE49-F238E27FC236}">
                <a16:creationId xmlns:a16="http://schemas.microsoft.com/office/drawing/2014/main" id="{22D9A0FB-1192-CCB5-FBA7-A7500767FE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3" r="5962" b="-1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778449-A1CD-384C-F8CE-3F9714E60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Warm up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BF2D5F-20A2-1F39-7033-1EBA941484BD}"/>
              </a:ext>
            </a:extLst>
          </p:cNvPr>
          <p:cNvSpPr txBox="1"/>
          <p:nvPr/>
        </p:nvSpPr>
        <p:spPr>
          <a:xfrm>
            <a:off x="7531610" y="2434201"/>
            <a:ext cx="3822189" cy="3742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i="0">
                <a:effectLst/>
              </a:rPr>
              <a:t>Introduction to Media:</a:t>
            </a:r>
            <a:endParaRPr lang="en-US" sz="1700" b="0" i="0">
              <a:effectLst/>
            </a:endParaRP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0" i="0">
                <a:effectLst/>
              </a:rPr>
              <a:t>What role does media play in your daily life?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0" i="0">
                <a:effectLst/>
              </a:rPr>
              <a:t>How has your consumption of media changed over the years?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i="0">
                <a:effectLst/>
              </a:rPr>
              <a:t>Media Preferences:</a:t>
            </a:r>
            <a:endParaRPr lang="en-US" sz="1700" b="0" i="0">
              <a:effectLst/>
            </a:endParaRP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0" i="0">
                <a:effectLst/>
              </a:rPr>
              <a:t>What types of media do you prefer—TV, radio, print, or online platforms?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0" i="0">
                <a:effectLst/>
              </a:rPr>
              <a:t>Are there specific genres or topics in the media that you find most interesting?</a:t>
            </a:r>
          </a:p>
        </p:txBody>
      </p:sp>
    </p:spTree>
    <p:extLst>
      <p:ext uri="{BB962C8B-B14F-4D97-AF65-F5344CB8AC3E}">
        <p14:creationId xmlns:p14="http://schemas.microsoft.com/office/powerpoint/2010/main" val="3794725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Retro radio on a brown wooden rack">
            <a:extLst>
              <a:ext uri="{FF2B5EF4-FFF2-40B4-BE49-F238E27FC236}">
                <a16:creationId xmlns:a16="http://schemas.microsoft.com/office/drawing/2014/main" id="{5F983838-5C9F-1747-CB5E-B28B626C758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45" b="9569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471198-9D37-7E91-EED6-FE3EE3FB2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ES" dirty="0" err="1">
                <a:solidFill>
                  <a:srgbClr val="FFFFFF"/>
                </a:solidFill>
              </a:rPr>
              <a:t>Vocabulary</a:t>
            </a:r>
            <a:endParaRPr lang="es-ES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DEEE8-D0D8-CA4F-3CD7-CF47DAF95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numCol="2">
            <a:normAutofit fontScale="32500" lnSpcReduction="20000"/>
          </a:bodyPr>
          <a:lstStyle/>
          <a:p>
            <a:pPr>
              <a:buFont typeface="+mj-lt"/>
              <a:buAutoNum type="arabicPeriod"/>
            </a:pPr>
            <a:r>
              <a:rPr lang="en-GB" sz="4300" b="1" i="0" dirty="0">
                <a:solidFill>
                  <a:srgbClr val="FFFFFF"/>
                </a:solidFill>
                <a:effectLst/>
              </a:rPr>
              <a:t>Media:</a:t>
            </a:r>
            <a:endParaRPr lang="en-GB" sz="4300" b="0" i="0" dirty="0">
              <a:solidFill>
                <a:srgbClr val="FFFFFF"/>
              </a:solidFill>
              <a:effectLst/>
            </a:endParaRPr>
          </a:p>
          <a:p>
            <a:pPr lvl="1"/>
            <a:r>
              <a:rPr lang="en-GB" sz="4300" b="0" i="1" dirty="0">
                <a:solidFill>
                  <a:srgbClr val="FFFFFF"/>
                </a:solidFill>
                <a:effectLst/>
              </a:rPr>
              <a:t>Definition:</a:t>
            </a:r>
            <a:r>
              <a:rPr lang="en-GB" sz="4300" b="0" i="0" dirty="0">
                <a:solidFill>
                  <a:srgbClr val="FFFFFF"/>
                </a:solidFill>
                <a:effectLst/>
              </a:rPr>
              <a:t> The means of communication, such as newspapers, radio, television, and the internet, that reach or influence people widely.</a:t>
            </a:r>
          </a:p>
          <a:p>
            <a:pPr>
              <a:buFont typeface="+mj-lt"/>
              <a:buAutoNum type="arabicPeriod"/>
            </a:pPr>
            <a:r>
              <a:rPr lang="en-GB" sz="4300" b="1" i="0" dirty="0">
                <a:solidFill>
                  <a:srgbClr val="FFFFFF"/>
                </a:solidFill>
                <a:effectLst/>
              </a:rPr>
              <a:t>Mass Media:</a:t>
            </a:r>
            <a:endParaRPr lang="en-GB" sz="4300" b="0" i="0" dirty="0">
              <a:solidFill>
                <a:srgbClr val="FFFFFF"/>
              </a:solidFill>
              <a:effectLst/>
            </a:endParaRPr>
          </a:p>
          <a:p>
            <a:pPr lvl="1"/>
            <a:r>
              <a:rPr lang="en-GB" sz="4300" b="0" i="1" dirty="0">
                <a:solidFill>
                  <a:srgbClr val="FFFFFF"/>
                </a:solidFill>
                <a:effectLst/>
              </a:rPr>
              <a:t>Definition:</a:t>
            </a:r>
            <a:r>
              <a:rPr lang="en-GB" sz="4300" b="0" i="0" dirty="0">
                <a:solidFill>
                  <a:srgbClr val="FFFFFF"/>
                </a:solidFill>
                <a:effectLst/>
              </a:rPr>
              <a:t> Forms of communication that reach a large audience, typically including television, radio, newspapers, and the internet.</a:t>
            </a:r>
          </a:p>
          <a:p>
            <a:pPr>
              <a:buFont typeface="+mj-lt"/>
              <a:buAutoNum type="arabicPeriod"/>
            </a:pPr>
            <a:r>
              <a:rPr lang="en-GB" sz="4300" b="1" i="0" dirty="0">
                <a:solidFill>
                  <a:srgbClr val="FFFFFF"/>
                </a:solidFill>
                <a:effectLst/>
              </a:rPr>
              <a:t>Journalism:</a:t>
            </a:r>
            <a:endParaRPr lang="en-GB" sz="4300" b="0" i="0" dirty="0">
              <a:solidFill>
                <a:srgbClr val="FFFFFF"/>
              </a:solidFill>
              <a:effectLst/>
            </a:endParaRPr>
          </a:p>
          <a:p>
            <a:pPr lvl="1"/>
            <a:r>
              <a:rPr lang="en-GB" sz="4300" b="0" i="1" dirty="0">
                <a:solidFill>
                  <a:srgbClr val="FFFFFF"/>
                </a:solidFill>
                <a:effectLst/>
              </a:rPr>
              <a:t>Definition:</a:t>
            </a:r>
            <a:r>
              <a:rPr lang="en-GB" sz="4300" b="0" i="0" dirty="0">
                <a:solidFill>
                  <a:srgbClr val="FFFFFF"/>
                </a:solidFill>
                <a:effectLst/>
              </a:rPr>
              <a:t> The profession or practice of reporting and analysing news events through print, broadcast, or online media.</a:t>
            </a:r>
          </a:p>
          <a:p>
            <a:pPr>
              <a:buFont typeface="+mj-lt"/>
              <a:buAutoNum type="arabicPeriod"/>
            </a:pPr>
            <a:r>
              <a:rPr lang="en-GB" sz="4300" b="1" i="0" dirty="0">
                <a:solidFill>
                  <a:srgbClr val="FFFFFF"/>
                </a:solidFill>
                <a:effectLst/>
              </a:rPr>
              <a:t>Broadcasting:</a:t>
            </a:r>
            <a:endParaRPr lang="en-GB" sz="4300" b="0" i="0" dirty="0">
              <a:solidFill>
                <a:srgbClr val="FFFFFF"/>
              </a:solidFill>
              <a:effectLst/>
            </a:endParaRPr>
          </a:p>
          <a:p>
            <a:pPr lvl="1"/>
            <a:r>
              <a:rPr lang="en-GB" sz="4300" b="0" i="1" dirty="0">
                <a:solidFill>
                  <a:srgbClr val="FFFFFF"/>
                </a:solidFill>
                <a:effectLst/>
              </a:rPr>
              <a:t>Definition:</a:t>
            </a:r>
            <a:r>
              <a:rPr lang="en-GB" sz="4300" b="0" i="0" dirty="0">
                <a:solidFill>
                  <a:srgbClr val="FFFFFF"/>
                </a:solidFill>
                <a:effectLst/>
              </a:rPr>
              <a:t> The distribution of audio or video content to a dispersed audience via radio, television, or online platforms.</a:t>
            </a:r>
          </a:p>
          <a:p>
            <a:pPr>
              <a:buFont typeface="+mj-lt"/>
              <a:buAutoNum type="arabicPeriod"/>
            </a:pPr>
            <a:r>
              <a:rPr lang="en-GB" sz="4300" b="1" i="0" dirty="0">
                <a:solidFill>
                  <a:srgbClr val="FFFFFF"/>
                </a:solidFill>
                <a:effectLst/>
              </a:rPr>
              <a:t>Print Media:</a:t>
            </a:r>
            <a:endParaRPr lang="en-GB" sz="4300" b="0" i="0" dirty="0">
              <a:solidFill>
                <a:srgbClr val="FFFFFF"/>
              </a:solidFill>
              <a:effectLst/>
            </a:endParaRPr>
          </a:p>
          <a:p>
            <a:pPr lvl="1"/>
            <a:r>
              <a:rPr lang="en-GB" sz="4300" b="0" i="1" dirty="0">
                <a:solidFill>
                  <a:srgbClr val="FFFFFF"/>
                </a:solidFill>
                <a:effectLst/>
              </a:rPr>
              <a:t>Definition:</a:t>
            </a:r>
            <a:r>
              <a:rPr lang="en-GB" sz="4300" b="0" i="0" dirty="0">
                <a:solidFill>
                  <a:srgbClr val="FFFFFF"/>
                </a:solidFill>
                <a:effectLst/>
              </a:rPr>
              <a:t> Media that is printed on paper, such as newspapers, magazines, and brochures.</a:t>
            </a:r>
          </a:p>
          <a:p>
            <a:pPr lvl="1"/>
            <a:endParaRPr lang="en-GB" sz="4300" dirty="0">
              <a:solidFill>
                <a:srgbClr val="FFFFFF"/>
              </a:solidFill>
            </a:endParaRPr>
          </a:p>
          <a:p>
            <a:pPr lvl="1"/>
            <a:endParaRPr lang="en-GB" sz="4300" b="0" i="0" dirty="0">
              <a:solidFill>
                <a:srgbClr val="FFFFFF"/>
              </a:solidFill>
              <a:effectLst/>
            </a:endParaRPr>
          </a:p>
          <a:p>
            <a:pPr lvl="1"/>
            <a:endParaRPr lang="en-GB" sz="4300" b="0" i="0" dirty="0">
              <a:solidFill>
                <a:srgbClr val="FFFFFF"/>
              </a:solidFill>
              <a:effectLst/>
            </a:endParaRPr>
          </a:p>
          <a:p>
            <a:pPr>
              <a:buFont typeface="+mj-lt"/>
              <a:buAutoNum type="arabicPeriod"/>
            </a:pPr>
            <a:r>
              <a:rPr lang="en-GB" sz="4300" b="1" i="0" dirty="0">
                <a:solidFill>
                  <a:srgbClr val="FFFFFF"/>
                </a:solidFill>
                <a:effectLst/>
              </a:rPr>
              <a:t>New Media:</a:t>
            </a:r>
            <a:endParaRPr lang="en-GB" sz="4300" b="0" i="0" dirty="0">
              <a:solidFill>
                <a:srgbClr val="FFFFFF"/>
              </a:solidFill>
              <a:effectLst/>
            </a:endParaRPr>
          </a:p>
          <a:p>
            <a:pPr lvl="1"/>
            <a:r>
              <a:rPr lang="en-GB" sz="4300" b="0" i="1" dirty="0">
                <a:solidFill>
                  <a:srgbClr val="FFFFFF"/>
                </a:solidFill>
                <a:effectLst/>
              </a:rPr>
              <a:t>Definition:</a:t>
            </a:r>
            <a:r>
              <a:rPr lang="en-GB" sz="4300" b="0" i="0" dirty="0">
                <a:solidFill>
                  <a:srgbClr val="FFFFFF"/>
                </a:solidFill>
                <a:effectLst/>
              </a:rPr>
              <a:t> Digital forms of communication and media, including online platforms, social media, and digital content.</a:t>
            </a:r>
          </a:p>
          <a:p>
            <a:pPr>
              <a:buFont typeface="+mj-lt"/>
              <a:buAutoNum type="arabicPeriod"/>
            </a:pPr>
            <a:r>
              <a:rPr lang="en-GB" sz="4300" b="1" i="0" dirty="0">
                <a:solidFill>
                  <a:srgbClr val="FFFFFF"/>
                </a:solidFill>
                <a:effectLst/>
              </a:rPr>
              <a:t>Editorial:</a:t>
            </a:r>
            <a:endParaRPr lang="en-GB" sz="4300" b="0" i="0" dirty="0">
              <a:solidFill>
                <a:srgbClr val="FFFFFF"/>
              </a:solidFill>
              <a:effectLst/>
            </a:endParaRPr>
          </a:p>
          <a:p>
            <a:pPr lvl="1"/>
            <a:r>
              <a:rPr lang="en-GB" sz="4300" b="0" i="1" dirty="0">
                <a:solidFill>
                  <a:srgbClr val="FFFFFF"/>
                </a:solidFill>
                <a:effectLst/>
              </a:rPr>
              <a:t>Definition:</a:t>
            </a:r>
            <a:r>
              <a:rPr lang="en-GB" sz="4300" b="0" i="0" dirty="0">
                <a:solidFill>
                  <a:srgbClr val="FFFFFF"/>
                </a:solidFill>
                <a:effectLst/>
              </a:rPr>
              <a:t> Content expressing the opinion or viewpoint of the media outlet, often found in newspapers or online articles.</a:t>
            </a:r>
          </a:p>
          <a:p>
            <a:pPr>
              <a:buFont typeface="+mj-lt"/>
              <a:buAutoNum type="arabicPeriod"/>
            </a:pPr>
            <a:r>
              <a:rPr lang="en-GB" sz="4300" b="1" i="0" dirty="0">
                <a:solidFill>
                  <a:srgbClr val="FFFFFF"/>
                </a:solidFill>
                <a:effectLst/>
              </a:rPr>
              <a:t>Press Release:</a:t>
            </a:r>
            <a:endParaRPr lang="en-GB" sz="4300" b="0" i="0" dirty="0">
              <a:solidFill>
                <a:srgbClr val="FFFFFF"/>
              </a:solidFill>
              <a:effectLst/>
            </a:endParaRPr>
          </a:p>
          <a:p>
            <a:pPr lvl="1"/>
            <a:r>
              <a:rPr lang="en-GB" sz="4300" b="0" i="1" dirty="0">
                <a:solidFill>
                  <a:srgbClr val="FFFFFF"/>
                </a:solidFill>
                <a:effectLst/>
              </a:rPr>
              <a:t>Definition:</a:t>
            </a:r>
            <a:r>
              <a:rPr lang="en-GB" sz="4300" b="0" i="0" dirty="0">
                <a:solidFill>
                  <a:srgbClr val="FFFFFF"/>
                </a:solidFill>
                <a:effectLst/>
              </a:rPr>
              <a:t> A written or recorded communication provided to the media for publication, often announcing news or events.</a:t>
            </a:r>
          </a:p>
          <a:p>
            <a:pPr>
              <a:buFont typeface="+mj-lt"/>
              <a:buAutoNum type="arabicPeriod"/>
            </a:pPr>
            <a:r>
              <a:rPr lang="en-GB" sz="4300" b="1" i="0" dirty="0">
                <a:solidFill>
                  <a:srgbClr val="FFFFFF"/>
                </a:solidFill>
                <a:effectLst/>
              </a:rPr>
              <a:t>Infotainment:</a:t>
            </a:r>
            <a:endParaRPr lang="en-GB" sz="4300" b="0" i="0" dirty="0">
              <a:solidFill>
                <a:srgbClr val="FFFFFF"/>
              </a:solidFill>
              <a:effectLst/>
            </a:endParaRPr>
          </a:p>
          <a:p>
            <a:pPr lvl="1"/>
            <a:r>
              <a:rPr lang="en-GB" sz="4300" b="0" i="1" dirty="0">
                <a:solidFill>
                  <a:srgbClr val="FFFFFF"/>
                </a:solidFill>
                <a:effectLst/>
              </a:rPr>
              <a:t>Definition:</a:t>
            </a:r>
            <a:r>
              <a:rPr lang="en-GB" sz="4300" b="0" i="0" dirty="0">
                <a:solidFill>
                  <a:srgbClr val="FFFFFF"/>
                </a:solidFill>
                <a:effectLst/>
              </a:rPr>
              <a:t> Media content that combines information and entertainment, often in a way that prioritizes entertainment value.</a:t>
            </a:r>
          </a:p>
          <a:p>
            <a:pPr>
              <a:buFont typeface="+mj-lt"/>
              <a:buAutoNum type="arabicPeriod"/>
            </a:pPr>
            <a:r>
              <a:rPr lang="en-GB" sz="4300" b="1" i="0" dirty="0">
                <a:solidFill>
                  <a:srgbClr val="FFFFFF"/>
                </a:solidFill>
                <a:effectLst/>
              </a:rPr>
              <a:t>Media Bias:</a:t>
            </a:r>
            <a:endParaRPr lang="en-GB" sz="4300" b="0" i="0" dirty="0">
              <a:solidFill>
                <a:srgbClr val="FFFFFF"/>
              </a:solidFill>
              <a:effectLst/>
            </a:endParaRPr>
          </a:p>
          <a:p>
            <a:pPr lvl="1"/>
            <a:r>
              <a:rPr lang="en-GB" sz="4300" b="0" i="1" dirty="0">
                <a:solidFill>
                  <a:srgbClr val="FFFFFF"/>
                </a:solidFill>
                <a:effectLst/>
              </a:rPr>
              <a:t>Definition:</a:t>
            </a:r>
            <a:r>
              <a:rPr lang="en-GB" sz="4300" b="0" i="0" dirty="0">
                <a:solidFill>
                  <a:srgbClr val="FFFFFF"/>
                </a:solidFill>
                <a:effectLst/>
              </a:rPr>
              <a:t> The perceived or actual bias in the selection and presentation of news stories, reflecting a particular perspective.</a:t>
            </a:r>
          </a:p>
          <a:p>
            <a:endParaRPr lang="es-ES" sz="1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88439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A9F7B4E-B03D-4F64-BE33-00D074458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Vintage TVs on shelves">
            <a:extLst>
              <a:ext uri="{FF2B5EF4-FFF2-40B4-BE49-F238E27FC236}">
                <a16:creationId xmlns:a16="http://schemas.microsoft.com/office/drawing/2014/main" id="{9C2A1000-D23C-22D3-6BBD-8313785D91D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44" b="2786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471198-9D37-7E91-EED6-FE3EE3FB2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ES" sz="5400" dirty="0" err="1">
                <a:solidFill>
                  <a:schemeClr val="bg1"/>
                </a:solidFill>
              </a:rPr>
              <a:t>Vocabulary</a:t>
            </a:r>
            <a:endParaRPr lang="es-ES" sz="5400" dirty="0">
              <a:solidFill>
                <a:schemeClr val="bg1"/>
              </a:solidFill>
            </a:endParaRPr>
          </a:p>
        </p:txBody>
      </p:sp>
      <p:sp>
        <p:nvSpPr>
          <p:cNvPr id="15" name="sketchy line">
            <a:extLst>
              <a:ext uri="{FF2B5EF4-FFF2-40B4-BE49-F238E27FC236}">
                <a16:creationId xmlns:a16="http://schemas.microsoft.com/office/drawing/2014/main" id="{7E2BE7F7-CA89-4002-ACCE-A478AEA24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399" y="1681544"/>
            <a:ext cx="9692640" cy="18288"/>
          </a:xfrm>
          <a:custGeom>
            <a:avLst/>
            <a:gdLst>
              <a:gd name="connsiteX0" fmla="*/ 0 w 9692640"/>
              <a:gd name="connsiteY0" fmla="*/ 0 h 18288"/>
              <a:gd name="connsiteX1" fmla="*/ 401552 w 9692640"/>
              <a:gd name="connsiteY1" fmla="*/ 0 h 18288"/>
              <a:gd name="connsiteX2" fmla="*/ 996957 w 9692640"/>
              <a:gd name="connsiteY2" fmla="*/ 0 h 18288"/>
              <a:gd name="connsiteX3" fmla="*/ 1398509 w 9692640"/>
              <a:gd name="connsiteY3" fmla="*/ 0 h 18288"/>
              <a:gd name="connsiteX4" fmla="*/ 2090841 w 9692640"/>
              <a:gd name="connsiteY4" fmla="*/ 0 h 18288"/>
              <a:gd name="connsiteX5" fmla="*/ 2686246 w 9692640"/>
              <a:gd name="connsiteY5" fmla="*/ 0 h 18288"/>
              <a:gd name="connsiteX6" fmla="*/ 3475504 w 9692640"/>
              <a:gd name="connsiteY6" fmla="*/ 0 h 18288"/>
              <a:gd name="connsiteX7" fmla="*/ 4361688 w 9692640"/>
              <a:gd name="connsiteY7" fmla="*/ 0 h 18288"/>
              <a:gd name="connsiteX8" fmla="*/ 5054019 w 9692640"/>
              <a:gd name="connsiteY8" fmla="*/ 0 h 18288"/>
              <a:gd name="connsiteX9" fmla="*/ 5940204 w 9692640"/>
              <a:gd name="connsiteY9" fmla="*/ 0 h 18288"/>
              <a:gd name="connsiteX10" fmla="*/ 6632535 w 9692640"/>
              <a:gd name="connsiteY10" fmla="*/ 0 h 18288"/>
              <a:gd name="connsiteX11" fmla="*/ 7034087 w 9692640"/>
              <a:gd name="connsiteY11" fmla="*/ 0 h 18288"/>
              <a:gd name="connsiteX12" fmla="*/ 7532566 w 9692640"/>
              <a:gd name="connsiteY12" fmla="*/ 0 h 18288"/>
              <a:gd name="connsiteX13" fmla="*/ 8418750 w 9692640"/>
              <a:gd name="connsiteY13" fmla="*/ 0 h 18288"/>
              <a:gd name="connsiteX14" fmla="*/ 9692640 w 9692640"/>
              <a:gd name="connsiteY14" fmla="*/ 0 h 18288"/>
              <a:gd name="connsiteX15" fmla="*/ 9692640 w 9692640"/>
              <a:gd name="connsiteY15" fmla="*/ 18288 h 18288"/>
              <a:gd name="connsiteX16" fmla="*/ 9000309 w 9692640"/>
              <a:gd name="connsiteY16" fmla="*/ 18288 h 18288"/>
              <a:gd name="connsiteX17" fmla="*/ 8307977 w 9692640"/>
              <a:gd name="connsiteY17" fmla="*/ 18288 h 18288"/>
              <a:gd name="connsiteX18" fmla="*/ 7712572 w 9692640"/>
              <a:gd name="connsiteY18" fmla="*/ 18288 h 18288"/>
              <a:gd name="connsiteX19" fmla="*/ 7214093 w 9692640"/>
              <a:gd name="connsiteY19" fmla="*/ 18288 h 18288"/>
              <a:gd name="connsiteX20" fmla="*/ 6327909 w 9692640"/>
              <a:gd name="connsiteY20" fmla="*/ 18288 h 18288"/>
              <a:gd name="connsiteX21" fmla="*/ 5635578 w 9692640"/>
              <a:gd name="connsiteY21" fmla="*/ 18288 h 18288"/>
              <a:gd name="connsiteX22" fmla="*/ 4846320 w 9692640"/>
              <a:gd name="connsiteY22" fmla="*/ 18288 h 18288"/>
              <a:gd name="connsiteX23" fmla="*/ 4444768 w 9692640"/>
              <a:gd name="connsiteY23" fmla="*/ 18288 h 18288"/>
              <a:gd name="connsiteX24" fmla="*/ 3946289 w 9692640"/>
              <a:gd name="connsiteY24" fmla="*/ 18288 h 18288"/>
              <a:gd name="connsiteX25" fmla="*/ 3253958 w 9692640"/>
              <a:gd name="connsiteY25" fmla="*/ 18288 h 18288"/>
              <a:gd name="connsiteX26" fmla="*/ 2464700 w 9692640"/>
              <a:gd name="connsiteY26" fmla="*/ 18288 h 18288"/>
              <a:gd name="connsiteX27" fmla="*/ 2063148 w 9692640"/>
              <a:gd name="connsiteY27" fmla="*/ 18288 h 18288"/>
              <a:gd name="connsiteX28" fmla="*/ 1661595 w 9692640"/>
              <a:gd name="connsiteY28" fmla="*/ 18288 h 18288"/>
              <a:gd name="connsiteX29" fmla="*/ 969264 w 9692640"/>
              <a:gd name="connsiteY29" fmla="*/ 18288 h 18288"/>
              <a:gd name="connsiteX30" fmla="*/ 0 w 9692640"/>
              <a:gd name="connsiteY30" fmla="*/ 18288 h 18288"/>
              <a:gd name="connsiteX31" fmla="*/ 0 w 9692640"/>
              <a:gd name="connsiteY3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9692640" h="18288" fill="none" extrusionOk="0">
                <a:moveTo>
                  <a:pt x="0" y="0"/>
                </a:moveTo>
                <a:cubicBezTo>
                  <a:pt x="142992" y="4732"/>
                  <a:pt x="265909" y="-3365"/>
                  <a:pt x="401552" y="0"/>
                </a:cubicBezTo>
                <a:cubicBezTo>
                  <a:pt x="537195" y="3365"/>
                  <a:pt x="738153" y="6482"/>
                  <a:pt x="996957" y="0"/>
                </a:cubicBezTo>
                <a:cubicBezTo>
                  <a:pt x="1255762" y="-6482"/>
                  <a:pt x="1280511" y="12509"/>
                  <a:pt x="1398509" y="0"/>
                </a:cubicBezTo>
                <a:cubicBezTo>
                  <a:pt x="1516507" y="-12509"/>
                  <a:pt x="1782573" y="-31523"/>
                  <a:pt x="2090841" y="0"/>
                </a:cubicBezTo>
                <a:cubicBezTo>
                  <a:pt x="2399109" y="31523"/>
                  <a:pt x="2488380" y="26286"/>
                  <a:pt x="2686246" y="0"/>
                </a:cubicBezTo>
                <a:cubicBezTo>
                  <a:pt x="2884112" y="-26286"/>
                  <a:pt x="3186024" y="-14734"/>
                  <a:pt x="3475504" y="0"/>
                </a:cubicBezTo>
                <a:cubicBezTo>
                  <a:pt x="3764984" y="14734"/>
                  <a:pt x="4053017" y="43292"/>
                  <a:pt x="4361688" y="0"/>
                </a:cubicBezTo>
                <a:cubicBezTo>
                  <a:pt x="4670359" y="-43292"/>
                  <a:pt x="4736164" y="-729"/>
                  <a:pt x="5054019" y="0"/>
                </a:cubicBezTo>
                <a:cubicBezTo>
                  <a:pt x="5371874" y="729"/>
                  <a:pt x="5543528" y="-22963"/>
                  <a:pt x="5940204" y="0"/>
                </a:cubicBezTo>
                <a:cubicBezTo>
                  <a:pt x="6336881" y="22963"/>
                  <a:pt x="6423838" y="6469"/>
                  <a:pt x="6632535" y="0"/>
                </a:cubicBezTo>
                <a:cubicBezTo>
                  <a:pt x="6841232" y="-6469"/>
                  <a:pt x="6852819" y="17036"/>
                  <a:pt x="7034087" y="0"/>
                </a:cubicBezTo>
                <a:cubicBezTo>
                  <a:pt x="7215355" y="-17036"/>
                  <a:pt x="7313136" y="11151"/>
                  <a:pt x="7532566" y="0"/>
                </a:cubicBezTo>
                <a:cubicBezTo>
                  <a:pt x="7751996" y="-11151"/>
                  <a:pt x="8015001" y="25614"/>
                  <a:pt x="8418750" y="0"/>
                </a:cubicBezTo>
                <a:cubicBezTo>
                  <a:pt x="8822499" y="-25614"/>
                  <a:pt x="9163239" y="48603"/>
                  <a:pt x="9692640" y="0"/>
                </a:cubicBezTo>
                <a:cubicBezTo>
                  <a:pt x="9691955" y="4437"/>
                  <a:pt x="9693170" y="10717"/>
                  <a:pt x="9692640" y="18288"/>
                </a:cubicBezTo>
                <a:cubicBezTo>
                  <a:pt x="9545125" y="42172"/>
                  <a:pt x="9164259" y="6706"/>
                  <a:pt x="9000309" y="18288"/>
                </a:cubicBezTo>
                <a:cubicBezTo>
                  <a:pt x="8836359" y="29870"/>
                  <a:pt x="8521035" y="-14108"/>
                  <a:pt x="8307977" y="18288"/>
                </a:cubicBezTo>
                <a:cubicBezTo>
                  <a:pt x="8094919" y="50684"/>
                  <a:pt x="7881757" y="11235"/>
                  <a:pt x="7712572" y="18288"/>
                </a:cubicBezTo>
                <a:cubicBezTo>
                  <a:pt x="7543387" y="25341"/>
                  <a:pt x="7358861" y="20625"/>
                  <a:pt x="7214093" y="18288"/>
                </a:cubicBezTo>
                <a:cubicBezTo>
                  <a:pt x="7069325" y="15951"/>
                  <a:pt x="6523705" y="52160"/>
                  <a:pt x="6327909" y="18288"/>
                </a:cubicBezTo>
                <a:cubicBezTo>
                  <a:pt x="6132113" y="-15584"/>
                  <a:pt x="5923847" y="21204"/>
                  <a:pt x="5635578" y="18288"/>
                </a:cubicBezTo>
                <a:cubicBezTo>
                  <a:pt x="5347309" y="15372"/>
                  <a:pt x="5114749" y="50642"/>
                  <a:pt x="4846320" y="18288"/>
                </a:cubicBezTo>
                <a:cubicBezTo>
                  <a:pt x="4577891" y="-14066"/>
                  <a:pt x="4576701" y="1487"/>
                  <a:pt x="4444768" y="18288"/>
                </a:cubicBezTo>
                <a:cubicBezTo>
                  <a:pt x="4312835" y="35089"/>
                  <a:pt x="4112575" y="15158"/>
                  <a:pt x="3946289" y="18288"/>
                </a:cubicBezTo>
                <a:cubicBezTo>
                  <a:pt x="3780003" y="21418"/>
                  <a:pt x="3396009" y="18797"/>
                  <a:pt x="3253958" y="18288"/>
                </a:cubicBezTo>
                <a:cubicBezTo>
                  <a:pt x="3111907" y="17779"/>
                  <a:pt x="2760272" y="57223"/>
                  <a:pt x="2464700" y="18288"/>
                </a:cubicBezTo>
                <a:cubicBezTo>
                  <a:pt x="2169128" y="-20647"/>
                  <a:pt x="2232262" y="7960"/>
                  <a:pt x="2063148" y="18288"/>
                </a:cubicBezTo>
                <a:cubicBezTo>
                  <a:pt x="1894034" y="28616"/>
                  <a:pt x="1799338" y="3019"/>
                  <a:pt x="1661595" y="18288"/>
                </a:cubicBezTo>
                <a:cubicBezTo>
                  <a:pt x="1523852" y="33557"/>
                  <a:pt x="1113928" y="-4352"/>
                  <a:pt x="969264" y="18288"/>
                </a:cubicBezTo>
                <a:cubicBezTo>
                  <a:pt x="824600" y="40928"/>
                  <a:pt x="356149" y="-3128"/>
                  <a:pt x="0" y="18288"/>
                </a:cubicBezTo>
                <a:cubicBezTo>
                  <a:pt x="-540" y="12521"/>
                  <a:pt x="894" y="7749"/>
                  <a:pt x="0" y="0"/>
                </a:cubicBezTo>
                <a:close/>
              </a:path>
              <a:path w="9692640" h="18288" stroke="0" extrusionOk="0">
                <a:moveTo>
                  <a:pt x="0" y="0"/>
                </a:moveTo>
                <a:cubicBezTo>
                  <a:pt x="162642" y="3864"/>
                  <a:pt x="346119" y="-18364"/>
                  <a:pt x="498479" y="0"/>
                </a:cubicBezTo>
                <a:cubicBezTo>
                  <a:pt x="650839" y="18364"/>
                  <a:pt x="712065" y="-9389"/>
                  <a:pt x="900031" y="0"/>
                </a:cubicBezTo>
                <a:cubicBezTo>
                  <a:pt x="1087997" y="9389"/>
                  <a:pt x="1177291" y="3685"/>
                  <a:pt x="1398509" y="0"/>
                </a:cubicBezTo>
                <a:cubicBezTo>
                  <a:pt x="1619727" y="-3685"/>
                  <a:pt x="1874008" y="-8897"/>
                  <a:pt x="2090841" y="0"/>
                </a:cubicBezTo>
                <a:cubicBezTo>
                  <a:pt x="2307674" y="8897"/>
                  <a:pt x="2573432" y="-313"/>
                  <a:pt x="2880099" y="0"/>
                </a:cubicBezTo>
                <a:cubicBezTo>
                  <a:pt x="3186766" y="313"/>
                  <a:pt x="3422577" y="10664"/>
                  <a:pt x="3766283" y="0"/>
                </a:cubicBezTo>
                <a:cubicBezTo>
                  <a:pt x="4109989" y="-10664"/>
                  <a:pt x="4342683" y="-32873"/>
                  <a:pt x="4652467" y="0"/>
                </a:cubicBezTo>
                <a:cubicBezTo>
                  <a:pt x="4962251" y="32873"/>
                  <a:pt x="5122120" y="29155"/>
                  <a:pt x="5247872" y="0"/>
                </a:cubicBezTo>
                <a:cubicBezTo>
                  <a:pt x="5373625" y="-29155"/>
                  <a:pt x="5749491" y="1706"/>
                  <a:pt x="6037130" y="0"/>
                </a:cubicBezTo>
                <a:cubicBezTo>
                  <a:pt x="6324769" y="-1706"/>
                  <a:pt x="6531407" y="1172"/>
                  <a:pt x="6729461" y="0"/>
                </a:cubicBezTo>
                <a:cubicBezTo>
                  <a:pt x="6927515" y="-1172"/>
                  <a:pt x="7096794" y="-1520"/>
                  <a:pt x="7324867" y="0"/>
                </a:cubicBezTo>
                <a:cubicBezTo>
                  <a:pt x="7552940" y="1520"/>
                  <a:pt x="7878827" y="-17110"/>
                  <a:pt x="8114124" y="0"/>
                </a:cubicBezTo>
                <a:cubicBezTo>
                  <a:pt x="8349421" y="17110"/>
                  <a:pt x="8334208" y="15114"/>
                  <a:pt x="8515677" y="0"/>
                </a:cubicBezTo>
                <a:cubicBezTo>
                  <a:pt x="8697146" y="-15114"/>
                  <a:pt x="9236164" y="22466"/>
                  <a:pt x="9692640" y="0"/>
                </a:cubicBezTo>
                <a:cubicBezTo>
                  <a:pt x="9692735" y="8251"/>
                  <a:pt x="9692514" y="12333"/>
                  <a:pt x="9692640" y="18288"/>
                </a:cubicBezTo>
                <a:cubicBezTo>
                  <a:pt x="9410102" y="47398"/>
                  <a:pt x="9172773" y="7109"/>
                  <a:pt x="9000309" y="18288"/>
                </a:cubicBezTo>
                <a:cubicBezTo>
                  <a:pt x="8827845" y="29467"/>
                  <a:pt x="8713608" y="28372"/>
                  <a:pt x="8501830" y="18288"/>
                </a:cubicBezTo>
                <a:cubicBezTo>
                  <a:pt x="8290052" y="8204"/>
                  <a:pt x="7893416" y="3561"/>
                  <a:pt x="7712572" y="18288"/>
                </a:cubicBezTo>
                <a:cubicBezTo>
                  <a:pt x="7531728" y="33015"/>
                  <a:pt x="7480716" y="17052"/>
                  <a:pt x="7311020" y="18288"/>
                </a:cubicBezTo>
                <a:cubicBezTo>
                  <a:pt x="7141324" y="19524"/>
                  <a:pt x="6962706" y="15975"/>
                  <a:pt x="6618688" y="18288"/>
                </a:cubicBezTo>
                <a:cubicBezTo>
                  <a:pt x="6274670" y="20601"/>
                  <a:pt x="6230664" y="-1692"/>
                  <a:pt x="6120210" y="18288"/>
                </a:cubicBezTo>
                <a:cubicBezTo>
                  <a:pt x="6009756" y="38268"/>
                  <a:pt x="5442516" y="28115"/>
                  <a:pt x="5234026" y="18288"/>
                </a:cubicBezTo>
                <a:cubicBezTo>
                  <a:pt x="5025536" y="8461"/>
                  <a:pt x="4953693" y="18182"/>
                  <a:pt x="4832473" y="18288"/>
                </a:cubicBezTo>
                <a:cubicBezTo>
                  <a:pt x="4711253" y="18394"/>
                  <a:pt x="4414565" y="-11251"/>
                  <a:pt x="4140142" y="18288"/>
                </a:cubicBezTo>
                <a:cubicBezTo>
                  <a:pt x="3865719" y="47827"/>
                  <a:pt x="3819081" y="16772"/>
                  <a:pt x="3738590" y="18288"/>
                </a:cubicBezTo>
                <a:cubicBezTo>
                  <a:pt x="3658099" y="19804"/>
                  <a:pt x="3427576" y="1385"/>
                  <a:pt x="3240111" y="18288"/>
                </a:cubicBezTo>
                <a:cubicBezTo>
                  <a:pt x="3052646" y="35191"/>
                  <a:pt x="2749652" y="-13914"/>
                  <a:pt x="2450853" y="18288"/>
                </a:cubicBezTo>
                <a:cubicBezTo>
                  <a:pt x="2152054" y="50490"/>
                  <a:pt x="1928331" y="61101"/>
                  <a:pt x="1564669" y="18288"/>
                </a:cubicBezTo>
                <a:cubicBezTo>
                  <a:pt x="1201007" y="-24525"/>
                  <a:pt x="1217828" y="-275"/>
                  <a:pt x="1066190" y="18288"/>
                </a:cubicBezTo>
                <a:cubicBezTo>
                  <a:pt x="914552" y="36851"/>
                  <a:pt x="418290" y="-14785"/>
                  <a:pt x="0" y="18288"/>
                </a:cubicBezTo>
                <a:cubicBezTo>
                  <a:pt x="641" y="14236"/>
                  <a:pt x="889" y="755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DEEE8-D0D8-CA4F-3CD7-CF47DAF95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4446"/>
            <a:ext cx="10515600" cy="4176897"/>
          </a:xfrm>
        </p:spPr>
        <p:txBody>
          <a:bodyPr numCol="2">
            <a:normAutofit fontScale="92500" lnSpcReduction="20000"/>
          </a:bodyPr>
          <a:lstStyle/>
          <a:p>
            <a:pPr>
              <a:buFont typeface="+mj-lt"/>
              <a:buAutoNum type="arabicPeriod"/>
            </a:pPr>
            <a:r>
              <a:rPr lang="en-GB" sz="1600" b="1" i="0" dirty="0">
                <a:solidFill>
                  <a:schemeClr val="bg1"/>
                </a:solidFill>
                <a:effectLst/>
              </a:rPr>
              <a:t>Censorship:</a:t>
            </a:r>
            <a:endParaRPr lang="en-GB" sz="1600" b="0" i="0" dirty="0">
              <a:solidFill>
                <a:schemeClr val="bg1"/>
              </a:solidFill>
              <a:effectLst/>
            </a:endParaRPr>
          </a:p>
          <a:p>
            <a:pPr lvl="1"/>
            <a:r>
              <a:rPr lang="en-GB" sz="1600" b="0" i="1" dirty="0">
                <a:solidFill>
                  <a:schemeClr val="bg1"/>
                </a:solidFill>
                <a:effectLst/>
              </a:rPr>
              <a:t>Definition:</a:t>
            </a:r>
            <a:r>
              <a:rPr lang="en-GB" sz="1600" b="0" i="0" dirty="0">
                <a:solidFill>
                  <a:schemeClr val="bg1"/>
                </a:solidFill>
                <a:effectLst/>
              </a:rPr>
              <a:t> The control or suppression of information, ideas, or artistic expression by an authority or government.</a:t>
            </a:r>
          </a:p>
          <a:p>
            <a:pPr>
              <a:buFont typeface="+mj-lt"/>
              <a:buAutoNum type="arabicPeriod"/>
            </a:pPr>
            <a:r>
              <a:rPr lang="en-GB" sz="1600" b="1" i="0" dirty="0">
                <a:solidFill>
                  <a:schemeClr val="bg1"/>
                </a:solidFill>
                <a:effectLst/>
              </a:rPr>
              <a:t>Media Literacy:</a:t>
            </a:r>
            <a:endParaRPr lang="en-GB" sz="1600" b="0" i="0" dirty="0">
              <a:solidFill>
                <a:schemeClr val="bg1"/>
              </a:solidFill>
              <a:effectLst/>
            </a:endParaRPr>
          </a:p>
          <a:p>
            <a:pPr lvl="1"/>
            <a:r>
              <a:rPr lang="en-GB" sz="1600" b="0" i="1" dirty="0">
                <a:solidFill>
                  <a:schemeClr val="bg1"/>
                </a:solidFill>
                <a:effectLst/>
              </a:rPr>
              <a:t>Definition:</a:t>
            </a:r>
            <a:r>
              <a:rPr lang="en-GB" sz="1600" b="0" i="0" dirty="0">
                <a:solidFill>
                  <a:schemeClr val="bg1"/>
                </a:solidFill>
                <a:effectLst/>
              </a:rPr>
              <a:t> The ability to access, analyse, evaluate, and create media in various forms, promoting critical thinking and responsible use.</a:t>
            </a:r>
          </a:p>
          <a:p>
            <a:pPr>
              <a:buFont typeface="+mj-lt"/>
              <a:buAutoNum type="arabicPeriod"/>
            </a:pPr>
            <a:r>
              <a:rPr lang="en-GB" sz="1600" b="1" i="0" dirty="0">
                <a:solidFill>
                  <a:schemeClr val="bg1"/>
                </a:solidFill>
                <a:effectLst/>
              </a:rPr>
              <a:t>Clickbait:</a:t>
            </a:r>
            <a:endParaRPr lang="en-GB" sz="1600" b="0" i="0" dirty="0">
              <a:solidFill>
                <a:schemeClr val="bg1"/>
              </a:solidFill>
              <a:effectLst/>
            </a:endParaRPr>
          </a:p>
          <a:p>
            <a:pPr lvl="1"/>
            <a:r>
              <a:rPr lang="en-GB" sz="1600" b="0" i="1" dirty="0">
                <a:solidFill>
                  <a:schemeClr val="bg1"/>
                </a:solidFill>
                <a:effectLst/>
              </a:rPr>
              <a:t>Definition:</a:t>
            </a:r>
            <a:r>
              <a:rPr lang="en-GB" sz="1600" b="0" i="0" dirty="0">
                <a:solidFill>
                  <a:schemeClr val="bg1"/>
                </a:solidFill>
                <a:effectLst/>
              </a:rPr>
              <a:t> Online content, typically in the form of headlines or thumbnails, designed to attract attention and encourage users to click for more information.</a:t>
            </a:r>
          </a:p>
          <a:p>
            <a:pPr>
              <a:buFont typeface="+mj-lt"/>
              <a:buAutoNum type="arabicPeriod"/>
            </a:pPr>
            <a:r>
              <a:rPr lang="en-GB" sz="1600" b="1" i="0" dirty="0">
                <a:solidFill>
                  <a:schemeClr val="bg1"/>
                </a:solidFill>
                <a:effectLst/>
              </a:rPr>
              <a:t>Viral:</a:t>
            </a:r>
            <a:endParaRPr lang="en-GB" sz="1600" b="0" i="0" dirty="0">
              <a:solidFill>
                <a:schemeClr val="bg1"/>
              </a:solidFill>
              <a:effectLst/>
            </a:endParaRPr>
          </a:p>
          <a:p>
            <a:pPr lvl="1"/>
            <a:r>
              <a:rPr lang="en-GB" sz="1600" b="0" i="1" dirty="0">
                <a:solidFill>
                  <a:schemeClr val="bg1"/>
                </a:solidFill>
                <a:effectLst/>
              </a:rPr>
              <a:t>Definition:</a:t>
            </a:r>
            <a:r>
              <a:rPr lang="en-GB" sz="1600" b="0" i="0" dirty="0">
                <a:solidFill>
                  <a:schemeClr val="bg1"/>
                </a:solidFill>
                <a:effectLst/>
              </a:rPr>
              <a:t> Content, often online, that spreads rapidly and widely among users through sharing and reposting.</a:t>
            </a:r>
          </a:p>
          <a:p>
            <a:pPr>
              <a:buFont typeface="+mj-lt"/>
              <a:buAutoNum type="arabicPeriod"/>
            </a:pPr>
            <a:r>
              <a:rPr lang="en-GB" sz="1600" b="1" i="0" dirty="0">
                <a:solidFill>
                  <a:schemeClr val="bg1"/>
                </a:solidFill>
                <a:effectLst/>
              </a:rPr>
              <a:t>Podcast:</a:t>
            </a:r>
            <a:endParaRPr lang="en-GB" sz="1600" b="0" i="0" dirty="0">
              <a:solidFill>
                <a:schemeClr val="bg1"/>
              </a:solidFill>
              <a:effectLst/>
            </a:endParaRPr>
          </a:p>
          <a:p>
            <a:pPr lvl="1"/>
            <a:r>
              <a:rPr lang="en-GB" sz="1600" b="0" i="1" dirty="0">
                <a:solidFill>
                  <a:schemeClr val="bg1"/>
                </a:solidFill>
                <a:effectLst/>
              </a:rPr>
              <a:t>Definition:</a:t>
            </a:r>
            <a:r>
              <a:rPr lang="en-GB" sz="1600" b="0" i="0" dirty="0">
                <a:solidFill>
                  <a:schemeClr val="bg1"/>
                </a:solidFill>
                <a:effectLst/>
              </a:rPr>
              <a:t> A digital audio or video file available for streaming or download, often part of a series covering various topics.</a:t>
            </a:r>
          </a:p>
          <a:p>
            <a:pPr>
              <a:buFont typeface="+mj-lt"/>
              <a:buAutoNum type="arabicPeriod"/>
            </a:pPr>
            <a:r>
              <a:rPr lang="en-GB" sz="1600" b="1" i="0" dirty="0">
                <a:solidFill>
                  <a:schemeClr val="bg1"/>
                </a:solidFill>
                <a:effectLst/>
              </a:rPr>
              <a:t>Aggregator:</a:t>
            </a:r>
            <a:endParaRPr lang="en-GB" sz="1600" b="0" i="0" dirty="0">
              <a:solidFill>
                <a:schemeClr val="bg1"/>
              </a:solidFill>
              <a:effectLst/>
            </a:endParaRPr>
          </a:p>
          <a:p>
            <a:pPr lvl="1"/>
            <a:r>
              <a:rPr lang="en-GB" sz="1600" b="0" i="1" dirty="0">
                <a:solidFill>
                  <a:schemeClr val="bg1"/>
                </a:solidFill>
                <a:effectLst/>
              </a:rPr>
              <a:t>Definition:</a:t>
            </a:r>
            <a:r>
              <a:rPr lang="en-GB" sz="1600" b="0" i="0" dirty="0">
                <a:solidFill>
                  <a:schemeClr val="bg1"/>
                </a:solidFill>
                <a:effectLst/>
              </a:rPr>
              <a:t> A website or application that collects and displays content from various sources, providing a centralized location for users.</a:t>
            </a:r>
          </a:p>
          <a:p>
            <a:pPr>
              <a:buFont typeface="+mj-lt"/>
              <a:buAutoNum type="arabicPeriod"/>
            </a:pPr>
            <a:r>
              <a:rPr lang="en-GB" sz="1600" b="1" i="0" dirty="0">
                <a:solidFill>
                  <a:schemeClr val="bg1"/>
                </a:solidFill>
                <a:effectLst/>
              </a:rPr>
              <a:t>Caption:</a:t>
            </a:r>
            <a:endParaRPr lang="en-GB" sz="1600" b="0" i="0" dirty="0">
              <a:solidFill>
                <a:schemeClr val="bg1"/>
              </a:solidFill>
              <a:effectLst/>
            </a:endParaRPr>
          </a:p>
          <a:p>
            <a:pPr lvl="1"/>
            <a:r>
              <a:rPr lang="en-GB" sz="1600" b="0" i="1" dirty="0">
                <a:solidFill>
                  <a:schemeClr val="bg1"/>
                </a:solidFill>
                <a:effectLst/>
              </a:rPr>
              <a:t>Definition:</a:t>
            </a:r>
            <a:r>
              <a:rPr lang="en-GB" sz="1600" b="0" i="0" dirty="0">
                <a:solidFill>
                  <a:schemeClr val="bg1"/>
                </a:solidFill>
                <a:effectLst/>
              </a:rPr>
              <a:t> A brief explanation or description accompanying an image, providing context or additional information.</a:t>
            </a:r>
          </a:p>
          <a:p>
            <a:pPr>
              <a:buFont typeface="+mj-lt"/>
              <a:buAutoNum type="arabicPeriod"/>
            </a:pPr>
            <a:r>
              <a:rPr lang="en-GB" sz="1600" b="1" i="0" dirty="0">
                <a:solidFill>
                  <a:schemeClr val="bg1"/>
                </a:solidFill>
                <a:effectLst/>
              </a:rPr>
              <a:t>Analytics:</a:t>
            </a:r>
            <a:endParaRPr lang="en-GB" sz="1600" b="0" i="0" dirty="0">
              <a:solidFill>
                <a:schemeClr val="bg1"/>
              </a:solidFill>
              <a:effectLst/>
            </a:endParaRPr>
          </a:p>
          <a:p>
            <a:pPr lvl="1"/>
            <a:r>
              <a:rPr lang="en-GB" sz="1600" b="0" i="1" dirty="0">
                <a:solidFill>
                  <a:schemeClr val="bg1"/>
                </a:solidFill>
                <a:effectLst/>
              </a:rPr>
              <a:t>Definition:</a:t>
            </a:r>
            <a:r>
              <a:rPr lang="en-GB" sz="1600" b="0" i="0" dirty="0">
                <a:solidFill>
                  <a:schemeClr val="bg1"/>
                </a:solidFill>
                <a:effectLst/>
              </a:rPr>
              <a:t> The collection, measurement, analysis, and reporting of data related to the performance and effectiveness of media content.</a:t>
            </a:r>
          </a:p>
          <a:p>
            <a:pPr>
              <a:buFont typeface="+mj-lt"/>
              <a:buAutoNum type="arabicPeriod"/>
            </a:pPr>
            <a:r>
              <a:rPr lang="en-GB" sz="1600" b="1" i="0" dirty="0">
                <a:solidFill>
                  <a:schemeClr val="bg1"/>
                </a:solidFill>
                <a:effectLst/>
              </a:rPr>
              <a:t>SEO (Search Engine Optimization):</a:t>
            </a:r>
            <a:endParaRPr lang="en-GB" sz="1600" b="0" i="0" dirty="0">
              <a:solidFill>
                <a:schemeClr val="bg1"/>
              </a:solidFill>
              <a:effectLst/>
            </a:endParaRPr>
          </a:p>
          <a:p>
            <a:pPr lvl="1"/>
            <a:r>
              <a:rPr lang="en-GB" sz="1600" b="0" i="1" dirty="0">
                <a:solidFill>
                  <a:schemeClr val="bg1"/>
                </a:solidFill>
                <a:effectLst/>
              </a:rPr>
              <a:t>Definition:</a:t>
            </a:r>
            <a:r>
              <a:rPr lang="en-GB" sz="1600" b="0" i="0" dirty="0">
                <a:solidFill>
                  <a:schemeClr val="bg1"/>
                </a:solidFill>
                <a:effectLst/>
              </a:rPr>
              <a:t> The practice of optimizing online content to improve its visibility and ranking in search engine results.</a:t>
            </a:r>
          </a:p>
          <a:p>
            <a:pPr>
              <a:buFont typeface="+mj-lt"/>
              <a:buAutoNum type="arabicPeriod"/>
            </a:pPr>
            <a:r>
              <a:rPr lang="en-GB" sz="1600" b="1" i="0" dirty="0">
                <a:solidFill>
                  <a:schemeClr val="bg1"/>
                </a:solidFill>
                <a:effectLst/>
              </a:rPr>
              <a:t>Meme:</a:t>
            </a:r>
            <a:endParaRPr lang="en-GB" sz="1600" b="0" i="0" dirty="0">
              <a:solidFill>
                <a:schemeClr val="bg1"/>
              </a:solidFill>
              <a:effectLst/>
            </a:endParaRPr>
          </a:p>
          <a:p>
            <a:pPr lvl="1"/>
            <a:r>
              <a:rPr lang="en-GB" sz="1600" b="0" i="1" dirty="0">
                <a:solidFill>
                  <a:schemeClr val="bg1"/>
                </a:solidFill>
                <a:effectLst/>
              </a:rPr>
              <a:t>Definition:</a:t>
            </a:r>
            <a:r>
              <a:rPr lang="en-GB" sz="1600" b="0" i="0" dirty="0">
                <a:solidFill>
                  <a:schemeClr val="bg1"/>
                </a:solidFill>
                <a:effectLst/>
              </a:rPr>
              <a:t> A humorous image, video, or piece of text that is copied and spread rapidly by internet users.</a:t>
            </a:r>
          </a:p>
        </p:txBody>
      </p:sp>
    </p:spTree>
    <p:extLst>
      <p:ext uri="{BB962C8B-B14F-4D97-AF65-F5344CB8AC3E}">
        <p14:creationId xmlns:p14="http://schemas.microsoft.com/office/powerpoint/2010/main" val="1981592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DBE59A-C611-264D-F880-512DF7CC54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091" r="39666" b="1"/>
          <a:stretch/>
        </p:blipFill>
        <p:spPr>
          <a:xfrm>
            <a:off x="3522468" y="10"/>
            <a:ext cx="866953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95ADF3-781A-D4DE-2541-6FB5D4B90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es-ES" sz="2600" b="1" i="0">
                <a:solidFill>
                  <a:schemeClr val="bg1"/>
                </a:solidFill>
                <a:effectLst/>
                <a:latin typeface="+mn-lt"/>
              </a:rPr>
              <a:t>1. Objective Reporting vs. Advocacy:</a:t>
            </a:r>
            <a:endParaRPr lang="es-ES" sz="26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B6D1B-34BB-36B5-3CDC-6996F4D0A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en-GB" sz="1700" b="1" i="1" dirty="0">
                <a:solidFill>
                  <a:schemeClr val="bg1"/>
                </a:solidFill>
                <a:effectLst/>
              </a:rPr>
              <a:t>Discussion:</a:t>
            </a:r>
            <a:r>
              <a:rPr lang="en-GB" sz="1700" b="1" i="0" dirty="0">
                <a:solidFill>
                  <a:schemeClr val="bg1"/>
                </a:solidFill>
                <a:effectLst/>
              </a:rPr>
              <a:t> </a:t>
            </a:r>
            <a:r>
              <a:rPr lang="en-GB" sz="1700" b="0" i="0" dirty="0">
                <a:solidFill>
                  <a:schemeClr val="bg1"/>
                </a:solidFill>
                <a:effectLst/>
              </a:rPr>
              <a:t>Explore the balance between objective reporting and advocacy journalism. Should journalists strive to remain impartial, or is it acceptable for them to express personal opinions in their reporting?</a:t>
            </a:r>
            <a:endParaRPr lang="es-ES" sz="17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3605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BF6C0-74EA-41F6-FC97-F6059FBCC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33" y="490537"/>
            <a:ext cx="5291663" cy="1628775"/>
          </a:xfrm>
        </p:spPr>
        <p:txBody>
          <a:bodyPr anchor="b">
            <a:normAutofit/>
          </a:bodyPr>
          <a:lstStyle/>
          <a:p>
            <a:r>
              <a:rPr lang="es-ES" sz="4000" b="1" i="0">
                <a:effectLst/>
                <a:latin typeface="+mn-lt"/>
              </a:rPr>
              <a:t>2. Sensationalism in Media:</a:t>
            </a:r>
            <a:endParaRPr lang="es-ES" sz="4000"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F5143A-3FB5-579A-9CFF-AEB3F2F2C80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2" r="1" b="1"/>
          <a:stretch/>
        </p:blipFill>
        <p:spPr>
          <a:xfrm>
            <a:off x="2" y="1587"/>
            <a:ext cx="6095999" cy="6856413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CA413-10E8-A04C-2969-A7A283EAC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7734" y="2614612"/>
            <a:ext cx="5291663" cy="3752849"/>
          </a:xfrm>
        </p:spPr>
        <p:txBody>
          <a:bodyPr>
            <a:normAutofit/>
          </a:bodyPr>
          <a:lstStyle/>
          <a:p>
            <a:r>
              <a:rPr lang="en-GB" sz="1800" b="1" i="1" dirty="0">
                <a:effectLst/>
              </a:rPr>
              <a:t>Discussion:</a:t>
            </a:r>
            <a:r>
              <a:rPr lang="en-GB" sz="1800" b="1" i="0" dirty="0">
                <a:effectLst/>
              </a:rPr>
              <a:t> </a:t>
            </a:r>
            <a:r>
              <a:rPr lang="en-GB" sz="1800" b="0" i="0" dirty="0">
                <a:effectLst/>
              </a:rPr>
              <a:t>Discuss the ethical implications of sensationalism in media. How does sensationalism impact public perception, and what responsibilities do media professionals have in avoiding sensationalistic practices?</a:t>
            </a:r>
          </a:p>
          <a:p>
            <a:r>
              <a:rPr lang="en-GB" sz="1800" dirty="0"/>
              <a:t>Can you think of any other examples closer to home?</a:t>
            </a:r>
            <a:endParaRPr lang="es-ES" sz="1800" dirty="0"/>
          </a:p>
        </p:txBody>
      </p:sp>
    </p:spTree>
    <p:extLst>
      <p:ext uri="{BB962C8B-B14F-4D97-AF65-F5344CB8AC3E}">
        <p14:creationId xmlns:p14="http://schemas.microsoft.com/office/powerpoint/2010/main" val="1162778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F90786E-B72D-4C32-BDCE-A170B0078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46F2E7-848F-4A6C-A098-4764FDEA7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4F1867-28E0-524D-B4BE-CD236AB1802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b="15730"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144B3F-101C-D4BA-3E11-12C233F14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671570"/>
            <a:ext cx="5155261" cy="4072044"/>
          </a:xfrm>
        </p:spPr>
        <p:txBody>
          <a:bodyPr anchor="t">
            <a:normAutofit/>
          </a:bodyPr>
          <a:lstStyle/>
          <a:p>
            <a:r>
              <a:rPr lang="es-ES" b="1" i="0">
                <a:solidFill>
                  <a:srgbClr val="FFFFFF"/>
                </a:solidFill>
                <a:effectLst/>
                <a:latin typeface="+mn-lt"/>
              </a:rPr>
              <a:t>3. Privacy and Intrusion:</a:t>
            </a:r>
            <a:endParaRPr lang="es-ES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CFCF3-7459-D2D4-E95D-947DF3164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5986" y="1671566"/>
            <a:ext cx="5170861" cy="4072043"/>
          </a:xfrm>
        </p:spPr>
        <p:txBody>
          <a:bodyPr>
            <a:normAutofit/>
          </a:bodyPr>
          <a:lstStyle/>
          <a:p>
            <a:r>
              <a:rPr lang="en-GB" sz="2000" b="1" i="1">
                <a:solidFill>
                  <a:srgbClr val="FFFFFF"/>
                </a:solidFill>
                <a:effectLst/>
              </a:rPr>
              <a:t>Discussion:</a:t>
            </a:r>
            <a:r>
              <a:rPr lang="en-GB" sz="2000" b="1" i="0">
                <a:solidFill>
                  <a:srgbClr val="FFFFFF"/>
                </a:solidFill>
                <a:effectLst/>
              </a:rPr>
              <a:t> </a:t>
            </a:r>
            <a:r>
              <a:rPr lang="en-GB" sz="2000" b="0" i="0">
                <a:solidFill>
                  <a:srgbClr val="FFFFFF"/>
                </a:solidFill>
                <a:effectLst/>
              </a:rPr>
              <a:t>Examine the ethical considerations surrounding the invasion of privacy by the media. When is it justified to intrude into someone's private life for the sake of a news story?</a:t>
            </a:r>
            <a:endParaRPr lang="es-ES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1982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89C829-6C3D-B873-A777-73E730157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GB" sz="4200" b="1" i="0">
                <a:effectLst/>
                <a:latin typeface="+mn-lt"/>
              </a:rPr>
              <a:t>4. Fake News and Misinformation:</a:t>
            </a:r>
            <a:endParaRPr lang="es-ES" sz="4200">
              <a:latin typeface="+mn-lt"/>
            </a:endParaRP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02089-86BD-771E-16EF-68F5C6DA5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GB" sz="2200" b="1" i="1">
                <a:effectLst/>
              </a:rPr>
              <a:t>Discussion:</a:t>
            </a:r>
            <a:r>
              <a:rPr lang="en-GB" sz="2200" b="1" i="0">
                <a:effectLst/>
              </a:rPr>
              <a:t> </a:t>
            </a:r>
            <a:r>
              <a:rPr lang="en-GB" sz="2200" b="0" i="0">
                <a:effectLst/>
              </a:rPr>
              <a:t>Explore the role of media in combating fake news and misinformation. How can media organizations maintain trust, and what responsibility do they have in verifying and correcting information?</a:t>
            </a:r>
            <a:endParaRPr lang="es-ES" sz="22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C9E1B6-2032-D8FD-C342-ED9DCC4D81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0007" b="-2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892291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3D373-B57F-7FF7-03F2-D641A5C0C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Delayed feedback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2E930-BE18-E6AA-9A5A-7C49A7E3F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F0058F-01C7-50CA-5B72-171CC7BE6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0775" y="5734049"/>
            <a:ext cx="16383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464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718</Words>
  <Application>Microsoft Office PowerPoint</Application>
  <PresentationFormat>Widescreen</PresentationFormat>
  <Paragraphs>64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Mass media and communication</vt:lpstr>
      <vt:lpstr>Warm up</vt:lpstr>
      <vt:lpstr>Vocabulary</vt:lpstr>
      <vt:lpstr>Vocabulary</vt:lpstr>
      <vt:lpstr>1. Objective Reporting vs. Advocacy:</vt:lpstr>
      <vt:lpstr>2. Sensationalism in Media:</vt:lpstr>
      <vt:lpstr>3. Privacy and Intrusion:</vt:lpstr>
      <vt:lpstr>4. Fake News and Misinformation:</vt:lpstr>
      <vt:lpstr>Delayed feedback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Mass media and communication</dc:title>
  <dc:creator>Theo Clarke</dc:creator>
  <cp:lastModifiedBy>Clarke, Theodore James Dalgliesh</cp:lastModifiedBy>
  <cp:revision>3</cp:revision>
  <dcterms:created xsi:type="dcterms:W3CDTF">2024-01-04T11:28:26Z</dcterms:created>
  <dcterms:modified xsi:type="dcterms:W3CDTF">2024-06-12T11:58:56Z</dcterms:modified>
</cp:coreProperties>
</file>