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6" r:id="rId5"/>
    <p:sldId id="317" r:id="rId6"/>
    <p:sldId id="259" r:id="rId7"/>
    <p:sldId id="322" r:id="rId8"/>
    <p:sldId id="315" r:id="rId9"/>
    <p:sldId id="316" r:id="rId10"/>
    <p:sldId id="292" r:id="rId11"/>
    <p:sldId id="318" r:id="rId12"/>
    <p:sldId id="320" r:id="rId13"/>
    <p:sldId id="291" r:id="rId14"/>
    <p:sldId id="319" r:id="rId15"/>
    <p:sldId id="268" r:id="rId16"/>
    <p:sldId id="323" r:id="rId17"/>
    <p:sldId id="360" r:id="rId18"/>
    <p:sldId id="325" r:id="rId19"/>
    <p:sldId id="294" r:id="rId20"/>
    <p:sldId id="293" r:id="rId21"/>
    <p:sldId id="274" r:id="rId22"/>
    <p:sldId id="270" r:id="rId23"/>
    <p:sldId id="296" r:id="rId24"/>
    <p:sldId id="269" r:id="rId25"/>
    <p:sldId id="276" r:id="rId26"/>
    <p:sldId id="277" r:id="rId27"/>
    <p:sldId id="275" r:id="rId28"/>
    <p:sldId id="280" r:id="rId29"/>
    <p:sldId id="284" r:id="rId30"/>
    <p:sldId id="260" r:id="rId31"/>
    <p:sldId id="285"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107" d="100"/>
          <a:sy n="107" d="100"/>
        </p:scale>
        <p:origin x="5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344E84-23FC-4149-8812-A954F94E8466}"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344E84-23FC-4149-8812-A954F94E8466}" type="datetimeFigureOut">
              <a:rPr lang="en-US" smtClean="0"/>
              <a:t>1/23/2023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344E84-23FC-4149-8812-A954F94E8466}" type="datetimeFigureOut">
              <a:rPr lang="en-US" smtClean="0"/>
              <a:t>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344E84-23FC-4149-8812-A954F94E8466}" type="datetimeFigureOut">
              <a:rPr lang="en-US" smtClean="0"/>
              <a:t>1/23/2023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344E84-23FC-4149-8812-A954F94E8466}"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344E84-23FC-4149-8812-A954F94E8466}" type="datetimeFigureOut">
              <a:rPr lang="en-US" smtClean="0"/>
              <a:t>1/23/2023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6D344E84-23FC-4149-8812-A954F94E8466}" type="datetimeFigureOut">
              <a:rPr lang="en-US" smtClean="0"/>
              <a:t>1/23/2023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344E84-23FC-4149-8812-A954F94E8466}" type="datetimeFigureOut">
              <a:rPr lang="en-US" smtClean="0"/>
              <a:t>1/23/2023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EED1B5-2FAE-40F4-974D-0E114554DC7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D344E84-23FC-4149-8812-A954F94E8466}" type="datetimeFigureOut">
              <a:rPr lang="en-US" smtClean="0"/>
              <a:t>1/23/2023</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30EED1B5-2FAE-40F4-974D-0E114554DC7B}"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media/image6.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5.xml"/><Relationship Id="rId5" Type="http://schemas.openxmlformats.org/officeDocument/2006/relationships/image" Target="../media/image16.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7.xml"/><Relationship Id="rId1" Type="http://schemas.openxmlformats.org/officeDocument/2006/relationships/tags" Target="../tags/tag6.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26.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66906" y="105560"/>
            <a:ext cx="2807746" cy="2872292"/>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con&#10;&#10;Description automatically generated"/>
          <p:cNvPicPr>
            <a:picLocks noChangeAspect="1"/>
          </p:cNvPicPr>
          <p:nvPr/>
        </p:nvPicPr>
        <p:blipFill>
          <a:blip r:embed="rId2"/>
          <a:stretch>
            <a:fillRect/>
          </a:stretch>
        </p:blipFill>
        <p:spPr>
          <a:xfrm>
            <a:off x="813529" y="82028"/>
            <a:ext cx="1714500" cy="1714500"/>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869734" y="1914636"/>
            <a:ext cx="1636779" cy="762002"/>
          </a:xfrm>
          <a:prstGeom prst="rect">
            <a:avLst/>
          </a:prstGeom>
        </p:spPr>
      </p:pic>
      <p:sp>
        <p:nvSpPr>
          <p:cNvPr id="9" name="Oval 8"/>
          <p:cNvSpPr/>
          <p:nvPr/>
        </p:nvSpPr>
        <p:spPr>
          <a:xfrm>
            <a:off x="2052493" y="2537328"/>
            <a:ext cx="862830" cy="882665"/>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635381" y="2203301"/>
            <a:ext cx="699490" cy="715570"/>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4157980" y="2685415"/>
            <a:ext cx="6109335" cy="2122805"/>
          </a:xfrm>
          <a:prstGeom prst="rect">
            <a:avLst/>
          </a:prstGeom>
          <a:noFill/>
        </p:spPr>
        <p:txBody>
          <a:bodyPr wrap="square" rtlCol="0">
            <a:spAutoFit/>
          </a:bodyPr>
          <a:lstStyle/>
          <a:p>
            <a:pPr algn="ctr"/>
            <a:r>
              <a:rPr lang="en-US" altLang="en-US" sz="6600" b="1" dirty="0">
                <a:solidFill>
                  <a:schemeClr val="tx1"/>
                </a:solidFill>
                <a:latin typeface="Arial Black" panose="020B0A04020102020204" charset="0"/>
                <a:ea typeface="Arial" panose="020B0604020202020204" pitchFamily="34" charset="0"/>
                <a:cs typeface="Arial Black" panose="020B0A04020102020204" charset="0"/>
                <a:sym typeface="+mn-ea"/>
              </a:rPr>
              <a:t>Business Organisation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684212" y="2046605"/>
            <a:ext cx="8534400" cy="3615267"/>
          </a:xfrm>
        </p:spPr>
        <p:txBody>
          <a:bodyPr/>
          <a:lstStyle/>
          <a:p>
            <a:r>
              <a:rPr lang="en-US" altLang="en-US">
                <a:solidFill>
                  <a:schemeClr val="tx1"/>
                </a:solidFill>
                <a:latin typeface="Arial" panose="020B0604020202020204" pitchFamily="34" charset="0"/>
                <a:cs typeface="Arial" panose="020B0604020202020204" pitchFamily="34" charset="0"/>
              </a:rPr>
              <a:t>1. Objectives</a:t>
            </a:r>
          </a:p>
          <a:p>
            <a:r>
              <a:rPr lang="en-US" altLang="en-US">
                <a:solidFill>
                  <a:schemeClr val="tx1"/>
                </a:solidFill>
                <a:latin typeface="Arial" panose="020B0604020202020204" pitchFamily="34" charset="0"/>
                <a:cs typeface="Arial" panose="020B0604020202020204" pitchFamily="34" charset="0"/>
              </a:rPr>
              <a:t>2. Vocabulary</a:t>
            </a:r>
          </a:p>
          <a:p>
            <a:r>
              <a:rPr lang="en-US" altLang="en-US">
                <a:solidFill>
                  <a:schemeClr val="tx1"/>
                </a:solidFill>
                <a:latin typeface="Arial" panose="020B0604020202020204" pitchFamily="34" charset="0"/>
                <a:cs typeface="Arial" panose="020B0604020202020204" pitchFamily="34" charset="0"/>
              </a:rPr>
              <a:t>3. Functional Content</a:t>
            </a:r>
          </a:p>
          <a:p>
            <a:r>
              <a:rPr lang="en-US" altLang="en-US">
                <a:solidFill>
                  <a:schemeClr val="tx1"/>
                </a:solidFill>
                <a:latin typeface="Arial" panose="020B0604020202020204" pitchFamily="34" charset="0"/>
                <a:cs typeface="Arial" panose="020B0604020202020204" pitchFamily="34" charset="0"/>
              </a:rPr>
              <a:t>4. Production</a:t>
            </a:r>
          </a:p>
          <a:p>
            <a:r>
              <a:rPr lang="en-US" altLang="en-US">
                <a:solidFill>
                  <a:schemeClr val="tx1"/>
                </a:solidFill>
                <a:latin typeface="Arial" panose="020B0604020202020204" pitchFamily="34" charset="0"/>
                <a:cs typeface="Arial" panose="020B0604020202020204" pitchFamily="34" charset="0"/>
              </a:rPr>
              <a:t>5. Delayed Feedback</a:t>
            </a:r>
          </a:p>
        </p:txBody>
      </p:sp>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4012565" y="1122045"/>
            <a:ext cx="3510915" cy="706755"/>
          </a:xfrm>
          <a:prstGeom prst="rect">
            <a:avLst/>
          </a:prstGeom>
          <a:noFill/>
        </p:spPr>
        <p:txBody>
          <a:bodyPr wrap="square" rtlCol="0">
            <a:spAutoFit/>
          </a:bodyPr>
          <a:lstStyle/>
          <a:p>
            <a:r>
              <a:rPr lang="en-US" sz="4000" b="1" dirty="0">
                <a:latin typeface="Arial Black" panose="020B0A04020102020204" charset="0"/>
                <a:cs typeface="Arial Black" panose="020B0A04020102020204" charset="0"/>
              </a:rPr>
              <a:t>CONTENTS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5"/>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6"/>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稻壳儿_刀客儿出品_1"/>
          <p:cNvSpPr txBox="1"/>
          <p:nvPr>
            <p:custDataLst>
              <p:tags r:id="rId1"/>
            </p:custDataLst>
          </p:nvPr>
        </p:nvSpPr>
        <p:spPr>
          <a:xfrm>
            <a:off x="7631674" y="1771664"/>
            <a:ext cx="2254250" cy="521970"/>
          </a:xfrm>
          <a:prstGeom prst="rect">
            <a:avLst/>
          </a:prstGeom>
          <a:noFill/>
        </p:spPr>
        <p:txBody>
          <a:bodyPr wrap="none" rtlCol="0">
            <a:spAutoFit/>
          </a:bodyPr>
          <a:lstStyle/>
          <a:p>
            <a:r>
              <a:rPr lang="en-US" altLang="en-US" sz="2800" b="1" dirty="0">
                <a:latin typeface="Arial Black" panose="020B0A04020102020204" charset="0"/>
                <a:ea typeface="Arial" panose="020B0604020202020204" pitchFamily="34" charset="0"/>
                <a:cs typeface="Arial Black" panose="020B0A04020102020204" charset="0"/>
              </a:rPr>
              <a:t>Objectives</a:t>
            </a:r>
          </a:p>
        </p:txBody>
      </p:sp>
      <p:sp>
        <p:nvSpPr>
          <p:cNvPr id="10" name="稻壳儿_刀客儿出品_2"/>
          <p:cNvSpPr txBox="1"/>
          <p:nvPr>
            <p:custDataLst>
              <p:tags r:id="rId2"/>
            </p:custDataLst>
          </p:nvPr>
        </p:nvSpPr>
        <p:spPr>
          <a:xfrm>
            <a:off x="7631675" y="2293752"/>
            <a:ext cx="3507380" cy="3610610"/>
          </a:xfrm>
          <a:prstGeom prst="rect">
            <a:avLst/>
          </a:prstGeom>
          <a:noFill/>
        </p:spPr>
        <p:txBody>
          <a:bodyPr wrap="square" rtlCol="0">
            <a:spAutoFit/>
          </a:bodyPr>
          <a:lstStyle/>
          <a:p>
            <a:pPr>
              <a:lnSpc>
                <a:spcPct val="130000"/>
              </a:lnSpc>
            </a:pPr>
            <a:r>
              <a:rPr lang="en-US" altLang="en-US" sz="1600" dirty="0">
                <a:latin typeface="Arial" panose="020B0604020202020204" pitchFamily="34" charset="0"/>
                <a:ea typeface="Arial" panose="020B0604020202020204" pitchFamily="34" charset="0"/>
              </a:rPr>
              <a:t>* T</a:t>
            </a:r>
            <a:r>
              <a:rPr lang="en-US" sz="1600" dirty="0">
                <a:latin typeface="Arial" panose="020B0604020202020204" pitchFamily="34" charset="0"/>
                <a:ea typeface="Arial" panose="020B0604020202020204" pitchFamily="34" charset="0"/>
              </a:rPr>
              <a:t>o create </a:t>
            </a:r>
            <a:r>
              <a:rPr lang="en-US" altLang="en-US" sz="1600" dirty="0">
                <a:latin typeface="Arial" panose="020B0604020202020204" pitchFamily="34" charset="0"/>
                <a:ea typeface="Arial" panose="020B0604020202020204" pitchFamily="34" charset="0"/>
              </a:rPr>
              <a:t>a </a:t>
            </a:r>
            <a:r>
              <a:rPr lang="en-US" sz="1600" dirty="0">
                <a:latin typeface="Arial" panose="020B0604020202020204" pitchFamily="34" charset="0"/>
                <a:ea typeface="Arial" panose="020B0604020202020204" pitchFamily="34" charset="0"/>
              </a:rPr>
              <a:t>departmental</a:t>
            </a:r>
            <a:r>
              <a:rPr lang="en-US" altLang="en-US" sz="1600" dirty="0">
                <a:latin typeface="Arial" panose="020B0604020202020204" pitchFamily="34" charset="0"/>
                <a:ea typeface="Arial" panose="020B0604020202020204" pitchFamily="34" charset="0"/>
              </a:rPr>
              <a:t>/functional</a:t>
            </a:r>
            <a:r>
              <a:rPr lang="en-US" sz="1600" dirty="0">
                <a:latin typeface="Arial" panose="020B0604020202020204" pitchFamily="34" charset="0"/>
                <a:ea typeface="Arial" panose="020B0604020202020204" pitchFamily="34" charset="0"/>
              </a:rPr>
              <a:t> organogram</a:t>
            </a:r>
            <a:endParaRPr lang="en-US" altLang="en-US" sz="1600" dirty="0">
              <a:latin typeface="Arial" panose="020B0604020202020204" pitchFamily="34" charset="0"/>
              <a:ea typeface="Arial" panose="020B0604020202020204" pitchFamily="34" charset="0"/>
            </a:endParaRPr>
          </a:p>
          <a:p>
            <a:pPr>
              <a:lnSpc>
                <a:spcPct val="130000"/>
              </a:lnSpc>
            </a:pPr>
            <a:r>
              <a:rPr lang="en-US" altLang="en-US" sz="1600" dirty="0">
                <a:latin typeface="Arial" panose="020B0604020202020204" pitchFamily="34" charset="0"/>
                <a:ea typeface="Arial" panose="020B0604020202020204" pitchFamily="34" charset="0"/>
              </a:rPr>
              <a:t>* Discuss thefunctions of the Marketing and HR Departments</a:t>
            </a:r>
          </a:p>
          <a:p>
            <a:pPr>
              <a:lnSpc>
                <a:spcPct val="130000"/>
              </a:lnSpc>
            </a:pPr>
            <a:r>
              <a:rPr lang="en-US" altLang="en-US" sz="1600" dirty="0">
                <a:latin typeface="Arial" panose="020B0604020202020204" pitchFamily="34" charset="0"/>
                <a:ea typeface="Arial" panose="020B0604020202020204" pitchFamily="34" charset="0"/>
              </a:rPr>
              <a:t>* Usage of Simple Present vs Present Progressive</a:t>
            </a:r>
          </a:p>
          <a:p>
            <a:pPr>
              <a:lnSpc>
                <a:spcPct val="130000"/>
              </a:lnSpc>
            </a:pPr>
            <a:r>
              <a:rPr lang="en-US" altLang="en-US" sz="1600" dirty="0">
                <a:latin typeface="Arial" panose="020B0604020202020204" pitchFamily="34" charset="0"/>
                <a:ea typeface="Arial" panose="020B0604020202020204" pitchFamily="34" charset="0"/>
              </a:rPr>
              <a:t>* Role play as interviewer and interviewee</a:t>
            </a:r>
          </a:p>
          <a:p>
            <a:pPr>
              <a:lnSpc>
                <a:spcPct val="130000"/>
              </a:lnSpc>
            </a:pPr>
            <a:r>
              <a:rPr lang="en-US" altLang="en-US" sz="1600" dirty="0">
                <a:latin typeface="Arial" panose="020B0604020202020204" pitchFamily="34" charset="0"/>
                <a:ea typeface="Arial" panose="020B0604020202020204" pitchFamily="34" charset="0"/>
              </a:rPr>
              <a:t>* Usage of Simple Past and Past Progressive in an interview.</a:t>
            </a:r>
          </a:p>
          <a:p>
            <a:pPr>
              <a:lnSpc>
                <a:spcPct val="130000"/>
              </a:lnSpc>
            </a:pPr>
            <a:r>
              <a:rPr lang="en-US" altLang="en-US" sz="1600" dirty="0">
                <a:latin typeface="Arial" panose="020B0604020202020204" pitchFamily="34" charset="0"/>
                <a:ea typeface="Arial" panose="020B0604020202020204" pitchFamily="34" charset="0"/>
              </a:rPr>
              <a:t>* Conduct Competitor Analysis</a:t>
            </a:r>
          </a:p>
        </p:txBody>
      </p:sp>
      <p:sp>
        <p:nvSpPr>
          <p:cNvPr id="11" name="稻壳儿_刀客儿出品_3"/>
          <p:cNvSpPr txBox="1"/>
          <p:nvPr>
            <p:custDataLst>
              <p:tags r:id="rId3"/>
            </p:custDataLst>
          </p:nvPr>
        </p:nvSpPr>
        <p:spPr>
          <a:xfrm>
            <a:off x="1511660" y="2118186"/>
            <a:ext cx="2409190" cy="768350"/>
          </a:xfrm>
          <a:prstGeom prst="rect">
            <a:avLst/>
          </a:prstGeom>
          <a:noFill/>
        </p:spPr>
        <p:txBody>
          <a:bodyPr wrap="none" rtlCol="0">
            <a:spAutoFit/>
          </a:bodyPr>
          <a:lstStyle/>
          <a:p>
            <a:r>
              <a:rPr lang="en-US" altLang="en-US" sz="4400" b="1" dirty="0">
                <a:latin typeface="Arial Black" panose="020B0A04020102020204" charset="0"/>
                <a:ea typeface="Arial" panose="020B0604020202020204" pitchFamily="34" charset="0"/>
                <a:cs typeface="Arial Black" panose="020B0A04020102020204" charset="0"/>
              </a:rPr>
              <a:t>Part 01</a:t>
            </a:r>
          </a:p>
        </p:txBody>
      </p:sp>
      <p:pic>
        <p:nvPicPr>
          <p:cNvPr id="103" name="Content Placeholder 102"/>
          <p:cNvPicPr>
            <a:picLocks noGrp="1" noChangeAspect="1"/>
          </p:cNvPicPr>
          <p:nvPr>
            <p:ph idx="1"/>
          </p:nvPr>
        </p:nvPicPr>
        <p:blipFill>
          <a:blip r:embed="rId7"/>
          <a:stretch>
            <a:fillRect/>
          </a:stretch>
        </p:blipFill>
        <p:spPr>
          <a:xfrm>
            <a:off x="265430" y="3100070"/>
            <a:ext cx="6506845" cy="361505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Box 1"/>
          <p:cNvSpPr txBox="1"/>
          <p:nvPr/>
        </p:nvSpPr>
        <p:spPr>
          <a:xfrm>
            <a:off x="6348095" y="445770"/>
            <a:ext cx="4581525" cy="645160"/>
          </a:xfrm>
          <a:prstGeom prst="rect">
            <a:avLst/>
          </a:prstGeom>
          <a:noFill/>
        </p:spPr>
        <p:txBody>
          <a:bodyPr wrap="square" rtlCol="0">
            <a:spAutoFit/>
          </a:bodyPr>
          <a:lstStyle/>
          <a:p>
            <a:pPr algn="ctr"/>
            <a:r>
              <a:rPr lang="en-US" altLang="en-US" b="1">
                <a:latin typeface="Arial Black" panose="020B0A04020102020204" charset="0"/>
                <a:cs typeface="Arial Black" panose="020B0A04020102020204" charset="0"/>
              </a:rPr>
              <a:t>Which departments do they belong to and why?</a:t>
            </a:r>
          </a:p>
        </p:txBody>
      </p:sp>
      <p:pic>
        <p:nvPicPr>
          <p:cNvPr id="100" name="Picture 99"/>
          <p:cNvPicPr/>
          <p:nvPr/>
        </p:nvPicPr>
        <p:blipFill>
          <a:blip r:embed="rId4"/>
          <a:stretch>
            <a:fillRect/>
          </a:stretch>
        </p:blipFill>
        <p:spPr>
          <a:xfrm>
            <a:off x="1265555" y="1122045"/>
            <a:ext cx="8846820" cy="4401185"/>
          </a:xfrm>
          <a:prstGeom prst="rect">
            <a:avLst/>
          </a:prstGeom>
          <a:noFill/>
          <a:ln w="9525">
            <a:noFill/>
          </a:ln>
          <a:effectLst>
            <a:reflection blurRad="6350" stA="50000" endA="300" endPos="55000" dir="5400000" sy="-100000" algn="bl" rotWithShape="0"/>
            <a:softEdge rad="6350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Box 1"/>
          <p:cNvSpPr txBox="1"/>
          <p:nvPr/>
        </p:nvSpPr>
        <p:spPr>
          <a:xfrm>
            <a:off x="6046470" y="445770"/>
            <a:ext cx="4883150" cy="922020"/>
          </a:xfrm>
          <a:prstGeom prst="rect">
            <a:avLst/>
          </a:prstGeom>
          <a:noFill/>
        </p:spPr>
        <p:txBody>
          <a:bodyPr wrap="square" rtlCol="0">
            <a:spAutoFit/>
          </a:bodyPr>
          <a:lstStyle/>
          <a:p>
            <a:pPr algn="ctr"/>
            <a:r>
              <a:rPr lang="en-US" altLang="en-US" b="1">
                <a:latin typeface="Arial Black" panose="020B0A04020102020204" charset="0"/>
                <a:cs typeface="Arial Black" panose="020B0A04020102020204" charset="0"/>
              </a:rPr>
              <a:t>Discuss which departments spend more money than they bring in or save?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483735"/>
            <a:ext cx="4691380" cy="105156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Give practical examples from your company  of each scenario indicated in the vocabulary.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Which other terms have a simillar meaning to those in the vocab</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0" name="稻壳儿_刀客儿出品_7"/>
          <p:cNvSpPr txBox="1"/>
          <p:nvPr/>
        </p:nvSpPr>
        <p:spPr>
          <a:xfrm>
            <a:off x="6243955" y="1327150"/>
            <a:ext cx="5626100" cy="5126990"/>
          </a:xfrm>
          <a:prstGeom prst="rect">
            <a:avLst/>
          </a:prstGeom>
          <a:noFill/>
        </p:spPr>
        <p:txBody>
          <a:bodyPr wrap="square" lIns="90000" tIns="46800" rIns="90000" bIns="46800" rtlCol="0">
            <a:spAutoFit/>
          </a:bodyPr>
          <a:lstStyle/>
          <a:p>
            <a:pPr>
              <a:lnSpc>
                <a:spcPct val="140000"/>
              </a:lnSpc>
              <a:defRPr/>
            </a:pPr>
            <a:r>
              <a:rPr lang="en-US" altLang="en-US">
                <a:latin typeface="Arial" panose="020B0604020202020204" pitchFamily="34" charset="0"/>
                <a:cs typeface="Arial" panose="020B0604020202020204" pitchFamily="34" charset="0"/>
                <a:sym typeface="+mn-ea"/>
              </a:rPr>
              <a:t>1. The structure of a company showing the relationships between and among departments is called an </a:t>
            </a:r>
            <a:r>
              <a:rPr lang="en-US" altLang="en-US" b="1" i="1" u="sng">
                <a:solidFill>
                  <a:srgbClr val="FF0000"/>
                </a:solidFill>
                <a:latin typeface="Arial" panose="020B0604020202020204" pitchFamily="34" charset="0"/>
                <a:cs typeface="Arial" panose="020B0604020202020204" pitchFamily="34" charset="0"/>
                <a:sym typeface="+mn-ea"/>
              </a:rPr>
              <a:t>organogram</a:t>
            </a:r>
            <a:endParaRPr lang="en-US" altLang="en-US">
              <a:latin typeface="Arial" panose="020B0604020202020204" pitchFamily="34" charset="0"/>
              <a:cs typeface="Arial" panose="020B0604020202020204" pitchFamily="34" charset="0"/>
            </a:endParaRPr>
          </a:p>
          <a:p>
            <a:pPr>
              <a:lnSpc>
                <a:spcPct val="140000"/>
              </a:lnSpc>
              <a:defRPr/>
            </a:pPr>
            <a:r>
              <a:rPr lang="en-US" altLang="en-US">
                <a:latin typeface="Arial" panose="020B0604020202020204" pitchFamily="34" charset="0"/>
                <a:cs typeface="Arial" panose="020B0604020202020204" pitchFamily="34" charset="0"/>
                <a:sym typeface="+mn-ea"/>
              </a:rPr>
              <a:t>2. </a:t>
            </a:r>
            <a:r>
              <a:rPr lang="en-US" altLang="en-US" b="1" i="1" u="sng">
                <a:solidFill>
                  <a:srgbClr val="FF0000"/>
                </a:solidFill>
                <a:latin typeface="Arial" panose="020B0604020202020204" pitchFamily="34" charset="0"/>
                <a:cs typeface="Arial" panose="020B0604020202020204" pitchFamily="34" charset="0"/>
                <a:sym typeface="+mn-ea"/>
              </a:rPr>
              <a:t>Incentives and bonus’ </a:t>
            </a:r>
            <a:r>
              <a:rPr lang="en-US" altLang="en-US">
                <a:latin typeface="Arial" panose="020B0604020202020204" pitchFamily="34" charset="0"/>
                <a:cs typeface="Arial" panose="020B0604020202020204" pitchFamily="34" charset="0"/>
                <a:sym typeface="+mn-ea"/>
              </a:rPr>
              <a:t>are usually monetary motivational tools used to increase productivity and morale in a company</a:t>
            </a:r>
          </a:p>
          <a:p>
            <a:pPr>
              <a:lnSpc>
                <a:spcPct val="140000"/>
              </a:lnSpc>
              <a:defRPr/>
            </a:pPr>
            <a:r>
              <a:rPr lang="en-US" altLang="en-US">
                <a:latin typeface="Arial" panose="020B0604020202020204" pitchFamily="34" charset="0"/>
                <a:cs typeface="Arial" panose="020B0604020202020204" pitchFamily="34" charset="0"/>
                <a:sym typeface="+mn-ea"/>
              </a:rPr>
              <a:t>3. Companies conduct </a:t>
            </a:r>
            <a:r>
              <a:rPr lang="en-US" altLang="en-US" b="1" i="1" u="sng">
                <a:solidFill>
                  <a:srgbClr val="FF0000"/>
                </a:solidFill>
                <a:latin typeface="Arial" panose="020B0604020202020204" pitchFamily="34" charset="0"/>
                <a:cs typeface="Arial" panose="020B0604020202020204" pitchFamily="34" charset="0"/>
                <a:sym typeface="+mn-ea"/>
              </a:rPr>
              <a:t>Training and Development</a:t>
            </a:r>
            <a:endParaRPr lang="en-US" altLang="en-US">
              <a:latin typeface="Arial" panose="020B0604020202020204" pitchFamily="34" charset="0"/>
              <a:cs typeface="Arial" panose="020B0604020202020204" pitchFamily="34" charset="0"/>
            </a:endParaRPr>
          </a:p>
          <a:p>
            <a:pPr>
              <a:lnSpc>
                <a:spcPct val="140000"/>
              </a:lnSpc>
              <a:defRPr/>
            </a:pPr>
            <a:r>
              <a:rPr lang="en-US" altLang="en-US">
                <a:latin typeface="Arial" panose="020B0604020202020204" pitchFamily="34" charset="0"/>
                <a:cs typeface="Arial" panose="020B0604020202020204" pitchFamily="34" charset="0"/>
                <a:sym typeface="+mn-ea"/>
              </a:rPr>
              <a:t>as a way to upskill their employees</a:t>
            </a:r>
          </a:p>
          <a:p>
            <a:pPr>
              <a:lnSpc>
                <a:spcPct val="140000"/>
              </a:lnSpc>
              <a:defRPr/>
            </a:pPr>
            <a:r>
              <a:rPr lang="en-US" altLang="en-US">
                <a:latin typeface="Arial" panose="020B0604020202020204" pitchFamily="34" charset="0"/>
                <a:cs typeface="Arial" panose="020B0604020202020204" pitchFamily="34" charset="0"/>
                <a:sym typeface="+mn-ea"/>
              </a:rPr>
              <a:t>4. When we take time away from work with full benefits it is called a </a:t>
            </a:r>
            <a:r>
              <a:rPr lang="en-US" altLang="en-US" b="1" i="1" u="sng">
                <a:solidFill>
                  <a:srgbClr val="FF0000"/>
                </a:solidFill>
                <a:latin typeface="Arial" panose="020B0604020202020204" pitchFamily="34" charset="0"/>
                <a:cs typeface="Arial" panose="020B0604020202020204" pitchFamily="34" charset="0"/>
                <a:sym typeface="+mn-ea"/>
              </a:rPr>
              <a:t>Paid Holiday</a:t>
            </a:r>
            <a:r>
              <a:rPr lang="en-US" altLang="en-US">
                <a:latin typeface="Arial" panose="020B0604020202020204" pitchFamily="34" charset="0"/>
                <a:cs typeface="Arial" panose="020B0604020202020204" pitchFamily="34" charset="0"/>
                <a:sym typeface="+mn-ea"/>
              </a:rPr>
              <a:t>.</a:t>
            </a:r>
            <a:endParaRPr lang="en-US" altLang="en-US">
              <a:latin typeface="Arial" panose="020B0604020202020204" pitchFamily="34" charset="0"/>
              <a:cs typeface="Arial" panose="020B0604020202020204" pitchFamily="34" charset="0"/>
            </a:endParaRPr>
          </a:p>
          <a:p>
            <a:pPr>
              <a:lnSpc>
                <a:spcPct val="140000"/>
              </a:lnSpc>
              <a:defRPr/>
            </a:pPr>
            <a:r>
              <a:rPr lang="en-US" altLang="en-US">
                <a:latin typeface="Arial" panose="020B0604020202020204" pitchFamily="34" charset="0"/>
                <a:cs typeface="Arial" panose="020B0604020202020204" pitchFamily="34" charset="0"/>
                <a:sym typeface="+mn-ea"/>
              </a:rPr>
              <a:t>5. The time we are entitled to take a break from our jobs is regarded as </a:t>
            </a:r>
            <a:r>
              <a:rPr lang="en-US" altLang="en-US" b="1" i="1" u="sng">
                <a:solidFill>
                  <a:srgbClr val="FF0000"/>
                </a:solidFill>
                <a:latin typeface="Arial" panose="020B0604020202020204" pitchFamily="34" charset="0"/>
                <a:cs typeface="Arial" panose="020B0604020202020204" pitchFamily="34" charset="0"/>
                <a:sym typeface="+mn-ea"/>
              </a:rPr>
              <a:t>Annual Leave days</a:t>
            </a:r>
            <a:endParaRPr lang="en-US" altLang="en-US">
              <a:latin typeface="Arial" panose="020B0604020202020204" pitchFamily="34" charset="0"/>
              <a:cs typeface="Arial" panose="020B0604020202020204" pitchFamily="34" charset="0"/>
            </a:endParaRPr>
          </a:p>
          <a:p>
            <a:pPr>
              <a:lnSpc>
                <a:spcPct val="140000"/>
              </a:lnSpc>
              <a:defRPr/>
            </a:pPr>
            <a:r>
              <a:rPr lang="en-US" altLang="en-US">
                <a:latin typeface="Arial" panose="020B0604020202020204" pitchFamily="34" charset="0"/>
                <a:cs typeface="Arial" panose="020B0604020202020204" pitchFamily="34" charset="0"/>
                <a:sym typeface="+mn-ea"/>
              </a:rPr>
              <a:t>6. The varying levels of authority - </a:t>
            </a:r>
            <a:r>
              <a:rPr lang="en-US" altLang="en-US" b="1" i="1" u="sng">
                <a:solidFill>
                  <a:srgbClr val="FF0000"/>
                </a:solidFill>
                <a:latin typeface="Arial" panose="020B0604020202020204" pitchFamily="34" charset="0"/>
                <a:cs typeface="Arial" panose="020B0604020202020204" pitchFamily="34" charset="0"/>
                <a:sym typeface="+mn-ea"/>
              </a:rPr>
              <a:t>Hierarchy</a:t>
            </a:r>
            <a:endParaRPr lang="en-US" altLang="en-US" b="1" i="1" u="sng" dirty="0">
              <a:solidFill>
                <a:srgbClr val="FF0000"/>
              </a:solidFill>
              <a:latin typeface="Arial" panose="020B0604020202020204" pitchFamily="34" charset="0"/>
              <a:ea typeface="Arial" panose="020B0604020202020204" pitchFamily="34" charset="0"/>
              <a:cs typeface="Arial" panose="020B0604020202020204" pitchFamily="34" charset="0"/>
              <a:sym typeface="+mn-ea"/>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13" name="稻壳儿_刀客儿出品_11"/>
          <p:cNvSpPr txBox="1"/>
          <p:nvPr/>
        </p:nvSpPr>
        <p:spPr>
          <a:xfrm>
            <a:off x="7625835" y="405813"/>
            <a:ext cx="316865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Vocabulary </a:t>
            </a:r>
          </a:p>
        </p:txBody>
      </p:sp>
      <p:pic>
        <p:nvPicPr>
          <p:cNvPr id="105" name="Picture 104"/>
          <p:cNvPicPr/>
          <p:nvPr/>
        </p:nvPicPr>
        <p:blipFill>
          <a:blip r:embed="rId4"/>
          <a:stretch>
            <a:fillRect/>
          </a:stretch>
        </p:blipFill>
        <p:spPr>
          <a:xfrm>
            <a:off x="900430" y="703580"/>
            <a:ext cx="4136390" cy="3114040"/>
          </a:xfrm>
          <a:prstGeom prst="rect">
            <a:avLst/>
          </a:prstGeom>
          <a:noFill/>
          <a:ln w="9525">
            <a:noFill/>
          </a:ln>
          <a:effectLst>
            <a:reflection blurRad="6350" stA="50000" endA="295" endPos="92000" dist="101600" dir="5400000" sy="-100000" algn="bl" rotWithShape="0"/>
            <a:softEdge rad="6350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animEffect transition="in" filter="checkerboard(across)">
                                      <p:cBhvr>
                                        <p:cTn id="7"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3"/>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4"/>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894580"/>
            <a:ext cx="4691380" cy="572135"/>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Is it easy for decisions to be made in your company?</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pic>
        <p:nvPicPr>
          <p:cNvPr id="104" name="Picture 103"/>
          <p:cNvPicPr/>
          <p:nvPr/>
        </p:nvPicPr>
        <p:blipFill>
          <a:blip r:embed="rId5"/>
          <a:srcRect b="7387"/>
          <a:stretch>
            <a:fillRect/>
          </a:stretch>
        </p:blipFill>
        <p:spPr>
          <a:xfrm>
            <a:off x="5036820" y="1191895"/>
            <a:ext cx="6235700" cy="3702685"/>
          </a:xfrm>
          <a:prstGeom prst="rect">
            <a:avLst/>
          </a:prstGeom>
          <a:noFill/>
          <a:ln w="9525">
            <a:noFill/>
          </a:ln>
          <a:effectLst>
            <a:reflection blurRad="6350" stA="50000" endA="295" endPos="92000" dist="101600" dir="5400000" sy="-100000" algn="bl" rotWithShape="0"/>
          </a:effectLst>
        </p:spPr>
      </p:pic>
      <p:sp>
        <p:nvSpPr>
          <p:cNvPr id="4" name="稻壳儿_刀客儿出品_3"/>
          <p:cNvSpPr txBox="1"/>
          <p:nvPr>
            <p:custDataLst>
              <p:tags r:id="rId1"/>
            </p:custDataLst>
          </p:nvPr>
        </p:nvSpPr>
        <p:spPr>
          <a:xfrm>
            <a:off x="1255755" y="2133426"/>
            <a:ext cx="2656840" cy="768350"/>
          </a:xfrm>
          <a:prstGeom prst="rect">
            <a:avLst/>
          </a:prstGeom>
          <a:noFill/>
        </p:spPr>
        <p:txBody>
          <a:bodyPr wrap="none" rtlCol="0">
            <a:spAutoFit/>
          </a:bodyPr>
          <a:lstStyle/>
          <a:p>
            <a:r>
              <a:rPr lang="en-US" altLang="zh-CN" sz="4400" b="1" dirty="0">
                <a:solidFill>
                  <a:schemeClr val="tx1"/>
                </a:solidFill>
                <a:latin typeface="Arial Black" panose="020B0A04020102020204" charset="0"/>
                <a:ea typeface="Arial" panose="020B0604020202020204" pitchFamily="34" charset="0"/>
                <a:cs typeface="Arial Black" panose="020B0A04020102020204" charset="0"/>
              </a:rPr>
              <a:t>PART.02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655820"/>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Identify the number of levels in your company structure, stating them in general.</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pic>
        <p:nvPicPr>
          <p:cNvPr id="3" name="稻壳儿_刀客儿出品_9"/>
          <p:cNvPicPr>
            <a:picLocks noGrp="1"/>
          </p:cNvPicPr>
          <p:nvPr/>
        </p:nvPicPr>
        <p:blipFill>
          <a:blip r:embed="rId4" cstate="print">
            <a:extLst>
              <a:ext uri="{28A0092B-C50C-407E-A947-70E740481C1C}">
                <a14:useLocalDpi xmlns:a14="http://schemas.microsoft.com/office/drawing/2010/main" val="0"/>
              </a:ext>
            </a:extLst>
          </a:blip>
          <a:srcRect l="30409" r="30409"/>
          <a:stretch>
            <a:fillRect/>
          </a:stretch>
        </p:blipFill>
        <p:spPr>
          <a:xfrm>
            <a:off x="3748170" y="406034"/>
            <a:ext cx="2345634" cy="3988696"/>
          </a:xfrm>
          <a:prstGeom prst="rect">
            <a:avLst/>
          </a:prstGeom>
          <a:effectLst>
            <a:reflection blurRad="6350" stA="50000" endA="300" endPos="90000" dist="50800" dir="5400000" sy="-100000" algn="bl" rotWithShape="0"/>
            <a:softEdge rad="635000"/>
          </a:effectLst>
        </p:spPr>
      </p:pic>
      <p:pic>
        <p:nvPicPr>
          <p:cNvPr id="4" name="稻壳儿_刀客儿出品_10"/>
          <p:cNvPicPr>
            <a:picLocks noGrp="1"/>
          </p:cNvPicPr>
          <p:nvPr/>
        </p:nvPicPr>
        <p:blipFill>
          <a:blip r:embed="rId5" cstate="print">
            <a:extLst>
              <a:ext uri="{28A0092B-C50C-407E-A947-70E740481C1C}">
                <a14:useLocalDpi xmlns:a14="http://schemas.microsoft.com/office/drawing/2010/main" val="0"/>
              </a:ext>
            </a:extLst>
          </a:blip>
          <a:srcRect l="13381" r="13381"/>
          <a:stretch>
            <a:fillRect/>
          </a:stretch>
        </p:blipFill>
        <p:spPr>
          <a:xfrm>
            <a:off x="802227" y="907051"/>
            <a:ext cx="2796586" cy="2544416"/>
          </a:xfrm>
          <a:prstGeom prst="rect">
            <a:avLst/>
          </a:prstGeom>
          <a:noFill/>
          <a:ln w="9525">
            <a:noFill/>
          </a:ln>
          <a:effectLst>
            <a:reflection blurRad="6350" stA="50000" endA="300" endPos="90000" dir="5400000" sy="-100000" algn="bl" rotWithShape="0"/>
            <a:softEdge rad="317500"/>
          </a:effectLst>
        </p:spPr>
      </p:pic>
      <p:sp>
        <p:nvSpPr>
          <p:cNvPr id="13" name="稻壳儿_刀客儿出品_11"/>
          <p:cNvSpPr txBox="1"/>
          <p:nvPr/>
        </p:nvSpPr>
        <p:spPr>
          <a:xfrm>
            <a:off x="4850250" y="187373"/>
            <a:ext cx="593598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Organisation Structure</a:t>
            </a:r>
          </a:p>
        </p:txBody>
      </p:sp>
      <p:sp>
        <p:nvSpPr>
          <p:cNvPr id="2" name="Text Box 1"/>
          <p:cNvSpPr txBox="1"/>
          <p:nvPr/>
        </p:nvSpPr>
        <p:spPr>
          <a:xfrm>
            <a:off x="5879465" y="1614170"/>
            <a:ext cx="5703570" cy="2030095"/>
          </a:xfrm>
          <a:prstGeom prst="rect">
            <a:avLst/>
          </a:prstGeom>
          <a:noFill/>
        </p:spPr>
        <p:txBody>
          <a:bodyPr wrap="square" rtlCol="0">
            <a:spAutoFit/>
          </a:bodyPr>
          <a:lstStyle/>
          <a:p>
            <a:r>
              <a:rPr lang="en-US" altLang="en-US">
                <a:latin typeface="Arial" panose="020B0604020202020204" pitchFamily="34" charset="0"/>
                <a:cs typeface="Arial" panose="020B0604020202020204" pitchFamily="34" charset="0"/>
              </a:rPr>
              <a:t>This refers to how a company is </a:t>
            </a:r>
            <a:r>
              <a:rPr lang="en-US" altLang="en-US" b="1" u="sng">
                <a:solidFill>
                  <a:srgbClr val="FF0000"/>
                </a:solidFill>
                <a:latin typeface="Arial" panose="020B0604020202020204" pitchFamily="34" charset="0"/>
                <a:cs typeface="Arial" panose="020B0604020202020204" pitchFamily="34" charset="0"/>
              </a:rPr>
              <a:t>divided  </a:t>
            </a:r>
            <a:r>
              <a:rPr lang="en-US" altLang="en-US">
                <a:latin typeface="Arial" panose="020B0604020202020204" pitchFamily="34" charset="0"/>
                <a:cs typeface="Arial" panose="020B0604020202020204" pitchFamily="34" charset="0"/>
              </a:rPr>
              <a:t>according to its specific functions. </a:t>
            </a:r>
          </a:p>
          <a:p>
            <a:r>
              <a:rPr lang="en-US" altLang="en-US">
                <a:latin typeface="Arial" panose="020B0604020202020204" pitchFamily="34" charset="0"/>
                <a:cs typeface="Arial" panose="020B0604020202020204" pitchFamily="34" charset="0"/>
              </a:rPr>
              <a:t>Depending on the culture of the company, some structures are </a:t>
            </a:r>
            <a:r>
              <a:rPr lang="en-US" altLang="en-US" b="1">
                <a:solidFill>
                  <a:srgbClr val="FF0000"/>
                </a:solidFill>
                <a:latin typeface="Arial" panose="020B0604020202020204" pitchFamily="34" charset="0"/>
                <a:cs typeface="Arial" panose="020B0604020202020204" pitchFamily="34" charset="0"/>
              </a:rPr>
              <a:t>hierarchical  </a:t>
            </a:r>
            <a:r>
              <a:rPr lang="en-US" altLang="en-US">
                <a:latin typeface="Arial" panose="020B0604020202020204" pitchFamily="34" charset="0"/>
                <a:cs typeface="Arial" panose="020B0604020202020204" pitchFamily="34" charset="0"/>
              </a:rPr>
              <a:t>in nature. This means that they have many levels such from the general employee to top management. Such is evident in traditional companies.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655820"/>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Identify the number of levels in your company structure, stating them in general.</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13" name="稻壳儿_刀客儿出品_11"/>
          <p:cNvSpPr txBox="1"/>
          <p:nvPr/>
        </p:nvSpPr>
        <p:spPr>
          <a:xfrm>
            <a:off x="2305170" y="445818"/>
            <a:ext cx="593598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Organisation Structure</a:t>
            </a:r>
          </a:p>
        </p:txBody>
      </p:sp>
      <p:sp>
        <p:nvSpPr>
          <p:cNvPr id="2" name="Text Box 1"/>
          <p:cNvSpPr txBox="1"/>
          <p:nvPr/>
        </p:nvSpPr>
        <p:spPr>
          <a:xfrm>
            <a:off x="6527800" y="1614170"/>
            <a:ext cx="5055235" cy="2030095"/>
          </a:xfrm>
          <a:prstGeom prst="rect">
            <a:avLst/>
          </a:prstGeom>
          <a:noFill/>
        </p:spPr>
        <p:txBody>
          <a:bodyPr wrap="square" rtlCol="0">
            <a:spAutoFit/>
          </a:bodyPr>
          <a:lstStyle/>
          <a:p>
            <a:r>
              <a:rPr lang="en-US" altLang="en-US">
                <a:latin typeface="Arial" panose="020B0604020202020204" pitchFamily="34" charset="0"/>
                <a:cs typeface="Arial" panose="020B0604020202020204" pitchFamily="34" charset="0"/>
              </a:rPr>
              <a:t>This refers to how a company is </a:t>
            </a:r>
            <a:r>
              <a:rPr lang="en-US" altLang="en-US">
                <a:solidFill>
                  <a:schemeClr val="tx1"/>
                </a:solidFill>
                <a:latin typeface="Arial" panose="020B0604020202020204" pitchFamily="34" charset="0"/>
                <a:cs typeface="Arial" panose="020B0604020202020204" pitchFamily="34" charset="0"/>
              </a:rPr>
              <a:t>divided  </a:t>
            </a:r>
            <a:r>
              <a:rPr lang="en-US" altLang="en-US">
                <a:latin typeface="Arial" panose="020B0604020202020204" pitchFamily="34" charset="0"/>
                <a:cs typeface="Arial" panose="020B0604020202020204" pitchFamily="34" charset="0"/>
              </a:rPr>
              <a:t>according to its specific functions. </a:t>
            </a:r>
          </a:p>
          <a:p>
            <a:r>
              <a:rPr lang="en-US" altLang="en-US">
                <a:latin typeface="Arial" panose="020B0604020202020204" pitchFamily="34" charset="0"/>
                <a:cs typeface="Arial" panose="020B0604020202020204" pitchFamily="34" charset="0"/>
              </a:rPr>
              <a:t>Depending on the culture of the company, some structures are </a:t>
            </a:r>
            <a:r>
              <a:rPr lang="en-US" altLang="en-US">
                <a:solidFill>
                  <a:schemeClr val="tx1"/>
                </a:solidFill>
                <a:latin typeface="Arial" panose="020B0604020202020204" pitchFamily="34" charset="0"/>
                <a:cs typeface="Arial" panose="020B0604020202020204" pitchFamily="34" charset="0"/>
              </a:rPr>
              <a:t>hierarchical  </a:t>
            </a:r>
            <a:r>
              <a:rPr lang="en-US" altLang="en-US">
                <a:latin typeface="Arial" panose="020B0604020202020204" pitchFamily="34" charset="0"/>
                <a:cs typeface="Arial" panose="020B0604020202020204" pitchFamily="34" charset="0"/>
              </a:rPr>
              <a:t>in nature. This means that they have many levels such from the general employee to top management. Such is evident in traditional companies.</a:t>
            </a:r>
          </a:p>
        </p:txBody>
      </p:sp>
      <p:pic>
        <p:nvPicPr>
          <p:cNvPr id="102" name="Picture 101"/>
          <p:cNvPicPr/>
          <p:nvPr/>
        </p:nvPicPr>
        <p:blipFill>
          <a:blip r:embed="rId4"/>
          <a:stretch>
            <a:fillRect/>
          </a:stretch>
        </p:blipFill>
        <p:spPr>
          <a:xfrm>
            <a:off x="0" y="1090930"/>
            <a:ext cx="5721985" cy="2786380"/>
          </a:xfrm>
          <a:prstGeom prst="rect">
            <a:avLst/>
          </a:prstGeom>
          <a:noFill/>
          <a:ln w="9525">
            <a:noFill/>
          </a:ln>
          <a:effectLst>
            <a:reflection blurRad="6350" stA="50000" endA="300" endPos="55500" dist="101600" dir="5400000" sy="-100000" algn="bl" rotWithShape="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 name="Picture 102"/>
          <p:cNvPicPr/>
          <p:nvPr/>
        </p:nvPicPr>
        <p:blipFill>
          <a:blip r:embed="rId2"/>
          <a:stretch>
            <a:fillRect/>
          </a:stretch>
        </p:blipFill>
        <p:spPr>
          <a:xfrm>
            <a:off x="874173" y="0"/>
            <a:ext cx="10443654" cy="6858000"/>
          </a:xfrm>
          <a:prstGeom prst="rect">
            <a:avLst/>
          </a:prstGeom>
          <a:noFill/>
          <a:ln w="9525">
            <a:noFill/>
          </a:ln>
          <a:effectLst>
            <a:softEdge rad="635000"/>
          </a:effectLst>
        </p:spPr>
      </p:pic>
      <p:sp>
        <p:nvSpPr>
          <p:cNvPr id="23" name="稻壳儿_刀客儿出品_1"/>
          <p:cNvSpPr/>
          <p:nvPr/>
        </p:nvSpPr>
        <p:spPr>
          <a:xfrm>
            <a:off x="0" y="1239502"/>
            <a:ext cx="4691648" cy="1154978"/>
          </a:xfrm>
          <a:prstGeom prst="rect">
            <a:avLst/>
          </a:prstGeom>
          <a:blipFill>
            <a:blip r:embed="rId3">
              <a:alphaModFix amt="16000"/>
            </a:blip>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1411605"/>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Discuss the two structures indicated below describing the pro’s and con’s of each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535170"/>
            <a:ext cx="4691380" cy="105156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Do we have management in a Flat Structure?</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If yes, what is the purpose?</a:t>
            </a:r>
          </a:p>
          <a:p>
            <a:pPr>
              <a:lnSpc>
                <a:spcPct val="130000"/>
              </a:lnSpc>
            </a:pP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Create your company Organogram</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13" name="稻壳儿_刀客儿出品_11"/>
          <p:cNvSpPr txBox="1"/>
          <p:nvPr/>
        </p:nvSpPr>
        <p:spPr>
          <a:xfrm>
            <a:off x="2305170" y="445818"/>
            <a:ext cx="7540625"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 altLang="en-US" dirty="0">
                <a:latin typeface="Arial Black" panose="020B0A04020102020204" charset="0"/>
                <a:ea typeface="Arial" panose="020B0604020202020204" pitchFamily="34" charset="0"/>
                <a:cs typeface="Arial Black" panose="020B0A04020102020204" charset="0"/>
                <a:sym typeface="+mn-lt"/>
              </a:rPr>
              <a:t>Obj. 1 </a:t>
            </a:r>
            <a:r>
              <a:rPr lang="en-US" altLang="en-US" dirty="0">
                <a:latin typeface="Arial Black" panose="020B0A04020102020204" charset="0"/>
                <a:ea typeface="Arial" panose="020B0604020202020204" pitchFamily="34" charset="0"/>
                <a:cs typeface="Arial Black" panose="020B0A04020102020204" charset="0"/>
                <a:sym typeface="+mn-lt"/>
              </a:rPr>
              <a:t>Organisation Structure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655820"/>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Do we have management in a Flat Structure?</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If yes, what is the purpose?</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13" name="稻壳儿_刀客儿出品_11"/>
          <p:cNvSpPr txBox="1"/>
          <p:nvPr/>
        </p:nvSpPr>
        <p:spPr>
          <a:xfrm>
            <a:off x="2305170" y="445818"/>
            <a:ext cx="593598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Organisation Structure</a:t>
            </a:r>
          </a:p>
        </p:txBody>
      </p:sp>
      <p:pic>
        <p:nvPicPr>
          <p:cNvPr id="4" name="Picture 3"/>
          <p:cNvPicPr>
            <a:picLocks noChangeAspect="1"/>
          </p:cNvPicPr>
          <p:nvPr/>
        </p:nvPicPr>
        <p:blipFill>
          <a:blip r:embed="rId4"/>
          <a:stretch>
            <a:fillRect/>
          </a:stretch>
        </p:blipFill>
        <p:spPr>
          <a:xfrm>
            <a:off x="3472815" y="4076065"/>
            <a:ext cx="4048125" cy="2257425"/>
          </a:xfrm>
          <a:prstGeom prst="rect">
            <a:avLst/>
          </a:prstGeom>
        </p:spPr>
      </p:pic>
      <p:pic>
        <p:nvPicPr>
          <p:cNvPr id="10" name="Picture 9"/>
          <p:cNvPicPr>
            <a:picLocks noChangeAspect="1"/>
          </p:cNvPicPr>
          <p:nvPr/>
        </p:nvPicPr>
        <p:blipFill>
          <a:blip r:embed="rId5"/>
          <a:stretch>
            <a:fillRect/>
          </a:stretch>
        </p:blipFill>
        <p:spPr>
          <a:xfrm>
            <a:off x="7281545" y="1665605"/>
            <a:ext cx="4219575" cy="2505075"/>
          </a:xfrm>
          <a:prstGeom prst="rect">
            <a:avLst/>
          </a:prstGeom>
        </p:spPr>
      </p:pic>
      <p:pic>
        <p:nvPicPr>
          <p:cNvPr id="11" name="Picture 10"/>
          <p:cNvPicPr>
            <a:picLocks noChangeAspect="1"/>
          </p:cNvPicPr>
          <p:nvPr/>
        </p:nvPicPr>
        <p:blipFill>
          <a:blip r:embed="rId6"/>
          <a:stretch>
            <a:fillRect/>
          </a:stretch>
        </p:blipFill>
        <p:spPr>
          <a:xfrm>
            <a:off x="2305050" y="1090930"/>
            <a:ext cx="4191000" cy="18192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 name="Picture 101"/>
          <p:cNvPicPr/>
          <p:nvPr/>
        </p:nvPicPr>
        <p:blipFill>
          <a:blip r:embed="rId2"/>
          <a:srcRect b="6989"/>
          <a:stretch>
            <a:fillRect/>
          </a:stretch>
        </p:blipFill>
        <p:spPr>
          <a:xfrm>
            <a:off x="0" y="0"/>
            <a:ext cx="12192000" cy="6858000"/>
          </a:xfrm>
          <a:prstGeom prst="rect">
            <a:avLst/>
          </a:prstGeom>
          <a:noFill/>
          <a:ln w="9525">
            <a:noFill/>
          </a:ln>
          <a:effectLst>
            <a:softEdge rad="63500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501095" y="85365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448371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4" name="稻壳儿_刀客儿出品_2"/>
          <p:cNvSpPr/>
          <p:nvPr/>
        </p:nvSpPr>
        <p:spPr>
          <a:xfrm>
            <a:off x="5036583" y="906799"/>
            <a:ext cx="920463" cy="52443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4655820"/>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Comparing the tall hierchy and the flat structure, which characteristics belong to which structure and why?</a:t>
            </a:r>
          </a:p>
        </p:txBody>
      </p:sp>
      <p:sp>
        <p:nvSpPr>
          <p:cNvPr id="27" name="稻壳儿_刀客儿出品_4"/>
          <p:cNvSpPr/>
          <p:nvPr/>
        </p:nvSpPr>
        <p:spPr>
          <a:xfrm>
            <a:off x="7875046" y="1146312"/>
            <a:ext cx="365760" cy="4572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1" name="稻壳儿_刀客儿出品_8"/>
          <p:cNvSpPr/>
          <p:nvPr/>
        </p:nvSpPr>
        <p:spPr>
          <a:xfrm>
            <a:off x="11271537" y="6333565"/>
            <a:ext cx="920463" cy="52443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13" name="稻壳儿_刀客儿出品_11"/>
          <p:cNvSpPr txBox="1"/>
          <p:nvPr/>
        </p:nvSpPr>
        <p:spPr>
          <a:xfrm>
            <a:off x="2305170" y="445818"/>
            <a:ext cx="5935980"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Organisation Structure</a:t>
            </a:r>
          </a:p>
        </p:txBody>
      </p:sp>
      <p:pic>
        <p:nvPicPr>
          <p:cNvPr id="3" name="Picture 2"/>
          <p:cNvPicPr>
            <a:picLocks noChangeAspect="1"/>
          </p:cNvPicPr>
          <p:nvPr/>
        </p:nvPicPr>
        <p:blipFill>
          <a:blip r:embed="rId4"/>
          <a:stretch>
            <a:fillRect/>
          </a:stretch>
        </p:blipFill>
        <p:spPr>
          <a:xfrm>
            <a:off x="4691380" y="1478280"/>
            <a:ext cx="7547610" cy="31775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3"/>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4"/>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p:cNvPicPr/>
          <p:nvPr/>
        </p:nvPicPr>
        <p:blipFill>
          <a:blip r:embed="rId5"/>
          <a:stretch>
            <a:fillRect/>
          </a:stretch>
        </p:blipFill>
        <p:spPr>
          <a:xfrm>
            <a:off x="2986405" y="1383665"/>
            <a:ext cx="9206230" cy="5474335"/>
          </a:xfrm>
          <a:prstGeom prst="rect">
            <a:avLst/>
          </a:prstGeom>
          <a:noFill/>
          <a:ln w="9525">
            <a:noFill/>
          </a:ln>
          <a:effectLst>
            <a:softEdge rad="635000"/>
          </a:effectLst>
        </p:spPr>
      </p:pic>
      <p:sp>
        <p:nvSpPr>
          <p:cNvPr id="4" name="稻壳儿_刀客儿出品_3"/>
          <p:cNvSpPr txBox="1"/>
          <p:nvPr>
            <p:custDataLst>
              <p:tags r:id="rId1"/>
            </p:custDataLst>
          </p:nvPr>
        </p:nvSpPr>
        <p:spPr>
          <a:xfrm>
            <a:off x="329290" y="3044651"/>
            <a:ext cx="2656840" cy="768350"/>
          </a:xfrm>
          <a:prstGeom prst="rect">
            <a:avLst/>
          </a:prstGeom>
          <a:noFill/>
        </p:spPr>
        <p:txBody>
          <a:bodyPr wrap="none" rtlCol="0">
            <a:spAutoFit/>
          </a:bodyPr>
          <a:lstStyle/>
          <a:p>
            <a:r>
              <a:rPr lang="en-US" altLang="zh-CN" sz="4400" b="1" dirty="0">
                <a:solidFill>
                  <a:schemeClr val="tx1"/>
                </a:solidFill>
                <a:latin typeface="Arial Black" panose="020B0A04020102020204" charset="0"/>
                <a:ea typeface="Arial" panose="020B0604020202020204" pitchFamily="34" charset="0"/>
                <a:cs typeface="Arial Black" panose="020B0A04020102020204" charset="0"/>
              </a:rPr>
              <a:t>PART.0</a:t>
            </a:r>
            <a:r>
              <a:rPr lang="en-US" altLang="en-US" sz="4400" b="1" dirty="0">
                <a:solidFill>
                  <a:schemeClr val="tx1"/>
                </a:solidFill>
                <a:latin typeface="Arial Black" panose="020B0A04020102020204" charset="0"/>
                <a:ea typeface="Arial" panose="020B0604020202020204" pitchFamily="34" charset="0"/>
                <a:cs typeface="Arial Black" panose="020B0A04020102020204" charset="0"/>
              </a:rPr>
              <a:t>3</a:t>
            </a:r>
          </a:p>
        </p:txBody>
      </p:sp>
      <p:sp>
        <p:nvSpPr>
          <p:cNvPr id="23" name="稻壳儿_刀客儿出品_1"/>
          <p:cNvSpPr/>
          <p:nvPr/>
        </p:nvSpPr>
        <p:spPr>
          <a:xfrm>
            <a:off x="0" y="5289532"/>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461635"/>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What comes to mind when you hear the term Marketing Department?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稻壳儿_刀客儿出品_11"/>
          <p:cNvSpPr txBox="1"/>
          <p:nvPr/>
        </p:nvSpPr>
        <p:spPr>
          <a:xfrm>
            <a:off x="2305170" y="445818"/>
            <a:ext cx="5829935" cy="64516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dirty="0">
                <a:latin typeface="Arial Black" panose="020B0A04020102020204" charset="0"/>
                <a:ea typeface="Arial" panose="020B0604020202020204" pitchFamily="34" charset="0"/>
                <a:cs typeface="Arial Black" panose="020B0A04020102020204" charset="0"/>
                <a:sym typeface="+mn-lt"/>
              </a:rPr>
              <a:t>Marketing Department</a:t>
            </a:r>
          </a:p>
        </p:txBody>
      </p:sp>
      <p:pic>
        <p:nvPicPr>
          <p:cNvPr id="106" name="Picture 105"/>
          <p:cNvPicPr/>
          <p:nvPr/>
        </p:nvPicPr>
        <p:blipFill>
          <a:blip r:embed="rId4"/>
          <a:stretch>
            <a:fillRect/>
          </a:stretch>
        </p:blipFill>
        <p:spPr>
          <a:xfrm>
            <a:off x="0" y="1090930"/>
            <a:ext cx="3491230" cy="2022475"/>
          </a:xfrm>
          <a:prstGeom prst="rect">
            <a:avLst/>
          </a:prstGeom>
          <a:noFill/>
          <a:ln w="9525">
            <a:noFill/>
          </a:ln>
          <a:effectLst>
            <a:reflection blurRad="6350" stA="50000" endA="295" endPos="92000" dist="101600" dir="5400000" sy="-100000" algn="bl" rotWithShape="0"/>
            <a:softEdge rad="127000"/>
          </a:effectLst>
        </p:spPr>
      </p:pic>
      <p:sp>
        <p:nvSpPr>
          <p:cNvPr id="3" name="Text Box 2"/>
          <p:cNvSpPr txBox="1"/>
          <p:nvPr/>
        </p:nvSpPr>
        <p:spPr>
          <a:xfrm>
            <a:off x="4184015" y="2983230"/>
            <a:ext cx="7876540" cy="706755"/>
          </a:xfrm>
          <a:prstGeom prst="rect">
            <a:avLst/>
          </a:prstGeom>
          <a:noFill/>
        </p:spPr>
        <p:txBody>
          <a:bodyPr wrap="square" rtlCol="0">
            <a:spAutoFit/>
          </a:bodyPr>
          <a:lstStyle/>
          <a:p>
            <a:pPr algn="ctr"/>
            <a:r>
              <a:rPr lang="en-US" sz="2000">
                <a:latin typeface="Arial Black" panose="020B0A04020102020204" charset="0"/>
                <a:cs typeface="Arial Black" panose="020B0A04020102020204" charset="0"/>
              </a:rPr>
              <a:t>"IF YOU DON'T HAVE A STRATEGY, YOU'RE PART OF SOMEONE ELSE'S STRATEGY." (ALVIN TOFFLER)</a:t>
            </a:r>
          </a:p>
        </p:txBody>
      </p:sp>
      <p:sp>
        <p:nvSpPr>
          <p:cNvPr id="23" name="稻壳儿_刀客儿出品_1"/>
          <p:cNvSpPr/>
          <p:nvPr/>
        </p:nvSpPr>
        <p:spPr>
          <a:xfrm>
            <a:off x="0" y="5289532"/>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461635"/>
            <a:ext cx="4691380" cy="572135"/>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Do we need the marketing department? Why?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稻壳儿_刀客儿出品_1"/>
          <p:cNvSpPr/>
          <p:nvPr/>
        </p:nvSpPr>
        <p:spPr>
          <a:xfrm>
            <a:off x="0" y="5289532"/>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676265"/>
            <a:ext cx="4691380" cy="572135"/>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Do we need the marketing department? Why?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 name="Picture 106"/>
          <p:cNvPicPr/>
          <p:nvPr/>
        </p:nvPicPr>
        <p:blipFill>
          <a:blip r:embed="rId2"/>
          <a:stretch>
            <a:fillRect/>
          </a:stretch>
        </p:blipFill>
        <p:spPr>
          <a:xfrm>
            <a:off x="0" y="318135"/>
            <a:ext cx="12192000" cy="6222365"/>
          </a:xfrm>
          <a:prstGeom prst="rect">
            <a:avLst/>
          </a:prstGeom>
          <a:noFill/>
          <a:ln w="9525">
            <a:noFill/>
          </a:ln>
          <a:effectLst>
            <a:softEdge rad="127000"/>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 name="Picture 105"/>
          <p:cNvPicPr/>
          <p:nvPr/>
        </p:nvPicPr>
        <p:blipFill>
          <a:blip r:embed="rId3"/>
          <a:stretch>
            <a:fillRect/>
          </a:stretch>
        </p:blipFill>
        <p:spPr>
          <a:xfrm>
            <a:off x="0" y="635"/>
            <a:ext cx="12192000" cy="6857365"/>
          </a:xfrm>
          <a:prstGeom prst="rect">
            <a:avLst/>
          </a:prstGeom>
          <a:noFill/>
          <a:ln w="9525">
            <a:noFill/>
          </a:ln>
        </p:spPr>
      </p:pic>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4"/>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5"/>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稻壳儿_刀客儿出品_3"/>
          <p:cNvSpPr txBox="1"/>
          <p:nvPr>
            <p:custDataLst>
              <p:tags r:id="rId1"/>
            </p:custDataLst>
          </p:nvPr>
        </p:nvSpPr>
        <p:spPr>
          <a:xfrm>
            <a:off x="329290" y="3044651"/>
            <a:ext cx="2656840" cy="768350"/>
          </a:xfrm>
          <a:prstGeom prst="rect">
            <a:avLst/>
          </a:prstGeom>
          <a:noFill/>
        </p:spPr>
        <p:txBody>
          <a:bodyPr wrap="none" rtlCol="0">
            <a:spAutoFit/>
          </a:bodyPr>
          <a:lstStyle/>
          <a:p>
            <a:r>
              <a:rPr lang="en-US" altLang="zh-CN" sz="4400" b="1" dirty="0">
                <a:solidFill>
                  <a:schemeClr val="tx1"/>
                </a:solidFill>
                <a:highlight>
                  <a:srgbClr val="0000FF"/>
                </a:highlight>
                <a:latin typeface="Arial Black" panose="020B0A04020102020204" charset="0"/>
                <a:ea typeface="Arial" panose="020B0604020202020204" pitchFamily="34" charset="0"/>
                <a:cs typeface="Arial Black" panose="020B0A04020102020204" charset="0"/>
              </a:rPr>
              <a:t>PART.0</a:t>
            </a:r>
            <a:r>
              <a:rPr lang="" altLang="en-US" sz="4400" b="1" dirty="0">
                <a:solidFill>
                  <a:schemeClr val="tx1"/>
                </a:solidFill>
                <a:highlight>
                  <a:srgbClr val="0000FF"/>
                </a:highlight>
                <a:latin typeface="Arial Black" panose="020B0A04020102020204" charset="0"/>
                <a:ea typeface="Arial" panose="020B0604020202020204" pitchFamily="34" charset="0"/>
                <a:cs typeface="Arial Black" panose="020B0A04020102020204" charset="0"/>
              </a:rPr>
              <a:t>4</a:t>
            </a:r>
          </a:p>
        </p:txBody>
      </p:sp>
      <p:sp>
        <p:nvSpPr>
          <p:cNvPr id="23" name="稻壳儿_刀客儿出品_1"/>
          <p:cNvSpPr/>
          <p:nvPr/>
        </p:nvSpPr>
        <p:spPr>
          <a:xfrm>
            <a:off x="0" y="5289532"/>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676265"/>
            <a:ext cx="4691380" cy="572135"/>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What are the main functions of the HR Department?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 name="Picture 104"/>
          <p:cNvPicPr/>
          <p:nvPr/>
        </p:nvPicPr>
        <p:blipFill>
          <a:blip r:embed="rId2"/>
          <a:stretch>
            <a:fillRect/>
          </a:stretch>
        </p:blipFill>
        <p:spPr>
          <a:xfrm>
            <a:off x="3259212" y="0"/>
            <a:ext cx="5673577" cy="6858000"/>
          </a:xfrm>
          <a:prstGeom prst="rect">
            <a:avLst/>
          </a:prstGeom>
          <a:noFill/>
          <a:ln w="9525">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Box 1"/>
          <p:cNvSpPr txBox="1"/>
          <p:nvPr/>
        </p:nvSpPr>
        <p:spPr>
          <a:xfrm>
            <a:off x="153670" y="127635"/>
            <a:ext cx="6271260" cy="706755"/>
          </a:xfrm>
          <a:prstGeom prst="rect">
            <a:avLst/>
          </a:prstGeom>
          <a:noFill/>
        </p:spPr>
        <p:txBody>
          <a:bodyPr wrap="square" rtlCol="0">
            <a:spAutoFit/>
          </a:bodyPr>
          <a:lstStyle/>
          <a:p>
            <a:r>
              <a:rPr lang="en-US" altLang="en-US" sz="2000" b="1">
                <a:latin typeface="Arial Black" panose="020B0A04020102020204" charset="0"/>
                <a:cs typeface="Arial Black" panose="020B0A04020102020204" charset="0"/>
              </a:rPr>
              <a:t>Obj </a:t>
            </a:r>
            <a:r>
              <a:rPr lang="" altLang="en-US" sz="2000" b="1">
                <a:latin typeface="Arial Black" panose="020B0A04020102020204" charset="0"/>
                <a:cs typeface="Arial Black" panose="020B0A04020102020204" charset="0"/>
              </a:rPr>
              <a:t>2</a:t>
            </a:r>
            <a:r>
              <a:rPr lang="en-US" altLang="en-US" sz="2000" b="1">
                <a:latin typeface="Arial Black" panose="020B0A04020102020204" charset="0"/>
                <a:cs typeface="Arial Black" panose="020B0A04020102020204" charset="0"/>
              </a:rPr>
              <a:t>: Simple Present vs Present Progressive :</a:t>
            </a:r>
          </a:p>
        </p:txBody>
      </p:sp>
      <p:pic>
        <p:nvPicPr>
          <p:cNvPr id="109" name="Picture Placeholder 108"/>
          <p:cNvPicPr/>
          <p:nvPr/>
        </p:nvPicPr>
        <p:blipFill>
          <a:blip r:embed="rId4"/>
          <a:stretch>
            <a:fillRect/>
          </a:stretch>
        </p:blipFill>
        <p:spPr>
          <a:xfrm>
            <a:off x="0" y="648970"/>
            <a:ext cx="3872230" cy="2544445"/>
          </a:xfrm>
          <a:prstGeom prst="rect">
            <a:avLst/>
          </a:prstGeom>
          <a:noFill/>
          <a:ln w="9525">
            <a:noFill/>
          </a:ln>
          <a:effectLst>
            <a:reflection blurRad="6350" stA="50000" endA="300" endPos="55500" dist="50800" dir="5400000" sy="-100000" algn="bl" rotWithShape="0"/>
            <a:softEdge rad="317500"/>
          </a:effectLst>
        </p:spPr>
      </p:pic>
      <p:sp>
        <p:nvSpPr>
          <p:cNvPr id="3" name="Text Box 2"/>
          <p:cNvSpPr txBox="1"/>
          <p:nvPr/>
        </p:nvSpPr>
        <p:spPr>
          <a:xfrm>
            <a:off x="4722495" y="810260"/>
            <a:ext cx="5310505" cy="645160"/>
          </a:xfrm>
          <a:prstGeom prst="rect">
            <a:avLst/>
          </a:prstGeom>
          <a:noFill/>
        </p:spPr>
        <p:txBody>
          <a:bodyPr wrap="square" rtlCol="0">
            <a:spAutoFit/>
          </a:bodyPr>
          <a:lstStyle/>
          <a:p>
            <a:r>
              <a:rPr lang="" altLang="en-US" b="1">
                <a:latin typeface="Arial Black" panose="020B0A04020102020204" charset="0"/>
                <a:cs typeface="Arial Black" panose="020B0A04020102020204" charset="0"/>
              </a:rPr>
              <a:t>What I’m responsible for in my current job</a:t>
            </a:r>
          </a:p>
        </p:txBody>
      </p:sp>
      <p:sp>
        <p:nvSpPr>
          <p:cNvPr id="13" name="Text Box 12"/>
          <p:cNvSpPr txBox="1"/>
          <p:nvPr/>
        </p:nvSpPr>
        <p:spPr>
          <a:xfrm>
            <a:off x="4623435" y="1492885"/>
            <a:ext cx="6362065" cy="4246245"/>
          </a:xfrm>
          <a:prstGeom prst="rect">
            <a:avLst/>
          </a:prstGeom>
          <a:noFill/>
        </p:spPr>
        <p:txBody>
          <a:bodyPr wrap="square" rtlCol="0" anchor="t">
            <a:spAutoFit/>
          </a:bodyPr>
          <a:lstStyle/>
          <a:p>
            <a:r>
              <a:rPr lang="en-US">
                <a:latin typeface="Arial" panose="020B0604020202020204" pitchFamily="34" charset="0"/>
                <a:cs typeface="Arial" panose="020B0604020202020204" pitchFamily="34" charset="0"/>
              </a:rPr>
              <a:t>“As administrative support for the company’s VP, I efficiently organize their schedule so they can effectively steer the team.</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I do this by </a:t>
            </a:r>
            <a:r>
              <a:rPr lang="en-US" b="1" u="sng">
                <a:solidFill>
                  <a:srgbClr val="FF0000"/>
                </a:solidFill>
                <a:latin typeface="Arial" panose="020B0604020202020204" pitchFamily="34" charset="0"/>
                <a:cs typeface="Arial" panose="020B0604020202020204" pitchFamily="34" charset="0"/>
              </a:rPr>
              <a:t>maintaining </a:t>
            </a:r>
            <a:r>
              <a:rPr lang="en-US">
                <a:latin typeface="Arial" panose="020B0604020202020204" pitchFamily="34" charset="0"/>
                <a:cs typeface="Arial" panose="020B0604020202020204" pitchFamily="34" charset="0"/>
              </a:rPr>
              <a:t>detailed records, paying close attention to events they need to attend, and clearly </a:t>
            </a:r>
            <a:r>
              <a:rPr lang="en-US" b="1" u="sng">
                <a:solidFill>
                  <a:srgbClr val="FF0000"/>
                </a:solidFill>
                <a:latin typeface="Arial" panose="020B0604020202020204" pitchFamily="34" charset="0"/>
                <a:cs typeface="Arial" panose="020B0604020202020204" pitchFamily="34" charset="0"/>
              </a:rPr>
              <a:t>communicating </a:t>
            </a:r>
            <a:r>
              <a:rPr lang="en-US">
                <a:latin typeface="Arial" panose="020B0604020202020204" pitchFamily="34" charset="0"/>
                <a:cs typeface="Arial" panose="020B0604020202020204" pitchFamily="34" charset="0"/>
              </a:rPr>
              <a:t>any time conflicts with them.</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I</a:t>
            </a:r>
            <a:r>
              <a:rPr lang="" altLang="en-US">
                <a:latin typeface="Arial" panose="020B0604020202020204" pitchFamily="34" charset="0"/>
                <a:cs typeface="Arial" panose="020B0604020202020204" pitchFamily="34" charset="0"/>
              </a:rPr>
              <a:t>’m</a:t>
            </a:r>
            <a:r>
              <a:rPr lang="en-US">
                <a:latin typeface="Arial" panose="020B0604020202020204" pitchFamily="34" charset="0"/>
                <a:cs typeface="Arial" panose="020B0604020202020204" pitchFamily="34" charset="0"/>
              </a:rPr>
              <a:t> also </a:t>
            </a:r>
            <a:r>
              <a:rPr lang="" altLang="en-US">
                <a:latin typeface="Arial" panose="020B0604020202020204" pitchFamily="34" charset="0"/>
                <a:cs typeface="Arial" panose="020B0604020202020204" pitchFamily="34" charset="0"/>
              </a:rPr>
              <a:t>responsible for </a:t>
            </a:r>
            <a:r>
              <a:rPr lang="en-US" b="1" u="sng">
                <a:solidFill>
                  <a:srgbClr val="FF0000"/>
                </a:solidFill>
                <a:latin typeface="Arial" panose="020B0604020202020204" pitchFamily="34" charset="0"/>
                <a:cs typeface="Arial" panose="020B0604020202020204" pitchFamily="34" charset="0"/>
              </a:rPr>
              <a:t>assist</a:t>
            </a:r>
            <a:r>
              <a:rPr lang="" altLang="en-US" b="1" u="sng">
                <a:solidFill>
                  <a:srgbClr val="FF0000"/>
                </a:solidFill>
                <a:latin typeface="Arial" panose="020B0604020202020204" pitchFamily="34" charset="0"/>
                <a:cs typeface="Arial" panose="020B0604020202020204" pitchFamily="34" charset="0"/>
              </a:rPr>
              <a:t>ing</a:t>
            </a:r>
            <a:r>
              <a:rPr lang="en-US" b="1" u="sng">
                <a:solidFill>
                  <a:srgbClr val="FF0000"/>
                </a:solidFill>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client</a:t>
            </a:r>
            <a:r>
              <a:rPr lang="" altLang="en-US">
                <a:latin typeface="Arial" panose="020B0604020202020204" pitchFamily="34" charset="0"/>
                <a:cs typeface="Arial" panose="020B0604020202020204" pitchFamily="34" charset="0"/>
              </a:rPr>
              <a:t>’s</a:t>
            </a:r>
            <a:r>
              <a:rPr lang="en-US">
                <a:latin typeface="Arial" panose="020B0604020202020204" pitchFamily="34" charset="0"/>
                <a:cs typeface="Arial" panose="020B0604020202020204" pitchFamily="34" charset="0"/>
              </a:rPr>
              <a:t> and co-worker</a:t>
            </a:r>
            <a:r>
              <a:rPr lang="" altLang="en-US">
                <a:latin typeface="Arial" panose="020B0604020202020204" pitchFamily="34" charset="0"/>
                <a:cs typeface="Arial" panose="020B0604020202020204" pitchFamily="34" charset="0"/>
              </a:rPr>
              <a:t>’s on </a:t>
            </a:r>
            <a:r>
              <a:rPr lang="en-US">
                <a:latin typeface="Arial" panose="020B0604020202020204" pitchFamily="34" charset="0"/>
                <a:cs typeface="Arial" panose="020B0604020202020204" pitchFamily="34" charset="0"/>
              </a:rPr>
              <a:t> calls in a clear and friendly manner.</a:t>
            </a:r>
          </a:p>
          <a:p>
            <a:endParaRPr lang="en-US">
              <a:latin typeface="Arial" panose="020B0604020202020204" pitchFamily="34" charset="0"/>
              <a:cs typeface="Arial" panose="020B0604020202020204" pitchFamily="34" charset="0"/>
            </a:endParaRPr>
          </a:p>
          <a:p>
            <a:r>
              <a:rPr lang="en-US">
                <a:latin typeface="Arial" panose="020B0604020202020204" pitchFamily="34" charset="0"/>
                <a:cs typeface="Arial" panose="020B0604020202020204" pitchFamily="34" charset="0"/>
              </a:rPr>
              <a:t>I saw that data entry was an important skill you’re looking for. I’m extremely experienced in Microsoft Excel and use my skills to create concise reports that summarize important metrics to my manager.”</a:t>
            </a:r>
          </a:p>
        </p:txBody>
      </p:sp>
      <p:sp>
        <p:nvSpPr>
          <p:cNvPr id="23" name="稻壳儿_刀客儿出品_1"/>
          <p:cNvSpPr/>
          <p:nvPr/>
        </p:nvSpPr>
        <p:spPr>
          <a:xfrm>
            <a:off x="0" y="525714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428615"/>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Using the present continuous, discuss your current role in your company.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nvSpPr>
        <p:spPr>
          <a:xfrm>
            <a:off x="609600" y="19050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altLang="en-US">
                <a:latin typeface="Arial Black" panose="020B0A04020102020204" charset="0"/>
                <a:cs typeface="Arial Black" panose="020B0A04020102020204" charset="0"/>
              </a:rPr>
              <a:t>Obj </a:t>
            </a:r>
            <a:r>
              <a:rPr lang="" altLang="en-US">
                <a:latin typeface="Arial Black" panose="020B0A04020102020204" charset="0"/>
                <a:cs typeface="Arial Black" panose="020B0A04020102020204" charset="0"/>
              </a:rPr>
              <a:t>3</a:t>
            </a:r>
            <a:r>
              <a:rPr lang="en-US" altLang="en-US">
                <a:latin typeface="Arial Black" panose="020B0A04020102020204" charset="0"/>
                <a:cs typeface="Arial Black" panose="020B0A04020102020204" charset="0"/>
              </a:rPr>
              <a:t>: Simple Past vs Past Progressive</a:t>
            </a:r>
          </a:p>
        </p:txBody>
      </p:sp>
      <p:pic>
        <p:nvPicPr>
          <p:cNvPr id="107" name="Picture 106"/>
          <p:cNvPicPr/>
          <p:nvPr/>
        </p:nvPicPr>
        <p:blipFill>
          <a:blip r:embed="rId4"/>
          <a:stretch>
            <a:fillRect/>
          </a:stretch>
        </p:blipFill>
        <p:spPr>
          <a:xfrm>
            <a:off x="4890135" y="1383665"/>
            <a:ext cx="5794375" cy="5028565"/>
          </a:xfrm>
          <a:prstGeom prst="rect">
            <a:avLst/>
          </a:prstGeom>
          <a:noFill/>
          <a:ln w="9525">
            <a:noFill/>
          </a:ln>
        </p:spPr>
      </p:pic>
      <p:sp>
        <p:nvSpPr>
          <p:cNvPr id="23" name="稻壳儿_刀客儿出品_1"/>
          <p:cNvSpPr/>
          <p:nvPr/>
        </p:nvSpPr>
        <p:spPr>
          <a:xfrm>
            <a:off x="0" y="5257147"/>
            <a:ext cx="4691648" cy="1154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id-ID">
              <a:latin typeface="Arial" panose="020B0604020202020204" pitchFamily="34" charset="0"/>
              <a:ea typeface="Arial" panose="020B0604020202020204" pitchFamily="34" charset="0"/>
              <a:cs typeface="Arial" panose="020B0604020202020204" pitchFamily="34" charset="0"/>
              <a:sym typeface="+mn-lt"/>
            </a:endParaRPr>
          </a:p>
        </p:txBody>
      </p:sp>
      <p:sp>
        <p:nvSpPr>
          <p:cNvPr id="25" name="稻壳儿_刀客儿出品_3"/>
          <p:cNvSpPr txBox="1"/>
          <p:nvPr/>
        </p:nvSpPr>
        <p:spPr>
          <a:xfrm>
            <a:off x="0" y="5428615"/>
            <a:ext cx="4691380" cy="811530"/>
          </a:xfrm>
          <a:prstGeom prst="rect">
            <a:avLst/>
          </a:prstGeom>
          <a:noFill/>
        </p:spPr>
        <p:txBody>
          <a:bodyPr wrap="square" lIns="90000" tIns="46800" rIns="90000" bIns="46800" rtlCol="0">
            <a:spAutoFit/>
          </a:bodyPr>
          <a:lstStyle/>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Activity:</a:t>
            </a:r>
          </a:p>
          <a:p>
            <a:pPr>
              <a:lnSpc>
                <a:spcPct val="130000"/>
              </a:lnSpc>
            </a:pP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Using the </a:t>
            </a: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Past </a:t>
            </a: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continuous, discuss </a:t>
            </a: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the </a:t>
            </a: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role </a:t>
            </a: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you played in </a:t>
            </a: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your</a:t>
            </a:r>
            <a:r>
              <a:rPr lang=""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previous job</a:t>
            </a:r>
            <a:r>
              <a:rPr lang="en-US" altLang="en-US" sz="1200" dirty="0">
                <a:solidFill>
                  <a:schemeClr val="bg1"/>
                </a:solidFill>
                <a:latin typeface="Arial" panose="020B0604020202020204" pitchFamily="34" charset="0"/>
                <a:ea typeface="Arial" panose="020B0604020202020204" pitchFamily="34" charset="0"/>
                <a:cs typeface="Arial" panose="020B0604020202020204" pitchFamily="34" charset="0"/>
                <a:sym typeface="+mn-lt"/>
              </a:rPr>
              <a:t> company.</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107"/>
          <p:cNvPicPr/>
          <p:nvPr/>
        </p:nvPicPr>
        <p:blipFill>
          <a:blip r:embed="rId2"/>
          <a:srcRect b="15905"/>
          <a:stretch>
            <a:fillRect/>
          </a:stretch>
        </p:blipFill>
        <p:spPr>
          <a:xfrm>
            <a:off x="0" y="0"/>
            <a:ext cx="7143750" cy="2803525"/>
          </a:xfrm>
          <a:prstGeom prst="rect">
            <a:avLst/>
          </a:prstGeom>
          <a:noFill/>
          <a:ln w="9525">
            <a:noFill/>
          </a:ln>
          <a:effectLst>
            <a:softEdge rad="317500"/>
          </a:effectLst>
        </p:spPr>
      </p:pic>
      <p:sp>
        <p:nvSpPr>
          <p:cNvPr id="2" name="Text Box 1"/>
          <p:cNvSpPr txBox="1"/>
          <p:nvPr/>
        </p:nvSpPr>
        <p:spPr>
          <a:xfrm>
            <a:off x="7389495" y="1946275"/>
            <a:ext cx="4596130" cy="3138170"/>
          </a:xfrm>
          <a:prstGeom prst="rect">
            <a:avLst/>
          </a:prstGeom>
          <a:noFill/>
        </p:spPr>
        <p:txBody>
          <a:bodyPr wrap="square" rtlCol="0">
            <a:spAutoFit/>
          </a:bodyPr>
          <a:lstStyle/>
          <a:p>
            <a:r>
              <a:rPr lang="en-US">
                <a:latin typeface="Arial" panose="020B0604020202020204" pitchFamily="34" charset="0"/>
                <a:cs typeface="Arial" panose="020B0604020202020204" pitchFamily="34" charset="0"/>
              </a:rPr>
              <a:t>How would your last employer describe you?</a:t>
            </a:r>
          </a:p>
          <a:p>
            <a:r>
              <a:rPr lang="en-US">
                <a:latin typeface="Arial" panose="020B0604020202020204" pitchFamily="34" charset="0"/>
                <a:cs typeface="Arial" panose="020B0604020202020204" pitchFamily="34" charset="0"/>
              </a:rPr>
              <a:t>What are your strengths?</a:t>
            </a:r>
          </a:p>
          <a:p>
            <a:r>
              <a:rPr lang="en-US">
                <a:latin typeface="Arial" panose="020B0604020202020204" pitchFamily="34" charset="0"/>
                <a:cs typeface="Arial" panose="020B0604020202020204" pitchFamily="34" charset="0"/>
              </a:rPr>
              <a:t>What are your weaknesses?</a:t>
            </a:r>
          </a:p>
          <a:p>
            <a:r>
              <a:rPr lang="en-US">
                <a:latin typeface="Arial" panose="020B0604020202020204" pitchFamily="34" charset="0"/>
                <a:cs typeface="Arial" panose="020B0604020202020204" pitchFamily="34" charset="0"/>
              </a:rPr>
              <a:t>Describe your work style.</a:t>
            </a:r>
          </a:p>
          <a:p>
            <a:r>
              <a:rPr lang="en-US">
                <a:latin typeface="Arial" panose="020B0604020202020204" pitchFamily="34" charset="0"/>
                <a:cs typeface="Arial" panose="020B0604020202020204" pitchFamily="34" charset="0"/>
              </a:rPr>
              <a:t>What motivates you?</a:t>
            </a:r>
          </a:p>
          <a:p>
            <a:r>
              <a:rPr lang="en-US">
                <a:latin typeface="Arial" panose="020B0604020202020204" pitchFamily="34" charset="0"/>
                <a:cs typeface="Arial" panose="020B0604020202020204" pitchFamily="34" charset="0"/>
              </a:rPr>
              <a:t>How do you handle stress?</a:t>
            </a:r>
          </a:p>
          <a:p>
            <a:r>
              <a:rPr lang="en-US">
                <a:latin typeface="Arial" panose="020B0604020202020204" pitchFamily="34" charset="0"/>
                <a:cs typeface="Arial" panose="020B0604020202020204" pitchFamily="34" charset="0"/>
              </a:rPr>
              <a:t>What is the number one criticism about you?</a:t>
            </a:r>
          </a:p>
          <a:p>
            <a:r>
              <a:rPr lang="en-US">
                <a:latin typeface="Arial" panose="020B0604020202020204" pitchFamily="34" charset="0"/>
                <a:cs typeface="Arial" panose="020B0604020202020204" pitchFamily="34" charset="0"/>
              </a:rPr>
              <a:t>How would you help this company to succeed?</a:t>
            </a:r>
          </a:p>
          <a:p>
            <a:r>
              <a:rPr lang="en-US">
                <a:latin typeface="Arial" panose="020B0604020202020204" pitchFamily="34" charset="0"/>
                <a:cs typeface="Arial" panose="020B0604020202020204" pitchFamily="34" charset="0"/>
              </a:rPr>
              <a:t>Do you prefer to work individually or in a team?</a:t>
            </a:r>
          </a:p>
        </p:txBody>
      </p:sp>
      <p:sp>
        <p:nvSpPr>
          <p:cNvPr id="3" name="Text Box 2"/>
          <p:cNvSpPr txBox="1"/>
          <p:nvPr/>
        </p:nvSpPr>
        <p:spPr>
          <a:xfrm>
            <a:off x="1469390" y="3964305"/>
            <a:ext cx="4722495" cy="1753235"/>
          </a:xfrm>
          <a:prstGeom prst="rect">
            <a:avLst/>
          </a:prstGeom>
          <a:noFill/>
        </p:spPr>
        <p:txBody>
          <a:bodyPr wrap="square" rtlCol="0">
            <a:spAutoFit/>
          </a:bodyPr>
          <a:lstStyle/>
          <a:p>
            <a:r>
              <a:rPr lang="en-US" altLang="en-US">
                <a:latin typeface="Arial" panose="020B0604020202020204" pitchFamily="34" charset="0"/>
                <a:cs typeface="Arial" panose="020B0604020202020204" pitchFamily="34" charset="0"/>
              </a:rPr>
              <a:t>How not to : http://www.youtube.com/watch?v=SP8tTGfm4jU  </a:t>
            </a:r>
          </a:p>
          <a:p>
            <a:r>
              <a:rPr lang="en-US" altLang="en-US">
                <a:latin typeface="Arial" panose="020B0604020202020204" pitchFamily="34" charset="0"/>
                <a:cs typeface="Arial" panose="020B0604020202020204" pitchFamily="34" charset="0"/>
              </a:rPr>
              <a:t>How to : http://www.youtube.com/watch?v=CnLQy0ACIOs</a:t>
            </a:r>
          </a:p>
        </p:txBody>
      </p:sp>
      <p:sp>
        <p:nvSpPr>
          <p:cNvPr id="4" name="Text Box 3"/>
          <p:cNvSpPr txBox="1"/>
          <p:nvPr/>
        </p:nvSpPr>
        <p:spPr>
          <a:xfrm>
            <a:off x="223520" y="200025"/>
            <a:ext cx="1245870" cy="460375"/>
          </a:xfrm>
          <a:prstGeom prst="rect">
            <a:avLst/>
          </a:prstGeom>
          <a:noFill/>
        </p:spPr>
        <p:txBody>
          <a:bodyPr wrap="square" rtlCol="0">
            <a:spAutoFit/>
          </a:bodyPr>
          <a:lstStyle/>
          <a:p>
            <a:r>
              <a:rPr lang="" altLang="en-US" sz="2400" b="1">
                <a:latin typeface="Arial Black" panose="020B0A04020102020204" charset="0"/>
                <a:cs typeface="Arial Black" panose="020B0A04020102020204" charset="0"/>
              </a:rPr>
              <a:t>Obj. 4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 name="Picture Placeholder 101"/>
          <p:cNvPicPr>
            <a:picLocks noChangeAspect="1"/>
          </p:cNvPicPr>
          <p:nvPr/>
        </p:nvPicPr>
        <p:blipFill>
          <a:blip r:embed="rId4"/>
          <a:stretch>
            <a:fillRect/>
          </a:stretch>
        </p:blipFill>
        <p:spPr>
          <a:xfrm>
            <a:off x="3253105" y="867410"/>
            <a:ext cx="7532370" cy="5918200"/>
          </a:xfrm>
          <a:prstGeom prst="rect">
            <a:avLst/>
          </a:prstGeom>
          <a:noFill/>
          <a:ln w="9525">
            <a:noFill/>
          </a:ln>
          <a:effectLst>
            <a:softEdge rad="317500"/>
          </a:effectLst>
        </p:spPr>
      </p:pic>
      <p:pic>
        <p:nvPicPr>
          <p:cNvPr id="106" name="Picture Placeholder 105"/>
          <p:cNvPicPr>
            <a:picLocks noChangeAspect="1"/>
          </p:cNvPicPr>
          <p:nvPr/>
        </p:nvPicPr>
        <p:blipFill>
          <a:blip r:embed="rId5"/>
          <a:stretch>
            <a:fillRect/>
          </a:stretch>
        </p:blipFill>
        <p:spPr>
          <a:xfrm>
            <a:off x="172085" y="1927860"/>
            <a:ext cx="3745230" cy="2707005"/>
          </a:xfrm>
          <a:prstGeom prst="rect">
            <a:avLst/>
          </a:prstGeom>
          <a:noFill/>
          <a:ln w="9525">
            <a:noFill/>
          </a:ln>
          <a:effectLst>
            <a:reflection blurRad="6350" stA="50000" endA="300" endPos="55000" dir="5400000" sy="-100000" algn="bl" rotWithShape="0"/>
            <a:softEdge rad="1270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3"/>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4"/>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稻壳儿_刀客儿出品_3"/>
          <p:cNvSpPr txBox="1"/>
          <p:nvPr>
            <p:custDataLst>
              <p:tags r:id="rId1"/>
            </p:custDataLst>
          </p:nvPr>
        </p:nvSpPr>
        <p:spPr>
          <a:xfrm>
            <a:off x="1511660" y="2118186"/>
            <a:ext cx="2656840" cy="768350"/>
          </a:xfrm>
          <a:prstGeom prst="rect">
            <a:avLst/>
          </a:prstGeom>
          <a:noFill/>
        </p:spPr>
        <p:txBody>
          <a:bodyPr wrap="none" rtlCol="0">
            <a:spAutoFit/>
          </a:bodyPr>
          <a:lstStyle/>
          <a:p>
            <a:r>
              <a:rPr lang="en-US" altLang="zh-CN" sz="4400" b="1" dirty="0">
                <a:latin typeface="Arial Black" panose="020B0A04020102020204" charset="0"/>
                <a:ea typeface="Arial" panose="020B0604020202020204" pitchFamily="34" charset="0"/>
                <a:cs typeface="Arial Black" panose="020B0A04020102020204" charset="0"/>
              </a:rPr>
              <a:t>PART.0</a:t>
            </a:r>
            <a:r>
              <a:rPr lang="" altLang="en-US" sz="4400" b="1" dirty="0">
                <a:latin typeface="Arial Black" panose="020B0A04020102020204" charset="0"/>
                <a:ea typeface="Arial" panose="020B0604020202020204" pitchFamily="34" charset="0"/>
                <a:cs typeface="Arial Black" panose="020B0A04020102020204" charset="0"/>
              </a:rPr>
              <a:t>5</a:t>
            </a:r>
          </a:p>
        </p:txBody>
      </p:sp>
      <p:pic>
        <p:nvPicPr>
          <p:cNvPr id="100" name="Picture 99"/>
          <p:cNvPicPr/>
          <p:nvPr/>
        </p:nvPicPr>
        <p:blipFill>
          <a:blip r:embed="rId5"/>
          <a:stretch>
            <a:fillRect/>
          </a:stretch>
        </p:blipFill>
        <p:spPr>
          <a:xfrm>
            <a:off x="5599748" y="985203"/>
            <a:ext cx="5686425" cy="5457825"/>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0" name="Picture 99"/>
          <p:cNvPicPr/>
          <p:nvPr/>
        </p:nvPicPr>
        <p:blipFill>
          <a:blip r:embed="rId4"/>
          <a:srcRect b="2648"/>
          <a:stretch>
            <a:fillRect/>
          </a:stretch>
        </p:blipFill>
        <p:spPr>
          <a:xfrm>
            <a:off x="1356995" y="984885"/>
            <a:ext cx="9188450" cy="5556250"/>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稻壳儿_刀客儿出品_3"/>
          <p:cNvSpPr txBox="1"/>
          <p:nvPr/>
        </p:nvSpPr>
        <p:spPr>
          <a:xfrm>
            <a:off x="1435255" y="273960"/>
            <a:ext cx="9004935" cy="521970"/>
          </a:xfrm>
          <a:prstGeom prst="rect">
            <a:avLst/>
          </a:prstGeom>
          <a:noFill/>
        </p:spPr>
        <p:txBody>
          <a:bodyPr wrap="none" rtlCol="0">
            <a:spAutoFit/>
          </a:bodyPr>
          <a:lstStyle>
            <a:defPPr>
              <a:defRPr lang="id-ID"/>
            </a:defPPr>
            <a:lvl1pPr>
              <a:defRPr sz="3600" b="1">
                <a:solidFill>
                  <a:schemeClr val="tx1">
                    <a:lumMod val="75000"/>
                    <a:lumOff val="25000"/>
                  </a:schemeClr>
                </a:solidFill>
                <a:latin typeface="+mj-ea"/>
                <a:ea typeface="+mj-ea"/>
              </a:defRPr>
            </a:lvl1pPr>
          </a:lstStyle>
          <a:p>
            <a:r>
              <a:rPr lang="en-US" altLang="en-US" sz="2800" dirty="0">
                <a:latin typeface="Arial Black" panose="020B0A04020102020204" charset="0"/>
                <a:ea typeface="Arial" panose="020B0604020202020204" pitchFamily="34" charset="0"/>
                <a:cs typeface="Arial Black" panose="020B0A04020102020204" charset="0"/>
                <a:sym typeface="+mn-lt"/>
              </a:rPr>
              <a:t>Obj. </a:t>
            </a:r>
            <a:r>
              <a:rPr lang="" altLang="en-US" sz="2800" dirty="0">
                <a:latin typeface="Arial Black" panose="020B0A04020102020204" charset="0"/>
                <a:ea typeface="Arial" panose="020B0604020202020204" pitchFamily="34" charset="0"/>
                <a:cs typeface="Arial Black" panose="020B0A04020102020204" charset="0"/>
                <a:sym typeface="+mn-lt"/>
              </a:rPr>
              <a:t>5</a:t>
            </a:r>
            <a:r>
              <a:rPr lang="en-US" altLang="en-US" sz="2800" dirty="0">
                <a:latin typeface="Arial Black" panose="020B0A04020102020204" charset="0"/>
                <a:ea typeface="Arial" panose="020B0604020202020204" pitchFamily="34" charset="0"/>
                <a:cs typeface="Arial Black" panose="020B0A04020102020204" charset="0"/>
                <a:sym typeface="+mn-lt"/>
              </a:rPr>
              <a:t> Simple Present vs Present Progressive</a:t>
            </a:r>
          </a:p>
        </p:txBody>
      </p:sp>
      <p:sp>
        <p:nvSpPr>
          <p:cNvPr id="32" name="稻壳儿_刀客儿出品_5"/>
          <p:cNvSpPr/>
          <p:nvPr/>
        </p:nvSpPr>
        <p:spPr>
          <a:xfrm>
            <a:off x="1616230" y="4748858"/>
            <a:ext cx="918339" cy="918339"/>
          </a:xfrm>
          <a:prstGeom prst="ellipse">
            <a:avLst/>
          </a:prstGeom>
          <a:solidFill>
            <a:schemeClr val="accent4"/>
          </a:solidFill>
          <a:ln w="254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0000" tIns="46800" rIns="90000" bIns="46800" rtlCol="0" anchor="ctr"/>
          <a:lstStyle/>
          <a:p>
            <a:pPr algn="ctr"/>
            <a:endParaRPr lang="en-US">
              <a:solidFill>
                <a:schemeClr val="bg1"/>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3" name="稻壳儿_刀客儿出品_6"/>
          <p:cNvSpPr txBox="1"/>
          <p:nvPr/>
        </p:nvSpPr>
        <p:spPr>
          <a:xfrm>
            <a:off x="2724869" y="4777205"/>
            <a:ext cx="913765" cy="338455"/>
          </a:xfrm>
          <a:prstGeom prst="rect">
            <a:avLst/>
          </a:prstGeom>
          <a:noFill/>
        </p:spPr>
        <p:txBody>
          <a:bodyPr wrap="none" lIns="90000" tIns="46800" rIns="90000" bIns="46800" rtlCol="0">
            <a:spAutoFit/>
          </a:bodyPr>
          <a:lstStyle/>
          <a:p>
            <a:r>
              <a:rPr lang="en-US" altLang="en-US" sz="1600" b="1"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Activity</a:t>
            </a:r>
          </a:p>
        </p:txBody>
      </p:sp>
      <p:sp>
        <p:nvSpPr>
          <p:cNvPr id="34" name="稻壳儿_刀客儿出品_7"/>
          <p:cNvSpPr txBox="1"/>
          <p:nvPr/>
        </p:nvSpPr>
        <p:spPr>
          <a:xfrm>
            <a:off x="2724868" y="5123413"/>
            <a:ext cx="3259073" cy="700405"/>
          </a:xfrm>
          <a:prstGeom prst="rect">
            <a:avLst/>
          </a:prstGeom>
          <a:noFill/>
        </p:spPr>
        <p:txBody>
          <a:bodyPr wrap="square" lIns="90000" tIns="46800" rIns="90000" bIns="46800" rtlCol="0">
            <a:spAutoFit/>
          </a:bodyPr>
          <a:lstStyle/>
          <a:p>
            <a:pPr>
              <a:lnSpc>
                <a:spcPct val="110000"/>
              </a:lnSpc>
            </a:pPr>
            <a:r>
              <a:rPr lang="en-US" altLang="en-US" sz="120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rPr>
              <a:t>Using the Present Contnuous, discuss how you can maintain a competitive edge in your market.</a:t>
            </a:r>
            <a:endParaRPr lang="en-US" altLang="en-US" sz="1200" dirty="0">
              <a:solidFill>
                <a:schemeClr val="tx1">
                  <a:lumMod val="75000"/>
                  <a:lumOff val="25000"/>
                </a:schemeClr>
              </a:solidFill>
              <a:latin typeface="Arial" panose="020B0604020202020204" pitchFamily="34" charset="0"/>
              <a:ea typeface="Arial" panose="020B0604020202020204" pitchFamily="34" charset="0"/>
              <a:cs typeface="Arial" panose="020B0604020202020204" pitchFamily="34" charset="0"/>
              <a:sym typeface="+mn-lt"/>
            </a:endParaRPr>
          </a:p>
        </p:txBody>
      </p:sp>
      <p:sp>
        <p:nvSpPr>
          <p:cNvPr id="36" name="稻壳儿_刀客儿出品_9"/>
          <p:cNvSpPr txBox="1"/>
          <p:nvPr/>
        </p:nvSpPr>
        <p:spPr>
          <a:xfrm>
            <a:off x="1435255" y="1205172"/>
            <a:ext cx="4225621" cy="2169795"/>
          </a:xfrm>
          <a:prstGeom prst="rect">
            <a:avLst/>
          </a:prstGeom>
          <a:noFill/>
        </p:spPr>
        <p:txBody>
          <a:bodyPr wrap="square" lIns="90000" tIns="46800" rIns="90000" bIns="46800" rtlCol="0">
            <a:spAutoFit/>
          </a:bodyPr>
          <a:lstStyle/>
          <a:p>
            <a:pPr>
              <a:lnSpc>
                <a:spcPct val="150000"/>
              </a:lnSpc>
            </a:pPr>
            <a:r>
              <a:rPr lang="en-US" altLang="en-US" dirty="0">
                <a:latin typeface="Arial" panose="020B0604020202020204" pitchFamily="34" charset="0"/>
                <a:ea typeface="Arial" panose="020B0604020202020204" pitchFamily="34" charset="0"/>
                <a:cs typeface="Arial" panose="020B0604020202020204" pitchFamily="34" charset="0"/>
                <a:sym typeface="+mn-lt"/>
              </a:rPr>
              <a:t>* Identify which tense the screenshot is in.</a:t>
            </a:r>
          </a:p>
          <a:p>
            <a:pPr>
              <a:lnSpc>
                <a:spcPct val="150000"/>
              </a:lnSpc>
            </a:pPr>
            <a:r>
              <a:rPr lang="en-US" altLang="en-US" dirty="0">
                <a:latin typeface="Arial" panose="020B0604020202020204" pitchFamily="34" charset="0"/>
                <a:ea typeface="Arial" panose="020B0604020202020204" pitchFamily="34" charset="0"/>
                <a:cs typeface="Arial" panose="020B0604020202020204" pitchFamily="34" charset="0"/>
                <a:sym typeface="+mn-lt"/>
              </a:rPr>
              <a:t>*Convert the same screenshot into the present progressive form while retaining the same meaning.</a:t>
            </a:r>
          </a:p>
        </p:txBody>
      </p:sp>
      <p:pic>
        <p:nvPicPr>
          <p:cNvPr id="101" name="Picture 100"/>
          <p:cNvPicPr/>
          <p:nvPr/>
        </p:nvPicPr>
        <p:blipFill>
          <a:blip r:embed="rId4"/>
          <a:stretch>
            <a:fillRect/>
          </a:stretch>
        </p:blipFill>
        <p:spPr>
          <a:xfrm>
            <a:off x="6096000" y="1491933"/>
            <a:ext cx="6096000" cy="4200525"/>
          </a:xfrm>
          <a:prstGeom prst="rect">
            <a:avLst/>
          </a:prstGeom>
          <a:noFill/>
          <a:ln w="9525">
            <a:noFill/>
          </a:ln>
          <a:effectLst>
            <a:softEdge rad="317500"/>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nvSpPr>
        <p:spPr>
          <a:xfrm>
            <a:off x="609600" y="190500"/>
            <a:ext cx="10972800" cy="582613"/>
          </a:xfrm>
          <a:prstGeom prst="rect">
            <a:avLst/>
          </a:prstGeom>
          <a:noFill/>
          <a:ln w="9525">
            <a:noFill/>
          </a:ln>
        </p:spPr>
        <p:txBody>
          <a:bodyPr anchor="ctr" anchorCtr="0"/>
          <a:lst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r>
              <a:rPr lang="en-US" altLang="en-US">
                <a:latin typeface="Arial Black" panose="020B0A04020102020204" charset="0"/>
                <a:cs typeface="Arial Black" panose="020B0A04020102020204" charset="0"/>
              </a:rPr>
              <a:t>Delayed feedback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2"/>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3"/>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4066390" y="2940387"/>
            <a:ext cx="3743662" cy="706755"/>
          </a:xfrm>
          <a:prstGeom prst="rect">
            <a:avLst/>
          </a:prstGeom>
          <a:noFill/>
        </p:spPr>
        <p:txBody>
          <a:bodyPr wrap="square" rtlCol="0">
            <a:spAutoFit/>
          </a:bodyPr>
          <a:lstStyle/>
          <a:p>
            <a:r>
              <a:rPr lang="en-US" altLang="en-US" sz="4000" dirty="0">
                <a:latin typeface="Arial Black" panose="020B0A04020102020204" charset="0"/>
                <a:cs typeface="Arial Black" panose="020B0A04020102020204" charset="0"/>
              </a:rPr>
              <a:t>Questions?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10786335" y="187320"/>
            <a:ext cx="914012" cy="935024"/>
          </a:xfrm>
          <a:prstGeom prst="ellipse">
            <a:avLst/>
          </a:prstGeom>
          <a:solidFill>
            <a:schemeClr val="tx1"/>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Icon&#10;&#10;Description automatically generated"/>
          <p:cNvPicPr>
            <a:picLocks noChangeAspect="1"/>
          </p:cNvPicPr>
          <p:nvPr/>
        </p:nvPicPr>
        <p:blipFill>
          <a:blip r:embed="rId3"/>
          <a:stretch>
            <a:fillRect/>
          </a:stretch>
        </p:blipFill>
        <p:spPr>
          <a:xfrm>
            <a:off x="10985269" y="187320"/>
            <a:ext cx="516143" cy="516143"/>
          </a:xfrm>
          <a:prstGeom prst="rect">
            <a:avLst/>
          </a:prstGeom>
        </p:spPr>
      </p:pic>
      <p:pic>
        <p:nvPicPr>
          <p:cNvPr id="7" name="Picture 6" descr="Logo&#10;&#10;Description automatically generated"/>
          <p:cNvPicPr>
            <a:picLocks noChangeAspect="1"/>
          </p:cNvPicPr>
          <p:nvPr/>
        </p:nvPicPr>
        <p:blipFill>
          <a:blip r:embed="rId4"/>
          <a:stretch>
            <a:fillRect/>
          </a:stretch>
        </p:blipFill>
        <p:spPr>
          <a:xfrm>
            <a:off x="10883157" y="601042"/>
            <a:ext cx="719305" cy="334872"/>
          </a:xfrm>
          <a:prstGeom prst="rect">
            <a:avLst/>
          </a:prstGeom>
        </p:spPr>
      </p:pic>
      <p:sp>
        <p:nvSpPr>
          <p:cNvPr id="9" name="Oval 8"/>
          <p:cNvSpPr/>
          <p:nvPr/>
        </p:nvSpPr>
        <p:spPr>
          <a:xfrm>
            <a:off x="11286663" y="985316"/>
            <a:ext cx="389493" cy="398447"/>
          </a:xfrm>
          <a:prstGeom prst="ellipse">
            <a:avLst/>
          </a:prstGeom>
          <a:solidFill>
            <a:schemeClr val="tx2">
              <a:lumMod val="40000"/>
              <a:lumOff val="60000"/>
            </a:schemeClr>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11481410" y="867620"/>
            <a:ext cx="315759" cy="323018"/>
          </a:xfrm>
          <a:prstGeom prst="ellipse">
            <a:avLst/>
          </a:prstGeom>
          <a:solidFill>
            <a:schemeClr val="tx2"/>
          </a:solid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稻壳儿_刀客儿出品_1"/>
          <p:cNvSpPr txBox="1"/>
          <p:nvPr>
            <p:custDataLst>
              <p:tags r:id="rId1"/>
            </p:custDataLst>
          </p:nvPr>
        </p:nvSpPr>
        <p:spPr>
          <a:xfrm>
            <a:off x="1008696" y="3711762"/>
            <a:ext cx="10174605" cy="1322070"/>
          </a:xfrm>
          <a:prstGeom prst="rect">
            <a:avLst/>
          </a:prstGeom>
          <a:noFill/>
        </p:spPr>
        <p:txBody>
          <a:bodyPr wrap="none" rtlCol="0">
            <a:spAutoFit/>
          </a:bodyPr>
          <a:lstStyle/>
          <a:p>
            <a:pPr algn="ctr"/>
            <a:r>
              <a:rPr lang="en-US" altLang="zh-CN" sz="4000" b="1" dirty="0">
                <a:solidFill>
                  <a:schemeClr val="tx1"/>
                </a:solidFill>
                <a:latin typeface="Arial Black" panose="020B0A04020102020204" charset="0"/>
                <a:ea typeface="Arial" panose="020B0604020202020204" pitchFamily="34" charset="0"/>
                <a:cs typeface="Arial Black" panose="020B0A04020102020204" charset="0"/>
              </a:rPr>
              <a:t>THANK YOU FOR YOUR ATTENTION</a:t>
            </a:r>
          </a:p>
          <a:p>
            <a:pPr algn="ctr"/>
            <a:endParaRPr lang="en-US" altLang="zh-CN" sz="4000" b="1" dirty="0">
              <a:solidFill>
                <a:schemeClr val="tx1"/>
              </a:solidFill>
              <a:latin typeface="Arial Black" panose="020B0A04020102020204" charset="0"/>
              <a:ea typeface="Arial" panose="020B0604020202020204" pitchFamily="34" charset="0"/>
              <a:cs typeface="Arial Black" panose="020B0A040201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5.2.5"/>
</p:tagLst>
</file>

<file path=ppt/tags/tag2.xml><?xml version="1.0" encoding="utf-8"?>
<p:tagLst xmlns:a="http://schemas.openxmlformats.org/drawingml/2006/main" xmlns:r="http://schemas.openxmlformats.org/officeDocument/2006/relationships" xmlns:p="http://schemas.openxmlformats.org/presentationml/2006/main">
  <p:tag name="PA" val="v5.2.5"/>
</p:tagLst>
</file>

<file path=ppt/tags/tag3.xml><?xml version="1.0" encoding="utf-8"?>
<p:tagLst xmlns:a="http://schemas.openxmlformats.org/drawingml/2006/main" xmlns:r="http://schemas.openxmlformats.org/officeDocument/2006/relationships" xmlns:p="http://schemas.openxmlformats.org/presentationml/2006/main">
  <p:tag name="PA" val="v5.2.5"/>
</p:tagLst>
</file>

<file path=ppt/tags/tag4.xml><?xml version="1.0" encoding="utf-8"?>
<p:tagLst xmlns:a="http://schemas.openxmlformats.org/drawingml/2006/main" xmlns:r="http://schemas.openxmlformats.org/officeDocument/2006/relationships" xmlns:p="http://schemas.openxmlformats.org/presentationml/2006/main">
  <p:tag name="PA" val="v5.2.5"/>
</p:tagLst>
</file>

<file path=ppt/tags/tag5.xml><?xml version="1.0" encoding="utf-8"?>
<p:tagLst xmlns:a="http://schemas.openxmlformats.org/drawingml/2006/main" xmlns:r="http://schemas.openxmlformats.org/officeDocument/2006/relationships" xmlns:p="http://schemas.openxmlformats.org/presentationml/2006/main">
  <p:tag name="PA" val="v5.2.5"/>
</p:tagLst>
</file>

<file path=ppt/tags/tag6.xml><?xml version="1.0" encoding="utf-8"?>
<p:tagLst xmlns:a="http://schemas.openxmlformats.org/drawingml/2006/main" xmlns:r="http://schemas.openxmlformats.org/officeDocument/2006/relationships" xmlns:p="http://schemas.openxmlformats.org/presentationml/2006/main">
  <p:tag name="PA" val="v5.2.5"/>
</p:tagLst>
</file>

<file path=ppt/tags/tag7.xml><?xml version="1.0" encoding="utf-8"?>
<p:tagLst xmlns:a="http://schemas.openxmlformats.org/drawingml/2006/main" xmlns:r="http://schemas.openxmlformats.org/officeDocument/2006/relationships" xmlns:p="http://schemas.openxmlformats.org/presentationml/2006/main">
  <p:tag name="PA" val="v5.2.5"/>
</p:tagLst>
</file>

<file path=ppt/tags/tag8.xml><?xml version="1.0" encoding="utf-8"?>
<p:tagLst xmlns:a="http://schemas.openxmlformats.org/drawingml/2006/main" xmlns:r="http://schemas.openxmlformats.org/officeDocument/2006/relationships" xmlns:p="http://schemas.openxmlformats.org/presentationml/2006/main">
  <p:tag name="PA" val="v5.2.5"/>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0</TotalTime>
  <Words>873</Words>
  <Application>Microsoft Office PowerPoint</Application>
  <PresentationFormat>Widescreen</PresentationFormat>
  <Paragraphs>102</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Arial Black</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Bruce</dc:creator>
  <cp:lastModifiedBy>Theo Clarke</cp:lastModifiedBy>
  <cp:revision>8</cp:revision>
  <dcterms:created xsi:type="dcterms:W3CDTF">2023-01-16T07:26:00Z</dcterms:created>
  <dcterms:modified xsi:type="dcterms:W3CDTF">2023-01-23T10:45:26Z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92297854A05746BCB197AB12E460F8E0</vt:lpwstr>
  </property>
  <property fmtid="{D5CDD505-2E9C-101B-9397-08002B2CF9AE}" pid="3" name="KSOProductBuildVer">
    <vt:lpwstr>1033-11.2.0.11214</vt:lpwstr>
  </property>
</Properties>
</file>