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7" r:id="rId10"/>
    <p:sldId id="262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B87B51-9D91-4383-8D15-D6D9FFA77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C78D57-CDEB-3B01-B749-5B21CCE63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EF88D-4E80-915B-B1D9-508ACE8A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7D498A-0E11-1F1B-B462-9127E225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42C057-389A-FA14-4700-3DD89A64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236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70ACB2-C643-7D95-06BB-71085990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4E91EF-49B8-9D4B-10A8-22606E61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226EF0-AF07-BB38-80EE-D0E51817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29F77C5-A16B-6361-0BE4-E2BE21A9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6CCF85-250E-667C-2FB3-7558569D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7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2C405A-D843-EDCC-0755-80252924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D9D5E0F-BA03-C10F-4697-BB969B152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9AA195-62B1-E9EB-8DDE-E0DC8E56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BFDADB-1F0B-0284-A47A-CBE19B55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635152-4809-00C8-1850-C48F0085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591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66C90-8033-1675-E2E5-68E37578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10322A-8D73-0C2C-0B80-95F27EAD7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A7C0C88-C213-13FC-56A7-6EF7E03E0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C71784F-D15F-1ABE-1FB5-3B43AAC2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5A3A9D5-79B7-8DDB-715F-39FF9DA2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427889-DD6F-4333-2A05-717F49EC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378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197E2C-F7AF-8D37-44FF-0CB4E2316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B7057E-2CCC-2DF8-9DF9-DC3043DE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6FC396-BF9C-B1D8-3FAC-6302D66C9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C8358DF-2A20-2F75-C67C-A8E5E2CE1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9DC9665-C626-4AEB-7488-923CF53CA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D7578AD-C04B-25B2-AC48-77DA4748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9F518B-934B-F260-3E68-832E1F3D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6659D82-D3D9-0750-3D2B-ABDA973A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66B33-667E-CAB1-45AC-536BE94F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FFC1E2-D2C5-1752-881B-2AC8E82C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C461BF8-05CE-1540-1E68-0FE7D162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6A89BCE-F4B3-F5A8-FF52-60E9B374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829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08A1907-3536-370F-739D-0826E51F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2E177A-33B9-A6AB-A5C9-B5CE9378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2F435E-6881-FBEA-CB33-A67C621A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39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6D7DC6-E961-4750-CDA0-E6F1CE75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9BF4DC-F0F6-B7C3-EC84-AB6F73B48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2F6944C-B996-BDA1-331C-99302D039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C39F33-0A1C-0198-EFBD-F5C51429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085E940-0F0B-1DA6-79F1-0C1C32CC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4E4F3C-5C6F-9976-C565-78C91C0F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537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EF808D-DB46-ED5D-61BD-B3EEDDD5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86CCB16-EB7E-8058-6BD1-12B3B8DBA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2C7FA82-CDD2-364F-5CD3-D99729CBC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655B047-A36F-E0B3-9FCD-D77AF8DF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7C10AC-A809-B05C-EF89-A736D4EB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CF89D0-9D1F-8B6B-48B3-CFE5152D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55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7F1411-6683-BB02-F36B-9F3571021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3DA7064-E0F3-1F0E-2638-1BDF82A9E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ADF67C-4F2C-2A79-0542-AB7CCDDB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3CA65A-0439-BF86-7ED5-12BC05E1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CF3206-F06C-798F-723A-BF3F9E8C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73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D629EC6-68AA-BD51-855E-59EC25258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431F89-4AF4-FE69-86C1-3B0C14AAA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3ACB2F-BB96-84F7-25C4-BD83A533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AA5D01-B81E-C74B-F052-ADD1CC76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76545B-A7D4-AA95-949B-CA4A2E0D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24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5BC2082-E51E-03FD-B1C3-06C4FACE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40C6173-DAFB-306A-299A-35571ED2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371B96-4FEB-EDBE-0A1F-6981FFF92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00B43-3631-4107-B1CE-FA2F3AAE6780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6D1EAF-8B7A-50D6-7899-C12541F73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C3CA53-2B20-1D02-2B5F-D3EB5CC2D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67724-6507-489C-B232-E128ABDB1E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756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1A92AB-D625-BA45-DC8C-29AF58A93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Climate</a:t>
            </a:r>
            <a:r>
              <a:rPr lang="es-ES" dirty="0"/>
              <a:t> and </a:t>
            </a:r>
            <a:r>
              <a:rPr lang="es-ES" dirty="0" err="1"/>
              <a:t>environmental</a:t>
            </a:r>
            <a:r>
              <a:rPr lang="es-ES" dirty="0"/>
              <a:t> </a:t>
            </a:r>
            <a:r>
              <a:rPr lang="es-ES" dirty="0" err="1"/>
              <a:t>conditions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138BCAB-032D-36A4-0EE4-082658E27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2F13314-DB64-9E07-B23A-DF86F46C1725}"/>
              </a:ext>
            </a:extLst>
          </p:cNvPr>
          <p:cNvSpPr txBox="1"/>
          <p:nvPr/>
        </p:nvSpPr>
        <p:spPr>
          <a:xfrm>
            <a:off x="440266" y="6341534"/>
            <a:ext cx="473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Tuspeaking 2024, all rights reserved</a:t>
            </a:r>
            <a:endParaRPr lang="es-ES" dirty="0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AC2775CD-7CB8-55DE-A5F7-503B56D35F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8" y="5867399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7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CB593EA-2F98-479F-B4C4-F366571FA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Smoke in a burning forest">
            <a:extLst>
              <a:ext uri="{FF2B5EF4-FFF2-40B4-BE49-F238E27FC236}">
                <a16:creationId xmlns:a16="http://schemas.microsoft.com/office/drawing/2014/main" xmlns="" id="{C16F3B43-2E69-81E7-FE0E-4E47FD2924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4" r="10639" b="-3"/>
          <a:stretch/>
        </p:blipFill>
        <p:spPr>
          <a:xfrm>
            <a:off x="20" y="10"/>
            <a:ext cx="2970445" cy="3383269"/>
          </a:xfrm>
          <a:prstGeom prst="rect">
            <a:avLst/>
          </a:prstGeom>
        </p:spPr>
      </p:pic>
      <p:pic>
        <p:nvPicPr>
          <p:cNvPr id="13" name="Picture 12" descr="Three giraffes under acacia tree">
            <a:extLst>
              <a:ext uri="{FF2B5EF4-FFF2-40B4-BE49-F238E27FC236}">
                <a16:creationId xmlns:a16="http://schemas.microsoft.com/office/drawing/2014/main" xmlns="" id="{3EB62377-E1C2-C46F-4FAD-C83E95A0DF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2" r="24060" b="-3"/>
          <a:stretch/>
        </p:blipFill>
        <p:spPr>
          <a:xfrm>
            <a:off x="3072956" y="10"/>
            <a:ext cx="2970465" cy="3383268"/>
          </a:xfrm>
          <a:prstGeom prst="rect">
            <a:avLst/>
          </a:prstGeom>
        </p:spPr>
      </p:pic>
      <p:pic>
        <p:nvPicPr>
          <p:cNvPr id="7" name="Picture 6" descr="Polar bear on ice at sunset">
            <a:extLst>
              <a:ext uri="{FF2B5EF4-FFF2-40B4-BE49-F238E27FC236}">
                <a16:creationId xmlns:a16="http://schemas.microsoft.com/office/drawing/2014/main" xmlns="" id="{BE072619-66F6-1779-AF38-E9920082935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39265" b="-3"/>
          <a:stretch/>
        </p:blipFill>
        <p:spPr>
          <a:xfrm>
            <a:off x="6145909" y="10"/>
            <a:ext cx="2971800" cy="3383268"/>
          </a:xfrm>
          <a:prstGeom prst="rect">
            <a:avLst/>
          </a:prstGeom>
        </p:spPr>
      </p:pic>
      <p:pic>
        <p:nvPicPr>
          <p:cNvPr id="11" name="Picture 10" descr="Underwater colorful fishes and coral reef">
            <a:extLst>
              <a:ext uri="{FF2B5EF4-FFF2-40B4-BE49-F238E27FC236}">
                <a16:creationId xmlns:a16="http://schemas.microsoft.com/office/drawing/2014/main" xmlns="" id="{5D5EBE96-EF58-7260-952D-0D3171C96AC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r="24600" b="-3"/>
          <a:stretch/>
        </p:blipFill>
        <p:spPr>
          <a:xfrm>
            <a:off x="9220200" y="10"/>
            <a:ext cx="2971800" cy="3383268"/>
          </a:xfrm>
          <a:prstGeom prst="rect">
            <a:avLst/>
          </a:prstGeom>
        </p:spPr>
      </p:pic>
      <p:pic>
        <p:nvPicPr>
          <p:cNvPr id="9" name="Picture 8" descr="Green lush islets">
            <a:extLst>
              <a:ext uri="{FF2B5EF4-FFF2-40B4-BE49-F238E27FC236}">
                <a16:creationId xmlns:a16="http://schemas.microsoft.com/office/drawing/2014/main" xmlns="" id="{822BD330-07FF-0828-3A2B-8BABC2C7BEC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6144"/>
          <a:stretch/>
        </p:blipFill>
        <p:spPr>
          <a:xfrm>
            <a:off x="-1018" y="3474720"/>
            <a:ext cx="6044438" cy="33832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9BEB6D0-9E4E-4221-93D1-74ABECEE9E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67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8BB96-0BA6-F8FB-D501-0E9BD257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FFFF"/>
                </a:solidFill>
              </a:rPr>
              <a:t>Warm up</a:t>
            </a:r>
            <a:endParaRPr lang="es-ES" sz="3200" dirty="0">
              <a:solidFill>
                <a:srgbClr val="FFFFFF"/>
              </a:solidFill>
            </a:endParaRP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xmlns="" id="{A50B2360-3589-8371-578E-0E15933E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648" y="4510585"/>
            <a:ext cx="5366610" cy="175873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How might what is seen in the pictures be affected by climate change?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Can you provide any 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3504029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218FC-B773-38EA-718E-7EC72265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1"/>
            <a:ext cx="10744200" cy="1385888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+mn-lt"/>
              </a:rPr>
              <a:t>List of Biomes with Vocabulary Definitions:</a:t>
            </a:r>
            <a:r>
              <a:rPr lang="en-GB" sz="4400" b="0" i="0" dirty="0">
                <a:solidFill>
                  <a:srgbClr val="374151"/>
                </a:solidFill>
                <a:effectLst/>
                <a:latin typeface="+mn-lt"/>
              </a:rPr>
              <a:t/>
            </a:r>
            <a:br>
              <a:rPr lang="en-GB" sz="4400" b="0" i="0" dirty="0">
                <a:solidFill>
                  <a:srgbClr val="374151"/>
                </a:solidFill>
                <a:effectLst/>
                <a:latin typeface="+mn-lt"/>
              </a:rPr>
            </a:br>
            <a:endParaRPr lang="es-E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ABD6A-F213-D0C3-09AB-69B30AA7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464734"/>
            <a:ext cx="10744200" cy="5088466"/>
          </a:xfrm>
        </p:spPr>
        <p:txBody>
          <a:bodyPr numCol="2"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Tundra: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characterized by low temperatures, short growing seasons, and permafrost, where vegetation is limited to low-growing plants like mosses and lichens.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Taiga (Boreal Forest):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dominated by coniferous forests with cold temperatures, long winters, and short summers, supporting trees like spruce, fir, and pine.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Temperate Deciduous Forest: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moderate temperatures, distinct seasons, and deciduous trees that shed their leaves in the fall, such as oak, maple, and beech.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Grassland (Prairie/Savanna):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characterized by grasses as the dominant vegetation, with few trees, moderate temperatures, and distinct wet and dry seasons.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Desert: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arid conditions, characterized by low precipitation, high temperatures, and adaptations of plants and animals to conserve water.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Rainforest (Tropical and Temperate):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high annual precipitation, dense vegetation, and high biodiversity; tropical rainforests are found near the equator, while temperate rainforests are found in cooler regions.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Temperate Rainforest: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high rainfall, mild temperatures, and lush vegetation, dominated by coniferous and broadleaf trees, mosses, and ferns.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25B49771-5AE9-8317-38D1-FB26DB1EA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8" y="5867399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90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218FC-B773-38EA-718E-7EC72265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1"/>
            <a:ext cx="10744200" cy="1385888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+mn-lt"/>
              </a:rPr>
              <a:t>List of Biomes with Vocabulary Definitions:</a:t>
            </a:r>
            <a:r>
              <a:rPr lang="en-GB" sz="4400" b="0" i="0" dirty="0">
                <a:solidFill>
                  <a:srgbClr val="374151"/>
                </a:solidFill>
                <a:effectLst/>
                <a:latin typeface="+mn-lt"/>
              </a:rPr>
              <a:t/>
            </a:r>
            <a:br>
              <a:rPr lang="en-GB" sz="4400" b="0" i="0" dirty="0">
                <a:solidFill>
                  <a:srgbClr val="374151"/>
                </a:solidFill>
                <a:effectLst/>
                <a:latin typeface="+mn-lt"/>
              </a:rPr>
            </a:br>
            <a:endParaRPr lang="es-E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ABD6A-F213-D0C3-09AB-69B30AA7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464734"/>
            <a:ext cx="10744200" cy="5088466"/>
          </a:xfrm>
        </p:spPr>
        <p:txBody>
          <a:bodyPr numCol="2"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Deciduous Forest: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characterized by four distinct seasons, including a variety of deciduous trees that shed their leaves in the fall, such as oak, maple, and birch.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Chaparral (Mediterranean Scrubland):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hot, dry summers and mild, wet winters, dominated by shrubs, small trees, and adapted plant species.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Freshwater Biome (Lakes, Rivers, Wetlands):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Aquatic biomes with water containing low salt concentrations, including lakes, rivers, ponds, and wetlands, each supporting specific plant and animal life.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Marine Biome (Oceans):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The largest biome, covering about 71% of the Earth's surface, characterized by high salt concentrations, diverse marine life, and different zones, such as the intertidal, pelagic, and benthic zones.</a:t>
            </a:r>
          </a:p>
          <a:p>
            <a:pPr marL="457200" lvl="1" indent="0" algn="l">
              <a:buNone/>
            </a:pPr>
            <a:endParaRPr lang="en-GB" dirty="0">
              <a:solidFill>
                <a:srgbClr val="374151"/>
              </a:solidFill>
            </a:endParaRPr>
          </a:p>
          <a:p>
            <a:pPr marL="457200" lvl="1" indent="0" algn="l">
              <a:buNone/>
            </a:pPr>
            <a:endParaRPr lang="en-GB" dirty="0">
              <a:solidFill>
                <a:srgbClr val="37415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GB" b="0" i="0" dirty="0">
              <a:solidFill>
                <a:srgbClr val="374151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Coral Reef: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marine biome characterized by warm, shallow waters and the presence of coral colonies, supporting a rich diversity of marine life.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Alpine Biome: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found in high mountain regions with cold temperatures, rocky landscapes, and unique plant and animal adaptations to survive in extreme conditions.</a:t>
            </a:r>
          </a:p>
          <a:p>
            <a:r>
              <a:rPr lang="en-GB" b="1" i="0" dirty="0">
                <a:solidFill>
                  <a:srgbClr val="374151"/>
                </a:solidFill>
                <a:effectLst/>
              </a:rPr>
              <a:t>Chaparral (Mediterranean Scrubland):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with hot, dry summers and mild, wet winters, dominated by shrubs, small trees, and adapted plant species.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Polar Ice (Polar Desert):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A biome characterized by extremely cold temperatures, low precipitation, and frozen conditions, found near the Earth's polar regions.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25B49771-5AE9-8317-38D1-FB26DB1EA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8" y="5867399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0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60BE41-5F73-63F7-68CE-A6CE84A9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>
            <a:normAutofit/>
          </a:bodyPr>
          <a:lstStyle/>
          <a:p>
            <a:r>
              <a:rPr lang="en-GB" sz="3600" dirty="0"/>
              <a:t>Extreme weather	</a:t>
            </a:r>
            <a:endParaRPr lang="es-ES" sz="3600" dirty="0"/>
          </a:p>
        </p:txBody>
      </p:sp>
      <p:pic>
        <p:nvPicPr>
          <p:cNvPr id="15" name="Picture 14" descr="Giant waves in the ocean">
            <a:extLst>
              <a:ext uri="{FF2B5EF4-FFF2-40B4-BE49-F238E27FC236}">
                <a16:creationId xmlns:a16="http://schemas.microsoft.com/office/drawing/2014/main" xmlns="" id="{35812731-D7E9-3AE7-657A-C7093DF12A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7" r="-4" b="-4"/>
          <a:stretch/>
        </p:blipFill>
        <p:spPr>
          <a:xfrm>
            <a:off x="1" y="-1"/>
            <a:ext cx="3719750" cy="2225041"/>
          </a:xfrm>
          <a:prstGeom prst="rect">
            <a:avLst/>
          </a:prstGeom>
        </p:spPr>
      </p:pic>
      <p:pic>
        <p:nvPicPr>
          <p:cNvPr id="5" name="Content Placeholder 4" descr="Dry cracking soil">
            <a:extLst>
              <a:ext uri="{FF2B5EF4-FFF2-40B4-BE49-F238E27FC236}">
                <a16:creationId xmlns:a16="http://schemas.microsoft.com/office/drawing/2014/main" xmlns="" id="{B54F687A-DA83-17C2-B8C3-B1C3915D5F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3" r="-4" b="5119"/>
          <a:stretch/>
        </p:blipFill>
        <p:spPr>
          <a:xfrm>
            <a:off x="3811189" y="-16426"/>
            <a:ext cx="3719752" cy="2267032"/>
          </a:xfrm>
          <a:prstGeom prst="rect">
            <a:avLst/>
          </a:prstGeom>
        </p:spPr>
      </p:pic>
      <p:pic>
        <p:nvPicPr>
          <p:cNvPr id="7" name="Picture 6" descr="Cactus grown on mountains">
            <a:extLst>
              <a:ext uri="{FF2B5EF4-FFF2-40B4-BE49-F238E27FC236}">
                <a16:creationId xmlns:a16="http://schemas.microsoft.com/office/drawing/2014/main" xmlns="" id="{356E97B4-77E8-BD2F-934F-F148E97D22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6" r="11759" b="-3"/>
          <a:stretch/>
        </p:blipFill>
        <p:spPr>
          <a:xfrm>
            <a:off x="20" y="2316480"/>
            <a:ext cx="3719729" cy="2208616"/>
          </a:xfrm>
          <a:prstGeom prst="rect">
            <a:avLst/>
          </a:prstGeom>
        </p:spPr>
      </p:pic>
      <p:pic>
        <p:nvPicPr>
          <p:cNvPr id="11" name="Picture 10" descr="Storm clouds above field">
            <a:extLst>
              <a:ext uri="{FF2B5EF4-FFF2-40B4-BE49-F238E27FC236}">
                <a16:creationId xmlns:a16="http://schemas.microsoft.com/office/drawing/2014/main" xmlns="" id="{D7125536-2383-48BC-3D11-D210FFC2521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8" r="-4" b="-4"/>
          <a:stretch/>
        </p:blipFill>
        <p:spPr>
          <a:xfrm>
            <a:off x="3811189" y="2316480"/>
            <a:ext cx="3719748" cy="2208617"/>
          </a:xfrm>
          <a:prstGeom prst="rect">
            <a:avLst/>
          </a:prstGeom>
        </p:spPr>
      </p:pic>
      <p:pic>
        <p:nvPicPr>
          <p:cNvPr id="13" name="Picture 12" descr="Lightning in a cornfield">
            <a:extLst>
              <a:ext uri="{FF2B5EF4-FFF2-40B4-BE49-F238E27FC236}">
                <a16:creationId xmlns:a16="http://schemas.microsoft.com/office/drawing/2014/main" xmlns="" id="{F9829940-D312-F1A1-A438-BAE3CE82BF9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6" r="-4" b="-4"/>
          <a:stretch/>
        </p:blipFill>
        <p:spPr>
          <a:xfrm>
            <a:off x="1" y="4616536"/>
            <a:ext cx="3719748" cy="2241464"/>
          </a:xfrm>
          <a:prstGeom prst="rect">
            <a:avLst/>
          </a:prstGeom>
        </p:spPr>
      </p:pic>
      <p:pic>
        <p:nvPicPr>
          <p:cNvPr id="9" name="Picture 8" descr="Bare tree in desert landscape">
            <a:extLst>
              <a:ext uri="{FF2B5EF4-FFF2-40B4-BE49-F238E27FC236}">
                <a16:creationId xmlns:a16="http://schemas.microsoft.com/office/drawing/2014/main" xmlns="" id="{EDA992A8-D151-C7B5-E701-3E2538E13DB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35" r="2" b="9879"/>
          <a:stretch/>
        </p:blipFill>
        <p:spPr>
          <a:xfrm>
            <a:off x="3811189" y="4607394"/>
            <a:ext cx="3719752" cy="2250607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xmlns="" id="{639995CB-B62C-22AF-793A-8B1FC43B1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254" y="2274491"/>
            <a:ext cx="3336546" cy="3902472"/>
          </a:xfrm>
        </p:spPr>
        <p:txBody>
          <a:bodyPr>
            <a:normAutofit/>
          </a:bodyPr>
          <a:lstStyle/>
          <a:p>
            <a:r>
              <a:rPr lang="en-US" sz="2000" dirty="0"/>
              <a:t>Brainstorm words related to extreme weather</a:t>
            </a:r>
          </a:p>
          <a:p>
            <a:endParaRPr lang="en-US" sz="2000" dirty="0"/>
          </a:p>
          <a:p>
            <a:r>
              <a:rPr lang="en-US" sz="2000" dirty="0"/>
              <a:t>How many extreme weather phenomenon can you think of?</a:t>
            </a:r>
          </a:p>
          <a:p>
            <a:endParaRPr lang="en-US" sz="2000" dirty="0"/>
          </a:p>
          <a:p>
            <a:r>
              <a:rPr lang="en-US" sz="2000" dirty="0"/>
              <a:t>See if you knew any of the other extreme weather phenomena on the following pages</a:t>
            </a:r>
          </a:p>
        </p:txBody>
      </p:sp>
    </p:spTree>
    <p:extLst>
      <p:ext uri="{BB962C8B-B14F-4D97-AF65-F5344CB8AC3E}">
        <p14:creationId xmlns:p14="http://schemas.microsoft.com/office/powerpoint/2010/main" val="247995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218FC-B773-38EA-718E-7EC72265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1"/>
            <a:ext cx="10744200" cy="1385888"/>
          </a:xfrm>
        </p:spPr>
        <p:txBody>
          <a:bodyPr>
            <a:normAutofit fontScale="90000"/>
          </a:bodyPr>
          <a:lstStyle/>
          <a:p>
            <a:r>
              <a:rPr lang="en-GB" sz="4400" b="1" i="0" dirty="0">
                <a:solidFill>
                  <a:srgbClr val="374151"/>
                </a:solidFill>
                <a:effectLst/>
                <a:latin typeface="Söhne"/>
              </a:rPr>
              <a:t>Extreme Weather Vocabulary List with Definitions:</a:t>
            </a:r>
            <a:r>
              <a:rPr lang="en-GB" sz="4400" b="0" i="0" dirty="0">
                <a:solidFill>
                  <a:srgbClr val="374151"/>
                </a:solidFill>
                <a:effectLst/>
                <a:latin typeface="Söhne"/>
              </a:rPr>
              <a:t/>
            </a:r>
            <a:br>
              <a:rPr lang="en-GB" sz="4400" b="0" i="0" dirty="0">
                <a:solidFill>
                  <a:srgbClr val="374151"/>
                </a:solidFill>
                <a:effectLst/>
                <a:latin typeface="Söhne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ABD6A-F213-D0C3-09AB-69B30AA7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464734"/>
            <a:ext cx="10744200" cy="5088466"/>
          </a:xfrm>
        </p:spPr>
        <p:txBody>
          <a:bodyPr numCol="2"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Heatwave: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prolonged period of excessively hot weather, which may be accompanied by high humidity.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Drought: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prolonged period of abnormally low precipitation, leading to water shortages and dry conditions.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Hurricane: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large, powerful storm with strong winds and heavy rain, typically forming over warm ocean waters.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Tornado: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rapidly rotating column of air extending from a thunderstorm to the ground, capable of causing significant damage.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Flood: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An overflow of water onto normally dry land, often caused by heavy rainfall, storm surges, or the melting of snow.</a:t>
            </a:r>
          </a:p>
          <a:p>
            <a:pPr marL="742950" lvl="1" indent="-285750" algn="l">
              <a:buFont typeface="+mj-lt"/>
              <a:buAutoNum type="arabicPeriod"/>
            </a:pPr>
            <a:endParaRPr lang="en-GB" sz="1600" dirty="0">
              <a:solidFill>
                <a:srgbClr val="37415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Blizzard: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severe snowstorm with strong winds and reduced visibility, often accompanied by blowing snow.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Cyclone: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large-scale atmospheric circulation system characterized by low-pressure centres and circulating winds, known as hurricanes or typhoons in different regions.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Thunderstorm: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weather phenomenon characterized by the presence of thunder, lightning, heavy rain, and sometimes hail.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Monsoon: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seasonal prevailing wind in a region, especially the Indian subcontinent, bringing heavy rainfall.</a:t>
            </a:r>
          </a:p>
          <a:p>
            <a:pPr algn="l">
              <a:buFont typeface="+mj-lt"/>
              <a:buAutoNum type="arabicPeriod"/>
            </a:pPr>
            <a:r>
              <a:rPr lang="en-GB" sz="1600" b="1" i="0" dirty="0">
                <a:solidFill>
                  <a:srgbClr val="374151"/>
                </a:solidFill>
                <a:effectLst/>
              </a:rPr>
              <a:t>Polar Vortex:</a:t>
            </a:r>
            <a:endParaRPr lang="en-GB" sz="1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rgbClr val="374151"/>
                </a:solidFill>
                <a:effectLst/>
              </a:rPr>
              <a:t> A persistent, large-scale cyclone centred near the Earth's poles, bringing extremely cold temperatures and winter weather.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25B49771-5AE9-8317-38D1-FB26DB1EA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8" y="5867399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2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218FC-B773-38EA-718E-7EC72265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1"/>
            <a:ext cx="10744200" cy="1385888"/>
          </a:xfrm>
        </p:spPr>
        <p:txBody>
          <a:bodyPr>
            <a:normAutofit fontScale="90000"/>
          </a:bodyPr>
          <a:lstStyle/>
          <a:p>
            <a:r>
              <a:rPr lang="en-GB" sz="4400" b="1" i="0" dirty="0">
                <a:solidFill>
                  <a:srgbClr val="374151"/>
                </a:solidFill>
                <a:effectLst/>
                <a:latin typeface="Söhne"/>
              </a:rPr>
              <a:t>Extreme Weather Vocabulary List with Definitions:</a:t>
            </a:r>
            <a:r>
              <a:rPr lang="en-GB" sz="4400" b="0" i="0" dirty="0">
                <a:solidFill>
                  <a:srgbClr val="374151"/>
                </a:solidFill>
                <a:effectLst/>
                <a:latin typeface="Söhne"/>
              </a:rPr>
              <a:t/>
            </a:r>
            <a:br>
              <a:rPr lang="en-GB" sz="4400" b="0" i="0" dirty="0">
                <a:solidFill>
                  <a:srgbClr val="374151"/>
                </a:solidFill>
                <a:effectLst/>
                <a:latin typeface="Söhne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ABD6A-F213-D0C3-09AB-69B30AA7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457200" lvl="1" indent="0" algn="l">
              <a:buNone/>
            </a:pPr>
            <a:endParaRPr lang="en-GB" sz="800" b="0" i="0" dirty="0">
              <a:solidFill>
                <a:srgbClr val="374151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Sandstorm: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strong wind carrying clouds of sand, typically in arid regions, causing reduced visibility and potential damage.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Flash Flood: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sudden and rapid flooding of low-lying areas, often occurring within six hours of heavy rainfall or other factors.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Tropical Storm: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An organized system of clouds and thunderstorms with a defined circulation pattern, less intense than a hurricane.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Ice Storm: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weather event in which freezing rain coats surfaces with a layer of ice, causing hazardous conditions.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Hailstorm: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storm characterized by the falling of hailstones, which are balls or lumps of ice.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Microburst: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localized column of sinking air producing strong, damaging winds at the surface, often associated with thunderstorms.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Heat Index: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measure of how hot it feels when relative humidity is factored in with the actual air temperature.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Wind Chill: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The perceived decrease in air temperature felt by the body due to the combination of actual air temperature and wind speed.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Thundersnow: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rare phenomenon in which thunder and lightning occur during a snowstorm.</a:t>
            </a:r>
          </a:p>
          <a:p>
            <a:pPr algn="l">
              <a:buFont typeface="+mj-lt"/>
              <a:buAutoNum type="arabicPeriod"/>
            </a:pPr>
            <a:r>
              <a:rPr lang="en-GB" sz="2600" b="1" i="0" dirty="0">
                <a:solidFill>
                  <a:srgbClr val="374151"/>
                </a:solidFill>
                <a:effectLst/>
              </a:rPr>
              <a:t>Tropical Depression:</a:t>
            </a:r>
            <a:endParaRPr lang="en-GB" sz="26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sz="2600" b="0" i="1" dirty="0">
                <a:solidFill>
                  <a:srgbClr val="374151"/>
                </a:solidFill>
                <a:effectLst/>
              </a:rPr>
              <a:t>Definition:</a:t>
            </a:r>
            <a:r>
              <a:rPr lang="en-GB" sz="2600" b="0" i="0" dirty="0">
                <a:solidFill>
                  <a:srgbClr val="374151"/>
                </a:solidFill>
                <a:effectLst/>
              </a:rPr>
              <a:t> A low-pressure system with organized convection (thunderstorm activity) and maximum sustained winds of 38 miles per hour or less, a precursor to a tropical storm.</a:t>
            </a:r>
          </a:p>
          <a:p>
            <a:endParaRPr lang="es-ES" sz="800" dirty="0"/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8EF55703-9A23-AA4E-532B-31DFD4146F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463" y="5930898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9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228552E-C8B1-4A80-8448-0787CE0FC7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rewing tornado">
            <a:extLst>
              <a:ext uri="{FF2B5EF4-FFF2-40B4-BE49-F238E27FC236}">
                <a16:creationId xmlns:a16="http://schemas.microsoft.com/office/drawing/2014/main" xmlns="" id="{73D0AFE3-C52B-EE47-0DAA-94BC29132C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44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C36D8-2C11-E1FB-AF8C-1A1F84C5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Conversation questions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3E5A76-3AC0-F5C8-0CC2-8E6BA43C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sz="1800">
              <a:solidFill>
                <a:srgbClr val="FFFFFF"/>
              </a:solidFill>
            </a:endParaRPr>
          </a:p>
          <a:p>
            <a:r>
              <a:rPr lang="en-GB" sz="1800">
                <a:solidFill>
                  <a:srgbClr val="FFFFFF"/>
                </a:solidFill>
              </a:rPr>
              <a:t>Have you ever experienced any extreme weather conditions? If so, what were they, and how did you cope with them?</a:t>
            </a:r>
          </a:p>
          <a:p>
            <a:r>
              <a:rPr lang="en-GB" sz="1800">
                <a:solidFill>
                  <a:srgbClr val="FFFFFF"/>
                </a:solidFill>
              </a:rPr>
              <a:t>How does extreme weather affect people's daily lives in your region?</a:t>
            </a:r>
          </a:p>
          <a:p>
            <a:r>
              <a:rPr lang="en-GB" sz="1800">
                <a:solidFill>
                  <a:srgbClr val="FFFFFF"/>
                </a:solidFill>
              </a:rPr>
              <a:t>What measures do you think governments should take to prepare for and respond to extreme weather events?</a:t>
            </a:r>
          </a:p>
          <a:p>
            <a:r>
              <a:rPr lang="en-GB" sz="1800">
                <a:solidFill>
                  <a:srgbClr val="FFFFFF"/>
                </a:solidFill>
              </a:rPr>
              <a:t>Do you think climate change is contributing to the increase in extreme weather events? Why or why not?</a:t>
            </a:r>
          </a:p>
          <a:p>
            <a:r>
              <a:rPr lang="en-GB" sz="1800">
                <a:solidFill>
                  <a:srgbClr val="FFFFFF"/>
                </a:solidFill>
              </a:rPr>
              <a:t>How can individuals contribute to mitigating the impact of extreme weather in their communities?</a:t>
            </a:r>
          </a:p>
          <a:p>
            <a:r>
              <a:rPr lang="en-GB" sz="1800">
                <a:solidFill>
                  <a:srgbClr val="FFFFFF"/>
                </a:solidFill>
              </a:rPr>
              <a:t>What are some common natural disasters caused by extreme weather, and how do they impact the environment and society?</a:t>
            </a:r>
          </a:p>
          <a:p>
            <a:r>
              <a:rPr lang="en-GB" sz="1800">
                <a:solidFill>
                  <a:srgbClr val="FFFFFF"/>
                </a:solidFill>
              </a:rPr>
              <a:t>How has technology helped in predicting and managing extreme weather conditions?</a:t>
            </a:r>
          </a:p>
          <a:p>
            <a:r>
              <a:rPr lang="en-GB" sz="1800">
                <a:solidFill>
                  <a:srgbClr val="FFFFFF"/>
                </a:solidFill>
              </a:rPr>
              <a:t>In your opinion, what role do humans play in causing extreme weather events, if any?</a:t>
            </a:r>
          </a:p>
          <a:p>
            <a:endParaRPr lang="en-GB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423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9BB35BC-D5C2-4C8B-A22A-A71E619191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C36D8-2C11-E1FB-AF8C-1A1F84C5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GB" dirty="0"/>
              <a:t>Conversation questions</a:t>
            </a:r>
            <a:endParaRPr lang="es-ES" dirty="0"/>
          </a:p>
        </p:txBody>
      </p:sp>
      <p:pic>
        <p:nvPicPr>
          <p:cNvPr id="5" name="Picture 4" descr="Rainbow in a bright blue sky with clouds">
            <a:extLst>
              <a:ext uri="{FF2B5EF4-FFF2-40B4-BE49-F238E27FC236}">
                <a16:creationId xmlns:a16="http://schemas.microsoft.com/office/drawing/2014/main" xmlns="" id="{F77F7ED7-02A7-A350-6BED-A1AB897116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r="38609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3E5A76-3AC0-F5C8-0CC2-8E6BA43C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400"/>
              <a:t>How do extreme weather events affect different industries, such as agriculture, tourism, or transportation?</a:t>
            </a:r>
          </a:p>
          <a:p>
            <a:r>
              <a:rPr lang="en-GB" sz="1400"/>
              <a:t>What steps can individuals take to stay safe during extreme weather conditions?</a:t>
            </a:r>
          </a:p>
          <a:p>
            <a:r>
              <a:rPr lang="en-GB" sz="1400"/>
              <a:t>Share a story or news article about a recent extreme weather event and discuss its impact on the affected community.</a:t>
            </a:r>
          </a:p>
          <a:p>
            <a:r>
              <a:rPr lang="en-GB" sz="1400"/>
              <a:t>How has your perception of extreme weather changed over the years, and why?</a:t>
            </a:r>
          </a:p>
          <a:p>
            <a:r>
              <a:rPr lang="en-GB" sz="1400"/>
              <a:t>What are the potential economic consequences of recurring extreme weather events in a region?</a:t>
            </a:r>
          </a:p>
          <a:p>
            <a:r>
              <a:rPr lang="en-GB" sz="1400"/>
              <a:t>Do you think there is enough awareness about the importance of preparedness for extreme weather conditions in your community?</a:t>
            </a:r>
          </a:p>
          <a:p>
            <a:r>
              <a:rPr lang="en-GB" sz="1400"/>
              <a:t>How can communities work together to build resilience against extreme weather events?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41074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lastic bottle garbage on a beach">
            <a:extLst>
              <a:ext uri="{FF2B5EF4-FFF2-40B4-BE49-F238E27FC236}">
                <a16:creationId xmlns:a16="http://schemas.microsoft.com/office/drawing/2014/main" xmlns="" id="{6C455DC0-6897-596E-6E97-440BD186D1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2" r="1" b="1"/>
          <a:stretch/>
        </p:blipFill>
        <p:spPr>
          <a:xfrm>
            <a:off x="20" y="1021"/>
            <a:ext cx="12191980" cy="6855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8BB96-0BA6-F8FB-D501-0E9BD257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8" y="1396289"/>
            <a:ext cx="4624342" cy="1325563"/>
          </a:xfrm>
        </p:spPr>
        <p:txBody>
          <a:bodyPr>
            <a:normAutofit/>
          </a:bodyPr>
          <a:lstStyle/>
          <a:p>
            <a:r>
              <a:rPr lang="en-GB"/>
              <a:t>Modals</a:t>
            </a:r>
            <a:endParaRPr lang="es-E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07977D39-626F-40D7-B00F-16E02602DD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51549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Offshore production platform">
            <a:extLst>
              <a:ext uri="{FF2B5EF4-FFF2-40B4-BE49-F238E27FC236}">
                <a16:creationId xmlns:a16="http://schemas.microsoft.com/office/drawing/2014/main" xmlns="" id="{74050381-A093-D299-1026-5BE80F68B2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4" r="14624"/>
          <a:stretch/>
        </p:blipFill>
        <p:spPr>
          <a:xfrm>
            <a:off x="5680087" y="361702"/>
            <a:ext cx="1691640" cy="1691640"/>
          </a:xfrm>
          <a:custGeom>
            <a:avLst/>
            <a:gdLst/>
            <a:ahLst/>
            <a:cxnLst/>
            <a:rect l="l" t="t" r="r" b="b"/>
            <a:pathLst>
              <a:path w="1956816" h="1956816">
                <a:moveTo>
                  <a:pt x="978408" y="0"/>
                </a:moveTo>
                <a:cubicBezTo>
                  <a:pt x="1518768" y="0"/>
                  <a:pt x="1956816" y="438048"/>
                  <a:pt x="1956816" y="978408"/>
                </a:cubicBezTo>
                <a:cubicBezTo>
                  <a:pt x="1956816" y="1518768"/>
                  <a:pt x="1518768" y="1956816"/>
                  <a:pt x="978408" y="1956816"/>
                </a:cubicBezTo>
                <a:cubicBezTo>
                  <a:pt x="438048" y="1956816"/>
                  <a:pt x="0" y="1518768"/>
                  <a:pt x="0" y="978408"/>
                </a:cubicBezTo>
                <a:cubicBezTo>
                  <a:pt x="0" y="438048"/>
                  <a:pt x="438048" y="0"/>
                  <a:pt x="978408" y="0"/>
                </a:cubicBezTo>
                <a:close/>
              </a:path>
            </a:pathLst>
          </a:custGeom>
        </p:spPr>
      </p:pic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xmlns="" id="{A50B2360-3589-8371-578E-0E15933E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2871982"/>
            <a:ext cx="4558309" cy="3181684"/>
          </a:xfrm>
        </p:spPr>
        <p:txBody>
          <a:bodyPr anchor="t">
            <a:normAutofit/>
          </a:bodyPr>
          <a:lstStyle/>
          <a:p>
            <a:r>
              <a:rPr lang="en-US" sz="1800" dirty="0"/>
              <a:t>Using modals, can, could, will, would, might, may, should, must, ought to, </a:t>
            </a:r>
            <a:r>
              <a:rPr lang="en-US" sz="1800" dirty="0" err="1"/>
              <a:t>etc</a:t>
            </a:r>
            <a:r>
              <a:rPr lang="en-US" sz="1800" dirty="0"/>
              <a:t>, talk about how these issues in the photographs can affect the world.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B905CDE4-B751-4B3E-B625-6E59F89034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xmlns="" id="{08108C16-F4C0-44AA-999D-17BD39219B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73660" y="2557569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Smoke from factory">
            <a:extLst>
              <a:ext uri="{FF2B5EF4-FFF2-40B4-BE49-F238E27FC236}">
                <a16:creationId xmlns:a16="http://schemas.microsoft.com/office/drawing/2014/main" xmlns="" id="{069F874A-D82E-35CB-D309-A7AA3F36DAC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1" r="-2" b="-2"/>
          <a:stretch/>
        </p:blipFill>
        <p:spPr>
          <a:xfrm>
            <a:off x="5838252" y="2722161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</p:spPr>
      </p:pic>
      <p:pic>
        <p:nvPicPr>
          <p:cNvPr id="8" name="Picture 7" descr="Polar bear mother and baby crossing ice">
            <a:extLst>
              <a:ext uri="{FF2B5EF4-FFF2-40B4-BE49-F238E27FC236}">
                <a16:creationId xmlns:a16="http://schemas.microsoft.com/office/drawing/2014/main" xmlns="" id="{498622BB-C6A0-43F2-6B8D-B77F08AF4BD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9" r="1413" b="4"/>
          <a:stretch/>
        </p:blipFill>
        <p:spPr>
          <a:xfrm>
            <a:off x="8278624" y="2"/>
            <a:ext cx="3913376" cy="3281569"/>
          </a:xfrm>
          <a:custGeom>
            <a:avLst/>
            <a:gdLst/>
            <a:ahLst/>
            <a:cxnLst/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</p:spPr>
      </p:pic>
      <p:sp>
        <p:nvSpPr>
          <p:cNvPr id="49" name="Freeform: Shape 48">
            <a:extLst>
              <a:ext uri="{FF2B5EF4-FFF2-40B4-BE49-F238E27FC236}">
                <a16:creationId xmlns:a16="http://schemas.microsoft.com/office/drawing/2014/main" xmlns="" id="{C8F10CB3-3B5E-4C7A-98CF-B87454DDFA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Smoke in a burning forest">
            <a:extLst>
              <a:ext uri="{FF2B5EF4-FFF2-40B4-BE49-F238E27FC236}">
                <a16:creationId xmlns:a16="http://schemas.microsoft.com/office/drawing/2014/main" xmlns="" id="{E2FF2133-4484-46FF-22F2-F9A9716D101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3" r="1027" b="-4"/>
          <a:stretch/>
        </p:blipFill>
        <p:spPr>
          <a:xfrm>
            <a:off x="9009416" y="4131546"/>
            <a:ext cx="3178912" cy="2726454"/>
          </a:xfrm>
          <a:custGeom>
            <a:avLst/>
            <a:gdLst/>
            <a:ahLst/>
            <a:cxnLst/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34950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D009D6D5-DAC2-4A8B-A17A-E206B9012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C36D8-2C11-E1FB-AF8C-1A1F84C5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/>
              <a:t>Example sentences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3E5A76-3AC0-F5C8-0CC2-8E6BA43C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GB" sz="1100" b="0" i="0">
                <a:effectLst/>
                <a:latin typeface="Söhne"/>
              </a:rPr>
              <a:t>Human activities </a:t>
            </a:r>
            <a:r>
              <a:rPr lang="en-GB" sz="1100" b="1" i="0">
                <a:effectLst/>
                <a:latin typeface="Söhne"/>
              </a:rPr>
              <a:t>can</a:t>
            </a:r>
            <a:r>
              <a:rPr lang="en-GB" sz="1100" b="0" i="0">
                <a:effectLst/>
                <a:latin typeface="Söhne"/>
              </a:rPr>
              <a:t> significantly contribute to climate change through the emission of greenhouse gases.</a:t>
            </a:r>
          </a:p>
          <a:p>
            <a:r>
              <a:rPr lang="en-GB" sz="1100" b="0" i="0">
                <a:effectLst/>
                <a:latin typeface="Söhne"/>
              </a:rPr>
              <a:t>Deforestation </a:t>
            </a:r>
            <a:r>
              <a:rPr lang="en-GB" sz="1100" b="1" i="0">
                <a:effectLst/>
                <a:latin typeface="Söhne"/>
              </a:rPr>
              <a:t>may</a:t>
            </a:r>
            <a:r>
              <a:rPr lang="en-GB" sz="1100" b="0" i="0">
                <a:effectLst/>
                <a:latin typeface="Söhne"/>
              </a:rPr>
              <a:t> lead to disruptions in the climate system by reducing the Earth's capacity to absorb carbon dioxide.</a:t>
            </a:r>
          </a:p>
          <a:p>
            <a:r>
              <a:rPr lang="en-GB" sz="1100" b="0" i="0">
                <a:effectLst/>
                <a:latin typeface="Söhne"/>
              </a:rPr>
              <a:t>Governments </a:t>
            </a:r>
            <a:r>
              <a:rPr lang="en-GB" sz="1100" b="1" i="0">
                <a:effectLst/>
                <a:latin typeface="Söhne"/>
              </a:rPr>
              <a:t>must</a:t>
            </a:r>
            <a:r>
              <a:rPr lang="en-GB" sz="1100" b="0" i="0">
                <a:effectLst/>
                <a:latin typeface="Söhne"/>
              </a:rPr>
              <a:t> enforce strict regulations to limit industrial emissions and protect the environment.</a:t>
            </a:r>
          </a:p>
          <a:p>
            <a:r>
              <a:rPr lang="en-GB" sz="1100" b="0" i="0">
                <a:effectLst/>
                <a:latin typeface="Söhne"/>
              </a:rPr>
              <a:t>The use of renewable energy sources </a:t>
            </a:r>
            <a:r>
              <a:rPr lang="en-GB" sz="1100" b="1" i="0">
                <a:effectLst/>
                <a:latin typeface="Söhne"/>
              </a:rPr>
              <a:t>could</a:t>
            </a:r>
            <a:r>
              <a:rPr lang="en-GB" sz="1100" b="0" i="0">
                <a:effectLst/>
                <a:latin typeface="Söhne"/>
              </a:rPr>
              <a:t> help reduce our dependence on fossil fuels and curb climate change.</a:t>
            </a:r>
          </a:p>
          <a:p>
            <a:r>
              <a:rPr lang="en-GB" sz="1100" b="0" i="0">
                <a:effectLst/>
                <a:latin typeface="Söhne"/>
              </a:rPr>
              <a:t>If we continue to ignore environmental concerns, we </a:t>
            </a:r>
            <a:r>
              <a:rPr lang="en-GB" sz="1100" b="1" i="0">
                <a:effectLst/>
                <a:latin typeface="Söhne"/>
              </a:rPr>
              <a:t>might</a:t>
            </a:r>
            <a:r>
              <a:rPr lang="en-GB" sz="1100" b="0" i="0">
                <a:effectLst/>
                <a:latin typeface="Söhne"/>
              </a:rPr>
              <a:t> face more severe consequences in the form of extreme weather events.</a:t>
            </a:r>
          </a:p>
          <a:p>
            <a:r>
              <a:rPr lang="en-GB" sz="1100" b="0" i="0">
                <a:effectLst/>
                <a:latin typeface="Söhne"/>
              </a:rPr>
              <a:t>Policymakers </a:t>
            </a:r>
            <a:r>
              <a:rPr lang="en-GB" sz="1100" b="1" i="0">
                <a:effectLst/>
                <a:latin typeface="Söhne"/>
              </a:rPr>
              <a:t>should</a:t>
            </a:r>
            <a:r>
              <a:rPr lang="en-GB" sz="1100" b="0" i="0">
                <a:effectLst/>
                <a:latin typeface="Söhne"/>
              </a:rPr>
              <a:t> invest in research and development of eco-friendly technologies to address climate-related challenges.</a:t>
            </a:r>
          </a:p>
          <a:p>
            <a:r>
              <a:rPr lang="en-GB" sz="1100" b="0" i="0">
                <a:effectLst/>
                <a:latin typeface="Söhne"/>
              </a:rPr>
              <a:t>Companies </a:t>
            </a:r>
            <a:r>
              <a:rPr lang="en-GB" sz="1100" b="1" i="0">
                <a:effectLst/>
                <a:latin typeface="Söhne"/>
              </a:rPr>
              <a:t>ought to</a:t>
            </a:r>
            <a:r>
              <a:rPr lang="en-GB" sz="1100" b="0" i="0">
                <a:effectLst/>
                <a:latin typeface="Söhne"/>
              </a:rPr>
              <a:t> implement sustainable practices in their operations to contribute to a more eco-friendly business environment.</a:t>
            </a:r>
          </a:p>
          <a:p>
            <a:r>
              <a:rPr lang="en-GB" sz="1100" b="0" i="0">
                <a:effectLst/>
                <a:latin typeface="Söhne"/>
              </a:rPr>
              <a:t>The transition to a circular economy </a:t>
            </a:r>
            <a:r>
              <a:rPr lang="en-GB" sz="1100" b="1" i="0">
                <a:effectLst/>
                <a:latin typeface="Söhne"/>
              </a:rPr>
              <a:t>can</a:t>
            </a:r>
            <a:r>
              <a:rPr lang="en-GB" sz="1100" b="0" i="0">
                <a:effectLst/>
                <a:latin typeface="Söhne"/>
              </a:rPr>
              <a:t> play a crucial role in reducing waste and minimizing the environmental impact of production processes.</a:t>
            </a:r>
          </a:p>
          <a:p>
            <a:endParaRPr lang="es-ES" sz="1100"/>
          </a:p>
        </p:txBody>
      </p:sp>
      <p:pic>
        <p:nvPicPr>
          <p:cNvPr id="5" name="Picture 4" descr="Smoke in a burning forest">
            <a:extLst>
              <a:ext uri="{FF2B5EF4-FFF2-40B4-BE49-F238E27FC236}">
                <a16:creationId xmlns:a16="http://schemas.microsoft.com/office/drawing/2014/main" xmlns="" id="{76C366DD-BB0B-1C17-FD2A-6F0D38DE67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r="10925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912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3B47FC9C-2ED3-4100-A4EF-E8CDFEE106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solar panel farm">
            <a:extLst>
              <a:ext uri="{FF2B5EF4-FFF2-40B4-BE49-F238E27FC236}">
                <a16:creationId xmlns:a16="http://schemas.microsoft.com/office/drawing/2014/main" xmlns="" id="{0860C4AC-E055-7F16-A834-0507A5A36E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8" y="1066800"/>
            <a:ext cx="5483225" cy="3606800"/>
          </a:xfrm>
          <a:prstGeom prst="rect">
            <a:avLst/>
          </a:prstGeom>
        </p:spPr>
      </p:pic>
      <p:pic>
        <p:nvPicPr>
          <p:cNvPr id="5" name="Content Placeholder 4" descr="Wind turbines against blue sky">
            <a:extLst>
              <a:ext uri="{FF2B5EF4-FFF2-40B4-BE49-F238E27FC236}">
                <a16:creationId xmlns:a16="http://schemas.microsoft.com/office/drawing/2014/main" xmlns="" id="{1C72A3F9-14BA-24F8-B774-26E625692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63" y="1066800"/>
            <a:ext cx="5346700" cy="36068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C36D8-2C11-E1FB-AF8C-1A1F84C5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Climate solutions</a:t>
            </a:r>
          </a:p>
        </p:txBody>
      </p:sp>
    </p:spTree>
    <p:extLst>
      <p:ext uri="{BB962C8B-B14F-4D97-AF65-F5344CB8AC3E}">
        <p14:creationId xmlns:p14="http://schemas.microsoft.com/office/powerpoint/2010/main" val="202089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w of wind turbines">
            <a:extLst>
              <a:ext uri="{FF2B5EF4-FFF2-40B4-BE49-F238E27FC236}">
                <a16:creationId xmlns:a16="http://schemas.microsoft.com/office/drawing/2014/main" xmlns="" id="{242D698E-7C9F-BA47-7FDC-EBD62E280D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7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2E8808-5673-0D8A-F8B8-8E429106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Conversation questions</a:t>
            </a:r>
            <a:endParaRPr lang="es-E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0DB022-15A9-2CAA-9B6A-4003D1938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Climate Change Awareness: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How familiar are you with the concept of climate change?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What do you think are the main contributors to climate change?</a:t>
            </a:r>
          </a:p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Renewable Energy Sources: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Can you name some renewable energy sources?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How important do you think it is for countries to invest in renewable energy?</a:t>
            </a:r>
          </a:p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Zero-Carbon Goals: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What does the term "zero carbon" mean to you?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Do you think it's feasible for a country to achieve zero carbon emissions? Why or why not?</a:t>
            </a:r>
          </a:p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Government Policies: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Should governments play a significant role in promoting and implementing policies for zero-carbon solutions? Why or why not?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What incentives could governments provide to encourage the use of renewable energy?</a:t>
            </a:r>
          </a:p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Individual Actions: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What can individuals do to reduce their carbon footprint in daily life?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How has your awareness of climate change influenced your personal habits or choices?</a:t>
            </a:r>
          </a:p>
          <a:p>
            <a:pPr>
              <a:buFont typeface="+mj-lt"/>
              <a:buAutoNum type="arabicPeriod"/>
            </a:pPr>
            <a:r>
              <a:rPr lang="en-GB" sz="700" b="1" i="0" dirty="0">
                <a:effectLst/>
                <a:latin typeface="Söhne"/>
              </a:rPr>
              <a:t>Technological Advances:</a:t>
            </a:r>
            <a:endParaRPr lang="en-GB" sz="700" b="0" i="0" dirty="0">
              <a:effectLst/>
              <a:latin typeface="Söhne"/>
            </a:endParaRPr>
          </a:p>
          <a:p>
            <a:pPr lvl="1"/>
            <a:r>
              <a:rPr lang="en-GB" sz="700" b="0" i="0" dirty="0">
                <a:effectLst/>
                <a:latin typeface="Söhne"/>
              </a:rPr>
              <a:t>What are some emerging technologies that could help in achieving zero carbon goals?</a:t>
            </a:r>
          </a:p>
          <a:p>
            <a:pPr lvl="1"/>
            <a:r>
              <a:rPr lang="en-GB" sz="700" b="0" i="0" dirty="0">
                <a:effectLst/>
                <a:latin typeface="Söhne"/>
              </a:rPr>
              <a:t>Do you think technological advancements alone can solve the climate crisis?</a:t>
            </a:r>
          </a:p>
          <a:p>
            <a:endParaRPr lang="es-ES" sz="700" dirty="0"/>
          </a:p>
        </p:txBody>
      </p:sp>
    </p:spTree>
    <p:extLst>
      <p:ext uri="{BB962C8B-B14F-4D97-AF65-F5344CB8AC3E}">
        <p14:creationId xmlns:p14="http://schemas.microsoft.com/office/powerpoint/2010/main" val="351645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il refinery against blue sky">
            <a:extLst>
              <a:ext uri="{FF2B5EF4-FFF2-40B4-BE49-F238E27FC236}">
                <a16:creationId xmlns:a16="http://schemas.microsoft.com/office/drawing/2014/main" xmlns="" id="{6AD8D4FA-4ACB-D1F8-DF6F-8D2D1AD45B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2E8808-5673-0D8A-F8B8-8E429106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solidFill>
                  <a:schemeClr val="bg1"/>
                </a:solidFill>
              </a:rPr>
              <a:t>Conversation questions</a:t>
            </a:r>
            <a:endParaRPr lang="es-ES" sz="5400">
              <a:solidFill>
                <a:schemeClr val="bg1"/>
              </a:solidFill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0DB022-15A9-2CAA-9B6A-4003D1938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Challenges and Solutions: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What challenges do you think countries face in transitioning to zero-carbon energy solutions?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How can these challenges be addressed on a global scale?</a:t>
            </a:r>
          </a:p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Global Cooperation: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In your opinion, how important is international cooperation in addressing climate change?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Are there any global initiatives or agreements related to climate change that you are aware of?</a:t>
            </a:r>
          </a:p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Impact on Jobs and Economy: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How do you think the shift to zero-carbon energy solutions might impact employment and the economy?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Are there potential opportunities for new jobs in the renewable energy sector?</a:t>
            </a:r>
          </a:p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Educational Initiatives: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Do you believe that education plays a role in promoting sustainable practices and awareness about climate change?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What changes do you think schools and universities should make to address climate-related issues?</a:t>
            </a:r>
          </a:p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Public Awareness: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How can we increase public awareness about the importance of zero-carbon energy solutions?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What role do media and communication play in shaping public opinions about climate change?</a:t>
            </a:r>
          </a:p>
          <a:p>
            <a:pPr>
              <a:buFont typeface="+mj-lt"/>
              <a:buAutoNum type="arabicPeriod"/>
            </a:pPr>
            <a:r>
              <a:rPr lang="en-GB" sz="1000" b="1" i="0" dirty="0">
                <a:solidFill>
                  <a:schemeClr val="bg1"/>
                </a:solidFill>
                <a:effectLst/>
                <a:latin typeface="Söhne"/>
              </a:rPr>
              <a:t>Adaptation and Resilience:</a:t>
            </a:r>
            <a:endParaRPr lang="en-GB" sz="1000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Aside from mitigation efforts, how can communities adapt to the effects of climate change?</a:t>
            </a:r>
          </a:p>
          <a:p>
            <a:pPr lvl="1"/>
            <a:r>
              <a:rPr lang="en-GB" sz="1000" b="0" i="0" dirty="0">
                <a:solidFill>
                  <a:schemeClr val="bg1"/>
                </a:solidFill>
                <a:effectLst/>
                <a:latin typeface="Söhne"/>
              </a:rPr>
              <a:t>What are some examples of communities successfully adapting to climate challenges?</a:t>
            </a:r>
          </a:p>
          <a:p>
            <a:endParaRPr lang="es-E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478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6C9EC7-C21F-E604-1645-62B7B5D3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FC32CC7D-8C00-46C0-3F56-2733E6F76E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8" y="5867399"/>
            <a:ext cx="1636779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34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1903</Words>
  <Application>Microsoft Office PowerPoint</Application>
  <PresentationFormat>Panorámica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Söhne</vt:lpstr>
      <vt:lpstr>Office Theme</vt:lpstr>
      <vt:lpstr>Climate and environmental conditions</vt:lpstr>
      <vt:lpstr>Warm up</vt:lpstr>
      <vt:lpstr>List of Biomes with Vocabulary Definitions: </vt:lpstr>
      <vt:lpstr>List of Biomes with Vocabulary Definitions: </vt:lpstr>
      <vt:lpstr>Extreme weather </vt:lpstr>
      <vt:lpstr>Extreme Weather Vocabulary List with Definitions: </vt:lpstr>
      <vt:lpstr>Extreme Weather Vocabulary List with Definitions: </vt:lpstr>
      <vt:lpstr>Conversation questions</vt:lpstr>
      <vt:lpstr>Conversation questions</vt:lpstr>
      <vt:lpstr>Modals</vt:lpstr>
      <vt:lpstr>Example sentences</vt:lpstr>
      <vt:lpstr>Climate solutions</vt:lpstr>
      <vt:lpstr>Conversation questions</vt:lpstr>
      <vt:lpstr>Conversation questions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and environmental conditions</dc:title>
  <dc:creator>Theo Clarke</dc:creator>
  <cp:lastModifiedBy>JaviRo</cp:lastModifiedBy>
  <cp:revision>7</cp:revision>
  <dcterms:created xsi:type="dcterms:W3CDTF">2023-12-18T12:37:23Z</dcterms:created>
  <dcterms:modified xsi:type="dcterms:W3CDTF">2025-01-02T10:39:02Z</dcterms:modified>
</cp:coreProperties>
</file>